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89" r:id="rId1"/>
  </p:sldMasterIdLst>
  <p:notesMasterIdLst>
    <p:notesMasterId r:id="rId45"/>
  </p:notesMasterIdLst>
  <p:handoutMasterIdLst>
    <p:handoutMasterId r:id="rId46"/>
  </p:handoutMasterIdLst>
  <p:sldIdLst>
    <p:sldId id="302" r:id="rId2"/>
    <p:sldId id="311" r:id="rId3"/>
    <p:sldId id="561" r:id="rId4"/>
    <p:sldId id="859" r:id="rId5"/>
    <p:sldId id="823" r:id="rId6"/>
    <p:sldId id="824" r:id="rId7"/>
    <p:sldId id="825" r:id="rId8"/>
    <p:sldId id="849" r:id="rId9"/>
    <p:sldId id="832" r:id="rId10"/>
    <p:sldId id="312" r:id="rId11"/>
    <p:sldId id="826" r:id="rId12"/>
    <p:sldId id="827" r:id="rId13"/>
    <p:sldId id="820" r:id="rId14"/>
    <p:sldId id="857" r:id="rId15"/>
    <p:sldId id="851" r:id="rId16"/>
    <p:sldId id="856" r:id="rId17"/>
    <p:sldId id="853" r:id="rId18"/>
    <p:sldId id="818" r:id="rId19"/>
    <p:sldId id="858" r:id="rId20"/>
    <p:sldId id="854" r:id="rId21"/>
    <p:sldId id="819" r:id="rId22"/>
    <p:sldId id="313" r:id="rId23"/>
    <p:sldId id="862" r:id="rId24"/>
    <p:sldId id="837" r:id="rId25"/>
    <p:sldId id="760" r:id="rId26"/>
    <p:sldId id="789" r:id="rId27"/>
    <p:sldId id="861" r:id="rId28"/>
    <p:sldId id="828" r:id="rId29"/>
    <p:sldId id="838" r:id="rId30"/>
    <p:sldId id="839" r:id="rId31"/>
    <p:sldId id="840" r:id="rId32"/>
    <p:sldId id="841" r:id="rId33"/>
    <p:sldId id="715" r:id="rId34"/>
    <p:sldId id="842" r:id="rId35"/>
    <p:sldId id="843" r:id="rId36"/>
    <p:sldId id="829" r:id="rId37"/>
    <p:sldId id="844" r:id="rId38"/>
    <p:sldId id="830" r:id="rId39"/>
    <p:sldId id="845" r:id="rId40"/>
    <p:sldId id="846" r:id="rId41"/>
    <p:sldId id="847" r:id="rId42"/>
    <p:sldId id="696" r:id="rId43"/>
    <p:sldId id="788" r:id="rId44"/>
  </p:sldIdLst>
  <p:sldSz cx="10693400" cy="7561263"/>
  <p:notesSz cx="6797675" cy="9928225"/>
  <p:embeddedFontLst>
    <p:embeddedFont>
      <p:font typeface="Wingdings 2" panose="05020102010507070707" pitchFamily="18" charset="2"/>
      <p:regular r:id="rId47"/>
    </p:embeddedFont>
    <p:embeddedFont>
      <p:font typeface="Rix고딕 B" panose="02020603020101020101" pitchFamily="18" charset="-127"/>
      <p:regular r:id="rId48"/>
    </p:embeddedFont>
    <p:embeddedFont>
      <p:font typeface="Rix고딕 M" panose="02020603020101020101" pitchFamily="18" charset="-127"/>
      <p:regular r:id="rId49"/>
    </p:embeddedFont>
    <p:embeddedFont>
      <p:font typeface="나눔고딕" panose="020B0600000101010101" charset="-127"/>
      <p:regular r:id="rId50"/>
      <p:bold r:id="rId51"/>
    </p:embeddedFont>
    <p:embeddedFont>
      <p:font typeface="Rix명조 EB" panose="02020603020101020101" pitchFamily="18" charset="-127"/>
      <p:regular r:id="rId52"/>
    </p:embeddedFont>
    <p:embeddedFont>
      <p:font typeface="맑은 고딕" panose="020B0503020000020004" pitchFamily="50" charset="-127"/>
      <p:regular r:id="rId53"/>
      <p:bold r:id="rId54"/>
    </p:embeddedFont>
    <p:embeddedFont>
      <p:font typeface="Rix고딕 L" panose="02020603020101020101" pitchFamily="18" charset="-127"/>
      <p:regular r:id="rId55"/>
    </p:embeddedFont>
    <p:embeddedFont>
      <p:font typeface="HY울릉도B" panose="02030600000101010101" pitchFamily="18" charset="-127"/>
      <p:regular r:id="rId56"/>
    </p:embeddedFont>
    <p:embeddedFont>
      <p:font typeface="HY견명조" panose="02030600000101010101" pitchFamily="18" charset="-127"/>
      <p:regular r:id="rId57"/>
    </p:embeddedFont>
    <p:embeddedFont>
      <p:font typeface="Rix고딕 EB" panose="02020603020101020101" pitchFamily="18" charset="-127"/>
      <p:regular r:id="rId58"/>
    </p:embeddedFont>
    <p:embeddedFont>
      <p:font typeface="Tahoma" panose="020B0604030504040204" pitchFamily="34" charset="0"/>
      <p:regular r:id="rId59"/>
      <p:bold r:id="rId60"/>
    </p:embeddedFont>
  </p:embeddedFontLst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47">
          <p15:clr>
            <a:srgbClr val="A4A3A4"/>
          </p15:clr>
        </p15:guide>
        <p15:guide id="2" orient="horz" pos="4377">
          <p15:clr>
            <a:srgbClr val="A4A3A4"/>
          </p15:clr>
        </p15:guide>
        <p15:guide id="3" pos="3368">
          <p15:clr>
            <a:srgbClr val="A4A3A4"/>
          </p15:clr>
        </p15:guide>
        <p15:guide id="4" pos="3270">
          <p15:clr>
            <a:srgbClr val="A4A3A4"/>
          </p15:clr>
        </p15:guide>
        <p15:guide id="5" pos="3459">
          <p15:clr>
            <a:srgbClr val="A4A3A4"/>
          </p15:clr>
        </p15:guide>
        <p15:guide id="6" pos="465">
          <p15:clr>
            <a:srgbClr val="A4A3A4"/>
          </p15:clr>
        </p15:guide>
        <p15:guide id="7" pos="62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C2EC"/>
    <a:srgbClr val="B4DE86"/>
    <a:srgbClr val="7CA52A"/>
    <a:srgbClr val="016DB5"/>
    <a:srgbClr val="D8EEC0"/>
    <a:srgbClr val="BD92DE"/>
    <a:srgbClr val="678923"/>
    <a:srgbClr val="D3E3AF"/>
    <a:srgbClr val="2F8575"/>
    <a:srgbClr val="FF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7B26C5-4107-4FEC-AEDC-1716B250A1EF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66" autoAdjust="0"/>
    <p:restoredTop sz="98387" autoAdjust="0"/>
  </p:normalViewPr>
  <p:slideViewPr>
    <p:cSldViewPr showGuides="1">
      <p:cViewPr varScale="1">
        <p:scale>
          <a:sx n="98" d="100"/>
          <a:sy n="98" d="100"/>
        </p:scale>
        <p:origin x="1032" y="78"/>
      </p:cViewPr>
      <p:guideLst>
        <p:guide orient="horz" pos="1247"/>
        <p:guide orient="horz" pos="4377"/>
        <p:guide pos="3368"/>
        <p:guide pos="3270"/>
        <p:guide pos="3459"/>
        <p:guide pos="465"/>
        <p:guide pos="62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22200"/>
    </p:cViewPr>
  </p:sorterViewPr>
  <p:notesViewPr>
    <p:cSldViewPr showGuides="1">
      <p:cViewPr varScale="1">
        <p:scale>
          <a:sx n="82" d="100"/>
          <a:sy n="82" d="100"/>
        </p:scale>
        <p:origin x="-3180" y="-96"/>
      </p:cViewPr>
      <p:guideLst>
        <p:guide orient="horz" pos="3128"/>
        <p:guide pos="2142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59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2945659" cy="496410"/>
          </a:xfrm>
          <a:prstGeom prst="rect">
            <a:avLst/>
          </a:prstGeom>
        </p:spPr>
        <p:txBody>
          <a:bodyPr vert="horz" lIns="90672" tIns="45336" rIns="90672" bIns="45336" rtlCol="0"/>
          <a:lstStyle>
            <a:lvl1pPr algn="l">
              <a:defRPr sz="1200"/>
            </a:lvl1pPr>
          </a:lstStyle>
          <a:p>
            <a:endParaRPr lang="ko-KR" altLang="en-US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6" y="4"/>
            <a:ext cx="2945659" cy="496410"/>
          </a:xfrm>
          <a:prstGeom prst="rect">
            <a:avLst/>
          </a:prstGeom>
        </p:spPr>
        <p:txBody>
          <a:bodyPr vert="horz" lIns="90672" tIns="45336" rIns="90672" bIns="45336" rtlCol="0"/>
          <a:lstStyle>
            <a:lvl1pPr algn="r">
              <a:defRPr sz="1200"/>
            </a:lvl1pPr>
          </a:lstStyle>
          <a:p>
            <a:fld id="{C387F831-2957-4B22-B12A-87C33115AB05}" type="datetimeFigureOut">
              <a:rPr lang="ko-KR" altLang="en-US" smtClean="0">
                <a:latin typeface="Rix고딕 M" panose="02020603020101020101" pitchFamily="18" charset="-127"/>
                <a:ea typeface="Rix고딕 M" panose="02020603020101020101" pitchFamily="18" charset="-127"/>
              </a:rPr>
              <a:t>2019-05-23</a:t>
            </a:fld>
            <a:endParaRPr lang="ko-KR" altLang="en-US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9430094"/>
            <a:ext cx="2945659" cy="496410"/>
          </a:xfrm>
          <a:prstGeom prst="rect">
            <a:avLst/>
          </a:prstGeom>
        </p:spPr>
        <p:txBody>
          <a:bodyPr vert="horz" lIns="90672" tIns="45336" rIns="90672" bIns="45336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6" y="9430094"/>
            <a:ext cx="2945659" cy="496410"/>
          </a:xfrm>
          <a:prstGeom prst="rect">
            <a:avLst/>
          </a:prstGeom>
        </p:spPr>
        <p:txBody>
          <a:bodyPr vert="horz" lIns="90672" tIns="45336" rIns="90672" bIns="45336" rtlCol="0" anchor="b"/>
          <a:lstStyle>
            <a:lvl1pPr algn="r">
              <a:defRPr sz="1200"/>
            </a:lvl1pPr>
          </a:lstStyle>
          <a:p>
            <a:fld id="{0CE9B726-97D5-41DD-AD38-54984987AD59}" type="slidenum">
              <a:rPr lang="ko-KR" altLang="en-US" smtClean="0">
                <a:latin typeface="Rix고딕 M" panose="02020603020101020101" pitchFamily="18" charset="-127"/>
                <a:ea typeface="Rix고딕 M" panose="02020603020101020101" pitchFamily="18" charset="-127"/>
              </a:rPr>
              <a:t>‹#›</a:t>
            </a:fld>
            <a:endParaRPr lang="ko-KR" altLang="en-US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46531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2945659" cy="496410"/>
          </a:xfrm>
          <a:prstGeom prst="rect">
            <a:avLst/>
          </a:prstGeom>
        </p:spPr>
        <p:txBody>
          <a:bodyPr vert="horz" lIns="90672" tIns="45336" rIns="90672" bIns="45336" rtlCol="0"/>
          <a:lstStyle>
            <a:lvl1pPr algn="l">
              <a:defRPr sz="1200"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6" y="4"/>
            <a:ext cx="2945659" cy="496410"/>
          </a:xfrm>
          <a:prstGeom prst="rect">
            <a:avLst/>
          </a:prstGeom>
        </p:spPr>
        <p:txBody>
          <a:bodyPr vert="horz" lIns="90672" tIns="45336" rIns="90672" bIns="45336" rtlCol="0"/>
          <a:lstStyle>
            <a:lvl1pPr algn="r">
              <a:defRPr sz="1200"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fld id="{3BA2F8EE-285A-4340-A8A8-AB734A5EA0E5}" type="datetimeFigureOut">
              <a:rPr lang="ko-KR" altLang="en-US" smtClean="0"/>
              <a:pPr/>
              <a:t>2019-05-23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66763" y="744538"/>
            <a:ext cx="526415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72" tIns="45336" rIns="90672" bIns="4533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lIns="90672" tIns="45336" rIns="90672" bIns="45336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9430094"/>
            <a:ext cx="2945659" cy="496410"/>
          </a:xfrm>
          <a:prstGeom prst="rect">
            <a:avLst/>
          </a:prstGeom>
        </p:spPr>
        <p:txBody>
          <a:bodyPr vert="horz" lIns="90672" tIns="45336" rIns="90672" bIns="45336" rtlCol="0" anchor="b"/>
          <a:lstStyle>
            <a:lvl1pPr algn="l">
              <a:defRPr sz="1200"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6" y="9430094"/>
            <a:ext cx="2945659" cy="496410"/>
          </a:xfrm>
          <a:prstGeom prst="rect">
            <a:avLst/>
          </a:prstGeom>
        </p:spPr>
        <p:txBody>
          <a:bodyPr vert="horz" lIns="90672" tIns="45336" rIns="90672" bIns="45336" rtlCol="0" anchor="b"/>
          <a:lstStyle>
            <a:lvl1pPr algn="r">
              <a:defRPr sz="1200"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fld id="{C1267250-E81F-4874-96E6-90E8D65A886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2434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5690" rtl="0" eaLnBrk="1" latinLnBrk="1" hangingPunct="1">
      <a:defRPr sz="1300" kern="1200">
        <a:solidFill>
          <a:schemeClr val="tx1"/>
        </a:solidFill>
        <a:latin typeface="Rix고딕 M" panose="02020603020101020101" pitchFamily="18" charset="-127"/>
        <a:ea typeface="Rix고딕 M" panose="02020603020101020101" pitchFamily="18" charset="-127"/>
        <a:cs typeface="+mn-cs"/>
      </a:defRPr>
    </a:lvl1pPr>
    <a:lvl2pPr marL="497845" algn="l" defTabSz="995690" rtl="0" eaLnBrk="1" latinLnBrk="1" hangingPunct="1">
      <a:defRPr sz="1300" kern="1200">
        <a:solidFill>
          <a:schemeClr val="tx1"/>
        </a:solidFill>
        <a:latin typeface="Rix고딕 M" panose="02020603020101020101" pitchFamily="18" charset="-127"/>
        <a:ea typeface="Rix고딕 M" panose="02020603020101020101" pitchFamily="18" charset="-127"/>
        <a:cs typeface="+mn-cs"/>
      </a:defRPr>
    </a:lvl2pPr>
    <a:lvl3pPr marL="995690" algn="l" defTabSz="995690" rtl="0" eaLnBrk="1" latinLnBrk="1" hangingPunct="1">
      <a:defRPr sz="1300" kern="1200">
        <a:solidFill>
          <a:schemeClr val="tx1"/>
        </a:solidFill>
        <a:latin typeface="Rix고딕 M" panose="02020603020101020101" pitchFamily="18" charset="-127"/>
        <a:ea typeface="Rix고딕 M" panose="02020603020101020101" pitchFamily="18" charset="-127"/>
        <a:cs typeface="+mn-cs"/>
      </a:defRPr>
    </a:lvl3pPr>
    <a:lvl4pPr marL="1493535" algn="l" defTabSz="995690" rtl="0" eaLnBrk="1" latinLnBrk="1" hangingPunct="1">
      <a:defRPr sz="1300" kern="1200">
        <a:solidFill>
          <a:schemeClr val="tx1"/>
        </a:solidFill>
        <a:latin typeface="Rix고딕 M" panose="02020603020101020101" pitchFamily="18" charset="-127"/>
        <a:ea typeface="Rix고딕 M" panose="02020603020101020101" pitchFamily="18" charset="-127"/>
        <a:cs typeface="+mn-cs"/>
      </a:defRPr>
    </a:lvl4pPr>
    <a:lvl5pPr marL="1991380" algn="l" defTabSz="995690" rtl="0" eaLnBrk="1" latinLnBrk="1" hangingPunct="1">
      <a:defRPr sz="1300" kern="1200">
        <a:solidFill>
          <a:schemeClr val="tx1"/>
        </a:solidFill>
        <a:latin typeface="Rix고딕 M" panose="02020603020101020101" pitchFamily="18" charset="-127"/>
        <a:ea typeface="Rix고딕 M" panose="02020603020101020101" pitchFamily="18" charset="-127"/>
        <a:cs typeface="+mn-cs"/>
      </a:defRPr>
    </a:lvl5pPr>
    <a:lvl6pPr marL="248922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쇼보기를</a:t>
            </a:r>
            <a:r>
              <a:rPr lang="ko-KR" altLang="en-US" dirty="0"/>
              <a:t> 통해서 </a:t>
            </a:r>
            <a:r>
              <a:rPr lang="en-US" altLang="ko-KR" dirty="0"/>
              <a:t>‘</a:t>
            </a:r>
            <a:r>
              <a:rPr lang="ko-KR" altLang="en-US" dirty="0"/>
              <a:t>설치하기</a:t>
            </a:r>
            <a:r>
              <a:rPr lang="en-US" altLang="ko-KR" dirty="0"/>
              <a:t>’</a:t>
            </a:r>
            <a:r>
              <a:rPr lang="ko-KR" altLang="en-US" dirty="0"/>
              <a:t>를 클릭하면 </a:t>
            </a:r>
            <a:r>
              <a:rPr lang="ko-KR" altLang="en-US" dirty="0" err="1"/>
              <a:t>나눔고딕체를</a:t>
            </a:r>
            <a:r>
              <a:rPr lang="ko-KR" altLang="en-US" dirty="0"/>
              <a:t> 다운받으실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409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500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4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467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962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6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962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8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847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9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847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10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500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14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962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18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057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19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057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20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0571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22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5001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24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529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25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962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26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962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28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962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29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7586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30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6162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31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1109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32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7204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33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5001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34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9626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35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9626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36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7976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37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9626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38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7976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39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9626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6763" y="744538"/>
            <a:ext cx="526415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나눔고딕 (본문)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67250-E81F-4874-96E6-90E8D65A886F}" type="slidenum">
              <a:rPr lang="ko-KR" altLang="en-US" smtClean="0">
                <a:solidFill>
                  <a:prstClr val="black"/>
                </a:solidFill>
              </a:rPr>
              <a:pPr/>
              <a:t>41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962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725216" y="651905"/>
            <a:ext cx="9218884" cy="407206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600">
                <a:gradFill>
                  <a:gsLst>
                    <a:gs pos="4583">
                      <a:schemeClr val="tx1">
                        <a:lumMod val="90000"/>
                        <a:lumOff val="10000"/>
                      </a:schemeClr>
                    </a:gs>
                    <a:gs pos="11667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제목 1"/>
          <p:cNvSpPr txBox="1">
            <a:spLocks/>
          </p:cNvSpPr>
          <p:nvPr userDrawn="1"/>
        </p:nvSpPr>
        <p:spPr>
          <a:xfrm>
            <a:off x="723483" y="405343"/>
            <a:ext cx="2876966" cy="153888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  <a:effectLst/>
        </p:spPr>
        <p:txBody>
          <a:bodyPr vert="horz" wrap="square" lIns="0" tIns="0" rIns="0" bIns="0" rtlCol="0" anchor="ctr">
            <a:spAutoFit/>
            <a:scene3d>
              <a:camera prst="orthographicFront"/>
              <a:lightRig rig="threePt" dir="t"/>
            </a:scene3d>
            <a:sp3d prstMaterial="softEdge">
              <a:bevelT w="0" h="0"/>
              <a:contourClr>
                <a:schemeClr val="bg1"/>
              </a:contourClr>
            </a:sp3d>
          </a:bodyPr>
          <a:lstStyle>
            <a:lvl1pPr marL="0" indent="0" algn="l" defTabSz="914400" rtl="0" eaLnBrk="1" latinLnBrk="1" hangingPunct="1">
              <a:spcBef>
                <a:spcPct val="0"/>
              </a:spcBef>
              <a:buFont typeface="Arial" pitchFamily="34" charset="0"/>
              <a:buNone/>
              <a:defRPr kumimoji="1" lang="ko-KR" altLang="en-US" sz="4400" b="0" i="0" u="none" strike="noStrike" kern="0" cap="none" spc="0" normalizeH="0" baseline="0">
                <a:ln w="15875" cmpd="sng">
                  <a:noFill/>
                  <a:prstDash val="solid"/>
                </a:ln>
                <a:gradFill>
                  <a:gsLst>
                    <a:gs pos="0">
                      <a:schemeClr val="tx1">
                        <a:lumMod val="90000"/>
                        <a:lumOff val="10000"/>
                      </a:schemeClr>
                    </a:gs>
                    <a:gs pos="50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effectLst/>
                <a:uLnTx/>
                <a:uFillTx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pPr algn="l"/>
            <a:r>
              <a:rPr lang="ko-KR" altLang="en-US" sz="1000" spc="-70" baseline="0" dirty="0">
                <a:gradFill>
                  <a:gsLst>
                    <a:gs pos="41250">
                      <a:schemeClr val="tx1">
                        <a:lumMod val="65000"/>
                        <a:lumOff val="35000"/>
                      </a:schemeClr>
                    </a:gs>
                    <a:gs pos="36667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문제은행 </a:t>
            </a:r>
            <a:r>
              <a:rPr lang="en-US" altLang="ko-KR" sz="1000" spc="-70" baseline="0" dirty="0">
                <a:gradFill>
                  <a:gsLst>
                    <a:gs pos="41250">
                      <a:schemeClr val="tx1">
                        <a:lumMod val="65000"/>
                        <a:lumOff val="35000"/>
                      </a:schemeClr>
                    </a:gs>
                    <a:gs pos="36667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DB</a:t>
            </a:r>
            <a:r>
              <a:rPr lang="ko-KR" altLang="en-US" sz="1000" spc="-70" baseline="0" dirty="0">
                <a:gradFill>
                  <a:gsLst>
                    <a:gs pos="41250">
                      <a:schemeClr val="tx1">
                        <a:lumMod val="65000"/>
                        <a:lumOff val="35000"/>
                      </a:schemeClr>
                    </a:gs>
                    <a:gs pos="36667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 통합 프로젝트 │ 착수보고</a:t>
            </a:r>
          </a:p>
        </p:txBody>
      </p:sp>
      <p:sp>
        <p:nvSpPr>
          <p:cNvPr id="17" name="슬라이드 번호 개체 틀 1"/>
          <p:cNvSpPr txBox="1">
            <a:spLocks/>
          </p:cNvSpPr>
          <p:nvPr userDrawn="1"/>
        </p:nvSpPr>
        <p:spPr>
          <a:xfrm>
            <a:off x="5184384" y="7294158"/>
            <a:ext cx="324632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kumimoji="1" lang="ko-KR" altLang="en-US" sz="800" b="1" kern="1200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HY울릉도M" pitchFamily="18" charset="-127"/>
                <a:cs typeface="Tahoma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B34D23-63C5-4FB0-8352-8D45B6C331F2}" type="slidenum">
              <a:rPr lang="en-US" altLang="ko-KR" sz="700" b="0" smtClean="0">
                <a:gradFill>
                  <a:gsLst>
                    <a:gs pos="60417">
                      <a:schemeClr val="tx1">
                        <a:lumMod val="65000"/>
                        <a:lumOff val="35000"/>
                      </a:schemeClr>
                    </a:gs>
                    <a:gs pos="15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pPr/>
              <a:t>‹#›</a:t>
            </a:fld>
            <a:endParaRPr lang="en-US" altLang="ko-KR" sz="700" b="0" dirty="0">
              <a:gradFill>
                <a:gsLst>
                  <a:gs pos="60417">
                    <a:schemeClr val="tx1">
                      <a:lumMod val="65000"/>
                      <a:lumOff val="35000"/>
                    </a:schemeClr>
                  </a:gs>
                  <a:gs pos="15000">
                    <a:schemeClr val="tx1">
                      <a:lumMod val="65000"/>
                      <a:lumOff val="35000"/>
                    </a:schemeClr>
                  </a:gs>
                </a:gsLst>
                <a:lin ang="5400000" scaled="0"/>
              </a:gra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693821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909627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777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4" r:id="rId2"/>
  </p:sldLayoutIdLst>
  <p:transition spd="med">
    <p:fade/>
  </p:transition>
  <p:hf hdr="0" ftr="0" dt="0"/>
  <p:txStyles>
    <p:titleStyle>
      <a:lvl1pPr algn="ctr" defTabSz="995690" rtl="0" eaLnBrk="1" latinLnBrk="1" hangingPunct="1">
        <a:spcBef>
          <a:spcPct val="0"/>
        </a:spcBef>
        <a:buNone/>
        <a:defRPr kumimoji="1" lang="ko-KR" altLang="en-US" sz="2800" b="0" i="0" u="none" strike="noStrike" kern="0" cap="none" spc="0" normalizeH="0" baseline="0" smtClean="0">
          <a:ln w="6350" cmpd="sng">
            <a:noFill/>
            <a:prstDash val="solid"/>
          </a:ln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0"/>
          </a:gradFill>
          <a:effectLst/>
          <a:uLnTx/>
          <a:uFillTx/>
          <a:latin typeface="Rix고딕 EB" panose="02020603020101020101" pitchFamily="18" charset="-127"/>
          <a:ea typeface="Rix고딕 EB" panose="02020603020101020101" pitchFamily="18" charset="-127"/>
          <a:cs typeface="+mj-cs"/>
        </a:defRPr>
      </a:lvl1pPr>
    </p:titleStyle>
    <p:bodyStyle>
      <a:lvl1pPr marL="0" indent="0" algn="l" defTabSz="995690" rtl="0" eaLnBrk="1" latinLnBrk="1" hangingPunct="1">
        <a:lnSpc>
          <a:spcPct val="100000"/>
        </a:lnSpc>
        <a:spcBef>
          <a:spcPts val="0"/>
        </a:spcBef>
        <a:spcAft>
          <a:spcPts val="653"/>
        </a:spcAft>
        <a:buFont typeface="Arial" pitchFamily="34" charset="0"/>
        <a:buNone/>
        <a:defRPr kumimoji="0" lang="ko-KR" altLang="en-US" sz="2200" b="1" i="0" u="none" strike="noStrike" kern="1200" cap="none" spc="0" normalizeH="0" baseline="0" smtClean="0">
          <a:ln>
            <a:noFill/>
          </a:ln>
          <a:solidFill>
            <a:srgbClr val="808080"/>
          </a:solidFill>
          <a:effectLst/>
          <a:uLnTx/>
          <a:uFillTx/>
          <a:latin typeface="Rix고딕 M" pitchFamily="18" charset="-127"/>
          <a:ea typeface="Rix고딕 M" pitchFamily="18" charset="-127"/>
          <a:cs typeface="+mn-cs"/>
        </a:defRPr>
      </a:lvl1pPr>
      <a:lvl2pPr marL="392399" marR="0" indent="-165948" algn="l" defTabSz="995690" rtl="0" eaLnBrk="1" fontAlgn="auto" latinLnBrk="1" hangingPunct="1">
        <a:lnSpc>
          <a:spcPct val="100000"/>
        </a:lnSpc>
        <a:spcBef>
          <a:spcPts val="0"/>
        </a:spcBef>
        <a:spcAft>
          <a:spcPts val="653"/>
        </a:spcAft>
        <a:buClr>
          <a:srgbClr val="345296"/>
        </a:buClr>
        <a:buSzPct val="100000"/>
        <a:buFont typeface="Arial" pitchFamily="34" charset="0"/>
        <a:buChar char="•"/>
        <a:tabLst/>
        <a:defRPr kumimoji="0" lang="ko-KR" altLang="en-US" sz="2000" b="1" i="0" u="none" strike="noStrike" kern="1200" cap="none" spc="0" normalizeH="0" baseline="0" smtClean="0">
          <a:ln>
            <a:noFill/>
          </a:ln>
          <a:solidFill>
            <a:srgbClr val="808080"/>
          </a:solidFill>
          <a:effectLst/>
          <a:uLnTx/>
          <a:uFillTx/>
          <a:latin typeface="Rix고딕 M" pitchFamily="18" charset="-127"/>
          <a:ea typeface="Rix고딕 M" pitchFamily="18" charset="-127"/>
          <a:cs typeface="+mn-cs"/>
        </a:defRPr>
      </a:lvl2pPr>
      <a:lvl3pPr marL="682809" indent="-214350" algn="l" defTabSz="995690" rtl="0" eaLnBrk="1" latinLnBrk="1" hangingPunct="1">
        <a:lnSpc>
          <a:spcPct val="100000"/>
        </a:lnSpc>
        <a:spcBef>
          <a:spcPts val="0"/>
        </a:spcBef>
        <a:spcAft>
          <a:spcPts val="653"/>
        </a:spcAft>
        <a:buFont typeface="나눔고딕" pitchFamily="50" charset="-127"/>
        <a:buChar char="–"/>
        <a:defRPr kumimoji="0" lang="ko-KR" altLang="en-US" sz="1700" b="1" i="0" u="none" strike="noStrike" kern="1200" cap="none" spc="0" normalizeH="0" baseline="0" smtClean="0">
          <a:ln>
            <a:noFill/>
          </a:ln>
          <a:solidFill>
            <a:srgbClr val="808080"/>
          </a:solidFill>
          <a:effectLst/>
          <a:uLnTx/>
          <a:uFillTx/>
          <a:latin typeface="Rix고딕 M" pitchFamily="18" charset="-127"/>
          <a:ea typeface="Rix고딕 M" pitchFamily="18" charset="-127"/>
          <a:cs typeface="+mn-cs"/>
        </a:defRPr>
      </a:lvl3pPr>
      <a:lvl4pPr marL="592920" indent="0" algn="l" defTabSz="995690" rtl="0" eaLnBrk="1" latinLnBrk="1" hangingPunct="1">
        <a:lnSpc>
          <a:spcPct val="100000"/>
        </a:lnSpc>
        <a:spcBef>
          <a:spcPts val="0"/>
        </a:spcBef>
        <a:spcAft>
          <a:spcPts val="653"/>
        </a:spcAft>
        <a:buFont typeface="Arial" pitchFamily="34" charset="0"/>
        <a:buNone/>
        <a:defRPr kumimoji="0" lang="ko-KR" altLang="en-US" sz="1500" b="1" i="0" u="none" strike="noStrike" kern="1200" cap="none" spc="0" normalizeH="0" baseline="0" smtClean="0">
          <a:ln>
            <a:noFill/>
          </a:ln>
          <a:solidFill>
            <a:srgbClr val="808080"/>
          </a:solidFill>
          <a:effectLst/>
          <a:uLnTx/>
          <a:uFillTx/>
          <a:latin typeface="Rix고딕 M" pitchFamily="18" charset="-127"/>
          <a:ea typeface="Rix고딕 M" pitchFamily="18" charset="-127"/>
          <a:cs typeface="+mn-cs"/>
        </a:defRPr>
      </a:lvl4pPr>
      <a:lvl5pPr marL="834928" indent="0" algn="l" defTabSz="995690" rtl="0" eaLnBrk="1" latinLnBrk="1" hangingPunct="1">
        <a:lnSpc>
          <a:spcPct val="100000"/>
        </a:lnSpc>
        <a:spcBef>
          <a:spcPts val="0"/>
        </a:spcBef>
        <a:spcAft>
          <a:spcPts val="653"/>
        </a:spcAft>
        <a:buFont typeface="Arial" pitchFamily="34" charset="0"/>
        <a:buNone/>
        <a:defRPr kumimoji="0" lang="ko-KR" altLang="en-US" sz="1300" b="1" i="0" u="none" strike="noStrike" kern="1200" cap="none" spc="0" normalizeH="0" baseline="0">
          <a:ln>
            <a:noFill/>
          </a:ln>
          <a:solidFill>
            <a:srgbClr val="808080"/>
          </a:solidFill>
          <a:effectLst/>
          <a:uLnTx/>
          <a:uFillTx/>
          <a:latin typeface="Rix고딕 M" pitchFamily="18" charset="-127"/>
          <a:ea typeface="Rix고딕 M" pitchFamily="18" charset="-127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image" Target="../media/image29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1.png"/><Relationship Id="rId9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microsoft.com/office/2007/relationships/hdphoto" Target="../media/hdphoto3.wdp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24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gif"/><Relationship Id="rId5" Type="http://schemas.openxmlformats.org/officeDocument/2006/relationships/hyperlink" Target="https://recruit.etoos.com/main/main.do" TargetMode="External"/><Relationship Id="rId4" Type="http://schemas.openxmlformats.org/officeDocument/2006/relationships/image" Target="../media/image7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/>
          <p:cNvGrpSpPr/>
          <p:nvPr/>
        </p:nvGrpSpPr>
        <p:grpSpPr>
          <a:xfrm>
            <a:off x="0" y="1965820"/>
            <a:ext cx="4716570" cy="2482651"/>
            <a:chOff x="0" y="1822253"/>
            <a:chExt cx="5004610" cy="2634267"/>
          </a:xfrm>
        </p:grpSpPr>
        <p:grpSp>
          <p:nvGrpSpPr>
            <p:cNvPr id="28" name="그룹 27"/>
            <p:cNvGrpSpPr/>
            <p:nvPr/>
          </p:nvGrpSpPr>
          <p:grpSpPr>
            <a:xfrm>
              <a:off x="1079980" y="1822253"/>
              <a:ext cx="3924630" cy="2634267"/>
              <a:chOff x="1062020" y="1724163"/>
              <a:chExt cx="3924630" cy="2634267"/>
            </a:xfrm>
          </p:grpSpPr>
          <p:sp>
            <p:nvSpPr>
              <p:cNvPr id="10" name="제목 1"/>
              <p:cNvSpPr txBox="1">
                <a:spLocks/>
              </p:cNvSpPr>
              <p:nvPr/>
            </p:nvSpPr>
            <p:spPr>
              <a:xfrm>
                <a:off x="1062020" y="1724163"/>
                <a:ext cx="3924630" cy="1436920"/>
              </a:xfrm>
              <a:prstGeom prst="rect">
                <a:avLst/>
              </a:prstGeom>
              <a:noFill/>
              <a:ln w="19050" algn="ctr">
                <a:noFill/>
                <a:round/>
                <a:headEnd/>
                <a:tailEnd/>
              </a:ln>
              <a:effectLst/>
            </p:spPr>
            <p:txBody>
              <a:bodyPr vert="horz" wrap="square" lIns="0" tIns="0" rIns="0" bIns="0" rtlCol="0" anchor="t">
                <a:spAutoFit/>
                <a:scene3d>
                  <a:camera prst="orthographicFront"/>
                  <a:lightRig rig="threePt" dir="t"/>
                </a:scene3d>
                <a:sp3d prstMaterial="softEdge">
                  <a:bevelT w="0" h="0"/>
                  <a:contourClr>
                    <a:schemeClr val="bg1"/>
                  </a:contourClr>
                </a:sp3d>
              </a:bodyPr>
              <a:lstStyle>
                <a:lvl1pPr marL="0" indent="0" algn="l" defTabSz="914400" rtl="0" eaLnBrk="1" latinLnBrk="1" hangingPunct="1">
                  <a:spcBef>
                    <a:spcPct val="0"/>
                  </a:spcBef>
                  <a:buFont typeface="Arial" pitchFamily="34" charset="0"/>
                  <a:buNone/>
                  <a:defRPr kumimoji="1" lang="ko-KR" altLang="en-US" sz="4400" b="0" i="0" u="none" strike="noStrike" kern="0" cap="none" spc="0" normalizeH="0" baseline="0">
                    <a:ln w="15875" cmpd="sng">
                      <a:noFill/>
                      <a:prstDash val="solid"/>
                    </a:ln>
                    <a:gradFill>
                      <a:gsLst>
                        <a:gs pos="0">
                          <a:schemeClr val="tx1">
                            <a:lumMod val="90000"/>
                            <a:lumOff val="10000"/>
                          </a:schemeClr>
                        </a:gs>
                        <a:gs pos="50000">
                          <a:schemeClr val="tx1">
                            <a:lumMod val="90000"/>
                            <a:lumOff val="10000"/>
                          </a:schemeClr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Rix고딕 EB" panose="02020603020101020101" pitchFamily="18" charset="-127"/>
                    <a:ea typeface="Rix고딕 EB" panose="02020603020101020101" pitchFamily="18" charset="-127"/>
                    <a:cs typeface="+mj-cs"/>
                  </a:defRPr>
                </a:lvl1pPr>
              </a:lstStyle>
              <a:p>
                <a:pPr>
                  <a:lnSpc>
                    <a:spcPct val="110000"/>
                  </a:lnSpc>
                </a:pPr>
                <a:r>
                  <a:rPr lang="ko-KR" altLang="en-US" sz="4000" spc="-87" dirty="0">
                    <a:ln w="15875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accent2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문제은행</a:t>
                </a:r>
                <a:endParaRPr lang="en-US" altLang="ko-KR" sz="4000" spc="-87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accent2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ko-KR" sz="4000" spc="-87" dirty="0">
                    <a:ln w="15875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rgbClr val="002060"/>
                    </a:soli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DB</a:t>
                </a:r>
                <a:r>
                  <a:rPr lang="ko-KR" altLang="en-US" sz="4000" spc="-87" dirty="0">
                    <a:ln w="15875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rgbClr val="002060"/>
                    </a:soli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통합 프로젝트</a:t>
                </a:r>
                <a:endParaRPr lang="en-US" altLang="ko-KR" sz="4000" spc="-87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rgbClr val="002060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  <p:sp>
            <p:nvSpPr>
              <p:cNvPr id="11" name="제목 1"/>
              <p:cNvSpPr txBox="1">
                <a:spLocks/>
              </p:cNvSpPr>
              <p:nvPr/>
            </p:nvSpPr>
            <p:spPr>
              <a:xfrm>
                <a:off x="1062020" y="3649509"/>
                <a:ext cx="3636590" cy="326573"/>
              </a:xfrm>
              <a:prstGeom prst="rect">
                <a:avLst/>
              </a:prstGeom>
              <a:noFill/>
              <a:ln w="19050" algn="ctr">
                <a:noFill/>
                <a:round/>
                <a:headEnd/>
                <a:tailEnd/>
              </a:ln>
              <a:effectLst/>
            </p:spPr>
            <p:txBody>
              <a:bodyPr vert="horz" wrap="square" lIns="0" tIns="0" rIns="0" bIns="0" rtlCol="0" anchor="b">
                <a:spAutoFit/>
                <a:scene3d>
                  <a:camera prst="orthographicFront"/>
                  <a:lightRig rig="threePt" dir="t"/>
                </a:scene3d>
                <a:sp3d prstMaterial="softEdge">
                  <a:bevelT w="0" h="0"/>
                  <a:contourClr>
                    <a:schemeClr val="bg1"/>
                  </a:contourClr>
                </a:sp3d>
              </a:bodyPr>
              <a:lstStyle>
                <a:lvl1pPr marL="0" indent="0" algn="l" defTabSz="914400" rtl="0" eaLnBrk="1" latinLnBrk="1" hangingPunct="1">
                  <a:spcBef>
                    <a:spcPct val="0"/>
                  </a:spcBef>
                  <a:buFont typeface="Arial" pitchFamily="34" charset="0"/>
                  <a:buNone/>
                  <a:defRPr kumimoji="1" lang="ko-KR" altLang="en-US" sz="4400" b="0" i="0" u="none" strike="noStrike" kern="0" cap="none" spc="0" normalizeH="0" baseline="0">
                    <a:ln w="15875" cmpd="sng">
                      <a:noFill/>
                      <a:prstDash val="solid"/>
                    </a:ln>
                    <a:gradFill>
                      <a:gsLst>
                        <a:gs pos="0">
                          <a:schemeClr val="tx1">
                            <a:lumMod val="90000"/>
                            <a:lumOff val="10000"/>
                          </a:schemeClr>
                        </a:gs>
                        <a:gs pos="50000">
                          <a:schemeClr val="tx1">
                            <a:lumMod val="90000"/>
                            <a:lumOff val="10000"/>
                          </a:schemeClr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Rix고딕 EB" panose="02020603020101020101" pitchFamily="18" charset="-127"/>
                    <a:ea typeface="Rix고딕 EB" panose="02020603020101020101" pitchFamily="18" charset="-127"/>
                    <a:cs typeface="+mj-cs"/>
                  </a:defRPr>
                </a:lvl1pPr>
              </a:lstStyle>
              <a:p>
                <a:r>
                  <a:rPr lang="ko-KR" altLang="en-US" sz="2000" dirty="0">
                    <a:ln w="15875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착수보고</a:t>
                </a:r>
                <a:endParaRPr lang="en-US" altLang="ko-KR" sz="2000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endParaRPr>
              </a:p>
            </p:txBody>
          </p:sp>
          <p:sp>
            <p:nvSpPr>
              <p:cNvPr id="12" name="제목 1"/>
              <p:cNvSpPr txBox="1">
                <a:spLocks/>
              </p:cNvSpPr>
              <p:nvPr/>
            </p:nvSpPr>
            <p:spPr>
              <a:xfrm>
                <a:off x="1062021" y="4089007"/>
                <a:ext cx="936130" cy="269423"/>
              </a:xfrm>
              <a:prstGeom prst="rect">
                <a:avLst/>
              </a:prstGeom>
              <a:noFill/>
              <a:ln w="19050" algn="ctr">
                <a:noFill/>
                <a:round/>
                <a:headEnd/>
                <a:tailEnd/>
              </a:ln>
              <a:effectLst/>
            </p:spPr>
            <p:txBody>
              <a:bodyPr vert="horz" wrap="square" lIns="0" tIns="0" rIns="0" bIns="0" rtlCol="0" anchor="ctr">
                <a:spAutoFit/>
                <a:scene3d>
                  <a:camera prst="orthographicFront"/>
                  <a:lightRig rig="threePt" dir="t"/>
                </a:scene3d>
                <a:sp3d prstMaterial="softEdge">
                  <a:bevelT w="0" h="0"/>
                  <a:contourClr>
                    <a:schemeClr val="bg1"/>
                  </a:contourClr>
                </a:sp3d>
              </a:bodyPr>
              <a:lstStyle>
                <a:lvl1pPr marL="0" indent="0" algn="l" defTabSz="914400" rtl="0" eaLnBrk="1" latinLnBrk="1" hangingPunct="1">
                  <a:spcBef>
                    <a:spcPct val="0"/>
                  </a:spcBef>
                  <a:buFont typeface="Arial" pitchFamily="34" charset="0"/>
                  <a:buNone/>
                  <a:defRPr kumimoji="1" lang="ko-KR" altLang="en-US" sz="4400" b="0" i="0" u="none" strike="noStrike" kern="0" cap="none" spc="0" normalizeH="0" baseline="0">
                    <a:ln w="15875" cmpd="sng">
                      <a:noFill/>
                      <a:prstDash val="solid"/>
                    </a:ln>
                    <a:gradFill>
                      <a:gsLst>
                        <a:gs pos="0">
                          <a:schemeClr val="tx1">
                            <a:lumMod val="90000"/>
                            <a:lumOff val="10000"/>
                          </a:schemeClr>
                        </a:gs>
                        <a:gs pos="50000">
                          <a:schemeClr val="tx1">
                            <a:lumMod val="90000"/>
                            <a:lumOff val="10000"/>
                          </a:schemeClr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Rix고딕 EB" panose="02020603020101020101" pitchFamily="18" charset="-127"/>
                    <a:ea typeface="Rix고딕 EB" panose="02020603020101020101" pitchFamily="18" charset="-127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ko-KR" sz="1100" spc="-87" dirty="0">
                    <a:ln w="15875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ea"/>
                    <a:ea typeface="+mj-ea"/>
                  </a:rPr>
                  <a:t>2019.05.23</a:t>
                </a:r>
              </a:p>
            </p:txBody>
          </p:sp>
        </p:grpSp>
        <p:grpSp>
          <p:nvGrpSpPr>
            <p:cNvPr id="34" name="그룹 33"/>
            <p:cNvGrpSpPr/>
            <p:nvPr/>
          </p:nvGrpSpPr>
          <p:grpSpPr>
            <a:xfrm>
              <a:off x="0" y="3467892"/>
              <a:ext cx="4832738" cy="583"/>
              <a:chOff x="54050" y="3467892"/>
              <a:chExt cx="4832738" cy="583"/>
            </a:xfrm>
          </p:grpSpPr>
          <p:cxnSp>
            <p:nvCxnSpPr>
              <p:cNvPr id="32" name="직선 연결선 31"/>
              <p:cNvCxnSpPr/>
              <p:nvPr/>
            </p:nvCxnSpPr>
            <p:spPr>
              <a:xfrm>
                <a:off x="1134031" y="3468475"/>
                <a:ext cx="3752757" cy="0"/>
              </a:xfrm>
              <a:prstGeom prst="line">
                <a:avLst/>
              </a:prstGeom>
              <a:ln w="19050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>
                <a:off x="54050" y="3467892"/>
                <a:ext cx="1079981" cy="0"/>
              </a:xfrm>
              <a:prstGeom prst="line">
                <a:avLst/>
              </a:prstGeom>
              <a:ln w="19050">
                <a:solidFill>
                  <a:srgbClr val="7CA52A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115595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3707518" y="2251664"/>
            <a:ext cx="2455677" cy="2927422"/>
            <a:chOff x="3762480" y="2233679"/>
            <a:chExt cx="2455677" cy="2794451"/>
          </a:xfrm>
        </p:grpSpPr>
        <p:grpSp>
          <p:nvGrpSpPr>
            <p:cNvPr id="4" name="그룹 3"/>
            <p:cNvGrpSpPr/>
            <p:nvPr/>
          </p:nvGrpSpPr>
          <p:grpSpPr>
            <a:xfrm>
              <a:off x="3762480" y="2233679"/>
              <a:ext cx="1888214" cy="455385"/>
              <a:chOff x="1031006" y="2458662"/>
              <a:chExt cx="1888214" cy="316530"/>
            </a:xfrm>
          </p:grpSpPr>
          <p:sp>
            <p:nvSpPr>
              <p:cNvPr id="20" name="TextBox 4"/>
              <p:cNvSpPr txBox="1"/>
              <p:nvPr/>
            </p:nvSpPr>
            <p:spPr>
              <a:xfrm>
                <a:off x="1031006" y="2458662"/>
                <a:ext cx="403957" cy="316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defTabSz="457148" latinLnBrk="0">
                  <a:defRPr sz="2800" spc="50">
                    <a:ln w="13500">
                      <a:solidFill>
                        <a:srgbClr val="002060">
                          <a:alpha val="6000"/>
                        </a:srgbClr>
                      </a:solidFill>
                      <a:prstDash val="solid"/>
                    </a:ln>
                    <a:solidFill>
                      <a:srgbClr val="0479BF"/>
                    </a:solidFill>
                    <a:effectLst/>
                    <a:latin typeface="HY견명조" panose="02030600000101010101" pitchFamily="18" charset="-127"/>
                    <a:ea typeface="HY견명조" panose="02030600000101010101" pitchFamily="18" charset="-127"/>
                  </a:defRPr>
                </a:lvl1pPr>
                <a:lvl2pPr marL="457148" defTabSz="457148" latinLnBrk="0">
                  <a:defRPr sz="1800"/>
                </a:lvl2pPr>
                <a:lvl3pPr marL="914296" defTabSz="457148" latinLnBrk="0">
                  <a:defRPr sz="1800"/>
                </a:lvl3pPr>
                <a:lvl4pPr marL="1371444" defTabSz="457148" latinLnBrk="0">
                  <a:defRPr sz="1800"/>
                </a:lvl4pPr>
                <a:lvl5pPr marL="1828592" defTabSz="457148" latinLnBrk="0">
                  <a:defRPr sz="1800"/>
                </a:lvl5pPr>
                <a:lvl6pPr marL="2285740" defTabSz="457148" latinLnBrk="0">
                  <a:defRPr sz="1800"/>
                </a:lvl6pPr>
                <a:lvl7pPr marL="2742888" defTabSz="457148" latinLnBrk="0">
                  <a:defRPr sz="1800"/>
                </a:lvl7pPr>
                <a:lvl8pPr marL="3200036" defTabSz="457148" latinLnBrk="0">
                  <a:defRPr sz="1800"/>
                </a:lvl8pPr>
                <a:lvl9pPr marL="3657184" defTabSz="457148" latinLnBrk="0">
                  <a:defRPr sz="1800"/>
                </a:lvl9pPr>
              </a:lstStyle>
              <a:p>
                <a:r>
                  <a:rPr lang="en-US" altLang="ko-KR" sz="3100" dirty="0">
                    <a:ln w="13500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Ⅰ</a:t>
                </a:r>
                <a:endParaRPr lang="ko-KR" altLang="en-US" sz="3100" dirty="0">
                  <a:ln w="13500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1" name="TextBox 8"/>
              <p:cNvSpPr txBox="1"/>
              <p:nvPr/>
            </p:nvSpPr>
            <p:spPr>
              <a:xfrm>
                <a:off x="1696128" y="2520217"/>
                <a:ext cx="1223092" cy="245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defTabSz="457148" latinLnBrk="0">
                  <a:defRPr b="0" spc="50">
                    <a:ln w="0">
                      <a:solidFill>
                        <a:srgbClr val="002060">
                          <a:alpha val="6000"/>
                        </a:srgbClr>
                      </a:solidFill>
                      <a:prstDash val="solid"/>
                    </a:ln>
                    <a:gradFill>
                      <a:gsLst>
                        <a:gs pos="54583">
                          <a:schemeClr val="tx1">
                            <a:lumMod val="85000"/>
                            <a:lumOff val="15000"/>
                          </a:schemeClr>
                        </a:gs>
                        <a:gs pos="34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effectLst/>
                    <a:latin typeface="Rix고딕 M" panose="02020603020101020101" pitchFamily="18" charset="-127"/>
                    <a:ea typeface="Rix고딕 M" panose="02020603020101020101" pitchFamily="18" charset="-127"/>
                  </a:defRPr>
                </a:lvl1pPr>
                <a:lvl2pPr marL="457148" defTabSz="457148" latinLnBrk="0">
                  <a:defRPr sz="1800"/>
                </a:lvl2pPr>
                <a:lvl3pPr marL="914296" defTabSz="457148" latinLnBrk="0">
                  <a:defRPr sz="1800"/>
                </a:lvl3pPr>
                <a:lvl4pPr marL="1371444" defTabSz="457148" latinLnBrk="0">
                  <a:defRPr sz="1800"/>
                </a:lvl4pPr>
                <a:lvl5pPr marL="1828592" defTabSz="457148" latinLnBrk="0">
                  <a:defRPr sz="1800"/>
                </a:lvl5pPr>
                <a:lvl6pPr marL="2285740" defTabSz="457148" latinLnBrk="0">
                  <a:defRPr sz="1800"/>
                </a:lvl6pPr>
                <a:lvl7pPr marL="2742888" defTabSz="457148" latinLnBrk="0">
                  <a:defRPr sz="1800"/>
                </a:lvl7pPr>
                <a:lvl8pPr marL="3200036" defTabSz="457148" latinLnBrk="0">
                  <a:defRPr sz="1800"/>
                </a:lvl8pPr>
                <a:lvl9pPr marL="3657184" defTabSz="457148" latinLnBrk="0">
                  <a:defRPr sz="1800"/>
                </a:lvl9pPr>
              </a:lstStyle>
              <a:p>
                <a:r>
                  <a:rPr lang="ko-KR" altLang="en-US" sz="2400" dirty="0">
                    <a:ln w="0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</a:rPr>
                  <a:t>사업 개요</a:t>
                </a:r>
              </a:p>
            </p:txBody>
          </p:sp>
        </p:grpSp>
        <p:grpSp>
          <p:nvGrpSpPr>
            <p:cNvPr id="5" name="그룹 4"/>
            <p:cNvGrpSpPr/>
            <p:nvPr/>
          </p:nvGrpSpPr>
          <p:grpSpPr>
            <a:xfrm>
              <a:off x="3762480" y="3013370"/>
              <a:ext cx="2455677" cy="455386"/>
              <a:chOff x="1031006" y="2990345"/>
              <a:chExt cx="2455677" cy="316530"/>
            </a:xfrm>
          </p:grpSpPr>
          <p:sp>
            <p:nvSpPr>
              <p:cNvPr id="23" name="TextBox 4"/>
              <p:cNvSpPr txBox="1"/>
              <p:nvPr/>
            </p:nvSpPr>
            <p:spPr>
              <a:xfrm>
                <a:off x="1031006" y="2990345"/>
                <a:ext cx="403957" cy="316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defTabSz="457148" latinLnBrk="0">
                  <a:defRPr sz="2800" spc="50">
                    <a:ln w="13500">
                      <a:solidFill>
                        <a:srgbClr val="002060">
                          <a:alpha val="6000"/>
                        </a:srgbClr>
                      </a:solidFill>
                      <a:prstDash val="solid"/>
                    </a:ln>
                    <a:solidFill>
                      <a:srgbClr val="0479BF"/>
                    </a:solidFill>
                    <a:effectLst/>
                    <a:latin typeface="HY견명조" panose="02030600000101010101" pitchFamily="18" charset="-127"/>
                    <a:ea typeface="HY견명조" panose="02030600000101010101" pitchFamily="18" charset="-127"/>
                  </a:defRPr>
                </a:lvl1pPr>
                <a:lvl2pPr marL="457148" defTabSz="457148" latinLnBrk="0">
                  <a:defRPr sz="1800"/>
                </a:lvl2pPr>
                <a:lvl3pPr marL="914296" defTabSz="457148" latinLnBrk="0">
                  <a:defRPr sz="1800"/>
                </a:lvl3pPr>
                <a:lvl4pPr marL="1371444" defTabSz="457148" latinLnBrk="0">
                  <a:defRPr sz="1800"/>
                </a:lvl4pPr>
                <a:lvl5pPr marL="1828592" defTabSz="457148" latinLnBrk="0">
                  <a:defRPr sz="1800"/>
                </a:lvl5pPr>
                <a:lvl6pPr marL="2285740" defTabSz="457148" latinLnBrk="0">
                  <a:defRPr sz="1800"/>
                </a:lvl6pPr>
                <a:lvl7pPr marL="2742888" defTabSz="457148" latinLnBrk="0">
                  <a:defRPr sz="1800"/>
                </a:lvl7pPr>
                <a:lvl8pPr marL="3200036" defTabSz="457148" latinLnBrk="0">
                  <a:defRPr sz="1800"/>
                </a:lvl8pPr>
                <a:lvl9pPr marL="3657184" defTabSz="457148" latinLnBrk="0">
                  <a:defRPr sz="1800"/>
                </a:lvl9pPr>
              </a:lstStyle>
              <a:p>
                <a:r>
                  <a:rPr lang="en-US" altLang="ko-KR" sz="3100" dirty="0">
                    <a:ln w="13500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Ⅱ</a:t>
                </a:r>
                <a:endParaRPr lang="ko-KR" altLang="en-US" sz="3100" dirty="0">
                  <a:ln w="13500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5" name="TextBox 8"/>
              <p:cNvSpPr txBox="1"/>
              <p:nvPr/>
            </p:nvSpPr>
            <p:spPr>
              <a:xfrm>
                <a:off x="1696128" y="3051903"/>
                <a:ext cx="1790555" cy="245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defTabSz="457148" latinLnBrk="0">
                  <a:defRPr b="0" spc="50">
                    <a:ln w="0">
                      <a:solidFill>
                        <a:srgbClr val="002060">
                          <a:alpha val="6000"/>
                        </a:srgbClr>
                      </a:solidFill>
                      <a:prstDash val="solid"/>
                    </a:ln>
                    <a:gradFill>
                      <a:gsLst>
                        <a:gs pos="54583">
                          <a:schemeClr val="tx1">
                            <a:lumMod val="85000"/>
                            <a:lumOff val="15000"/>
                          </a:schemeClr>
                        </a:gs>
                        <a:gs pos="34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effectLst/>
                    <a:latin typeface="Rix고딕 M" panose="02020603020101020101" pitchFamily="18" charset="-127"/>
                    <a:ea typeface="Rix고딕 M" panose="02020603020101020101" pitchFamily="18" charset="-127"/>
                  </a:defRPr>
                </a:lvl1pPr>
                <a:lvl2pPr marL="457148" defTabSz="457148" latinLnBrk="0">
                  <a:defRPr sz="1800"/>
                </a:lvl2pPr>
                <a:lvl3pPr marL="914296" defTabSz="457148" latinLnBrk="0">
                  <a:defRPr sz="1800"/>
                </a:lvl3pPr>
                <a:lvl4pPr marL="1371444" defTabSz="457148" latinLnBrk="0">
                  <a:defRPr sz="1800"/>
                </a:lvl4pPr>
                <a:lvl5pPr marL="1828592" defTabSz="457148" latinLnBrk="0">
                  <a:defRPr sz="1800"/>
                </a:lvl5pPr>
                <a:lvl6pPr marL="2285740" defTabSz="457148" latinLnBrk="0">
                  <a:defRPr sz="1800"/>
                </a:lvl6pPr>
                <a:lvl7pPr marL="2742888" defTabSz="457148" latinLnBrk="0">
                  <a:defRPr sz="1800"/>
                </a:lvl7pPr>
                <a:lvl8pPr marL="3200036" defTabSz="457148" latinLnBrk="0">
                  <a:defRPr sz="1800"/>
                </a:lvl8pPr>
                <a:lvl9pPr marL="3657184" defTabSz="457148" latinLnBrk="0">
                  <a:defRPr sz="1800"/>
                </a:lvl9pPr>
              </a:lstStyle>
              <a:p>
                <a:r>
                  <a:rPr lang="ko-KR" altLang="en-US" sz="2400" dirty="0">
                    <a:ln w="0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</a:rPr>
                  <a:t>사업수행 방안</a:t>
                </a:r>
              </a:p>
            </p:txBody>
          </p:sp>
        </p:grpSp>
        <p:grpSp>
          <p:nvGrpSpPr>
            <p:cNvPr id="6" name="그룹 5"/>
            <p:cNvGrpSpPr/>
            <p:nvPr/>
          </p:nvGrpSpPr>
          <p:grpSpPr>
            <a:xfrm>
              <a:off x="3762480" y="3793056"/>
              <a:ext cx="2455677" cy="455386"/>
              <a:chOff x="1031006" y="3493501"/>
              <a:chExt cx="2455677" cy="316530"/>
            </a:xfrm>
          </p:grpSpPr>
          <p:sp>
            <p:nvSpPr>
              <p:cNvPr id="26" name="TextBox 4"/>
              <p:cNvSpPr txBox="1"/>
              <p:nvPr/>
            </p:nvSpPr>
            <p:spPr>
              <a:xfrm>
                <a:off x="1031006" y="3493501"/>
                <a:ext cx="403957" cy="316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defTabSz="457148" latinLnBrk="0">
                  <a:defRPr sz="2800" spc="50">
                    <a:ln w="13500">
                      <a:solidFill>
                        <a:srgbClr val="002060">
                          <a:alpha val="6000"/>
                        </a:srgbClr>
                      </a:solidFill>
                      <a:prstDash val="solid"/>
                    </a:ln>
                    <a:solidFill>
                      <a:srgbClr val="0479BF"/>
                    </a:solidFill>
                    <a:effectLst/>
                    <a:latin typeface="HY견명조" panose="02030600000101010101" pitchFamily="18" charset="-127"/>
                    <a:ea typeface="HY견명조" panose="02030600000101010101" pitchFamily="18" charset="-127"/>
                  </a:defRPr>
                </a:lvl1pPr>
                <a:lvl2pPr marL="457148" defTabSz="457148" latinLnBrk="0">
                  <a:defRPr sz="1800"/>
                </a:lvl2pPr>
                <a:lvl3pPr marL="914296" defTabSz="457148" latinLnBrk="0">
                  <a:defRPr sz="1800"/>
                </a:lvl3pPr>
                <a:lvl4pPr marL="1371444" defTabSz="457148" latinLnBrk="0">
                  <a:defRPr sz="1800"/>
                </a:lvl4pPr>
                <a:lvl5pPr marL="1828592" defTabSz="457148" latinLnBrk="0">
                  <a:defRPr sz="1800"/>
                </a:lvl5pPr>
                <a:lvl6pPr marL="2285740" defTabSz="457148" latinLnBrk="0">
                  <a:defRPr sz="1800"/>
                </a:lvl6pPr>
                <a:lvl7pPr marL="2742888" defTabSz="457148" latinLnBrk="0">
                  <a:defRPr sz="1800"/>
                </a:lvl7pPr>
                <a:lvl8pPr marL="3200036" defTabSz="457148" latinLnBrk="0">
                  <a:defRPr sz="1800"/>
                </a:lvl8pPr>
                <a:lvl9pPr marL="3657184" defTabSz="457148" latinLnBrk="0">
                  <a:defRPr sz="1800"/>
                </a:lvl9pPr>
              </a:lstStyle>
              <a:p>
                <a:r>
                  <a:rPr lang="en-US" altLang="ko-KR" sz="3100" dirty="0">
                    <a:ln w="13500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Ⅲ</a:t>
                </a:r>
                <a:endParaRPr lang="ko-KR" altLang="en-US" sz="3100" dirty="0">
                  <a:ln w="13500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7" name="TextBox 8"/>
              <p:cNvSpPr txBox="1"/>
              <p:nvPr/>
            </p:nvSpPr>
            <p:spPr>
              <a:xfrm>
                <a:off x="1696128" y="3555060"/>
                <a:ext cx="1790555" cy="245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defTabSz="457148" latinLnBrk="0">
                  <a:defRPr b="0" spc="50">
                    <a:ln w="0">
                      <a:solidFill>
                        <a:srgbClr val="002060">
                          <a:alpha val="6000"/>
                        </a:srgbClr>
                      </a:solidFill>
                      <a:prstDash val="solid"/>
                    </a:ln>
                    <a:gradFill>
                      <a:gsLst>
                        <a:gs pos="54583">
                          <a:schemeClr val="tx1">
                            <a:lumMod val="85000"/>
                            <a:lumOff val="15000"/>
                          </a:schemeClr>
                        </a:gs>
                        <a:gs pos="34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effectLst/>
                    <a:latin typeface="Rix고딕 M" panose="02020603020101020101" pitchFamily="18" charset="-127"/>
                    <a:ea typeface="Rix고딕 M" panose="02020603020101020101" pitchFamily="18" charset="-127"/>
                  </a:defRPr>
                </a:lvl1pPr>
                <a:lvl2pPr marL="457148" defTabSz="457148" latinLnBrk="0">
                  <a:defRPr sz="1800"/>
                </a:lvl2pPr>
                <a:lvl3pPr marL="914296" defTabSz="457148" latinLnBrk="0">
                  <a:defRPr sz="1800"/>
                </a:lvl3pPr>
                <a:lvl4pPr marL="1371444" defTabSz="457148" latinLnBrk="0">
                  <a:defRPr sz="1800"/>
                </a:lvl4pPr>
                <a:lvl5pPr marL="1828592" defTabSz="457148" latinLnBrk="0">
                  <a:defRPr sz="1800"/>
                </a:lvl5pPr>
                <a:lvl6pPr marL="2285740" defTabSz="457148" latinLnBrk="0">
                  <a:defRPr sz="1800"/>
                </a:lvl6pPr>
                <a:lvl7pPr marL="2742888" defTabSz="457148" latinLnBrk="0">
                  <a:defRPr sz="1800"/>
                </a:lvl7pPr>
                <a:lvl8pPr marL="3200036" defTabSz="457148" latinLnBrk="0">
                  <a:defRPr sz="1800"/>
                </a:lvl8pPr>
                <a:lvl9pPr marL="3657184" defTabSz="457148" latinLnBrk="0">
                  <a:defRPr sz="1800"/>
                </a:lvl9pPr>
              </a:lstStyle>
              <a:p>
                <a:r>
                  <a:rPr lang="ko-KR" altLang="en-US" sz="2400" dirty="0">
                    <a:ln w="0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</a:rPr>
                  <a:t>사업추진 방안</a:t>
                </a:r>
              </a:p>
            </p:txBody>
          </p:sp>
        </p:grpSp>
        <p:grpSp>
          <p:nvGrpSpPr>
            <p:cNvPr id="2" name="그룹 1"/>
            <p:cNvGrpSpPr/>
            <p:nvPr/>
          </p:nvGrpSpPr>
          <p:grpSpPr>
            <a:xfrm>
              <a:off x="3762480" y="4572744"/>
              <a:ext cx="2455677" cy="455386"/>
              <a:chOff x="1289755" y="3997830"/>
              <a:chExt cx="2455677" cy="316530"/>
            </a:xfrm>
          </p:grpSpPr>
          <p:sp>
            <p:nvSpPr>
              <p:cNvPr id="15" name="TextBox 4"/>
              <p:cNvSpPr txBox="1"/>
              <p:nvPr/>
            </p:nvSpPr>
            <p:spPr>
              <a:xfrm>
                <a:off x="1289755" y="3997830"/>
                <a:ext cx="403957" cy="316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defTabSz="457148" latinLnBrk="0">
                  <a:defRPr sz="2800" spc="50">
                    <a:ln w="13500">
                      <a:solidFill>
                        <a:srgbClr val="002060">
                          <a:alpha val="6000"/>
                        </a:srgbClr>
                      </a:solidFill>
                      <a:prstDash val="solid"/>
                    </a:ln>
                    <a:solidFill>
                      <a:srgbClr val="0479BF"/>
                    </a:solidFill>
                    <a:effectLst/>
                    <a:latin typeface="HY견명조" panose="02030600000101010101" pitchFamily="18" charset="-127"/>
                    <a:ea typeface="HY견명조" panose="02030600000101010101" pitchFamily="18" charset="-127"/>
                  </a:defRPr>
                </a:lvl1pPr>
                <a:lvl2pPr marL="457148" defTabSz="457148" latinLnBrk="0">
                  <a:defRPr sz="1800"/>
                </a:lvl2pPr>
                <a:lvl3pPr marL="914296" defTabSz="457148" latinLnBrk="0">
                  <a:defRPr sz="1800"/>
                </a:lvl3pPr>
                <a:lvl4pPr marL="1371444" defTabSz="457148" latinLnBrk="0">
                  <a:defRPr sz="1800"/>
                </a:lvl4pPr>
                <a:lvl5pPr marL="1828592" defTabSz="457148" latinLnBrk="0">
                  <a:defRPr sz="1800"/>
                </a:lvl5pPr>
                <a:lvl6pPr marL="2285740" defTabSz="457148" latinLnBrk="0">
                  <a:defRPr sz="1800"/>
                </a:lvl6pPr>
                <a:lvl7pPr marL="2742888" defTabSz="457148" latinLnBrk="0">
                  <a:defRPr sz="1800"/>
                </a:lvl7pPr>
                <a:lvl8pPr marL="3200036" defTabSz="457148" latinLnBrk="0">
                  <a:defRPr sz="1800"/>
                </a:lvl8pPr>
                <a:lvl9pPr marL="3657184" defTabSz="457148" latinLnBrk="0">
                  <a:defRPr sz="1800"/>
                </a:lvl9pPr>
              </a:lstStyle>
              <a:p>
                <a:r>
                  <a:rPr lang="en-US" altLang="ko-KR" sz="3100" dirty="0">
                    <a:ln w="13500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Ⅳ</a:t>
                </a:r>
                <a:endParaRPr lang="ko-KR" altLang="en-US" sz="3100" dirty="0">
                  <a:ln w="13500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6" name="TextBox 8"/>
              <p:cNvSpPr txBox="1"/>
              <p:nvPr/>
            </p:nvSpPr>
            <p:spPr>
              <a:xfrm>
                <a:off x="1954877" y="4059389"/>
                <a:ext cx="1790555" cy="245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defTabSz="457148" latinLnBrk="0">
                  <a:defRPr b="0" spc="50">
                    <a:ln w="0">
                      <a:solidFill>
                        <a:srgbClr val="002060">
                          <a:alpha val="6000"/>
                        </a:srgbClr>
                      </a:solidFill>
                      <a:prstDash val="solid"/>
                    </a:ln>
                    <a:gradFill>
                      <a:gsLst>
                        <a:gs pos="54583">
                          <a:schemeClr val="tx1">
                            <a:lumMod val="85000"/>
                            <a:lumOff val="15000"/>
                          </a:schemeClr>
                        </a:gs>
                        <a:gs pos="34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effectLst/>
                    <a:latin typeface="Rix고딕 M" panose="02020603020101020101" pitchFamily="18" charset="-127"/>
                    <a:ea typeface="Rix고딕 M" panose="02020603020101020101" pitchFamily="18" charset="-127"/>
                  </a:defRPr>
                </a:lvl1pPr>
                <a:lvl2pPr marL="457148" defTabSz="457148" latinLnBrk="0">
                  <a:defRPr sz="1800"/>
                </a:lvl2pPr>
                <a:lvl3pPr marL="914296" defTabSz="457148" latinLnBrk="0">
                  <a:defRPr sz="1800"/>
                </a:lvl3pPr>
                <a:lvl4pPr marL="1371444" defTabSz="457148" latinLnBrk="0">
                  <a:defRPr sz="1800"/>
                </a:lvl4pPr>
                <a:lvl5pPr marL="1828592" defTabSz="457148" latinLnBrk="0">
                  <a:defRPr sz="1800"/>
                </a:lvl5pPr>
                <a:lvl6pPr marL="2285740" defTabSz="457148" latinLnBrk="0">
                  <a:defRPr sz="1800"/>
                </a:lvl6pPr>
                <a:lvl7pPr marL="2742888" defTabSz="457148" latinLnBrk="0">
                  <a:defRPr sz="1800"/>
                </a:lvl7pPr>
                <a:lvl8pPr marL="3200036" defTabSz="457148" latinLnBrk="0">
                  <a:defRPr sz="1800"/>
                </a:lvl8pPr>
                <a:lvl9pPr marL="3657184" defTabSz="457148" latinLnBrk="0">
                  <a:defRPr sz="1800"/>
                </a:lvl9pPr>
              </a:lstStyle>
              <a:p>
                <a:r>
                  <a:rPr lang="ko-KR" altLang="en-US" sz="2400" dirty="0">
                    <a:ln w="0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</a:rPr>
                  <a:t>사업관리 방안</a:t>
                </a:r>
              </a:p>
            </p:txBody>
          </p:sp>
        </p:grpSp>
      </p:grpSp>
      <p:sp>
        <p:nvSpPr>
          <p:cNvPr id="17" name="제목 1"/>
          <p:cNvSpPr txBox="1">
            <a:spLocks/>
          </p:cNvSpPr>
          <p:nvPr/>
        </p:nvSpPr>
        <p:spPr>
          <a:xfrm>
            <a:off x="900040" y="3042647"/>
            <a:ext cx="2178429" cy="424732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  <a:effectLst/>
        </p:spPr>
        <p:txBody>
          <a:bodyPr vert="horz" wrap="square" lIns="0" tIns="0" rIns="0" bIns="0" rtlCol="0" anchor="t">
            <a:spAutoFit/>
            <a:scene3d>
              <a:camera prst="orthographicFront"/>
              <a:lightRig rig="threePt" dir="t"/>
            </a:scene3d>
            <a:sp3d prstMaterial="softEdge">
              <a:bevelT w="0" h="0"/>
              <a:contourClr>
                <a:schemeClr val="bg1"/>
              </a:contourClr>
            </a:sp3d>
          </a:bodyPr>
          <a:lstStyle>
            <a:lvl1pPr marL="0" indent="0" algn="l" defTabSz="914400" rtl="0" eaLnBrk="1" latinLnBrk="1" hangingPunct="1">
              <a:spcBef>
                <a:spcPct val="0"/>
              </a:spcBef>
              <a:buFont typeface="Arial" pitchFamily="34" charset="0"/>
              <a:buNone/>
              <a:defRPr kumimoji="1" lang="ko-KR" altLang="en-US" sz="4400" b="0" i="0" u="none" strike="noStrike" kern="0" cap="none" spc="0" normalizeH="0" baseline="0">
                <a:ln w="15875" cmpd="sng">
                  <a:noFill/>
                  <a:prstDash val="solid"/>
                </a:ln>
                <a:gradFill>
                  <a:gsLst>
                    <a:gs pos="0">
                      <a:schemeClr val="tx1">
                        <a:lumMod val="90000"/>
                        <a:lumOff val="10000"/>
                      </a:schemeClr>
                    </a:gs>
                    <a:gs pos="50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effectLst/>
                <a:uLnTx/>
                <a:uFillTx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ko-KR" altLang="en-US" sz="12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accent2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문제은행 </a:t>
            </a:r>
            <a:r>
              <a:rPr lang="en-US" altLang="ko-KR" sz="12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accent2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DB</a:t>
            </a:r>
            <a:r>
              <a:rPr lang="ko-KR" altLang="en-US" sz="12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accent2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통합 프로젝트</a:t>
            </a:r>
            <a:endParaRPr lang="en-US" altLang="ko-KR" sz="1200" dirty="0">
              <a:ln w="15875" cmpd="sng">
                <a:solidFill>
                  <a:schemeClr val="accent1">
                    <a:alpha val="0"/>
                  </a:schemeClr>
                </a:solidFill>
                <a:prstDash val="solid"/>
              </a:ln>
              <a:solidFill>
                <a:schemeClr val="accent2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algn="r">
              <a:lnSpc>
                <a:spcPct val="120000"/>
              </a:lnSpc>
            </a:pPr>
            <a:r>
              <a:rPr lang="ko-KR" altLang="en-US" sz="11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착수보고</a:t>
            </a:r>
            <a:endParaRPr lang="en-US" altLang="ko-KR" sz="1100" dirty="0">
              <a:ln w="15875" cmpd="sng">
                <a:solidFill>
                  <a:schemeClr val="accent1">
                    <a:alpha val="0"/>
                  </a:schemeClr>
                </a:solidFill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0" y="2897448"/>
            <a:ext cx="3078470" cy="0"/>
            <a:chOff x="233990" y="3508319"/>
            <a:chExt cx="3078470" cy="0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1134031" y="3508319"/>
              <a:ext cx="2178429" cy="0"/>
            </a:xfrm>
            <a:prstGeom prst="line">
              <a:avLst/>
            </a:prstGeom>
            <a:ln w="1905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233990" y="3508319"/>
              <a:ext cx="900041" cy="0"/>
            </a:xfrm>
            <a:prstGeom prst="line">
              <a:avLst/>
            </a:prstGeom>
            <a:ln w="19050">
              <a:solidFill>
                <a:srgbClr val="7CA52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61" y="2124401"/>
            <a:ext cx="2544636" cy="80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846852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0" y="2124401"/>
            <a:ext cx="8695616" cy="3237615"/>
            <a:chOff x="0" y="2124401"/>
            <a:chExt cx="8695616" cy="3237615"/>
          </a:xfrm>
        </p:grpSpPr>
        <p:sp>
          <p:nvSpPr>
            <p:cNvPr id="12" name="TextBox 11"/>
            <p:cNvSpPr txBox="1"/>
            <p:nvPr/>
          </p:nvSpPr>
          <p:spPr>
            <a:xfrm>
              <a:off x="2970370" y="3564601"/>
              <a:ext cx="2808312" cy="1797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40000"/>
                </a:lnSpc>
                <a:spcBef>
                  <a:spcPts val="400"/>
                </a:spcBef>
                <a:buAutoNum type="arabicPeriod"/>
              </a:pPr>
              <a:r>
                <a:rPr lang="ko-KR" altLang="en-US" sz="18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사업 </a:t>
              </a: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추진 </a:t>
              </a:r>
              <a:r>
                <a:rPr lang="ko-KR" altLang="en-US" sz="18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개요</a:t>
              </a:r>
              <a:endParaRPr lang="en-US" altLang="ko-KR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  <a:p>
              <a:pPr marL="342900" indent="-342900">
                <a:lnSpc>
                  <a:spcPct val="140000"/>
                </a:lnSpc>
                <a:spcBef>
                  <a:spcPts val="400"/>
                </a:spcBef>
                <a:buAutoNum type="arabicPeriod"/>
              </a:pPr>
              <a:r>
                <a:rPr lang="ko-KR" altLang="en-US" sz="18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사업 개요</a:t>
              </a:r>
              <a:endPara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  <a:p>
              <a:pPr marL="342900" indent="-342900">
                <a:lnSpc>
                  <a:spcPct val="140000"/>
                </a:lnSpc>
                <a:spcBef>
                  <a:spcPts val="400"/>
                </a:spcBef>
                <a:buAutoNum type="arabicPeriod"/>
              </a:pPr>
              <a:r>
                <a:rPr lang="ko-KR" altLang="en-US" sz="18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추진 </a:t>
              </a: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배경 및 </a:t>
              </a:r>
              <a:r>
                <a:rPr lang="ko-KR" altLang="en-US" sz="18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목적</a:t>
              </a:r>
              <a:endParaRPr lang="en-US" altLang="ko-KR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  <a:p>
              <a:pPr marL="342900" indent="-342900">
                <a:lnSpc>
                  <a:spcPct val="140000"/>
                </a:lnSpc>
                <a:spcBef>
                  <a:spcPts val="400"/>
                </a:spcBef>
                <a:buAutoNum type="arabicPeriod"/>
              </a:pPr>
              <a:r>
                <a:rPr lang="ko-KR" altLang="en-US" sz="18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사업 </a:t>
              </a: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범위</a:t>
              </a:r>
            </a:p>
          </p:txBody>
        </p:sp>
        <p:sp>
          <p:nvSpPr>
            <p:cNvPr id="13" name="TextBox 4"/>
            <p:cNvSpPr txBox="1"/>
            <p:nvPr/>
          </p:nvSpPr>
          <p:spPr>
            <a:xfrm>
              <a:off x="1530170" y="2124401"/>
              <a:ext cx="929742" cy="110799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defTabSz="457148" latinLnBrk="0">
                <a:defRPr sz="5400" spc="50">
                  <a:ln w="13500">
                    <a:solidFill>
                      <a:srgbClr val="002060">
                        <a:alpha val="6000"/>
                      </a:srgbClr>
                    </a:solidFill>
                    <a:prstDash val="solid"/>
                  </a:ln>
                  <a:solidFill>
                    <a:srgbClr val="FFFFFF"/>
                  </a:solidFill>
                  <a:effectLst/>
                  <a:latin typeface="HY견명조" panose="02030600000101010101" pitchFamily="18" charset="-127"/>
                  <a:ea typeface="HY견명조" panose="02030600000101010101" pitchFamily="18" charset="-127"/>
                </a:defRPr>
              </a:lvl1pPr>
              <a:lvl2pPr marL="457148" defTabSz="457148" latinLnBrk="0">
                <a:defRPr sz="1800"/>
              </a:lvl2pPr>
              <a:lvl3pPr marL="914296" defTabSz="457148" latinLnBrk="0">
                <a:defRPr sz="1800"/>
              </a:lvl3pPr>
              <a:lvl4pPr marL="1371444" defTabSz="457148" latinLnBrk="0">
                <a:defRPr sz="1800"/>
              </a:lvl4pPr>
              <a:lvl5pPr marL="1828592" defTabSz="457148" latinLnBrk="0">
                <a:defRPr sz="1800"/>
              </a:lvl5pPr>
              <a:lvl6pPr marL="2285740" defTabSz="457148" latinLnBrk="0">
                <a:defRPr sz="1800"/>
              </a:lvl6pPr>
              <a:lvl7pPr marL="2742888" defTabSz="457148" latinLnBrk="0">
                <a:defRPr sz="1800"/>
              </a:lvl7pPr>
              <a:lvl8pPr marL="3200036" defTabSz="457148" latinLnBrk="0">
                <a:defRPr sz="1800"/>
              </a:lvl8pPr>
              <a:lvl9pPr marL="3657184" defTabSz="457148" latinLnBrk="0">
                <a:defRPr sz="1800"/>
              </a:lvl9pPr>
            </a:lstStyle>
            <a:p>
              <a:r>
                <a:rPr lang="en-US" altLang="ko-KR" sz="7200" dirty="0">
                  <a:solidFill>
                    <a:schemeClr val="accent2"/>
                  </a:solidFill>
                </a:rPr>
                <a:t>Ⅰ</a:t>
              </a:r>
            </a:p>
          </p:txBody>
        </p:sp>
        <p:sp>
          <p:nvSpPr>
            <p:cNvPr id="14" name="TextBox 8"/>
            <p:cNvSpPr txBox="1"/>
            <p:nvPr/>
          </p:nvSpPr>
          <p:spPr>
            <a:xfrm>
              <a:off x="3015774" y="2650920"/>
              <a:ext cx="1814599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defTabSz="457148" latinLnBrk="0">
                <a:defRPr b="0" spc="50">
                  <a:ln w="0">
                    <a:solidFill>
                      <a:srgbClr val="002060">
                        <a:alpha val="6000"/>
                      </a:srgbClr>
                    </a:solidFill>
                    <a:prstDash val="solid"/>
                  </a:ln>
                  <a:gradFill>
                    <a:gsLst>
                      <a:gs pos="54583">
                        <a:schemeClr val="tx1">
                          <a:lumMod val="85000"/>
                          <a:lumOff val="15000"/>
                        </a:schemeClr>
                      </a:gs>
                      <a:gs pos="34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effectLst/>
                  <a:latin typeface="Rix고딕 M" panose="02020603020101020101" pitchFamily="18" charset="-127"/>
                  <a:ea typeface="Rix고딕 M" panose="02020603020101020101" pitchFamily="18" charset="-127"/>
                </a:defRPr>
              </a:lvl1pPr>
              <a:lvl2pPr marL="457148" defTabSz="457148" latinLnBrk="0">
                <a:defRPr sz="1800"/>
              </a:lvl2pPr>
              <a:lvl3pPr marL="914296" defTabSz="457148" latinLnBrk="0">
                <a:defRPr sz="1800"/>
              </a:lvl3pPr>
              <a:lvl4pPr marL="1371444" defTabSz="457148" latinLnBrk="0">
                <a:defRPr sz="1800"/>
              </a:lvl4pPr>
              <a:lvl5pPr marL="1828592" defTabSz="457148" latinLnBrk="0">
                <a:defRPr sz="1800"/>
              </a:lvl5pPr>
              <a:lvl6pPr marL="2285740" defTabSz="457148" latinLnBrk="0">
                <a:defRPr sz="1800"/>
              </a:lvl6pPr>
              <a:lvl7pPr marL="2742888" defTabSz="457148" latinLnBrk="0">
                <a:defRPr sz="1800"/>
              </a:lvl7pPr>
              <a:lvl8pPr marL="3200036" defTabSz="457148" latinLnBrk="0">
                <a:defRPr sz="1800"/>
              </a:lvl8pPr>
              <a:lvl9pPr marL="3657184" defTabSz="457148" latinLnBrk="0">
                <a:defRPr sz="1800"/>
              </a:lvl9pPr>
            </a:lstStyle>
            <a:p>
              <a:r>
                <a:rPr lang="ko-KR" altLang="en-US" sz="3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사업 개요</a:t>
              </a: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0" y="2772491"/>
              <a:ext cx="1386150" cy="0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제목 1"/>
            <p:cNvSpPr txBox="1">
              <a:spLocks/>
            </p:cNvSpPr>
            <p:nvPr/>
          </p:nvSpPr>
          <p:spPr>
            <a:xfrm>
              <a:off x="3015774" y="2377404"/>
              <a:ext cx="5679842" cy="203133"/>
            </a:xfrm>
            <a:prstGeom prst="rect">
              <a:avLst/>
            </a:prstGeom>
            <a:noFill/>
            <a:ln w="19050" algn="ctr">
              <a:noFill/>
              <a:round/>
              <a:headEnd/>
              <a:tailEnd/>
            </a:ln>
            <a:effectLst/>
          </p:spPr>
          <p:txBody>
            <a:bodyPr vert="horz"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 prstMaterial="softEdge">
                <a:bevelT w="0" h="0"/>
                <a:contourClr>
                  <a:schemeClr val="bg1"/>
                </a:contourClr>
              </a:sp3d>
            </a:bodyPr>
            <a:lstStyle>
              <a:lvl1pPr marL="0" indent="0" algn="l" defTabSz="914400" rtl="0" eaLnBrk="1" latinLnBrk="1" hangingPunct="1">
                <a:spcBef>
                  <a:spcPct val="0"/>
                </a:spcBef>
                <a:buFont typeface="Arial" pitchFamily="34" charset="0"/>
                <a:buNone/>
                <a:defRPr kumimoji="1" lang="ko-KR" altLang="en-US" sz="4400" b="0" i="0" u="none" strike="noStrike" kern="0" cap="none" spc="0" normalizeH="0" baseline="0">
                  <a:ln w="15875" cmpd="sng">
                    <a:noFill/>
                    <a:prstDash val="solid"/>
                  </a:ln>
                  <a:gradFill>
                    <a:gsLst>
                      <a:gs pos="0">
                        <a:schemeClr val="tx1">
                          <a:lumMod val="90000"/>
                          <a:lumOff val="10000"/>
                        </a:schemeClr>
                      </a:gs>
                      <a:gs pos="50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Rix고딕 EB" panose="02020603020101020101" pitchFamily="18" charset="-127"/>
                  <a:ea typeface="Rix고딕 EB" panose="02020603020101020101" pitchFamily="18" charset="-127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ko-KR" altLang="en-US" sz="1100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문제은행 </a:t>
              </a:r>
              <a:r>
                <a:rPr lang="en-US" altLang="ko-KR" sz="1100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DB</a:t>
              </a:r>
              <a:r>
                <a:rPr lang="ko-KR" altLang="en-US" sz="1100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통합 프로젝트 │ 착수보고</a:t>
              </a:r>
              <a:endParaRPr lang="en-US" altLang="ko-KR" sz="11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52419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직사각형 162"/>
          <p:cNvSpPr/>
          <p:nvPr/>
        </p:nvSpPr>
        <p:spPr>
          <a:xfrm>
            <a:off x="0" y="5957821"/>
            <a:ext cx="10693399" cy="982304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1" rIns="91440" bIns="45721" rtlCol="0" anchor="ctr"/>
          <a:lstStyle/>
          <a:p>
            <a:pPr marL="509495" lvl="1" defTabSz="1018989"/>
            <a:endParaRPr lang="en-US" altLang="ko-KR" dirty="0">
              <a:solidFill>
                <a:prstClr val="white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사업 추진 </a:t>
            </a:r>
            <a:r>
              <a:rPr lang="ko-KR" altLang="en-US" dirty="0" smtClean="0"/>
              <a:t>개요</a:t>
            </a:r>
            <a:endParaRPr lang="en-US" altLang="ko-KR" dirty="0"/>
          </a:p>
        </p:txBody>
      </p:sp>
      <p:sp>
        <p:nvSpPr>
          <p:cNvPr id="75" name="TextBox 74"/>
          <p:cNvSpPr txBox="1"/>
          <p:nvPr/>
        </p:nvSpPr>
        <p:spPr>
          <a:xfrm>
            <a:off x="1458160" y="1364012"/>
            <a:ext cx="16379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gradFill>
                  <a:gsLst>
                    <a:gs pos="8333">
                      <a:schemeClr val="bg1">
                        <a:lumMod val="85000"/>
                      </a:schemeClr>
                    </a:gs>
                    <a:gs pos="22500">
                      <a:schemeClr val="bg1">
                        <a:lumMod val="85000"/>
                      </a:schemeClr>
                    </a:gs>
                  </a:gsLst>
                  <a:lin ang="5400000" scaled="0"/>
                </a:gradFill>
                <a:latin typeface="HY울릉도B" panose="02030600000101010101" pitchFamily="18" charset="-127"/>
                <a:ea typeface="HY울릉도B" panose="02030600000101010101" pitchFamily="18" charset="-127"/>
              </a:rPr>
              <a:t>0</a:t>
            </a:r>
            <a:r>
              <a:rPr lang="en-US" altLang="ko-KR" sz="4800" dirty="0">
                <a:gradFill>
                  <a:gsLst>
                    <a:gs pos="12500">
                      <a:srgbClr val="27497F"/>
                    </a:gs>
                    <a:gs pos="22500">
                      <a:srgbClr val="27497F"/>
                    </a:gs>
                  </a:gsLst>
                  <a:lin ang="5400000" scaled="0"/>
                </a:gradFill>
                <a:latin typeface="HY울릉도B" panose="02030600000101010101" pitchFamily="18" charset="-127"/>
                <a:ea typeface="HY울릉도B" panose="02030600000101010101" pitchFamily="18" charset="-127"/>
              </a:rPr>
              <a:t>1</a:t>
            </a:r>
            <a:endParaRPr lang="ko-KR" altLang="en-US" sz="4800" dirty="0">
              <a:gradFill>
                <a:gsLst>
                  <a:gs pos="12500">
                    <a:srgbClr val="27497F"/>
                  </a:gs>
                  <a:gs pos="22500">
                    <a:srgbClr val="27497F"/>
                  </a:gs>
                </a:gsLst>
                <a:lin ang="5400000" scaled="0"/>
              </a:gradFill>
              <a:latin typeface="HY울릉도B" panose="02030600000101010101" pitchFamily="18" charset="-127"/>
              <a:ea typeface="HY울릉도B" panose="02030600000101010101" pitchFamily="18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541992" y="1364012"/>
            <a:ext cx="16379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gradFill>
                  <a:gsLst>
                    <a:gs pos="8333">
                      <a:schemeClr val="bg1">
                        <a:lumMod val="85000"/>
                      </a:schemeClr>
                    </a:gs>
                    <a:gs pos="22500">
                      <a:schemeClr val="bg1">
                        <a:lumMod val="85000"/>
                      </a:schemeClr>
                    </a:gs>
                  </a:gsLst>
                  <a:lin ang="5400000" scaled="0"/>
                </a:gradFill>
                <a:latin typeface="HY울릉도B" panose="02030600000101010101" pitchFamily="18" charset="-127"/>
                <a:ea typeface="HY울릉도B" panose="02030600000101010101" pitchFamily="18" charset="-127"/>
              </a:rPr>
              <a:t>0</a:t>
            </a:r>
            <a:r>
              <a:rPr lang="en-US" altLang="ko-KR" sz="4800" dirty="0">
                <a:gradFill>
                  <a:gsLst>
                    <a:gs pos="0">
                      <a:srgbClr val="0070C0"/>
                    </a:gs>
                    <a:gs pos="12500">
                      <a:srgbClr val="0070C0"/>
                    </a:gs>
                  </a:gsLst>
                  <a:lin ang="5400000" scaled="0"/>
                </a:gradFill>
                <a:latin typeface="HY울릉도B" panose="02030600000101010101" pitchFamily="18" charset="-127"/>
                <a:ea typeface="HY울릉도B" panose="02030600000101010101" pitchFamily="18" charset="-127"/>
              </a:rPr>
              <a:t>2</a:t>
            </a:r>
            <a:endParaRPr lang="ko-KR" altLang="en-US" sz="4800" dirty="0">
              <a:gradFill>
                <a:gsLst>
                  <a:gs pos="0">
                    <a:srgbClr val="0070C0"/>
                  </a:gs>
                  <a:gs pos="12500">
                    <a:srgbClr val="0070C0"/>
                  </a:gs>
                </a:gsLst>
                <a:lin ang="5400000" scaled="0"/>
              </a:gradFill>
              <a:latin typeface="HY울릉도B" panose="02030600000101010101" pitchFamily="18" charset="-127"/>
              <a:ea typeface="HY울릉도B" panose="02030600000101010101" pitchFamily="18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586585" y="1364012"/>
            <a:ext cx="16379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gradFill>
                  <a:gsLst>
                    <a:gs pos="8333">
                      <a:schemeClr val="bg1">
                        <a:lumMod val="85000"/>
                      </a:schemeClr>
                    </a:gs>
                    <a:gs pos="22500">
                      <a:schemeClr val="bg1">
                        <a:lumMod val="85000"/>
                      </a:schemeClr>
                    </a:gs>
                  </a:gsLst>
                  <a:lin ang="5400000" scaled="0"/>
                </a:gradFill>
                <a:latin typeface="HY울릉도B" panose="02030600000101010101" pitchFamily="18" charset="-127"/>
                <a:ea typeface="HY울릉도B" panose="02030600000101010101" pitchFamily="18" charset="-127"/>
              </a:rPr>
              <a:t>0</a:t>
            </a:r>
            <a:r>
              <a:rPr lang="en-US" altLang="ko-KR" sz="4800" dirty="0">
                <a:gradFill>
                  <a:gsLst>
                    <a:gs pos="41667">
                      <a:srgbClr val="92D050"/>
                    </a:gs>
                    <a:gs pos="22500">
                      <a:srgbClr val="92D050"/>
                    </a:gs>
                  </a:gsLst>
                  <a:lin ang="5400000" scaled="0"/>
                </a:gradFill>
                <a:latin typeface="HY울릉도B" panose="02030600000101010101" pitchFamily="18" charset="-127"/>
                <a:ea typeface="HY울릉도B" panose="02030600000101010101" pitchFamily="18" charset="-127"/>
              </a:rPr>
              <a:t>3</a:t>
            </a:r>
            <a:endParaRPr lang="ko-KR" altLang="en-US" sz="4800" dirty="0">
              <a:gradFill>
                <a:gsLst>
                  <a:gs pos="41667">
                    <a:srgbClr val="92D050"/>
                  </a:gs>
                  <a:gs pos="22500">
                    <a:srgbClr val="92D050"/>
                  </a:gs>
                </a:gsLst>
                <a:lin ang="5400000" scaled="0"/>
              </a:gradFill>
              <a:latin typeface="HY울릉도B" panose="02030600000101010101" pitchFamily="18" charset="-127"/>
              <a:ea typeface="HY울릉도B" panose="02030600000101010101" pitchFamily="18" charset="-127"/>
            </a:endParaRPr>
          </a:p>
        </p:txBody>
      </p:sp>
      <p:grpSp>
        <p:nvGrpSpPr>
          <p:cNvPr id="78" name="그룹 77"/>
          <p:cNvGrpSpPr/>
          <p:nvPr/>
        </p:nvGrpSpPr>
        <p:grpSpPr>
          <a:xfrm>
            <a:off x="739770" y="1981770"/>
            <a:ext cx="2877564" cy="3056601"/>
            <a:chOff x="739771" y="3348571"/>
            <a:chExt cx="2558783" cy="3056601"/>
          </a:xfrm>
        </p:grpSpPr>
        <p:sp>
          <p:nvSpPr>
            <p:cNvPr id="79" name="직사각형 78"/>
            <p:cNvSpPr/>
            <p:nvPr/>
          </p:nvSpPr>
          <p:spPr>
            <a:xfrm>
              <a:off x="739775" y="3824330"/>
              <a:ext cx="2558779" cy="25808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6398"/>
              <a:endParaRPr lang="en-US" altLang="ko-KR" dirty="0">
                <a:solidFill>
                  <a:srgbClr val="FFFFFF"/>
                </a:solidFill>
              </a:endParaRPr>
            </a:p>
          </p:txBody>
        </p:sp>
        <p:sp>
          <p:nvSpPr>
            <p:cNvPr id="80" name="대각선 방향의 모서리가 둥근 사각형 79"/>
            <p:cNvSpPr/>
            <p:nvPr/>
          </p:nvSpPr>
          <p:spPr>
            <a:xfrm flipH="1">
              <a:off x="739771" y="3348571"/>
              <a:ext cx="2558779" cy="504071"/>
            </a:xfrm>
            <a:prstGeom prst="round2DiagRect">
              <a:avLst/>
            </a:prstGeom>
            <a:solidFill>
              <a:srgbClr val="27497F"/>
            </a:solidFill>
            <a:ln w="6350">
              <a:noFill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1400" spc="-65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rPr>
                <a:t>DB</a:t>
              </a:r>
              <a:r>
                <a:rPr lang="ko-KR" altLang="en-US" sz="1400" spc="-65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rPr>
                <a:t> 전환 및 </a:t>
              </a:r>
              <a:r>
                <a:rPr lang="en-US" altLang="ko-KR" sz="1400" spc="-65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rPr>
                <a:t>API </a:t>
              </a:r>
              <a:r>
                <a:rPr lang="ko-KR" altLang="en-US" sz="1400" spc="-65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rPr>
                <a:t>개발  </a:t>
              </a:r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3897073" y="1981770"/>
            <a:ext cx="2877564" cy="3056601"/>
            <a:chOff x="3619017" y="3348571"/>
            <a:chExt cx="2558783" cy="3056601"/>
          </a:xfrm>
        </p:grpSpPr>
        <p:sp>
          <p:nvSpPr>
            <p:cNvPr id="82" name="직사각형 81"/>
            <p:cNvSpPr/>
            <p:nvPr/>
          </p:nvSpPr>
          <p:spPr>
            <a:xfrm>
              <a:off x="3619021" y="3824330"/>
              <a:ext cx="2558779" cy="25808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6398"/>
              <a:endParaRPr lang="en-US" altLang="ko-KR" dirty="0">
                <a:solidFill>
                  <a:srgbClr val="FFFFFF"/>
                </a:solidFill>
              </a:endParaRPr>
            </a:p>
          </p:txBody>
        </p:sp>
        <p:sp>
          <p:nvSpPr>
            <p:cNvPr id="83" name="대각선 방향의 모서리가 둥근 사각형 82"/>
            <p:cNvSpPr/>
            <p:nvPr/>
          </p:nvSpPr>
          <p:spPr>
            <a:xfrm flipH="1">
              <a:off x="3619017" y="3348571"/>
              <a:ext cx="2558779" cy="504071"/>
            </a:xfrm>
            <a:prstGeom prst="round2DiagRect">
              <a:avLst/>
            </a:prstGeom>
            <a:solidFill>
              <a:srgbClr val="0070C0"/>
            </a:solidFill>
            <a:ln w="6350">
              <a:noFill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400" spc="-65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rPr>
                <a:t>문제은행 </a:t>
              </a:r>
              <a:r>
                <a:rPr lang="en-US" altLang="ko-KR" sz="1400" spc="-65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rPr>
                <a:t>DB </a:t>
              </a:r>
              <a:r>
                <a:rPr lang="ko-KR" altLang="en-US" sz="1400" spc="-65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rPr>
                <a:t>통합 및 콘텐츠 관리 통합</a:t>
              </a:r>
            </a:p>
          </p:txBody>
        </p:sp>
      </p:grpSp>
      <p:grpSp>
        <p:nvGrpSpPr>
          <p:cNvPr id="84" name="그룹 83"/>
          <p:cNvGrpSpPr/>
          <p:nvPr/>
        </p:nvGrpSpPr>
        <p:grpSpPr>
          <a:xfrm>
            <a:off x="7054376" y="1981770"/>
            <a:ext cx="2877564" cy="3056601"/>
            <a:chOff x="6354836" y="3348571"/>
            <a:chExt cx="2558783" cy="3056601"/>
          </a:xfrm>
        </p:grpSpPr>
        <p:sp>
          <p:nvSpPr>
            <p:cNvPr id="85" name="직사각형 84"/>
            <p:cNvSpPr/>
            <p:nvPr/>
          </p:nvSpPr>
          <p:spPr>
            <a:xfrm>
              <a:off x="6354840" y="3824330"/>
              <a:ext cx="2558779" cy="25808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6398"/>
              <a:endParaRPr lang="en-US" altLang="ko-KR" dirty="0">
                <a:solidFill>
                  <a:srgbClr val="FFFFFF"/>
                </a:solidFill>
              </a:endParaRPr>
            </a:p>
          </p:txBody>
        </p:sp>
        <p:sp>
          <p:nvSpPr>
            <p:cNvPr id="86" name="대각선 방향의 모서리가 둥근 사각형 85"/>
            <p:cNvSpPr/>
            <p:nvPr/>
          </p:nvSpPr>
          <p:spPr>
            <a:xfrm flipH="1">
              <a:off x="6354836" y="3348571"/>
              <a:ext cx="2558779" cy="504071"/>
            </a:xfrm>
            <a:prstGeom prst="round2DiagRect">
              <a:avLst/>
            </a:prstGeom>
            <a:solidFill>
              <a:srgbClr val="92D050"/>
            </a:solidFill>
            <a:ln w="6350">
              <a:noFill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400" spc="-65" dirty="0" err="1">
                  <a:gradFill>
                    <a:gsLst>
                      <a:gs pos="12083">
                        <a:schemeClr val="tx1">
                          <a:lumMod val="90000"/>
                          <a:lumOff val="10000"/>
                        </a:schemeClr>
                      </a:gs>
                      <a:gs pos="26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</a:rPr>
                <a:t>족보닷컴</a:t>
              </a:r>
              <a:r>
                <a:rPr lang="ko-KR" altLang="en-US" sz="1400" spc="-65" dirty="0">
                  <a:gradFill>
                    <a:gsLst>
                      <a:gs pos="12083">
                        <a:schemeClr val="tx1">
                          <a:lumMod val="90000"/>
                          <a:lumOff val="10000"/>
                        </a:schemeClr>
                      </a:gs>
                      <a:gs pos="26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</a:rPr>
                <a:t> 서비스 전체 이관</a:t>
              </a:r>
            </a:p>
          </p:txBody>
        </p:sp>
      </p:grpSp>
      <p:grpSp>
        <p:nvGrpSpPr>
          <p:cNvPr id="87" name="그룹 86"/>
          <p:cNvGrpSpPr/>
          <p:nvPr/>
        </p:nvGrpSpPr>
        <p:grpSpPr>
          <a:xfrm>
            <a:off x="738060" y="5040370"/>
            <a:ext cx="2968897" cy="790472"/>
            <a:chOff x="5441468" y="3238500"/>
            <a:chExt cx="2968897" cy="581228"/>
          </a:xfrm>
        </p:grpSpPr>
        <p:sp>
          <p:nvSpPr>
            <p:cNvPr id="88" name="직사각형 87"/>
            <p:cNvSpPr/>
            <p:nvPr/>
          </p:nvSpPr>
          <p:spPr>
            <a:xfrm>
              <a:off x="5441468" y="3238500"/>
              <a:ext cx="2876400" cy="58122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9" tIns="49785" rIns="99569" bIns="49785" rtlCol="0" anchor="ctr"/>
            <a:lstStyle/>
            <a:p>
              <a:pPr algn="ctr" defTabSz="1086398"/>
              <a:endParaRPr lang="en-US" altLang="ko-KR" sz="2200" dirty="0">
                <a:solidFill>
                  <a:srgbClr val="FFFFFF"/>
                </a:solidFill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3677BC8-59CD-4109-9351-FFB87F32D91B}"/>
                </a:ext>
              </a:extLst>
            </p:cNvPr>
            <p:cNvSpPr txBox="1"/>
            <p:nvPr/>
          </p:nvSpPr>
          <p:spPr>
            <a:xfrm>
              <a:off x="5513478" y="3410858"/>
              <a:ext cx="493554" cy="232021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 defTabSz="914400">
                <a:lnSpc>
                  <a:spcPct val="90000"/>
                </a:lnSpc>
                <a:spcBef>
                  <a:spcPts val="488"/>
                </a:spcBef>
                <a:buClr>
                  <a:prstClr val="white"/>
                </a:buClr>
              </a:pPr>
              <a:r>
                <a:rPr lang="ko-KR" altLang="en-US" sz="1300" spc="-5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</a:rPr>
                <a:t>특징</a:t>
              </a:r>
            </a:p>
          </p:txBody>
        </p:sp>
        <p:cxnSp>
          <p:nvCxnSpPr>
            <p:cNvPr id="90" name="직선 연결선 89"/>
            <p:cNvCxnSpPr/>
            <p:nvPr/>
          </p:nvCxnSpPr>
          <p:spPr>
            <a:xfrm>
              <a:off x="6060254" y="3390960"/>
              <a:ext cx="0" cy="317647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6011506" y="3426651"/>
              <a:ext cx="2398859" cy="23465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 fontAlgn="auto" latinLnBrk="1">
                <a:spcBef>
                  <a:spcPts val="0"/>
                </a:spcBef>
                <a:spcAft>
                  <a:spcPts val="0"/>
                </a:spcAft>
                <a:defRPr sz="1200" b="1" spc="-60">
                  <a:gradFill>
                    <a:gsLst>
                      <a:gs pos="36250">
                        <a:prstClr val="black">
                          <a:lumMod val="95000"/>
                          <a:lumOff val="5000"/>
                        </a:prstClr>
                      </a:gs>
                      <a:gs pos="20000">
                        <a:prstClr val="black">
                          <a:lumMod val="95000"/>
                          <a:lumOff val="5000"/>
                        </a:prstClr>
                      </a:gs>
                    </a:gsLst>
                    <a:lin ang="2280000" scaled="0"/>
                  </a:gradFill>
                  <a:latin typeface="맑은 고딕" panose="020B0503020000020004" pitchFamily="50" charset="-127"/>
                </a:defRPr>
              </a:lvl1pPr>
              <a:lvl2pPr marL="638617" fontAlgn="base">
                <a:spcBef>
                  <a:spcPct val="0"/>
                </a:spcBef>
                <a:spcAft>
                  <a:spcPct val="0"/>
                </a:spcAft>
                <a:defRPr sz="3352">
                  <a:latin typeface="Arial" charset="0"/>
                </a:defRPr>
              </a:lvl2pPr>
              <a:lvl3pPr marL="1277234" fontAlgn="base">
                <a:spcBef>
                  <a:spcPct val="0"/>
                </a:spcBef>
                <a:spcAft>
                  <a:spcPct val="0"/>
                </a:spcAft>
                <a:defRPr sz="3352">
                  <a:latin typeface="Arial" charset="0"/>
                </a:defRPr>
              </a:lvl3pPr>
              <a:lvl4pPr marL="1915851" fontAlgn="base">
                <a:spcBef>
                  <a:spcPct val="0"/>
                </a:spcBef>
                <a:spcAft>
                  <a:spcPct val="0"/>
                </a:spcAft>
                <a:defRPr sz="3352">
                  <a:latin typeface="Arial" charset="0"/>
                </a:defRPr>
              </a:lvl4pPr>
              <a:lvl5pPr marL="2554468" fontAlgn="base">
                <a:spcBef>
                  <a:spcPct val="0"/>
                </a:spcBef>
                <a:spcAft>
                  <a:spcPct val="0"/>
                </a:spcAft>
                <a:defRPr sz="3352">
                  <a:latin typeface="Arial" charset="0"/>
                </a:defRPr>
              </a:lvl5pPr>
              <a:lvl6pPr marL="3193085" defTabSz="1277234">
                <a:defRPr sz="3352">
                  <a:latin typeface="Arial" charset="0"/>
                </a:defRPr>
              </a:lvl6pPr>
              <a:lvl7pPr marL="3831702" defTabSz="1277234">
                <a:defRPr sz="3352">
                  <a:latin typeface="Arial" charset="0"/>
                </a:defRPr>
              </a:lvl7pPr>
              <a:lvl8pPr marL="4470319" defTabSz="1277234">
                <a:defRPr sz="3352">
                  <a:latin typeface="Arial" charset="0"/>
                </a:defRPr>
              </a:lvl8pPr>
              <a:lvl9pPr marL="5108936" defTabSz="1277234">
                <a:defRPr sz="3352">
                  <a:latin typeface="Arial" charset="0"/>
                </a:defRPr>
              </a:lvl9pPr>
            </a:lstStyle>
            <a:p>
              <a:pPr marL="193607" lvl="0" algn="l">
                <a:spcBef>
                  <a:spcPts val="100"/>
                </a:spcBef>
                <a:tabLst>
                  <a:tab pos="2338835" algn="l"/>
                </a:tabLst>
              </a:pPr>
              <a:r>
                <a:rPr lang="en-US" altLang="ko-KR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+mn-ea"/>
                </a:rPr>
                <a:t>DB </a:t>
              </a:r>
              <a:r>
                <a:rPr lang="ko-KR" altLang="en-US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+mn-ea"/>
                </a:rPr>
                <a:t>통합</a:t>
              </a:r>
              <a:endParaRPr lang="en-US" altLang="ko-KR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+mn-ea"/>
              </a:endParaRPr>
            </a:p>
            <a:p>
              <a:pPr marL="193607" lvl="0" algn="l">
                <a:spcBef>
                  <a:spcPts val="100"/>
                </a:spcBef>
                <a:tabLst>
                  <a:tab pos="2338835" algn="l"/>
                </a:tabLst>
              </a:pPr>
              <a:r>
                <a:rPr lang="ko-KR" altLang="en-US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콘텐츠 메타 통합 관리</a:t>
              </a:r>
              <a:endParaRPr lang="en-US" altLang="ko-KR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  <a:p>
              <a:pPr marL="193607" lvl="0" algn="l">
                <a:spcBef>
                  <a:spcPts val="100"/>
                </a:spcBef>
                <a:tabLst>
                  <a:tab pos="2338835" algn="l"/>
                </a:tabLst>
              </a:pPr>
              <a:r>
                <a:rPr lang="ko-KR" altLang="en-US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문제은행 표준 </a:t>
              </a:r>
              <a:r>
                <a:rPr lang="en-US" altLang="ko-KR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API </a:t>
              </a:r>
              <a:r>
                <a:rPr lang="ko-KR" altLang="en-US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제공</a:t>
              </a: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897073" y="5040373"/>
            <a:ext cx="2968897" cy="792120"/>
            <a:chOff x="5441468" y="3238502"/>
            <a:chExt cx="2968897" cy="802739"/>
          </a:xfrm>
        </p:grpSpPr>
        <p:sp>
          <p:nvSpPr>
            <p:cNvPr id="93" name="직사각형 92"/>
            <p:cNvSpPr/>
            <p:nvPr/>
          </p:nvSpPr>
          <p:spPr>
            <a:xfrm>
              <a:off x="5441468" y="3238502"/>
              <a:ext cx="2876400" cy="80273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9" tIns="49785" rIns="99569" bIns="49785" rtlCol="0" anchor="ctr"/>
            <a:lstStyle/>
            <a:p>
              <a:pPr algn="ctr" defTabSz="1086398"/>
              <a:endParaRPr lang="en-US" altLang="ko-KR" sz="2200" dirty="0">
                <a:solidFill>
                  <a:srgbClr val="FFFFFF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3677BC8-59CD-4109-9351-FFB87F32D91B}"/>
                </a:ext>
              </a:extLst>
            </p:cNvPr>
            <p:cNvSpPr txBox="1"/>
            <p:nvPr/>
          </p:nvSpPr>
          <p:spPr>
            <a:xfrm>
              <a:off x="5513478" y="3410858"/>
              <a:ext cx="493554" cy="232021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 defTabSz="914400">
                <a:lnSpc>
                  <a:spcPct val="90000"/>
                </a:lnSpc>
                <a:spcBef>
                  <a:spcPts val="488"/>
                </a:spcBef>
                <a:buClr>
                  <a:prstClr val="white"/>
                </a:buClr>
              </a:pPr>
              <a:r>
                <a:rPr lang="ko-KR" altLang="en-US" sz="1300" spc="-5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</a:rPr>
                <a:t>특징</a:t>
              </a:r>
            </a:p>
          </p:txBody>
        </p:sp>
        <p:cxnSp>
          <p:nvCxnSpPr>
            <p:cNvPr id="95" name="직선 연결선 94"/>
            <p:cNvCxnSpPr/>
            <p:nvPr/>
          </p:nvCxnSpPr>
          <p:spPr>
            <a:xfrm>
              <a:off x="6060254" y="3390960"/>
              <a:ext cx="0" cy="317647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6011506" y="3402264"/>
              <a:ext cx="2398859" cy="492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 fontAlgn="auto" latinLnBrk="1">
                <a:spcBef>
                  <a:spcPts val="0"/>
                </a:spcBef>
                <a:spcAft>
                  <a:spcPts val="0"/>
                </a:spcAft>
                <a:defRPr sz="1200" b="1" spc="-60">
                  <a:gradFill>
                    <a:gsLst>
                      <a:gs pos="36250">
                        <a:prstClr val="black">
                          <a:lumMod val="95000"/>
                          <a:lumOff val="5000"/>
                        </a:prstClr>
                      </a:gs>
                      <a:gs pos="20000">
                        <a:prstClr val="black">
                          <a:lumMod val="95000"/>
                          <a:lumOff val="5000"/>
                        </a:prstClr>
                      </a:gs>
                    </a:gsLst>
                    <a:lin ang="2280000" scaled="0"/>
                  </a:gradFill>
                  <a:latin typeface="맑은 고딕" panose="020B0503020000020004" pitchFamily="50" charset="-127"/>
                </a:defRPr>
              </a:lvl1pPr>
              <a:lvl2pPr marL="638617" fontAlgn="base">
                <a:spcBef>
                  <a:spcPct val="0"/>
                </a:spcBef>
                <a:spcAft>
                  <a:spcPct val="0"/>
                </a:spcAft>
                <a:defRPr sz="3352">
                  <a:latin typeface="Arial" charset="0"/>
                </a:defRPr>
              </a:lvl2pPr>
              <a:lvl3pPr marL="1277234" fontAlgn="base">
                <a:spcBef>
                  <a:spcPct val="0"/>
                </a:spcBef>
                <a:spcAft>
                  <a:spcPct val="0"/>
                </a:spcAft>
                <a:defRPr sz="3352">
                  <a:latin typeface="Arial" charset="0"/>
                </a:defRPr>
              </a:lvl3pPr>
              <a:lvl4pPr marL="1915851" fontAlgn="base">
                <a:spcBef>
                  <a:spcPct val="0"/>
                </a:spcBef>
                <a:spcAft>
                  <a:spcPct val="0"/>
                </a:spcAft>
                <a:defRPr sz="3352">
                  <a:latin typeface="Arial" charset="0"/>
                </a:defRPr>
              </a:lvl4pPr>
              <a:lvl5pPr marL="2554468" fontAlgn="base">
                <a:spcBef>
                  <a:spcPct val="0"/>
                </a:spcBef>
                <a:spcAft>
                  <a:spcPct val="0"/>
                </a:spcAft>
                <a:defRPr sz="3352">
                  <a:latin typeface="Arial" charset="0"/>
                </a:defRPr>
              </a:lvl5pPr>
              <a:lvl6pPr marL="3193085" defTabSz="1277234">
                <a:defRPr sz="3352">
                  <a:latin typeface="Arial" charset="0"/>
                </a:defRPr>
              </a:lvl6pPr>
              <a:lvl7pPr marL="3831702" defTabSz="1277234">
                <a:defRPr sz="3352">
                  <a:latin typeface="Arial" charset="0"/>
                </a:defRPr>
              </a:lvl7pPr>
              <a:lvl8pPr marL="4470319" defTabSz="1277234">
                <a:defRPr sz="3352">
                  <a:latin typeface="Arial" charset="0"/>
                </a:defRPr>
              </a:lvl8pPr>
              <a:lvl9pPr marL="5108936" defTabSz="1277234">
                <a:defRPr sz="3352">
                  <a:latin typeface="Arial" charset="0"/>
                </a:defRPr>
              </a:lvl9pPr>
            </a:lstStyle>
            <a:p>
              <a:pPr marL="193607" lvl="0" algn="l">
                <a:spcBef>
                  <a:spcPts val="100"/>
                </a:spcBef>
                <a:tabLst>
                  <a:tab pos="2338835" algn="l"/>
                </a:tabLst>
              </a:pPr>
              <a:r>
                <a:rPr lang="ko-KR" altLang="en-US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+mn-ea"/>
                </a:rPr>
                <a:t>문제은행 관리서비스 통합</a:t>
              </a:r>
              <a:endParaRPr lang="en-US" altLang="ko-KR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+mn-ea"/>
              </a:endParaRPr>
            </a:p>
            <a:p>
              <a:pPr marL="193607" algn="l">
                <a:spcBef>
                  <a:spcPts val="100"/>
                </a:spcBef>
                <a:tabLst>
                  <a:tab pos="2338835" algn="l"/>
                </a:tabLst>
              </a:pPr>
              <a:r>
                <a:rPr lang="en-US" altLang="ko-KR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CS</a:t>
              </a:r>
              <a:r>
                <a:rPr lang="ko-KR" altLang="en-US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의 </a:t>
              </a:r>
              <a:r>
                <a:rPr lang="en-US" altLang="ko-KR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Web </a:t>
              </a:r>
              <a:r>
                <a:rPr lang="ko-KR" altLang="en-US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전환</a:t>
              </a:r>
              <a:endParaRPr lang="en-US" altLang="ko-KR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  <a:p>
              <a:pPr marL="193607" algn="l">
                <a:spcBef>
                  <a:spcPts val="100"/>
                </a:spcBef>
                <a:tabLst>
                  <a:tab pos="2338835" algn="l"/>
                </a:tabLst>
              </a:pPr>
              <a:r>
                <a:rPr lang="en-US" altLang="ko-KR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E-Bank </a:t>
              </a:r>
              <a:r>
                <a:rPr lang="ko-KR" altLang="en-US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관리서비스 통합</a:t>
              </a:r>
            </a:p>
          </p:txBody>
        </p:sp>
      </p:grpSp>
      <p:grpSp>
        <p:nvGrpSpPr>
          <p:cNvPr id="97" name="그룹 96"/>
          <p:cNvGrpSpPr/>
          <p:nvPr/>
        </p:nvGrpSpPr>
        <p:grpSpPr>
          <a:xfrm>
            <a:off x="7054376" y="5040370"/>
            <a:ext cx="2968897" cy="790475"/>
            <a:chOff x="5441468" y="3238500"/>
            <a:chExt cx="2968897" cy="581230"/>
          </a:xfrm>
        </p:grpSpPr>
        <p:sp>
          <p:nvSpPr>
            <p:cNvPr id="98" name="직사각형 97"/>
            <p:cNvSpPr/>
            <p:nvPr/>
          </p:nvSpPr>
          <p:spPr>
            <a:xfrm>
              <a:off x="5441468" y="3238500"/>
              <a:ext cx="2876400" cy="581230"/>
            </a:xfrm>
            <a:prstGeom prst="rect">
              <a:avLst/>
            </a:prstGeom>
            <a:solidFill>
              <a:srgbClr val="DCE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9" tIns="49785" rIns="99569" bIns="49785" rtlCol="0" anchor="ctr"/>
            <a:lstStyle/>
            <a:p>
              <a:pPr algn="ctr" defTabSz="1086398"/>
              <a:endParaRPr lang="en-US" altLang="ko-KR" sz="2200" dirty="0">
                <a:solidFill>
                  <a:srgbClr val="FFFFFF"/>
                </a:solidFill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3677BC8-59CD-4109-9351-FFB87F32D91B}"/>
                </a:ext>
              </a:extLst>
            </p:cNvPr>
            <p:cNvSpPr txBox="1"/>
            <p:nvPr/>
          </p:nvSpPr>
          <p:spPr>
            <a:xfrm>
              <a:off x="5513478" y="3410858"/>
              <a:ext cx="493554" cy="232021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 defTabSz="914400">
                <a:lnSpc>
                  <a:spcPct val="90000"/>
                </a:lnSpc>
                <a:spcBef>
                  <a:spcPts val="488"/>
                </a:spcBef>
                <a:buClr>
                  <a:prstClr val="white"/>
                </a:buClr>
              </a:pPr>
              <a:r>
                <a:rPr lang="ko-KR" altLang="en-US" sz="1300" spc="-5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</a:rPr>
                <a:t>특징</a:t>
              </a:r>
            </a:p>
          </p:txBody>
        </p:sp>
        <p:cxnSp>
          <p:nvCxnSpPr>
            <p:cNvPr id="100" name="직선 연결선 99"/>
            <p:cNvCxnSpPr/>
            <p:nvPr/>
          </p:nvCxnSpPr>
          <p:spPr>
            <a:xfrm>
              <a:off x="6060254" y="3390960"/>
              <a:ext cx="0" cy="317647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/>
            <p:cNvSpPr txBox="1"/>
            <p:nvPr/>
          </p:nvSpPr>
          <p:spPr>
            <a:xfrm>
              <a:off x="6011506" y="3426651"/>
              <a:ext cx="2398859" cy="23465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 fontAlgn="auto" latinLnBrk="1">
                <a:spcBef>
                  <a:spcPts val="0"/>
                </a:spcBef>
                <a:spcAft>
                  <a:spcPts val="0"/>
                </a:spcAft>
                <a:defRPr sz="1200" b="1" spc="-60">
                  <a:gradFill>
                    <a:gsLst>
                      <a:gs pos="36250">
                        <a:prstClr val="black">
                          <a:lumMod val="95000"/>
                          <a:lumOff val="5000"/>
                        </a:prstClr>
                      </a:gs>
                      <a:gs pos="20000">
                        <a:prstClr val="black">
                          <a:lumMod val="95000"/>
                          <a:lumOff val="5000"/>
                        </a:prstClr>
                      </a:gs>
                    </a:gsLst>
                    <a:lin ang="2280000" scaled="0"/>
                  </a:gradFill>
                  <a:latin typeface="맑은 고딕" panose="020B0503020000020004" pitchFamily="50" charset="-127"/>
                </a:defRPr>
              </a:lvl1pPr>
              <a:lvl2pPr marL="638617" fontAlgn="base">
                <a:spcBef>
                  <a:spcPct val="0"/>
                </a:spcBef>
                <a:spcAft>
                  <a:spcPct val="0"/>
                </a:spcAft>
                <a:defRPr sz="3352">
                  <a:latin typeface="Arial" charset="0"/>
                </a:defRPr>
              </a:lvl2pPr>
              <a:lvl3pPr marL="1277234" fontAlgn="base">
                <a:spcBef>
                  <a:spcPct val="0"/>
                </a:spcBef>
                <a:spcAft>
                  <a:spcPct val="0"/>
                </a:spcAft>
                <a:defRPr sz="3352">
                  <a:latin typeface="Arial" charset="0"/>
                </a:defRPr>
              </a:lvl3pPr>
              <a:lvl4pPr marL="1915851" fontAlgn="base">
                <a:spcBef>
                  <a:spcPct val="0"/>
                </a:spcBef>
                <a:spcAft>
                  <a:spcPct val="0"/>
                </a:spcAft>
                <a:defRPr sz="3352">
                  <a:latin typeface="Arial" charset="0"/>
                </a:defRPr>
              </a:lvl4pPr>
              <a:lvl5pPr marL="2554468" fontAlgn="base">
                <a:spcBef>
                  <a:spcPct val="0"/>
                </a:spcBef>
                <a:spcAft>
                  <a:spcPct val="0"/>
                </a:spcAft>
                <a:defRPr sz="3352">
                  <a:latin typeface="Arial" charset="0"/>
                </a:defRPr>
              </a:lvl5pPr>
              <a:lvl6pPr marL="3193085" defTabSz="1277234">
                <a:defRPr sz="3352">
                  <a:latin typeface="Arial" charset="0"/>
                </a:defRPr>
              </a:lvl6pPr>
              <a:lvl7pPr marL="3831702" defTabSz="1277234">
                <a:defRPr sz="3352">
                  <a:latin typeface="Arial" charset="0"/>
                </a:defRPr>
              </a:lvl7pPr>
              <a:lvl8pPr marL="4470319" defTabSz="1277234">
                <a:defRPr sz="3352">
                  <a:latin typeface="Arial" charset="0"/>
                </a:defRPr>
              </a:lvl8pPr>
              <a:lvl9pPr marL="5108936" defTabSz="1277234">
                <a:defRPr sz="3352">
                  <a:latin typeface="Arial" charset="0"/>
                </a:defRPr>
              </a:lvl9pPr>
            </a:lstStyle>
            <a:p>
              <a:pPr marL="193607" lvl="0" algn="l">
                <a:spcBef>
                  <a:spcPts val="100"/>
                </a:spcBef>
                <a:tabLst>
                  <a:tab pos="2338835" algn="l"/>
                </a:tabLst>
              </a:pPr>
              <a:r>
                <a:rPr lang="en-US" altLang="ko-KR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+mn-ea"/>
                </a:rPr>
                <a:t>Front </a:t>
              </a:r>
              <a:r>
                <a:rPr lang="ko-KR" altLang="en-US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+mn-ea"/>
                </a:rPr>
                <a:t>서비스까지 콘텐츠</a:t>
              </a:r>
              <a:r>
                <a:rPr lang="en-US" altLang="ko-KR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+mn-ea"/>
                </a:rPr>
                <a:t>/</a:t>
              </a:r>
              <a:r>
                <a:rPr lang="ko-KR" altLang="en-US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+mn-ea"/>
                </a:rPr>
                <a:t>인프라</a:t>
              </a:r>
              <a:endParaRPr lang="en-US" altLang="ko-KR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+mn-ea"/>
              </a:endParaRPr>
            </a:p>
            <a:p>
              <a:pPr marL="193607" lvl="0" algn="l">
                <a:spcBef>
                  <a:spcPts val="100"/>
                </a:spcBef>
                <a:tabLst>
                  <a:tab pos="2338835" algn="l"/>
                </a:tabLst>
              </a:pPr>
              <a:r>
                <a:rPr lang="ko-KR" altLang="en-US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+mn-ea"/>
                </a:rPr>
                <a:t>등 완전 통합 및 </a:t>
              </a:r>
              <a:r>
                <a:rPr lang="ko-KR" altLang="en-US" b="0" spc="0" dirty="0" err="1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+mn-ea"/>
                </a:rPr>
                <a:t>클라우드</a:t>
              </a:r>
              <a:r>
                <a:rPr lang="ko-KR" altLang="en-US" b="0" spc="0" dirty="0">
                  <a:gradFill>
                    <a:gsLst>
                      <a:gs pos="2917">
                        <a:schemeClr val="tx1">
                          <a:lumMod val="90000"/>
                          <a:lumOff val="10000"/>
                        </a:schemeClr>
                      </a:gs>
                      <a:gs pos="22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latin typeface="+mn-ea"/>
                </a:rPr>
                <a:t> 전환</a:t>
              </a:r>
              <a:endParaRPr lang="ko-KR" altLang="en-US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</p:grpSp>
      <p:pic>
        <p:nvPicPr>
          <p:cNvPr id="102" name="Picture 4" descr="aws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609" y="2861717"/>
            <a:ext cx="1051062" cy="52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20" descr="F:\업무\업무지원\표준제안\아이콘\아이콘PNG\285.png"/>
          <p:cNvPicPr>
            <a:picLocks noChangeAspect="1" noChangeArrowheads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160" y="3872001"/>
            <a:ext cx="489453" cy="666529"/>
          </a:xfrm>
          <a:prstGeom prst="rect">
            <a:avLst/>
          </a:prstGeom>
          <a:noFill/>
        </p:spPr>
      </p:pic>
      <p:sp>
        <p:nvSpPr>
          <p:cNvPr id="104" name="타원 103"/>
          <p:cNvSpPr/>
          <p:nvPr/>
        </p:nvSpPr>
        <p:spPr>
          <a:xfrm>
            <a:off x="7684237" y="4269299"/>
            <a:ext cx="540000" cy="540000"/>
          </a:xfrm>
          <a:prstGeom prst="ellipse">
            <a:avLst/>
          </a:prstGeom>
          <a:solidFill>
            <a:srgbClr val="010D7F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족보</a:t>
            </a:r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ko-KR" altLang="en-US" sz="1000" dirty="0" err="1"/>
              <a:t>닷컴</a:t>
            </a:r>
            <a:endParaRPr lang="ko-KR" altLang="en-US" sz="1000" dirty="0"/>
          </a:p>
        </p:txBody>
      </p:sp>
      <p:pic>
        <p:nvPicPr>
          <p:cNvPr id="105" name="Picture 20" descr="F:\업무\업무지원\표준제안\아이콘\아이콘PNG\285.png"/>
          <p:cNvPicPr>
            <a:picLocks noChangeAspect="1" noChangeArrowheads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350" y="3878911"/>
            <a:ext cx="489453" cy="666529"/>
          </a:xfrm>
          <a:prstGeom prst="rect">
            <a:avLst/>
          </a:prstGeom>
          <a:noFill/>
        </p:spPr>
      </p:pic>
      <p:sp>
        <p:nvSpPr>
          <p:cNvPr id="107" name="오른쪽 화살표 106"/>
          <p:cNvSpPr/>
          <p:nvPr/>
        </p:nvSpPr>
        <p:spPr>
          <a:xfrm rot="18679013">
            <a:off x="7664580" y="3469813"/>
            <a:ext cx="484428" cy="26276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오른쪽 화살표 107"/>
          <p:cNvSpPr/>
          <p:nvPr/>
        </p:nvSpPr>
        <p:spPr>
          <a:xfrm rot="13802917">
            <a:off x="8636784" y="3468430"/>
            <a:ext cx="484428" cy="26276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9" name="Picture 4" descr="aws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768" y="2807003"/>
            <a:ext cx="1051062" cy="52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20" descr="F:\업무\업무지원\표준제안\아이콘\아이콘PNG\285.png"/>
          <p:cNvPicPr>
            <a:picLocks noChangeAspect="1" noChangeArrowheads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597" y="2768648"/>
            <a:ext cx="489453" cy="666529"/>
          </a:xfrm>
          <a:prstGeom prst="rect">
            <a:avLst/>
          </a:prstGeom>
          <a:noFill/>
        </p:spPr>
      </p:pic>
      <p:sp>
        <p:nvSpPr>
          <p:cNvPr id="111" name="타원 110"/>
          <p:cNvSpPr/>
          <p:nvPr/>
        </p:nvSpPr>
        <p:spPr>
          <a:xfrm>
            <a:off x="4038323" y="3205203"/>
            <a:ext cx="540000" cy="540000"/>
          </a:xfrm>
          <a:prstGeom prst="ellipse">
            <a:avLst/>
          </a:prstGeom>
          <a:solidFill>
            <a:srgbClr val="010D7F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족보</a:t>
            </a:r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ko-KR" altLang="en-US" sz="1000" dirty="0" err="1"/>
              <a:t>닷컴</a:t>
            </a:r>
            <a:endParaRPr lang="ko-KR" altLang="en-US" sz="1000" dirty="0"/>
          </a:p>
        </p:txBody>
      </p:sp>
      <p:pic>
        <p:nvPicPr>
          <p:cNvPr id="112" name="Picture 20" descr="F:\업무\업무지원\표준제안\아이콘\아이콘PNG\285.png"/>
          <p:cNvPicPr>
            <a:picLocks noChangeAspect="1" noChangeArrowheads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590" y="3851618"/>
            <a:ext cx="489453" cy="666529"/>
          </a:xfrm>
          <a:prstGeom prst="rect">
            <a:avLst/>
          </a:prstGeom>
          <a:noFill/>
        </p:spPr>
      </p:pic>
      <p:sp>
        <p:nvSpPr>
          <p:cNvPr id="114" name="오른쪽 화살표 113"/>
          <p:cNvSpPr/>
          <p:nvPr/>
        </p:nvSpPr>
        <p:spPr>
          <a:xfrm>
            <a:off x="4614009" y="2915003"/>
            <a:ext cx="337874" cy="26276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오른쪽 화살표 114"/>
          <p:cNvSpPr/>
          <p:nvPr/>
        </p:nvSpPr>
        <p:spPr>
          <a:xfrm rot="13802917">
            <a:off x="5288728" y="3410848"/>
            <a:ext cx="484428" cy="26276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6" name="Picture 4" descr="aws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539" y="2807003"/>
            <a:ext cx="1051062" cy="52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20" descr="F:\업무\업무지원\표준제안\아이콘\아이콘PNG\285.png"/>
          <p:cNvPicPr>
            <a:picLocks noChangeAspect="1" noChangeArrowheads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90" y="3817287"/>
            <a:ext cx="489453" cy="666529"/>
          </a:xfrm>
          <a:prstGeom prst="rect">
            <a:avLst/>
          </a:prstGeom>
          <a:noFill/>
        </p:spPr>
      </p:pic>
      <p:sp>
        <p:nvSpPr>
          <p:cNvPr id="118" name="타원 117"/>
          <p:cNvSpPr/>
          <p:nvPr/>
        </p:nvSpPr>
        <p:spPr>
          <a:xfrm>
            <a:off x="1278167" y="4214585"/>
            <a:ext cx="540000" cy="540000"/>
          </a:xfrm>
          <a:prstGeom prst="ellipse">
            <a:avLst/>
          </a:prstGeom>
          <a:solidFill>
            <a:srgbClr val="010D7F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족보</a:t>
            </a:r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ko-KR" altLang="en-US" sz="1000" dirty="0" err="1"/>
              <a:t>닷컴</a:t>
            </a:r>
            <a:endParaRPr lang="ko-KR" altLang="en-US" sz="1000" dirty="0"/>
          </a:p>
        </p:txBody>
      </p:sp>
      <p:pic>
        <p:nvPicPr>
          <p:cNvPr id="119" name="Picture 20" descr="F:\업무\업무지원\표준제안\아이콘\아이콘PNG\285.png"/>
          <p:cNvPicPr>
            <a:picLocks noChangeAspect="1" noChangeArrowheads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280" y="3824197"/>
            <a:ext cx="489453" cy="666529"/>
          </a:xfrm>
          <a:prstGeom prst="rect">
            <a:avLst/>
          </a:prstGeom>
          <a:noFill/>
        </p:spPr>
      </p:pic>
      <p:sp>
        <p:nvSpPr>
          <p:cNvPr id="120" name="육각형 119"/>
          <p:cNvSpPr/>
          <p:nvPr/>
        </p:nvSpPr>
        <p:spPr>
          <a:xfrm>
            <a:off x="2646357" y="4221496"/>
            <a:ext cx="609274" cy="501555"/>
          </a:xfrm>
          <a:prstGeom prst="hexagon">
            <a:avLst/>
          </a:prstGeom>
          <a:solidFill>
            <a:srgbClr val="0070C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1000" dirty="0"/>
              <a:t>I-</a:t>
            </a:r>
          </a:p>
          <a:p>
            <a:pPr algn="ctr"/>
            <a:r>
              <a:rPr lang="en-US" altLang="ko-KR" sz="1000" dirty="0"/>
              <a:t>System</a:t>
            </a:r>
            <a:endParaRPr lang="ko-KR" altLang="en-US" sz="1000" dirty="0"/>
          </a:p>
        </p:txBody>
      </p:sp>
      <p:sp>
        <p:nvSpPr>
          <p:cNvPr id="121" name="오른쪽 화살표 120"/>
          <p:cNvSpPr/>
          <p:nvPr/>
        </p:nvSpPr>
        <p:spPr>
          <a:xfrm rot="18679013">
            <a:off x="1306350" y="3417242"/>
            <a:ext cx="484428" cy="26276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오른쪽 화살표 121"/>
          <p:cNvSpPr/>
          <p:nvPr/>
        </p:nvSpPr>
        <p:spPr>
          <a:xfrm rot="13802917">
            <a:off x="2261488" y="3415859"/>
            <a:ext cx="484428" cy="26276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곱셈 기호 122"/>
          <p:cNvSpPr/>
          <p:nvPr/>
        </p:nvSpPr>
        <p:spPr>
          <a:xfrm>
            <a:off x="1384080" y="3425450"/>
            <a:ext cx="288000" cy="288000"/>
          </a:xfrm>
          <a:prstGeom prst="mathMultiply">
            <a:avLst/>
          </a:prstGeom>
          <a:solidFill>
            <a:srgbClr val="DE24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오른쪽 화살표 123"/>
          <p:cNvSpPr/>
          <p:nvPr/>
        </p:nvSpPr>
        <p:spPr>
          <a:xfrm rot="12241408">
            <a:off x="2564519" y="3010407"/>
            <a:ext cx="484428" cy="26276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5" name="그룹 124"/>
          <p:cNvGrpSpPr/>
          <p:nvPr/>
        </p:nvGrpSpPr>
        <p:grpSpPr>
          <a:xfrm>
            <a:off x="3035255" y="3164312"/>
            <a:ext cx="349738" cy="346964"/>
            <a:chOff x="8247715" y="5213101"/>
            <a:chExt cx="947663" cy="1137576"/>
          </a:xfrm>
        </p:grpSpPr>
        <p:pic>
          <p:nvPicPr>
            <p:cNvPr id="126" name="Picture 7" descr="D:\자료\2. 이미지\db3.png"/>
            <p:cNvPicPr>
              <a:picLocks noChangeAspect="1" noChangeArrowheads="1"/>
            </p:cNvPicPr>
            <p:nvPr/>
          </p:nvPicPr>
          <p:blipFill>
            <a:blip r:embed="rId5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7715" y="5773779"/>
              <a:ext cx="947663" cy="5768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7" name="Picture 4" descr="D:\자료\2. 이미지\db2.png"/>
            <p:cNvPicPr>
              <a:picLocks noChangeAspect="1" noChangeArrowheads="1"/>
            </p:cNvPicPr>
            <p:nvPr/>
          </p:nvPicPr>
          <p:blipFill>
            <a:blip r:embed="rId6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8005" y="5500610"/>
              <a:ext cx="947282" cy="577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8" name="Picture 4" descr="D:\자료\2. 이미지\db2.png"/>
            <p:cNvPicPr>
              <a:picLocks noChangeAspect="1" noChangeArrowheads="1"/>
            </p:cNvPicPr>
            <p:nvPr/>
          </p:nvPicPr>
          <p:blipFill>
            <a:blip r:embed="rId6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8005" y="5213101"/>
              <a:ext cx="947282" cy="577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9" name="TextBox 128"/>
          <p:cNvSpPr txBox="1"/>
          <p:nvPr/>
        </p:nvSpPr>
        <p:spPr>
          <a:xfrm>
            <a:off x="2826350" y="3461230"/>
            <a:ext cx="756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I-System</a:t>
            </a:r>
            <a:br>
              <a:rPr lang="en-US" altLang="ko-KR" sz="1200" dirty="0"/>
            </a:br>
            <a:r>
              <a:rPr lang="en-US" altLang="ko-KR" sz="1200" dirty="0"/>
              <a:t>DB</a:t>
            </a:r>
            <a:endParaRPr lang="ko-KR" altLang="en-US" sz="1200" dirty="0"/>
          </a:p>
        </p:txBody>
      </p:sp>
      <p:sp>
        <p:nvSpPr>
          <p:cNvPr id="130" name="도넛 129"/>
          <p:cNvSpPr/>
          <p:nvPr/>
        </p:nvSpPr>
        <p:spPr>
          <a:xfrm>
            <a:off x="5413381" y="3435795"/>
            <a:ext cx="288000" cy="288000"/>
          </a:xfrm>
          <a:prstGeom prst="donut">
            <a:avLst>
              <a:gd name="adj" fmla="val 18226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1" name="도넛 130"/>
          <p:cNvSpPr/>
          <p:nvPr/>
        </p:nvSpPr>
        <p:spPr>
          <a:xfrm>
            <a:off x="7753664" y="3482275"/>
            <a:ext cx="288000" cy="288000"/>
          </a:xfrm>
          <a:prstGeom prst="donut">
            <a:avLst>
              <a:gd name="adj" fmla="val 18226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2" name="도넛 131"/>
          <p:cNvSpPr/>
          <p:nvPr/>
        </p:nvSpPr>
        <p:spPr>
          <a:xfrm>
            <a:off x="8759562" y="3489918"/>
            <a:ext cx="288000" cy="288000"/>
          </a:xfrm>
          <a:prstGeom prst="donut">
            <a:avLst>
              <a:gd name="adj" fmla="val 18226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3" name="도넛 132"/>
          <p:cNvSpPr/>
          <p:nvPr/>
        </p:nvSpPr>
        <p:spPr>
          <a:xfrm>
            <a:off x="2727036" y="3020312"/>
            <a:ext cx="288000" cy="288000"/>
          </a:xfrm>
          <a:prstGeom prst="donut">
            <a:avLst>
              <a:gd name="adj" fmla="val 18226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4" name="곱셈 기호 133"/>
          <p:cNvSpPr/>
          <p:nvPr/>
        </p:nvSpPr>
        <p:spPr>
          <a:xfrm>
            <a:off x="2388012" y="3455729"/>
            <a:ext cx="288000" cy="288000"/>
          </a:xfrm>
          <a:prstGeom prst="mathMultiply">
            <a:avLst/>
          </a:prstGeom>
          <a:solidFill>
            <a:srgbClr val="DE24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곱셈 기호 134"/>
          <p:cNvSpPr/>
          <p:nvPr/>
        </p:nvSpPr>
        <p:spPr>
          <a:xfrm>
            <a:off x="4608189" y="2909699"/>
            <a:ext cx="288000" cy="288000"/>
          </a:xfrm>
          <a:prstGeom prst="mathMultiply">
            <a:avLst/>
          </a:prstGeom>
          <a:solidFill>
            <a:srgbClr val="DE24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오른쪽 화살표 158"/>
          <p:cNvSpPr/>
          <p:nvPr/>
        </p:nvSpPr>
        <p:spPr>
          <a:xfrm rot="10800000">
            <a:off x="5834108" y="2902010"/>
            <a:ext cx="484428" cy="26276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7" name="그룹 159"/>
          <p:cNvGrpSpPr/>
          <p:nvPr/>
        </p:nvGrpSpPr>
        <p:grpSpPr>
          <a:xfrm>
            <a:off x="6365152" y="2853212"/>
            <a:ext cx="349738" cy="346964"/>
            <a:chOff x="8247715" y="5213101"/>
            <a:chExt cx="947663" cy="1137576"/>
          </a:xfrm>
        </p:grpSpPr>
        <p:pic>
          <p:nvPicPr>
            <p:cNvPr id="138" name="Picture 7" descr="D:\자료\2. 이미지\db3.png"/>
            <p:cNvPicPr>
              <a:picLocks noChangeAspect="1" noChangeArrowheads="1"/>
            </p:cNvPicPr>
            <p:nvPr/>
          </p:nvPicPr>
          <p:blipFill>
            <a:blip r:embed="rId5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7715" y="5773779"/>
              <a:ext cx="947663" cy="5768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" name="Picture 4" descr="D:\자료\2. 이미지\db2.png"/>
            <p:cNvPicPr>
              <a:picLocks noChangeAspect="1" noChangeArrowheads="1"/>
            </p:cNvPicPr>
            <p:nvPr/>
          </p:nvPicPr>
          <p:blipFill>
            <a:blip r:embed="rId6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8005" y="5500610"/>
              <a:ext cx="947282" cy="577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" name="Picture 4" descr="D:\자료\2. 이미지\db2.png"/>
            <p:cNvPicPr>
              <a:picLocks noChangeAspect="1" noChangeArrowheads="1"/>
            </p:cNvPicPr>
            <p:nvPr/>
          </p:nvPicPr>
          <p:blipFill>
            <a:blip r:embed="rId6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8005" y="5213101"/>
              <a:ext cx="947282" cy="577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1" name="도넛 166"/>
          <p:cNvSpPr/>
          <p:nvPr/>
        </p:nvSpPr>
        <p:spPr>
          <a:xfrm>
            <a:off x="5996625" y="2911915"/>
            <a:ext cx="288000" cy="288000"/>
          </a:xfrm>
          <a:prstGeom prst="donut">
            <a:avLst>
              <a:gd name="adj" fmla="val 18226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2" name="오른쪽 화살표 158"/>
          <p:cNvSpPr/>
          <p:nvPr/>
        </p:nvSpPr>
        <p:spPr>
          <a:xfrm rot="12241408">
            <a:off x="8994568" y="2958319"/>
            <a:ext cx="484428" cy="26276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3" name="그룹 159"/>
          <p:cNvGrpSpPr/>
          <p:nvPr/>
        </p:nvGrpSpPr>
        <p:grpSpPr>
          <a:xfrm>
            <a:off x="9465304" y="3112224"/>
            <a:ext cx="349738" cy="346964"/>
            <a:chOff x="8247715" y="5213101"/>
            <a:chExt cx="947663" cy="1137576"/>
          </a:xfrm>
        </p:grpSpPr>
        <p:pic>
          <p:nvPicPr>
            <p:cNvPr id="144" name="Picture 7" descr="D:\자료\2. 이미지\db3.png"/>
            <p:cNvPicPr>
              <a:picLocks noChangeAspect="1" noChangeArrowheads="1"/>
            </p:cNvPicPr>
            <p:nvPr/>
          </p:nvPicPr>
          <p:blipFill>
            <a:blip r:embed="rId5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7715" y="5773779"/>
              <a:ext cx="947663" cy="5768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5" name="Picture 4" descr="D:\자료\2. 이미지\db2.png"/>
            <p:cNvPicPr>
              <a:picLocks noChangeAspect="1" noChangeArrowheads="1"/>
            </p:cNvPicPr>
            <p:nvPr/>
          </p:nvPicPr>
          <p:blipFill>
            <a:blip r:embed="rId6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8005" y="5500610"/>
              <a:ext cx="947282" cy="577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6" name="Picture 4" descr="D:\자료\2. 이미지\db2.png"/>
            <p:cNvPicPr>
              <a:picLocks noChangeAspect="1" noChangeArrowheads="1"/>
            </p:cNvPicPr>
            <p:nvPr/>
          </p:nvPicPr>
          <p:blipFill>
            <a:blip r:embed="rId6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8005" y="5213101"/>
              <a:ext cx="947282" cy="577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7" name="도넛 166"/>
          <p:cNvSpPr/>
          <p:nvPr/>
        </p:nvSpPr>
        <p:spPr>
          <a:xfrm>
            <a:off x="9157085" y="2968224"/>
            <a:ext cx="288000" cy="288000"/>
          </a:xfrm>
          <a:prstGeom prst="donut">
            <a:avLst>
              <a:gd name="adj" fmla="val 18226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6019656" y="3200176"/>
            <a:ext cx="831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I-System</a:t>
            </a:r>
          </a:p>
          <a:p>
            <a:pPr algn="ctr"/>
            <a:r>
              <a:rPr lang="en-US" altLang="ko-KR" sz="1200" dirty="0"/>
              <a:t>(E-Bank)</a:t>
            </a:r>
            <a:br>
              <a:rPr lang="en-US" altLang="ko-KR" sz="1200" dirty="0"/>
            </a:br>
            <a:r>
              <a:rPr lang="ko-KR" altLang="en-US" sz="1200" dirty="0"/>
              <a:t>통합 </a:t>
            </a:r>
            <a:r>
              <a:rPr lang="en-US" altLang="ko-KR" sz="1200" dirty="0"/>
              <a:t>DB</a:t>
            </a:r>
            <a:endParaRPr lang="ko-KR" altLang="en-US" sz="1200" dirty="0"/>
          </a:p>
        </p:txBody>
      </p:sp>
      <p:sp>
        <p:nvSpPr>
          <p:cNvPr id="149" name="TextBox 148"/>
          <p:cNvSpPr txBox="1"/>
          <p:nvPr/>
        </p:nvSpPr>
        <p:spPr>
          <a:xfrm>
            <a:off x="9209157" y="3454677"/>
            <a:ext cx="736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문제은행</a:t>
            </a:r>
            <a:r>
              <a:rPr lang="en-US" altLang="ko-KR" sz="1200" dirty="0"/>
              <a:t/>
            </a:r>
            <a:br>
              <a:rPr lang="en-US" altLang="ko-KR" sz="1200" dirty="0"/>
            </a:br>
            <a:r>
              <a:rPr lang="ko-KR" altLang="en-US" sz="1200" dirty="0"/>
              <a:t>통합 </a:t>
            </a:r>
            <a:r>
              <a:rPr lang="en-US" altLang="ko-KR" sz="1200" dirty="0"/>
              <a:t>DB</a:t>
            </a:r>
            <a:endParaRPr lang="ko-KR" altLang="en-US" sz="1200" dirty="0"/>
          </a:p>
        </p:txBody>
      </p:sp>
      <p:pic>
        <p:nvPicPr>
          <p:cNvPr id="151" name="Picture 20" descr="F:\업무\업무지원\표준제안\아이콘\아이콘PNG\285.png"/>
          <p:cNvPicPr>
            <a:picLocks noChangeAspect="1" noChangeArrowheads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360" y="3842395"/>
            <a:ext cx="489453" cy="666529"/>
          </a:xfrm>
          <a:prstGeom prst="rect">
            <a:avLst/>
          </a:prstGeom>
          <a:noFill/>
        </p:spPr>
      </p:pic>
      <p:sp>
        <p:nvSpPr>
          <p:cNvPr id="152" name="육각형 151"/>
          <p:cNvSpPr/>
          <p:nvPr/>
        </p:nvSpPr>
        <p:spPr>
          <a:xfrm>
            <a:off x="4641919" y="4302588"/>
            <a:ext cx="609274" cy="501555"/>
          </a:xfrm>
          <a:prstGeom prst="hexagon">
            <a:avLst/>
          </a:prstGeom>
          <a:solidFill>
            <a:srgbClr val="0070C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/>
              <a:t>E-</a:t>
            </a:r>
          </a:p>
          <a:p>
            <a:pPr algn="ctr"/>
            <a:r>
              <a:rPr lang="en-US" altLang="ko-KR" sz="1000" dirty="0"/>
              <a:t>Bank</a:t>
            </a:r>
            <a:endParaRPr lang="ko-KR" altLang="en-US" sz="1000" dirty="0"/>
          </a:p>
        </p:txBody>
      </p:sp>
      <p:sp>
        <p:nvSpPr>
          <p:cNvPr id="153" name="육각형 152"/>
          <p:cNvSpPr/>
          <p:nvPr/>
        </p:nvSpPr>
        <p:spPr>
          <a:xfrm>
            <a:off x="5723080" y="4287752"/>
            <a:ext cx="609274" cy="501555"/>
          </a:xfrm>
          <a:prstGeom prst="hexagon">
            <a:avLst/>
          </a:prstGeom>
          <a:solidFill>
            <a:srgbClr val="0070C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1000" dirty="0"/>
              <a:t>I-</a:t>
            </a:r>
          </a:p>
          <a:p>
            <a:pPr algn="ctr"/>
            <a:r>
              <a:rPr lang="en-US" altLang="ko-KR" sz="1000" dirty="0"/>
              <a:t>System</a:t>
            </a:r>
            <a:endParaRPr lang="ko-KR" altLang="en-US" sz="1000" dirty="0"/>
          </a:p>
        </p:txBody>
      </p:sp>
      <p:sp>
        <p:nvSpPr>
          <p:cNvPr id="154" name="오른쪽 화살표 153"/>
          <p:cNvSpPr/>
          <p:nvPr/>
        </p:nvSpPr>
        <p:spPr>
          <a:xfrm>
            <a:off x="5117842" y="4040110"/>
            <a:ext cx="337874" cy="262766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육각형 158"/>
          <p:cNvSpPr/>
          <p:nvPr/>
        </p:nvSpPr>
        <p:spPr>
          <a:xfrm>
            <a:off x="9042089" y="4285359"/>
            <a:ext cx="609274" cy="501555"/>
          </a:xfrm>
          <a:prstGeom prst="hexagon">
            <a:avLst/>
          </a:prstGeom>
          <a:solidFill>
            <a:srgbClr val="0070C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ko-KR" altLang="en-US" sz="1000" dirty="0"/>
              <a:t>문제은행</a:t>
            </a:r>
            <a:endParaRPr lang="en-US" altLang="ko-KR" sz="1000" dirty="0"/>
          </a:p>
          <a:p>
            <a:pPr algn="ctr"/>
            <a:r>
              <a:rPr lang="ko-KR" altLang="en-US" sz="1000" dirty="0"/>
              <a:t>통합관리</a:t>
            </a:r>
          </a:p>
        </p:txBody>
      </p:sp>
      <p:sp>
        <p:nvSpPr>
          <p:cNvPr id="5" name="오른쪽 화살표 4"/>
          <p:cNvSpPr/>
          <p:nvPr/>
        </p:nvSpPr>
        <p:spPr>
          <a:xfrm>
            <a:off x="3897072" y="5862842"/>
            <a:ext cx="6033704" cy="210292"/>
          </a:xfrm>
          <a:prstGeom prst="rightArrow">
            <a:avLst>
              <a:gd name="adj1" fmla="val 50000"/>
              <a:gd name="adj2" fmla="val 148726"/>
            </a:avLst>
          </a:prstGeom>
          <a:solidFill>
            <a:srgbClr val="DE24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텍스트 개체 틀 2"/>
          <p:cNvSpPr txBox="1">
            <a:spLocks/>
          </p:cNvSpPr>
          <p:nvPr/>
        </p:nvSpPr>
        <p:spPr>
          <a:xfrm>
            <a:off x="726081" y="6085133"/>
            <a:ext cx="92171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latinLnBrk="0">
              <a:defRPr sz="12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+mn-ea"/>
                <a:cs typeface="Arial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‘19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년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4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월 분석결과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1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안을 제외하고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2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안과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3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안을 검토 중</a:t>
            </a:r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본 </a:t>
            </a:r>
            <a:r>
              <a:rPr lang="ko-KR" altLang="en-US" sz="1400" dirty="0" smtClean="0">
                <a:latin typeface="Rix고딕 M" panose="02020603020101020101" pitchFamily="18" charset="-127"/>
                <a:ea typeface="Rix고딕 M" panose="02020603020101020101" pitchFamily="18" charset="-127"/>
              </a:rPr>
              <a:t>착수 보고는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2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안을 기준으로 작성되었고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3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안의 경우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2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안 추진에 이은 점진적 확대 방안을 고려하였음</a:t>
            </a:r>
          </a:p>
        </p:txBody>
      </p:sp>
      <p:sp>
        <p:nvSpPr>
          <p:cNvPr id="161" name="곱셈 기호 160"/>
          <p:cNvSpPr/>
          <p:nvPr/>
        </p:nvSpPr>
        <p:spPr>
          <a:xfrm>
            <a:off x="2100012" y="5832865"/>
            <a:ext cx="288000" cy="288000"/>
          </a:xfrm>
          <a:prstGeom prst="mathMultiply">
            <a:avLst/>
          </a:prstGeom>
          <a:solidFill>
            <a:srgbClr val="DE24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9628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/>
          <p:cNvSpPr/>
          <p:nvPr/>
        </p:nvSpPr>
        <p:spPr>
          <a:xfrm>
            <a:off x="0" y="5957821"/>
            <a:ext cx="10693399" cy="982304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1" rIns="91440" bIns="45721" rtlCol="0" anchor="ctr"/>
          <a:lstStyle/>
          <a:p>
            <a:pPr marL="509495" lvl="1" defTabSz="1018989"/>
            <a:endParaRPr lang="en-US" altLang="ko-KR" dirty="0">
              <a:solidFill>
                <a:prstClr val="white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사업 개요</a:t>
            </a:r>
            <a:endParaRPr lang="en-US" altLang="ko-KR" dirty="0"/>
          </a:p>
        </p:txBody>
      </p:sp>
      <p:sp>
        <p:nvSpPr>
          <p:cNvPr id="14" name="텍스트 개체 틀 2"/>
          <p:cNvSpPr txBox="1">
            <a:spLocks/>
          </p:cNvSpPr>
          <p:nvPr/>
        </p:nvSpPr>
        <p:spPr>
          <a:xfrm>
            <a:off x="738060" y="1545882"/>
            <a:ext cx="9217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latinLnBrk="0">
              <a:defRPr sz="12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+mn-ea"/>
                <a:cs typeface="Arial" pitchFamily="34" charset="0"/>
              </a:defRPr>
            </a:lvl1pPr>
          </a:lstStyle>
          <a:p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본 사업은 </a:t>
            </a:r>
            <a:r>
              <a:rPr lang="ko-KR" altLang="en-US" sz="14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이투스와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 </a:t>
            </a:r>
            <a:r>
              <a:rPr lang="ko-KR" altLang="en-US" sz="14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교육지대의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 문제은행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DB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를 통합하고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Web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기반의 표준성과 확장성을 보장하는 문항관리시스템을 구축하여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4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퍼블릭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 </a:t>
            </a:r>
            <a:r>
              <a:rPr lang="ko-KR" altLang="en-US" sz="14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클라우드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 환경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(AWS)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로 이관하는 사업으로 ㈜데이타솔루션이 용역 개발 부문을 담당합니다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  <a:endParaRPr lang="ko-KR" altLang="en-US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1693396" y="2340431"/>
            <a:ext cx="7200000" cy="540000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noFill/>
            <a:miter lim="800000"/>
          </a:ln>
          <a:effectLst/>
        </p:spPr>
        <p:txBody>
          <a:bodyPr lIns="0" tIns="0" rIns="0" bIns="33057" anchor="ctr"/>
          <a:lstStyle/>
          <a:p>
            <a:pPr algn="ctr" defTabSz="955184" latinLnBrk="0">
              <a:spcBef>
                <a:spcPts val="275"/>
              </a:spcBef>
              <a:defRPr/>
            </a:pPr>
            <a:r>
              <a:rPr lang="ko-KR" altLang="en-US" kern="0" dirty="0">
                <a:gradFill>
                  <a:gsLst>
                    <a:gs pos="82083">
                      <a:schemeClr val="accent2"/>
                    </a:gs>
                    <a:gs pos="75000">
                      <a:schemeClr val="accent2"/>
                    </a:gs>
                  </a:gsLst>
                  <a:lin ang="16200000" scaled="1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사  업  명 </a:t>
            </a:r>
            <a:r>
              <a:rPr lang="en-US" altLang="ko-KR" kern="0" dirty="0">
                <a:gradFill>
                  <a:gsLst>
                    <a:gs pos="82083">
                      <a:schemeClr val="accent2"/>
                    </a:gs>
                    <a:gs pos="75000">
                      <a:schemeClr val="accent2"/>
                    </a:gs>
                  </a:gsLst>
                  <a:lin ang="16200000" scaled="1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: </a:t>
            </a:r>
            <a:r>
              <a:rPr lang="ko-KR" altLang="en-US" kern="0" dirty="0">
                <a:gradFill>
                  <a:gsLst>
                    <a:gs pos="2500">
                      <a:prstClr val="black">
                        <a:lumMod val="85000"/>
                        <a:lumOff val="15000"/>
                      </a:prstClr>
                    </a:gs>
                    <a:gs pos="62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</a:rPr>
              <a:t>문제은행 </a:t>
            </a:r>
            <a:r>
              <a:rPr lang="en-US" altLang="ko-KR" kern="0" dirty="0">
                <a:gradFill>
                  <a:gsLst>
                    <a:gs pos="2500">
                      <a:prstClr val="black">
                        <a:lumMod val="85000"/>
                        <a:lumOff val="15000"/>
                      </a:prstClr>
                    </a:gs>
                    <a:gs pos="62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</a:rPr>
              <a:t>DB</a:t>
            </a:r>
            <a:r>
              <a:rPr lang="ko-KR" altLang="en-US" kern="0" dirty="0">
                <a:gradFill>
                  <a:gsLst>
                    <a:gs pos="2500">
                      <a:prstClr val="black">
                        <a:lumMod val="85000"/>
                        <a:lumOff val="15000"/>
                      </a:prstClr>
                    </a:gs>
                    <a:gs pos="62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</a:rPr>
              <a:t>통합 프로젝트 </a:t>
            </a:r>
            <a:r>
              <a:rPr lang="en-US" altLang="ko-KR" sz="1400" kern="0" dirty="0">
                <a:gradFill>
                  <a:gsLst>
                    <a:gs pos="2500">
                      <a:prstClr val="black">
                        <a:lumMod val="85000"/>
                        <a:lumOff val="15000"/>
                      </a:prstClr>
                    </a:gs>
                    <a:gs pos="62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</a:rPr>
              <a:t>(</a:t>
            </a:r>
            <a:r>
              <a:rPr lang="ko-KR" altLang="en-US" sz="1400" kern="0" dirty="0">
                <a:gradFill>
                  <a:gsLst>
                    <a:gs pos="2500">
                      <a:prstClr val="black">
                        <a:lumMod val="85000"/>
                        <a:lumOff val="15000"/>
                      </a:prstClr>
                    </a:gs>
                    <a:gs pos="62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</a:rPr>
              <a:t>가칭</a:t>
            </a:r>
            <a:r>
              <a:rPr lang="en-US" altLang="ko-KR" sz="1400" kern="0" dirty="0">
                <a:gradFill>
                  <a:gsLst>
                    <a:gs pos="2500">
                      <a:prstClr val="black">
                        <a:lumMod val="85000"/>
                        <a:lumOff val="15000"/>
                      </a:prstClr>
                    </a:gs>
                    <a:gs pos="62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</a:rPr>
              <a:t>)</a:t>
            </a:r>
            <a:endParaRPr lang="ko-KR" altLang="en-US" sz="1400" kern="0" dirty="0">
              <a:gradFill>
                <a:gsLst>
                  <a:gs pos="2500">
                    <a:prstClr val="black">
                      <a:lumMod val="85000"/>
                      <a:lumOff val="15000"/>
                    </a:prstClr>
                  </a:gs>
                  <a:gs pos="6250">
                    <a:prstClr val="black">
                      <a:lumMod val="85000"/>
                      <a:lumOff val="15000"/>
                    </a:prstClr>
                  </a:gs>
                </a:gsLst>
                <a:lin ang="16200000" scaled="1"/>
              </a:gradFill>
            </a:endParaRPr>
          </a:p>
        </p:txBody>
      </p:sp>
      <p:sp>
        <p:nvSpPr>
          <p:cNvPr id="16" name="모서리가 둥근 직사각형 15"/>
          <p:cNvSpPr/>
          <p:nvPr/>
        </p:nvSpPr>
        <p:spPr bwMode="auto">
          <a:xfrm>
            <a:off x="1112286" y="2984091"/>
            <a:ext cx="8362220" cy="540000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noFill/>
            <a:miter lim="800000"/>
          </a:ln>
          <a:effectLst/>
        </p:spPr>
        <p:txBody>
          <a:bodyPr lIns="0" tIns="0" rIns="0" bIns="33057" anchor="ctr"/>
          <a:lstStyle/>
          <a:p>
            <a:pPr algn="ctr" defTabSz="955184" latinLnBrk="0">
              <a:spcBef>
                <a:spcPts val="275"/>
              </a:spcBef>
              <a:defRPr/>
            </a:pPr>
            <a:r>
              <a:rPr lang="ko-KR" altLang="en-US" kern="0" dirty="0">
                <a:gradFill>
                  <a:gsLst>
                    <a:gs pos="82083">
                      <a:schemeClr val="accent2"/>
                    </a:gs>
                    <a:gs pos="75000">
                      <a:schemeClr val="accent2"/>
                    </a:gs>
                  </a:gsLst>
                  <a:lin ang="16200000" scaled="1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사업 기간 </a:t>
            </a:r>
            <a:r>
              <a:rPr lang="en-US" altLang="ko-KR" kern="0" dirty="0">
                <a:gradFill>
                  <a:gsLst>
                    <a:gs pos="82083">
                      <a:schemeClr val="accent2"/>
                    </a:gs>
                    <a:gs pos="75000">
                      <a:schemeClr val="accent2"/>
                    </a:gs>
                  </a:gsLst>
                  <a:lin ang="16200000" scaled="1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: </a:t>
            </a:r>
            <a:r>
              <a:rPr lang="en-US" altLang="ko-KR" kern="0" dirty="0">
                <a:gradFill>
                  <a:gsLst>
                    <a:gs pos="2500">
                      <a:prstClr val="black">
                        <a:lumMod val="85000"/>
                        <a:lumOff val="15000"/>
                      </a:prstClr>
                    </a:gs>
                    <a:gs pos="62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</a:rPr>
              <a:t>2019.05.08 ~ 2020.02.28</a:t>
            </a:r>
            <a:endParaRPr lang="ko-KR" altLang="en-US" kern="0" dirty="0">
              <a:gradFill>
                <a:gsLst>
                  <a:gs pos="2500">
                    <a:prstClr val="black">
                      <a:lumMod val="85000"/>
                      <a:lumOff val="15000"/>
                    </a:prstClr>
                  </a:gs>
                  <a:gs pos="6250">
                    <a:prstClr val="black">
                      <a:lumMod val="85000"/>
                      <a:lumOff val="15000"/>
                    </a:prstClr>
                  </a:gs>
                </a:gsLst>
                <a:lin ang="16200000" scaled="1"/>
              </a:gra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822361" y="4334410"/>
            <a:ext cx="8928058" cy="2340000"/>
          </a:xfrm>
          <a:prstGeom prst="rect">
            <a:avLst/>
          </a:prstGeom>
          <a:solidFill>
            <a:schemeClr val="bg1"/>
          </a:solidFill>
          <a:ln w="5715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 bwMode="auto">
          <a:xfrm>
            <a:off x="835649" y="3852641"/>
            <a:ext cx="8029555" cy="427652"/>
          </a:xfrm>
          <a:prstGeom prst="roundRect">
            <a:avLst>
              <a:gd name="adj" fmla="val 0"/>
            </a:avLst>
          </a:prstGeom>
          <a:noFill/>
          <a:ln w="19050">
            <a:noFill/>
            <a:miter lim="800000"/>
          </a:ln>
          <a:effectLst/>
        </p:spPr>
        <p:txBody>
          <a:bodyPr lIns="0" tIns="0" rIns="0" bIns="33057" anchor="ctr"/>
          <a:lstStyle/>
          <a:p>
            <a:pPr defTabSz="955184" latinLnBrk="0">
              <a:spcBef>
                <a:spcPts val="275"/>
              </a:spcBef>
              <a:defRPr/>
            </a:pPr>
            <a:r>
              <a:rPr lang="en-US" altLang="ko-KR" kern="0" dirty="0">
                <a:gradFill>
                  <a:gsLst>
                    <a:gs pos="82083">
                      <a:schemeClr val="accent2"/>
                    </a:gs>
                    <a:gs pos="75000">
                      <a:schemeClr val="accent2"/>
                    </a:gs>
                  </a:gsLst>
                  <a:lin ang="16200000" scaled="1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* </a:t>
            </a:r>
            <a:r>
              <a:rPr lang="ko-KR" altLang="en-US" kern="0" dirty="0">
                <a:gradFill>
                  <a:gsLst>
                    <a:gs pos="82083">
                      <a:schemeClr val="accent2"/>
                    </a:gs>
                    <a:gs pos="75000">
                      <a:schemeClr val="accent2"/>
                    </a:gs>
                  </a:gsLst>
                  <a:lin ang="16200000" scaled="1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시스템 구축 주체</a:t>
            </a:r>
          </a:p>
        </p:txBody>
      </p:sp>
      <p:sp>
        <p:nvSpPr>
          <p:cNvPr id="19" name="직각 삼각형 18"/>
          <p:cNvSpPr/>
          <p:nvPr/>
        </p:nvSpPr>
        <p:spPr>
          <a:xfrm rot="10800000" flipH="1">
            <a:off x="9750418" y="6300981"/>
            <a:ext cx="360554" cy="368837"/>
          </a:xfrm>
          <a:prstGeom prst="rtTriangle">
            <a:avLst/>
          </a:prstGeom>
          <a:gradFill>
            <a:gsLst>
              <a:gs pos="0">
                <a:schemeClr val="tx1">
                  <a:alpha val="60000"/>
                </a:schemeClr>
              </a:gs>
              <a:gs pos="83000">
                <a:schemeClr val="bg1">
                  <a:alpha val="0"/>
                </a:schemeClr>
              </a:gs>
            </a:gsLst>
            <a:lin ang="5400000" scaled="0"/>
          </a:gra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2400" b="1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625593"/>
              </p:ext>
            </p:extLst>
          </p:nvPr>
        </p:nvGraphicFramePr>
        <p:xfrm>
          <a:off x="822360" y="4340894"/>
          <a:ext cx="8928101" cy="2333516"/>
        </p:xfrm>
        <a:graphic>
          <a:graphicData uri="http://schemas.openxmlformats.org/drawingml/2006/table">
            <a:tbl>
              <a:tblPr firstRow="1">
                <a:tableStyleId>{5FD0F851-EC5A-4D38-B0AD-8093EC10F338}</a:tableStyleId>
              </a:tblPr>
              <a:tblGrid>
                <a:gridCol w="2100280">
                  <a:extLst>
                    <a:ext uri="{9D8B030D-6E8A-4147-A177-3AD203B41FA5}">
                      <a16:colId xmlns:a16="http://schemas.microsoft.com/office/drawing/2014/main" val="100569621"/>
                    </a:ext>
                  </a:extLst>
                </a:gridCol>
                <a:gridCol w="2250236">
                  <a:extLst>
                    <a:ext uri="{9D8B030D-6E8A-4147-A177-3AD203B41FA5}">
                      <a16:colId xmlns:a16="http://schemas.microsoft.com/office/drawing/2014/main" val="2652618112"/>
                    </a:ext>
                  </a:extLst>
                </a:gridCol>
                <a:gridCol w="4577585">
                  <a:extLst>
                    <a:ext uri="{9D8B030D-6E8A-4147-A177-3AD203B41FA5}">
                      <a16:colId xmlns:a16="http://schemas.microsoft.com/office/drawing/2014/main" val="345304633"/>
                    </a:ext>
                  </a:extLst>
                </a:gridCol>
              </a:tblGrid>
              <a:tr h="391395">
                <a:tc>
                  <a:txBody>
                    <a:bodyPr/>
                    <a:lstStyle/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kern="1200" dirty="0" err="1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해당사</a:t>
                      </a:r>
                      <a:endParaRPr kumimoji="0" lang="ko-KR" altLang="en-US" sz="16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수행업무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924847"/>
                  </a:ext>
                </a:extLst>
              </a:tr>
              <a:tr h="641085"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6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주관기관</a:t>
                      </a:r>
                      <a:endParaRPr kumimoji="1" lang="en-US" altLang="ko-KR" sz="16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lnSpc>
                          <a:spcPct val="100000"/>
                        </a:lnSpc>
                        <a:buClr>
                          <a:schemeClr val="bg1">
                            <a:lumMod val="50000"/>
                          </a:schemeClr>
                        </a:buClr>
                        <a:buFont typeface="Arial" pitchFamily="34" charset="0"/>
                        <a:buNone/>
                      </a:pPr>
                      <a:endParaRPr lang="ko-KR" altLang="en-US" sz="16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42950" marR="0" lvl="1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6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업무요건</a:t>
                      </a:r>
                      <a:r>
                        <a:rPr kumimoji="1" lang="en-US" altLang="ko-KR" sz="16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6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자료 제공 및 의사결정</a:t>
                      </a:r>
                      <a:endParaRPr kumimoji="1" lang="en-US" altLang="ko-KR" sz="16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5291181"/>
                  </a:ext>
                </a:extLst>
              </a:tr>
              <a:tr h="587172"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6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전문기관</a:t>
                      </a:r>
                      <a:endParaRPr kumimoji="1" lang="en-US" altLang="ko-KR" sz="16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lnSpc>
                          <a:spcPct val="100000"/>
                        </a:lnSpc>
                        <a:buClr>
                          <a:schemeClr val="bg1">
                            <a:lumMod val="50000"/>
                          </a:schemeClr>
                        </a:buClr>
                        <a:buFont typeface="Arial" pitchFamily="34" charset="0"/>
                        <a:buNone/>
                      </a:pPr>
                      <a:endParaRPr lang="ko-KR" altLang="en-US" sz="16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42950" marR="0" lvl="1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6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사업관리 및 개발환경 제공</a:t>
                      </a:r>
                      <a:endParaRPr kumimoji="1" lang="en-US" altLang="ko-KR" sz="16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742950" marR="0" lvl="1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6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업무요건</a:t>
                      </a:r>
                      <a:r>
                        <a:rPr kumimoji="1" lang="ko-KR" altLang="en-US" sz="16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제공 및 의사결정</a:t>
                      </a:r>
                      <a:endParaRPr kumimoji="1" lang="en-US" altLang="ko-KR" sz="16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4812037"/>
                  </a:ext>
                </a:extLst>
              </a:tr>
              <a:tr h="713864"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6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용역 개발사</a:t>
                      </a:r>
                      <a:endParaRPr kumimoji="1" lang="en-US" altLang="ko-KR" sz="16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lnSpc>
                          <a:spcPct val="100000"/>
                        </a:lnSpc>
                        <a:buClr>
                          <a:schemeClr val="bg1">
                            <a:lumMod val="50000"/>
                          </a:schemeClr>
                        </a:buClr>
                        <a:buFont typeface="Arial" pitchFamily="34" charset="0"/>
                        <a:buNone/>
                      </a:pPr>
                      <a:endParaRPr lang="ko-KR" altLang="en-US" sz="16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42950" marR="0" lvl="1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6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용역사업 수행</a:t>
                      </a:r>
                      <a:endParaRPr kumimoji="1" lang="en-US" altLang="ko-KR" sz="16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742950" marR="0" lvl="1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6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 관리</a:t>
                      </a:r>
                      <a:endParaRPr kumimoji="1" lang="en-US" altLang="ko-KR" sz="16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1" t="27950" r="75279" b="66710"/>
          <a:stretch/>
        </p:blipFill>
        <p:spPr>
          <a:xfrm>
            <a:off x="3212201" y="6024973"/>
            <a:ext cx="1649166" cy="366194"/>
          </a:xfrm>
          <a:prstGeom prst="rect">
            <a:avLst/>
          </a:prstGeom>
        </p:spPr>
      </p:pic>
      <p:pic>
        <p:nvPicPr>
          <p:cNvPr id="22" name="Picture 2" descr="C:\프로젝트\2019\이투스\etoos_logo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569" y="5452983"/>
            <a:ext cx="1266825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그림 22" descr="교육지대로고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0" t="31506" r="13000" b="1370"/>
          <a:stretch>
            <a:fillRect/>
          </a:stretch>
        </p:blipFill>
        <p:spPr bwMode="auto">
          <a:xfrm>
            <a:off x="3407127" y="4809024"/>
            <a:ext cx="1259313" cy="471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98171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추진 배경 및 목적</a:t>
            </a:r>
            <a:endParaRPr lang="en-US" altLang="ko-KR" dirty="0"/>
          </a:p>
        </p:txBody>
      </p:sp>
      <p:pic>
        <p:nvPicPr>
          <p:cNvPr id="39" name="Picture 2" descr="C:\Users\a\Documents\네이트온 받은 파일\제안서-배경이미지2.png">
            <a:extLst>
              <a:ext uri="{FF2B5EF4-FFF2-40B4-BE49-F238E27FC236}">
                <a16:creationId xmlns:a16="http://schemas.microsoft.com/office/drawing/2014/main" id="{C7DE64B6-8B54-41D5-9D24-1F9D6F90E1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" t="37423" r="1644" b="5966"/>
          <a:stretch/>
        </p:blipFill>
        <p:spPr bwMode="auto">
          <a:xfrm>
            <a:off x="29390" y="3132541"/>
            <a:ext cx="10589698" cy="1280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" name="그룹 39"/>
          <p:cNvGrpSpPr/>
          <p:nvPr/>
        </p:nvGrpSpPr>
        <p:grpSpPr>
          <a:xfrm>
            <a:off x="1811129" y="1714054"/>
            <a:ext cx="7202916" cy="966832"/>
            <a:chOff x="1746200" y="1844683"/>
            <a:chExt cx="7202916" cy="966832"/>
          </a:xfrm>
        </p:grpSpPr>
        <p:sp>
          <p:nvSpPr>
            <p:cNvPr id="41" name="직사각형 40"/>
            <p:cNvSpPr/>
            <p:nvPr/>
          </p:nvSpPr>
          <p:spPr>
            <a:xfrm>
              <a:off x="1746200" y="1844683"/>
              <a:ext cx="7202916" cy="600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15833">
                        <a:prstClr val="black">
                          <a:lumMod val="75000"/>
                          <a:lumOff val="25000"/>
                        </a:prstClr>
                      </a:gs>
                      <a:gs pos="2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표준 환경에 적합하고 향후 확장성을 고려한 </a:t>
              </a:r>
              <a:b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15833">
                        <a:prstClr val="black">
                          <a:lumMod val="75000"/>
                          <a:lumOff val="25000"/>
                        </a:prstClr>
                      </a:gs>
                      <a:gs pos="2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</a:br>
              <a:r>
                <a:rPr kumimoji="0" lang="ko-KR" altLang="en-US" sz="2300" b="0" i="0" u="none" strike="noStrike" kern="0" cap="none" spc="-46" normalizeH="0" baseline="0" noProof="0" dirty="0">
                  <a:ln>
                    <a:noFill/>
                  </a:ln>
                  <a:gradFill>
                    <a:gsLst>
                      <a:gs pos="64583">
                        <a:srgbClr val="0070C0"/>
                      </a:gs>
                      <a:gs pos="56667">
                        <a:srgbClr val="0070C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문제은행 통합 </a:t>
              </a:r>
              <a:r>
                <a:rPr kumimoji="0" lang="en-US" altLang="ko-KR" sz="2300" b="0" i="0" u="none" strike="noStrike" kern="0" cap="none" spc="-46" normalizeH="0" baseline="0" noProof="0" dirty="0">
                  <a:ln>
                    <a:noFill/>
                  </a:ln>
                  <a:gradFill>
                    <a:gsLst>
                      <a:gs pos="64583">
                        <a:srgbClr val="0070C0"/>
                      </a:gs>
                      <a:gs pos="56667">
                        <a:srgbClr val="0070C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DB</a:t>
              </a:r>
              <a:r>
                <a:rPr kumimoji="0" lang="en-US" altLang="ko-KR" sz="2300" b="0" i="0" u="none" strike="noStrike" kern="0" cap="none" spc="-46" normalizeH="0" noProof="0" dirty="0">
                  <a:ln>
                    <a:noFill/>
                  </a:ln>
                  <a:gradFill>
                    <a:gsLst>
                      <a:gs pos="64583">
                        <a:srgbClr val="0070C0"/>
                      </a:gs>
                      <a:gs pos="56667">
                        <a:srgbClr val="0070C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 </a:t>
              </a:r>
              <a:r>
                <a:rPr kumimoji="0" lang="ko-KR" altLang="en-US" sz="2300" b="0" i="0" u="none" strike="noStrike" kern="0" cap="none" spc="-46" normalizeH="0" noProof="0" dirty="0">
                  <a:ln>
                    <a:noFill/>
                  </a:ln>
                  <a:gradFill>
                    <a:gsLst>
                      <a:gs pos="64583">
                        <a:srgbClr val="0070C0"/>
                      </a:gs>
                      <a:gs pos="56667">
                        <a:srgbClr val="0070C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구축</a:t>
              </a:r>
              <a:endParaRPr kumimoji="0" lang="ko-KR" altLang="en-US" sz="2300" b="0" i="0" u="none" strike="noStrike" kern="0" cap="none" spc="-46" normalizeH="0" baseline="0" noProof="0" dirty="0">
                <a:ln>
                  <a:noFill/>
                </a:ln>
                <a:gradFill>
                  <a:gsLst>
                    <a:gs pos="64583">
                      <a:srgbClr val="0070C0"/>
                    </a:gs>
                    <a:gs pos="56667">
                      <a:srgbClr val="0070C0"/>
                    </a:gs>
                  </a:gsLst>
                  <a:lin ang="5400000" scaled="0"/>
                </a:gradFill>
                <a:effectLst/>
                <a:uLnTx/>
                <a:uFillTx/>
              </a:endParaRPr>
            </a:p>
          </p:txBody>
        </p:sp>
        <p:grpSp>
          <p:nvGrpSpPr>
            <p:cNvPr id="42" name="그룹 133">
              <a:extLst>
                <a:ext uri="{FF2B5EF4-FFF2-40B4-BE49-F238E27FC236}">
                  <a16:creationId xmlns:a16="http://schemas.microsoft.com/office/drawing/2014/main" id="{4EACFEE8-C542-468B-AF2B-355D9B8AFD74}"/>
                </a:ext>
              </a:extLst>
            </p:cNvPr>
            <p:cNvGrpSpPr/>
            <p:nvPr/>
          </p:nvGrpSpPr>
          <p:grpSpPr>
            <a:xfrm rot="16200000">
              <a:off x="5226072" y="2496738"/>
              <a:ext cx="243172" cy="386382"/>
              <a:chOff x="3008842" y="3742178"/>
              <a:chExt cx="814346" cy="720100"/>
            </a:xfrm>
          </p:grpSpPr>
          <p:sp>
            <p:nvSpPr>
              <p:cNvPr id="43" name="이등변 삼각형 134">
                <a:extLst>
                  <a:ext uri="{FF2B5EF4-FFF2-40B4-BE49-F238E27FC236}">
                    <a16:creationId xmlns:a16="http://schemas.microsoft.com/office/drawing/2014/main" id="{D5BDF87F-A14B-4DC3-9367-2CF99247B556}"/>
                  </a:ext>
                </a:extLst>
              </p:cNvPr>
              <p:cNvSpPr/>
              <p:nvPr/>
            </p:nvSpPr>
            <p:spPr>
              <a:xfrm rot="5400000">
                <a:off x="3152750" y="3791840"/>
                <a:ext cx="720100" cy="620776"/>
              </a:xfrm>
              <a:prstGeom prst="triangle">
                <a:avLst/>
              </a:prstGeom>
              <a:solidFill>
                <a:srgbClr val="FFFFFF">
                  <a:lumMod val="6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solidFill>
                      <a:srgbClr val="FFFFFF">
                        <a:lumMod val="75000"/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sp>
            <p:nvSpPr>
              <p:cNvPr id="44" name="이등변 삼각형 135">
                <a:extLst>
                  <a:ext uri="{FF2B5EF4-FFF2-40B4-BE49-F238E27FC236}">
                    <a16:creationId xmlns:a16="http://schemas.microsoft.com/office/drawing/2014/main" id="{BE3046BC-6210-43F5-913E-FB83D033C63B}"/>
                  </a:ext>
                </a:extLst>
              </p:cNvPr>
              <p:cNvSpPr/>
              <p:nvPr/>
            </p:nvSpPr>
            <p:spPr>
              <a:xfrm rot="5400000">
                <a:off x="2959180" y="3791840"/>
                <a:ext cx="720100" cy="620775"/>
              </a:xfrm>
              <a:prstGeom prst="triangle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solidFill>
                      <a:srgbClr val="FFFFFF">
                        <a:lumMod val="75000"/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</p:grpSp>
      </p:grpSp>
      <p:grpSp>
        <p:nvGrpSpPr>
          <p:cNvPr id="45" name="그룹 44"/>
          <p:cNvGrpSpPr/>
          <p:nvPr/>
        </p:nvGrpSpPr>
        <p:grpSpPr>
          <a:xfrm>
            <a:off x="4599429" y="2772493"/>
            <a:ext cx="1624401" cy="1944490"/>
            <a:chOff x="4534500" y="2899186"/>
            <a:chExt cx="1624401" cy="1944490"/>
          </a:xfrm>
        </p:grpSpPr>
        <p:grpSp>
          <p:nvGrpSpPr>
            <p:cNvPr id="46" name="그룹 45"/>
            <p:cNvGrpSpPr/>
            <p:nvPr/>
          </p:nvGrpSpPr>
          <p:grpSpPr>
            <a:xfrm>
              <a:off x="4534500" y="2899186"/>
              <a:ext cx="1624401" cy="1944490"/>
              <a:chOff x="4534500" y="2899186"/>
              <a:chExt cx="1624401" cy="1944490"/>
            </a:xfrm>
          </p:grpSpPr>
          <p:sp>
            <p:nvSpPr>
              <p:cNvPr id="48" name="직사각형 4"/>
              <p:cNvSpPr/>
              <p:nvPr/>
            </p:nvSpPr>
            <p:spPr>
              <a:xfrm rot="2639720">
                <a:off x="5266785" y="3248352"/>
                <a:ext cx="811135" cy="1595324"/>
              </a:xfrm>
              <a:custGeom>
                <a:avLst/>
                <a:gdLst>
                  <a:gd name="connsiteX0" fmla="*/ 0 w 727861"/>
                  <a:gd name="connsiteY0" fmla="*/ 0 h 742553"/>
                  <a:gd name="connsiteX1" fmla="*/ 727861 w 727861"/>
                  <a:gd name="connsiteY1" fmla="*/ 0 h 742553"/>
                  <a:gd name="connsiteX2" fmla="*/ 727861 w 727861"/>
                  <a:gd name="connsiteY2" fmla="*/ 742553 h 742553"/>
                  <a:gd name="connsiteX3" fmla="*/ 0 w 727861"/>
                  <a:gd name="connsiteY3" fmla="*/ 742553 h 742553"/>
                  <a:gd name="connsiteX4" fmla="*/ 0 w 727861"/>
                  <a:gd name="connsiteY4" fmla="*/ 0 h 742553"/>
                  <a:gd name="connsiteX0" fmla="*/ 0 w 727861"/>
                  <a:gd name="connsiteY0" fmla="*/ 0 h 742553"/>
                  <a:gd name="connsiteX1" fmla="*/ 727861 w 727861"/>
                  <a:gd name="connsiteY1" fmla="*/ 0 h 742553"/>
                  <a:gd name="connsiteX2" fmla="*/ 708249 w 727861"/>
                  <a:gd name="connsiteY2" fmla="*/ 708528 h 742553"/>
                  <a:gd name="connsiteX3" fmla="*/ 0 w 727861"/>
                  <a:gd name="connsiteY3" fmla="*/ 742553 h 742553"/>
                  <a:gd name="connsiteX4" fmla="*/ 0 w 727861"/>
                  <a:gd name="connsiteY4" fmla="*/ 0 h 742553"/>
                  <a:gd name="connsiteX0" fmla="*/ 0 w 727388"/>
                  <a:gd name="connsiteY0" fmla="*/ 0 h 742553"/>
                  <a:gd name="connsiteX1" fmla="*/ 727388 w 727388"/>
                  <a:gd name="connsiteY1" fmla="*/ 26936 h 742553"/>
                  <a:gd name="connsiteX2" fmla="*/ 708249 w 727388"/>
                  <a:gd name="connsiteY2" fmla="*/ 708528 h 742553"/>
                  <a:gd name="connsiteX3" fmla="*/ 0 w 727388"/>
                  <a:gd name="connsiteY3" fmla="*/ 742553 h 742553"/>
                  <a:gd name="connsiteX4" fmla="*/ 0 w 727388"/>
                  <a:gd name="connsiteY4" fmla="*/ 0 h 742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7388" h="742553">
                    <a:moveTo>
                      <a:pt x="0" y="0"/>
                    </a:moveTo>
                    <a:lnTo>
                      <a:pt x="727388" y="26936"/>
                    </a:lnTo>
                    <a:lnTo>
                      <a:pt x="708249" y="708528"/>
                    </a:lnTo>
                    <a:lnTo>
                      <a:pt x="0" y="742553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2917">
                    <a:sysClr val="window" lastClr="FFFFFF">
                      <a:alpha val="0"/>
                    </a:sysClr>
                  </a:gs>
                  <a:gs pos="95000">
                    <a:sysClr val="windowText" lastClr="000000">
                      <a:lumMod val="95000"/>
                      <a:lumOff val="5000"/>
                      <a:alpha val="27000"/>
                    </a:sysClr>
                  </a:gs>
                </a:gsLst>
                <a:lin ang="10800000" scaled="1"/>
                <a:tileRect/>
              </a:gra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23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타원 48"/>
              <p:cNvSpPr/>
              <p:nvPr/>
            </p:nvSpPr>
            <p:spPr>
              <a:xfrm>
                <a:off x="4534500" y="2899186"/>
                <a:ext cx="1624401" cy="1624397"/>
              </a:xfrm>
              <a:prstGeom prst="ellipse">
                <a:avLst/>
              </a:prstGeom>
              <a:solidFill>
                <a:srgbClr val="0479BF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23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7" name="직사각형 46"/>
            <p:cNvSpPr/>
            <p:nvPr/>
          </p:nvSpPr>
          <p:spPr>
            <a:xfrm>
              <a:off x="4553037" y="3333893"/>
              <a:ext cx="1568441" cy="738664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 marL="0" marR="0" lvl="1" indent="0" algn="ctr" defTabSz="9572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ysClr val="windowText" lastClr="000000"/>
                </a:buClr>
                <a:buSzTx/>
                <a:buFontTx/>
                <a:buNone/>
                <a:tabLst>
                  <a:tab pos="5037002" algn="l"/>
                </a:tabLst>
                <a:defRPr/>
              </a:pPr>
              <a:r>
                <a:rPr kumimoji="0" lang="ko-KR" altLang="en-US" sz="1600" b="0" i="0" u="none" strike="noStrike" kern="0" cap="none" spc="-72" normalizeH="0" baseline="0" noProof="0" dirty="0">
                  <a:ln>
                    <a:noFill/>
                  </a:ln>
                  <a:gradFill>
                    <a:gsLst>
                      <a:gs pos="13750">
                        <a:prstClr val="white"/>
                      </a:gs>
                      <a:gs pos="2625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개발환경 표준화를</a:t>
              </a:r>
              <a:endParaRPr kumimoji="0" lang="en-US" altLang="ko-KR" sz="1600" b="0" i="0" u="none" strike="noStrike" kern="0" cap="none" spc="-72" normalizeH="0" baseline="0" noProof="0" dirty="0">
                <a:ln>
                  <a:noFill/>
                </a:ln>
                <a:gradFill>
                  <a:gsLst>
                    <a:gs pos="13750">
                      <a:prstClr val="white"/>
                    </a:gs>
                    <a:gs pos="26250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</a:endParaRPr>
            </a:p>
            <a:p>
              <a:pPr marL="0" marR="0" lvl="1" indent="0" algn="ctr" defTabSz="9572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ysClr val="windowText" lastClr="000000"/>
                </a:buClr>
                <a:buSzTx/>
                <a:buFontTx/>
                <a:buNone/>
                <a:tabLst>
                  <a:tab pos="5037002" algn="l"/>
                </a:tabLst>
                <a:defRPr/>
              </a:pPr>
              <a:r>
                <a:rPr lang="ko-KR" altLang="en-US" sz="1600" kern="0" spc="-72" dirty="0">
                  <a:gradFill>
                    <a:gsLst>
                      <a:gs pos="13750">
                        <a:prstClr val="white"/>
                      </a:gs>
                      <a:gs pos="26250">
                        <a:prstClr val="white"/>
                      </a:gs>
                    </a:gsLst>
                    <a:lin ang="5400000" scaled="0"/>
                  </a:gradFill>
                </a:rPr>
                <a:t>통한 확장성과</a:t>
              </a:r>
              <a:r>
                <a:rPr kumimoji="0" lang="en-US" altLang="ko-KR" sz="1600" b="0" i="0" u="none" strike="noStrike" kern="0" cap="none" spc="-72" normalizeH="0" baseline="0" noProof="0" dirty="0">
                  <a:ln>
                    <a:noFill/>
                  </a:ln>
                  <a:gradFill>
                    <a:gsLst>
                      <a:gs pos="13750">
                        <a:prstClr val="white"/>
                      </a:gs>
                      <a:gs pos="2625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/>
              </a:r>
              <a:br>
                <a:rPr kumimoji="0" lang="en-US" altLang="ko-KR" sz="1600" b="0" i="0" u="none" strike="noStrike" kern="0" cap="none" spc="-72" normalizeH="0" baseline="0" noProof="0" dirty="0">
                  <a:ln>
                    <a:noFill/>
                  </a:ln>
                  <a:gradFill>
                    <a:gsLst>
                      <a:gs pos="13750">
                        <a:prstClr val="white"/>
                      </a:gs>
                      <a:gs pos="2625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</a:br>
              <a:r>
                <a:rPr kumimoji="0" lang="ko-KR" altLang="en-US" sz="1600" b="0" i="0" u="none" strike="noStrike" kern="0" cap="none" spc="-72" normalizeH="0" baseline="0" noProof="0" dirty="0">
                  <a:ln>
                    <a:noFill/>
                  </a:ln>
                  <a:gradFill>
                    <a:gsLst>
                      <a:gs pos="13750">
                        <a:prstClr val="white"/>
                      </a:gs>
                      <a:gs pos="2625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유지보수성 제고</a:t>
              </a: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8035818" y="2772491"/>
            <a:ext cx="1624401" cy="1936395"/>
            <a:chOff x="7970889" y="2899184"/>
            <a:chExt cx="1624401" cy="1936395"/>
          </a:xfrm>
        </p:grpSpPr>
        <p:sp>
          <p:nvSpPr>
            <p:cNvPr id="60" name="직사각형 4"/>
            <p:cNvSpPr/>
            <p:nvPr/>
          </p:nvSpPr>
          <p:spPr>
            <a:xfrm rot="2639720">
              <a:off x="8705756" y="3240255"/>
              <a:ext cx="787824" cy="1595324"/>
            </a:xfrm>
            <a:custGeom>
              <a:avLst/>
              <a:gdLst>
                <a:gd name="connsiteX0" fmla="*/ 0 w 727861"/>
                <a:gd name="connsiteY0" fmla="*/ 0 h 742553"/>
                <a:gd name="connsiteX1" fmla="*/ 727861 w 727861"/>
                <a:gd name="connsiteY1" fmla="*/ 0 h 742553"/>
                <a:gd name="connsiteX2" fmla="*/ 727861 w 727861"/>
                <a:gd name="connsiteY2" fmla="*/ 742553 h 742553"/>
                <a:gd name="connsiteX3" fmla="*/ 0 w 727861"/>
                <a:gd name="connsiteY3" fmla="*/ 742553 h 742553"/>
                <a:gd name="connsiteX4" fmla="*/ 0 w 727861"/>
                <a:gd name="connsiteY4" fmla="*/ 0 h 742553"/>
                <a:gd name="connsiteX0" fmla="*/ 0 w 727861"/>
                <a:gd name="connsiteY0" fmla="*/ 0 h 742553"/>
                <a:gd name="connsiteX1" fmla="*/ 727861 w 727861"/>
                <a:gd name="connsiteY1" fmla="*/ 0 h 742553"/>
                <a:gd name="connsiteX2" fmla="*/ 708249 w 727861"/>
                <a:gd name="connsiteY2" fmla="*/ 708528 h 742553"/>
                <a:gd name="connsiteX3" fmla="*/ 0 w 727861"/>
                <a:gd name="connsiteY3" fmla="*/ 742553 h 742553"/>
                <a:gd name="connsiteX4" fmla="*/ 0 w 727861"/>
                <a:gd name="connsiteY4" fmla="*/ 0 h 742553"/>
                <a:gd name="connsiteX0" fmla="*/ 0 w 727388"/>
                <a:gd name="connsiteY0" fmla="*/ 0 h 742553"/>
                <a:gd name="connsiteX1" fmla="*/ 727388 w 727388"/>
                <a:gd name="connsiteY1" fmla="*/ 26936 h 742553"/>
                <a:gd name="connsiteX2" fmla="*/ 708249 w 727388"/>
                <a:gd name="connsiteY2" fmla="*/ 708528 h 742553"/>
                <a:gd name="connsiteX3" fmla="*/ 0 w 727388"/>
                <a:gd name="connsiteY3" fmla="*/ 742553 h 742553"/>
                <a:gd name="connsiteX4" fmla="*/ 0 w 727388"/>
                <a:gd name="connsiteY4" fmla="*/ 0 h 74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7388" h="742553">
                  <a:moveTo>
                    <a:pt x="0" y="0"/>
                  </a:moveTo>
                  <a:lnTo>
                    <a:pt x="727388" y="26936"/>
                  </a:lnTo>
                  <a:lnTo>
                    <a:pt x="708249" y="708528"/>
                  </a:lnTo>
                  <a:lnTo>
                    <a:pt x="0" y="742553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2917">
                  <a:sysClr val="window" lastClr="FFFFFF">
                    <a:alpha val="0"/>
                  </a:sysClr>
                </a:gs>
                <a:gs pos="95000">
                  <a:sysClr val="windowText" lastClr="000000">
                    <a:lumMod val="95000"/>
                    <a:lumOff val="5000"/>
                    <a:alpha val="27000"/>
                  </a:sysClr>
                </a:gs>
              </a:gsLst>
              <a:lin ang="10800000" scaled="1"/>
              <a:tileRect/>
            </a:gradFill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23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타원 75"/>
            <p:cNvSpPr/>
            <p:nvPr/>
          </p:nvSpPr>
          <p:spPr>
            <a:xfrm>
              <a:off x="7970889" y="2899184"/>
              <a:ext cx="1624401" cy="1624397"/>
            </a:xfrm>
            <a:prstGeom prst="ellipse">
              <a:avLst/>
            </a:prstGeom>
            <a:solidFill>
              <a:srgbClr val="27497F"/>
            </a:solidFill>
            <a:ln w="1905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defTabSz="914230" latinLnBrk="0">
                <a:defRPr/>
              </a:pPr>
              <a:endParaRPr lang="ko-KR" altLang="en-US" sz="2400" b="1" kern="0">
                <a:solidFill>
                  <a:prstClr val="black"/>
                </a:solidFill>
                <a:latin typeface="Rix명조 EB" panose="02020603020101020101" pitchFamily="18" charset="-127"/>
                <a:ea typeface="Rix명조 EB" panose="02020603020101020101" pitchFamily="18" charset="-127"/>
              </a:endParaRPr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1002587" y="2772492"/>
            <a:ext cx="1624401" cy="1920541"/>
            <a:chOff x="5079064" y="2011885"/>
            <a:chExt cx="1172162" cy="1385858"/>
          </a:xfrm>
        </p:grpSpPr>
        <p:sp>
          <p:nvSpPr>
            <p:cNvPr id="94" name="직사각형 4"/>
            <p:cNvSpPr/>
            <p:nvPr/>
          </p:nvSpPr>
          <p:spPr>
            <a:xfrm rot="2639720">
              <a:off x="5614460" y="2246561"/>
              <a:ext cx="535556" cy="1151182"/>
            </a:xfrm>
            <a:custGeom>
              <a:avLst/>
              <a:gdLst>
                <a:gd name="connsiteX0" fmla="*/ 0 w 727861"/>
                <a:gd name="connsiteY0" fmla="*/ 0 h 742553"/>
                <a:gd name="connsiteX1" fmla="*/ 727861 w 727861"/>
                <a:gd name="connsiteY1" fmla="*/ 0 h 742553"/>
                <a:gd name="connsiteX2" fmla="*/ 727861 w 727861"/>
                <a:gd name="connsiteY2" fmla="*/ 742553 h 742553"/>
                <a:gd name="connsiteX3" fmla="*/ 0 w 727861"/>
                <a:gd name="connsiteY3" fmla="*/ 742553 h 742553"/>
                <a:gd name="connsiteX4" fmla="*/ 0 w 727861"/>
                <a:gd name="connsiteY4" fmla="*/ 0 h 742553"/>
                <a:gd name="connsiteX0" fmla="*/ 0 w 727861"/>
                <a:gd name="connsiteY0" fmla="*/ 0 h 742553"/>
                <a:gd name="connsiteX1" fmla="*/ 727861 w 727861"/>
                <a:gd name="connsiteY1" fmla="*/ 0 h 742553"/>
                <a:gd name="connsiteX2" fmla="*/ 708249 w 727861"/>
                <a:gd name="connsiteY2" fmla="*/ 708528 h 742553"/>
                <a:gd name="connsiteX3" fmla="*/ 0 w 727861"/>
                <a:gd name="connsiteY3" fmla="*/ 742553 h 742553"/>
                <a:gd name="connsiteX4" fmla="*/ 0 w 727861"/>
                <a:gd name="connsiteY4" fmla="*/ 0 h 742553"/>
                <a:gd name="connsiteX0" fmla="*/ 0 w 727388"/>
                <a:gd name="connsiteY0" fmla="*/ 0 h 742553"/>
                <a:gd name="connsiteX1" fmla="*/ 727388 w 727388"/>
                <a:gd name="connsiteY1" fmla="*/ 26936 h 742553"/>
                <a:gd name="connsiteX2" fmla="*/ 708249 w 727388"/>
                <a:gd name="connsiteY2" fmla="*/ 708528 h 742553"/>
                <a:gd name="connsiteX3" fmla="*/ 0 w 727388"/>
                <a:gd name="connsiteY3" fmla="*/ 742553 h 742553"/>
                <a:gd name="connsiteX4" fmla="*/ 0 w 727388"/>
                <a:gd name="connsiteY4" fmla="*/ 0 h 74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7388" h="742553">
                  <a:moveTo>
                    <a:pt x="0" y="0"/>
                  </a:moveTo>
                  <a:lnTo>
                    <a:pt x="727388" y="26936"/>
                  </a:lnTo>
                  <a:lnTo>
                    <a:pt x="708249" y="708528"/>
                  </a:lnTo>
                  <a:lnTo>
                    <a:pt x="0" y="742553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2917">
                  <a:sysClr val="window" lastClr="FFFFFF">
                    <a:alpha val="0"/>
                  </a:sysClr>
                </a:gs>
                <a:gs pos="95000">
                  <a:sysClr val="windowText" lastClr="000000">
                    <a:lumMod val="95000"/>
                    <a:lumOff val="5000"/>
                    <a:alpha val="27000"/>
                  </a:sysClr>
                </a:gs>
              </a:gsLst>
              <a:lin ang="10800000" scaled="1"/>
              <a:tileRect/>
            </a:gradFill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23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타원 94"/>
            <p:cNvSpPr/>
            <p:nvPr/>
          </p:nvSpPr>
          <p:spPr>
            <a:xfrm>
              <a:off x="5079064" y="2011885"/>
              <a:ext cx="1172162" cy="1172161"/>
            </a:xfrm>
            <a:prstGeom prst="ellipse">
              <a:avLst/>
            </a:prstGeom>
            <a:solidFill>
              <a:srgbClr val="A1D044"/>
            </a:solidFill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23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6009" y="4829744"/>
            <a:ext cx="10619397" cy="2256654"/>
            <a:chOff x="708518" y="1799343"/>
            <a:chExt cx="9233031" cy="2256654"/>
          </a:xfrm>
        </p:grpSpPr>
        <p:sp>
          <p:nvSpPr>
            <p:cNvPr id="97" name="직사각형 96"/>
            <p:cNvSpPr/>
            <p:nvPr/>
          </p:nvSpPr>
          <p:spPr>
            <a:xfrm>
              <a:off x="754560" y="2299856"/>
              <a:ext cx="2975153" cy="1756141"/>
            </a:xfrm>
            <a:prstGeom prst="rect">
              <a:avLst/>
            </a:prstGeom>
            <a:solidFill>
              <a:srgbClr val="262626">
                <a:lumMod val="10000"/>
                <a:lumOff val="9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lIns="99569" tIns="49785" rIns="99569" bIns="49785" rtlCol="0" anchor="ctr"/>
            <a:lstStyle/>
            <a:p>
              <a:pPr marL="0" marR="0" lvl="0" indent="0" algn="ctr" defTabSz="108639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B"/>
                <a:ea typeface="Rix고딕 B"/>
                <a:cs typeface="+mn-cs"/>
              </a:endParaRPr>
            </a:p>
          </p:txBody>
        </p:sp>
        <p:sp>
          <p:nvSpPr>
            <p:cNvPr id="98" name="AutoShape 234"/>
            <p:cNvSpPr>
              <a:spLocks noChangeArrowheads="1"/>
            </p:cNvSpPr>
            <p:nvPr/>
          </p:nvSpPr>
          <p:spPr bwMode="auto">
            <a:xfrm>
              <a:off x="754560" y="2287639"/>
              <a:ext cx="2975153" cy="45718"/>
            </a:xfrm>
            <a:prstGeom prst="rect">
              <a:avLst/>
            </a:prstGeom>
            <a:solidFill>
              <a:srgbClr val="A1D044">
                <a:lumMod val="75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lIns="108000" tIns="0" rIns="108000" bIns="0" rtlCol="0" anchor="ctr" anchorCtr="0"/>
            <a:lstStyle/>
            <a:p>
              <a:pPr marL="139700" marR="0" lvl="0" indent="-139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7D7C7F"/>
                </a:buClr>
                <a:buSzPct val="90000"/>
                <a:buFont typeface="Arial" panose="020B0604020202020204" pitchFamily="34" charset="0"/>
                <a:buChar char="•"/>
                <a:tabLst>
                  <a:tab pos="2338835" algn="l"/>
                </a:tabLst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262626">
                        <a:lumMod val="75000"/>
                        <a:lumOff val="25000"/>
                      </a:srgbClr>
                    </a:gs>
                    <a:gs pos="50000">
                      <a:srgbClr val="262626">
                        <a:lumMod val="75000"/>
                        <a:lumOff val="2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 flipH="1">
              <a:off x="6937768" y="1847224"/>
              <a:ext cx="2981179" cy="482187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defTabSz="914400" latinLnBrk="0">
                <a:defRPr/>
              </a:pPr>
              <a:r>
                <a:rPr lang="ko-KR" altLang="en-US" sz="1800" kern="0" spc="-65" dirty="0">
                  <a:solidFill>
                    <a:srgbClr val="262626">
                      <a:lumMod val="90000"/>
                      <a:lumOff val="10000"/>
                    </a:srgbClr>
                  </a:solidFill>
                </a:rPr>
                <a:t>공동활용 기반 마련</a:t>
              </a: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3855577" y="2299856"/>
              <a:ext cx="2974729" cy="1756141"/>
            </a:xfrm>
            <a:prstGeom prst="rect">
              <a:avLst/>
            </a:prstGeom>
            <a:solidFill>
              <a:srgbClr val="262626">
                <a:lumMod val="10000"/>
                <a:lumOff val="9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lIns="99569" tIns="49785" rIns="99569" bIns="49785" rtlCol="0" anchor="ctr"/>
            <a:lstStyle/>
            <a:p>
              <a:pPr marL="0" marR="0" lvl="0" indent="0" algn="ctr" defTabSz="108639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B"/>
                <a:ea typeface="Rix고딕 B"/>
                <a:cs typeface="+mn-cs"/>
              </a:endParaRPr>
            </a:p>
          </p:txBody>
        </p:sp>
        <p:sp>
          <p:nvSpPr>
            <p:cNvPr id="101" name="AutoShape 234"/>
            <p:cNvSpPr>
              <a:spLocks noChangeArrowheads="1"/>
            </p:cNvSpPr>
            <p:nvPr/>
          </p:nvSpPr>
          <p:spPr bwMode="auto">
            <a:xfrm>
              <a:off x="3855577" y="2287639"/>
              <a:ext cx="2974729" cy="45718"/>
            </a:xfrm>
            <a:prstGeom prst="rect">
              <a:avLst/>
            </a:prstGeom>
            <a:solidFill>
              <a:srgbClr val="0479BF"/>
            </a:solidFill>
            <a:ln w="9525" cap="flat" cmpd="sng" algn="ctr">
              <a:noFill/>
              <a:prstDash val="solid"/>
            </a:ln>
            <a:effectLst/>
          </p:spPr>
          <p:txBody>
            <a:bodyPr lIns="108000" tIns="0" rIns="108000" bIns="0" rtlCol="0" anchor="ctr" anchorCtr="0"/>
            <a:lstStyle/>
            <a:p>
              <a:pPr marL="139700" marR="0" lvl="0" indent="-139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7D7C7F"/>
                </a:buClr>
                <a:buSzPct val="90000"/>
                <a:buFont typeface="Arial" panose="020B0604020202020204" pitchFamily="34" charset="0"/>
                <a:buChar char="•"/>
                <a:tabLst>
                  <a:tab pos="2338835" algn="l"/>
                </a:tabLst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262626">
                        <a:lumMod val="75000"/>
                        <a:lumOff val="25000"/>
                      </a:srgbClr>
                    </a:gs>
                    <a:gs pos="50000">
                      <a:srgbClr val="262626">
                        <a:lumMod val="75000"/>
                        <a:lumOff val="2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 flipH="1">
              <a:off x="3841915" y="1799407"/>
              <a:ext cx="3002055" cy="482187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defTabSz="914400" latinLnBrk="0">
                <a:defRPr/>
              </a:pPr>
              <a:r>
                <a:rPr lang="ko-KR" altLang="en-US" sz="1800" kern="0" spc="-65" dirty="0">
                  <a:solidFill>
                    <a:srgbClr val="262626">
                      <a:lumMod val="90000"/>
                      <a:lumOff val="10000"/>
                    </a:srgbClr>
                  </a:solidFill>
                </a:rPr>
                <a:t>시스템 표준 환경 준수</a:t>
              </a: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6966820" y="2299856"/>
              <a:ext cx="2974729" cy="1756141"/>
            </a:xfrm>
            <a:prstGeom prst="rect">
              <a:avLst/>
            </a:prstGeom>
            <a:solidFill>
              <a:srgbClr val="262626">
                <a:lumMod val="10000"/>
                <a:lumOff val="9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lIns="99569" tIns="49785" rIns="99569" bIns="49785" rtlCol="0" anchor="ctr"/>
            <a:lstStyle/>
            <a:p>
              <a:pPr marL="0" marR="0" lvl="0" indent="0" algn="ctr" defTabSz="108639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B"/>
                <a:ea typeface="Rix고딕 B"/>
                <a:cs typeface="+mn-cs"/>
              </a:endParaRPr>
            </a:p>
          </p:txBody>
        </p:sp>
        <p:sp>
          <p:nvSpPr>
            <p:cNvPr id="104" name="AutoShape 234"/>
            <p:cNvSpPr>
              <a:spLocks noChangeArrowheads="1"/>
            </p:cNvSpPr>
            <p:nvPr/>
          </p:nvSpPr>
          <p:spPr bwMode="auto">
            <a:xfrm>
              <a:off x="6966820" y="2287639"/>
              <a:ext cx="2974729" cy="45718"/>
            </a:xfrm>
            <a:prstGeom prst="rect">
              <a:avLst/>
            </a:prstGeom>
            <a:solidFill>
              <a:srgbClr val="27497F"/>
            </a:solidFill>
            <a:ln w="9525" cap="flat" cmpd="sng" algn="ctr">
              <a:noFill/>
              <a:prstDash val="solid"/>
            </a:ln>
            <a:effectLst/>
          </p:spPr>
          <p:txBody>
            <a:bodyPr lIns="108000" tIns="0" rIns="108000" bIns="0" rtlCol="0" anchor="ctr" anchorCtr="0"/>
            <a:lstStyle/>
            <a:p>
              <a:pPr marL="139700" marR="0" lvl="0" indent="-139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7D7C7F"/>
                </a:buClr>
                <a:buSzPct val="90000"/>
                <a:buFont typeface="Arial" panose="020B0604020202020204" pitchFamily="34" charset="0"/>
                <a:buChar char="•"/>
                <a:tabLst>
                  <a:tab pos="2338835" algn="l"/>
                </a:tabLst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262626">
                        <a:lumMod val="75000"/>
                        <a:lumOff val="25000"/>
                      </a:srgbClr>
                    </a:gs>
                    <a:gs pos="50000">
                      <a:srgbClr val="262626">
                        <a:lumMod val="75000"/>
                        <a:lumOff val="2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105" name="직사각형 104"/>
            <p:cNvSpPr/>
            <p:nvPr/>
          </p:nvSpPr>
          <p:spPr>
            <a:xfrm flipH="1">
              <a:off x="708518" y="1799343"/>
              <a:ext cx="3002055" cy="482187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0" cap="none" spc="-65" normalizeH="0" noProof="0" dirty="0">
                  <a:ln>
                    <a:noFill/>
                  </a:ln>
                  <a:solidFill>
                    <a:srgbClr val="262626">
                      <a:lumMod val="90000"/>
                      <a:lumOff val="10000"/>
                    </a:srgbClr>
                  </a:solidFill>
                  <a:effectLst/>
                  <a:uLnTx/>
                  <a:uFillTx/>
                </a:rPr>
                <a:t>통합 서비스 제공</a:t>
              </a:r>
              <a:endParaRPr kumimoji="0" lang="ko-KR" altLang="en-US" sz="1800" b="0" i="0" u="none" strike="noStrike" kern="0" cap="none" spc="-65" normalizeH="0" baseline="0" noProof="0" dirty="0">
                <a:ln>
                  <a:noFill/>
                </a:ln>
                <a:solidFill>
                  <a:srgbClr val="262626">
                    <a:lumMod val="90000"/>
                    <a:lumOff val="10000"/>
                  </a:srgbClr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6" name="그룹 105"/>
          <p:cNvGrpSpPr/>
          <p:nvPr/>
        </p:nvGrpSpPr>
        <p:grpSpPr>
          <a:xfrm>
            <a:off x="392695" y="5475672"/>
            <a:ext cx="9914434" cy="1761438"/>
            <a:chOff x="836364" y="5387750"/>
            <a:chExt cx="9175754" cy="1761438"/>
          </a:xfrm>
        </p:grpSpPr>
        <p:sp>
          <p:nvSpPr>
            <p:cNvPr id="107" name="직사각형 106"/>
            <p:cNvSpPr/>
            <p:nvPr/>
          </p:nvSpPr>
          <p:spPr>
            <a:xfrm>
              <a:off x="7379781" y="5387750"/>
              <a:ext cx="2632337" cy="1230279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193606" lvl="0" indent="-193606" defTabSz="914400" latinLnBrk="0">
                <a:spcBef>
                  <a:spcPts val="762"/>
                </a:spcBef>
                <a:buFont typeface="Arial" panose="020B0604020202020204" pitchFamily="34" charset="0"/>
                <a:buChar char="•"/>
                <a:tabLst>
                  <a:tab pos="2338835" algn="l"/>
                </a:tabLst>
                <a:defRPr/>
              </a:pP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내부 표준 </a:t>
              </a:r>
              <a:r>
                <a:rPr lang="ko-KR" altLang="en-US" sz="1400" kern="0" dirty="0" smtClean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연계 환경뿐 </a:t>
              </a: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아니라</a:t>
              </a: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, </a:t>
              </a: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향후 제휴서비스 확대 고려</a:t>
              </a:r>
              <a:endParaRPr lang="en-US" altLang="ko-KR" sz="1400" kern="0" dirty="0">
                <a:gradFill>
                  <a:gsLst>
                    <a:gs pos="0">
                      <a:srgbClr val="262626">
                        <a:lumMod val="75000"/>
                        <a:lumOff val="25000"/>
                      </a:srgbClr>
                    </a:gs>
                    <a:gs pos="50000">
                      <a:srgbClr val="262626">
                        <a:lumMod val="75000"/>
                        <a:lumOff val="25000"/>
                      </a:srgb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  <a:p>
              <a:pPr marL="193606" lvl="0" indent="-193606" defTabSz="914400" latinLnBrk="0">
                <a:spcBef>
                  <a:spcPts val="762"/>
                </a:spcBef>
                <a:buFont typeface="Arial" panose="020B0604020202020204" pitchFamily="34" charset="0"/>
                <a:buChar char="•"/>
                <a:tabLst>
                  <a:tab pos="2338835" algn="l"/>
                </a:tabLst>
                <a:defRPr/>
              </a:pP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개방형 표준 </a:t>
              </a: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API </a:t>
              </a: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개발로 콘텐츠 </a:t>
              </a: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/>
              </a:r>
              <a:b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</a:b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공동활용 기반 마련</a:t>
              </a:r>
              <a:endParaRPr lang="en-US" altLang="ko-KR" sz="1400" kern="0" dirty="0">
                <a:gradFill>
                  <a:gsLst>
                    <a:gs pos="0">
                      <a:srgbClr val="262626">
                        <a:lumMod val="75000"/>
                        <a:lumOff val="25000"/>
                      </a:srgbClr>
                    </a:gs>
                    <a:gs pos="50000">
                      <a:srgbClr val="262626">
                        <a:lumMod val="75000"/>
                        <a:lumOff val="25000"/>
                      </a:srgb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  <a:p>
              <a:pPr marL="193606" lvl="0" indent="-193606" defTabSz="914400" latinLnBrk="0">
                <a:spcBef>
                  <a:spcPts val="762"/>
                </a:spcBef>
                <a:buFont typeface="Arial" panose="020B0604020202020204" pitchFamily="34" charset="0"/>
                <a:buChar char="•"/>
                <a:tabLst>
                  <a:tab pos="2338835" algn="l"/>
                </a:tabLst>
                <a:defRPr/>
              </a:pP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공통화 기능 통합 개발로 </a:t>
              </a: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SW </a:t>
              </a: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재활용</a:t>
              </a: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3888767" y="5414839"/>
              <a:ext cx="3106120" cy="1734349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193606" marR="0" lvl="0" indent="-193606" defTabSz="914400" eaLnBrk="1" fontAlgn="auto" latinLnBrk="0" hangingPunct="1">
                <a:lnSpc>
                  <a:spcPct val="100000"/>
                </a:lnSpc>
                <a:spcBef>
                  <a:spcPts val="762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2338835" algn="l"/>
                </a:tabLst>
                <a:defRPr/>
              </a:pPr>
              <a:r>
                <a:rPr kumimoji="0" lang="ko-KR" altLang="en-US" sz="14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rPr>
                <a:t>비표준</a:t>
              </a: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/</a:t>
              </a: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노후화 및 </a:t>
              </a:r>
              <a:r>
                <a:rPr lang="ko-KR" altLang="en-US" sz="1400" kern="0" dirty="0" err="1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특정사</a:t>
              </a: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 종속 기술에서 표준</a:t>
              </a: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/</a:t>
              </a: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개방형 기술로 전환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262626">
                        <a:lumMod val="75000"/>
                        <a:lumOff val="25000"/>
                      </a:srgbClr>
                    </a:gs>
                    <a:gs pos="50000">
                      <a:srgbClr val="262626">
                        <a:lumMod val="75000"/>
                        <a:lumOff val="2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  <a:p>
              <a:pPr marL="193606" marR="0" lvl="0" indent="-193606" defTabSz="914400" eaLnBrk="1" fontAlgn="auto" latinLnBrk="0" hangingPunct="1">
                <a:lnSpc>
                  <a:spcPct val="100000"/>
                </a:lnSpc>
                <a:spcBef>
                  <a:spcPts val="762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2338835" algn="l"/>
                </a:tabLst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rPr>
                <a:t>VB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rPr>
                <a:t>기반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rPr>
                <a:t>C/S → </a:t>
              </a: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WEB(Java) </a:t>
              </a: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환경</a:t>
              </a:r>
              <a:endParaRPr lang="en-US" altLang="ko-KR" sz="1400" kern="0" dirty="0">
                <a:gradFill>
                  <a:gsLst>
                    <a:gs pos="0">
                      <a:srgbClr val="262626">
                        <a:lumMod val="75000"/>
                        <a:lumOff val="25000"/>
                      </a:srgbClr>
                    </a:gs>
                    <a:gs pos="50000">
                      <a:srgbClr val="262626">
                        <a:lumMod val="75000"/>
                        <a:lumOff val="25000"/>
                      </a:srgb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  <a:p>
              <a:pPr marL="193606" lvl="0" indent="-193606" defTabSz="914400" latinLnBrk="0">
                <a:spcBef>
                  <a:spcPts val="762"/>
                </a:spcBef>
                <a:buFont typeface="Arial" panose="020B0604020202020204" pitchFamily="34" charset="0"/>
                <a:buChar char="•"/>
                <a:tabLst>
                  <a:tab pos="2338835" algn="l"/>
                </a:tabLst>
                <a:defRPr/>
              </a:pP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ASP →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rPr>
                <a:t>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rPr>
                <a:t>Java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Rix고딕 M" panose="02020603020101020101" pitchFamily="18" charset="-127"/>
                  <a:ea typeface="Rix고딕 M" panose="02020603020101020101" pitchFamily="18" charset="-127"/>
                </a:rPr>
                <a:t> 개발 </a:t>
              </a: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기술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262626">
                        <a:lumMod val="75000"/>
                        <a:lumOff val="25000"/>
                      </a:srgbClr>
                    </a:gs>
                    <a:gs pos="50000">
                      <a:srgbClr val="262626">
                        <a:lumMod val="75000"/>
                        <a:lumOff val="2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  <a:p>
              <a:pPr marL="193606" marR="0" lvl="0" indent="-193606" defTabSz="914400" eaLnBrk="1" fontAlgn="auto" latinLnBrk="0" hangingPunct="1">
                <a:lnSpc>
                  <a:spcPct val="100000"/>
                </a:lnSpc>
                <a:spcBef>
                  <a:spcPts val="762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2338835" algn="l"/>
                </a:tabLst>
                <a:defRPr/>
              </a:pP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MSSQL</a:t>
              </a: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 →</a:t>
              </a: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 PostgreSQL DB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262626">
                        <a:lumMod val="75000"/>
                        <a:lumOff val="25000"/>
                      </a:srgbClr>
                    </a:gs>
                    <a:gs pos="50000">
                      <a:srgbClr val="262626">
                        <a:lumMod val="75000"/>
                        <a:lumOff val="25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836364" y="5420343"/>
              <a:ext cx="2478779" cy="1274376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193606" lvl="0" indent="-193606" defTabSz="914400" latinLnBrk="0">
                <a:spcBef>
                  <a:spcPts val="762"/>
                </a:spcBef>
                <a:buFont typeface="Arial" panose="020B0604020202020204" pitchFamily="34" charset="0"/>
                <a:buChar char="•"/>
                <a:tabLst>
                  <a:tab pos="2338835" algn="l"/>
                </a:tabLst>
                <a:defRPr/>
              </a:pP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문제은행 통합 </a:t>
              </a: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DB </a:t>
              </a: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및 서비스 구축</a:t>
              </a: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/>
              </a:r>
              <a:b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</a:b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(I-System</a:t>
              </a: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과 </a:t>
              </a: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E-Bank </a:t>
              </a: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통합</a:t>
              </a: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)</a:t>
              </a:r>
            </a:p>
            <a:p>
              <a:pPr marL="193606" lvl="0" indent="-193606" defTabSz="914400" latinLnBrk="0">
                <a:spcBef>
                  <a:spcPts val="762"/>
                </a:spcBef>
                <a:buFont typeface="Arial" panose="020B0604020202020204" pitchFamily="34" charset="0"/>
                <a:buChar char="•"/>
                <a:tabLst>
                  <a:tab pos="2338835" algn="l"/>
                </a:tabLst>
                <a:defRPr/>
              </a:pP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문제은행 통합관리 환경 구축</a:t>
              </a:r>
              <a:endParaRPr lang="en-US" altLang="ko-KR" sz="1400" kern="0" dirty="0">
                <a:gradFill>
                  <a:gsLst>
                    <a:gs pos="0">
                      <a:srgbClr val="262626">
                        <a:lumMod val="75000"/>
                        <a:lumOff val="25000"/>
                      </a:srgbClr>
                    </a:gs>
                    <a:gs pos="50000">
                      <a:srgbClr val="262626">
                        <a:lumMod val="75000"/>
                        <a:lumOff val="25000"/>
                      </a:srgb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  <a:p>
              <a:pPr marL="193606" lvl="0" indent="-193606" defTabSz="914400" latinLnBrk="0">
                <a:spcBef>
                  <a:spcPts val="762"/>
                </a:spcBef>
                <a:buFont typeface="Arial" panose="020B0604020202020204" pitchFamily="34" charset="0"/>
                <a:buChar char="•"/>
                <a:tabLst>
                  <a:tab pos="2338835" algn="l"/>
                </a:tabLst>
                <a:defRPr/>
              </a:pP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프론트 테스트 표준</a:t>
              </a:r>
              <a:r>
                <a:rPr lang="en-US" altLang="ko-KR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API </a:t>
              </a:r>
              <a:r>
                <a:rPr lang="ko-KR" altLang="en-US" sz="1400" kern="0" dirty="0">
                  <a:gradFill>
                    <a:gsLst>
                      <a:gs pos="0">
                        <a:srgbClr val="262626">
                          <a:lumMod val="75000"/>
                          <a:lumOff val="25000"/>
                        </a:srgbClr>
                      </a:gs>
                      <a:gs pos="50000">
                        <a:srgbClr val="262626">
                          <a:lumMod val="75000"/>
                          <a:lumOff val="25000"/>
                        </a:srgbClr>
                      </a:gs>
                    </a:gsLst>
                    <a:lin ang="5400000" scaled="0"/>
                  </a:gradFill>
                  <a:latin typeface="Rix고딕 M" panose="02020603020101020101" pitchFamily="18" charset="-127"/>
                  <a:ea typeface="Rix고딕 M" panose="02020603020101020101" pitchFamily="18" charset="-127"/>
                </a:rPr>
                <a:t>개발</a:t>
              </a:r>
            </a:p>
          </p:txBody>
        </p:sp>
      </p:grpSp>
      <p:sp>
        <p:nvSpPr>
          <p:cNvPr id="110" name="Isosceles Triangle 7"/>
          <p:cNvSpPr/>
          <p:nvPr/>
        </p:nvSpPr>
        <p:spPr>
          <a:xfrm>
            <a:off x="132160" y="4482805"/>
            <a:ext cx="10464189" cy="377976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1108178" y="3338468"/>
            <a:ext cx="1338743" cy="492443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1" indent="0" algn="ctr" defTabSz="9572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Text" lastClr="000000"/>
              </a:buClr>
              <a:buSzTx/>
              <a:buFontTx/>
              <a:buNone/>
              <a:tabLst>
                <a:tab pos="5037002" algn="l"/>
              </a:tabLst>
              <a:defRPr/>
            </a:pPr>
            <a:r>
              <a:rPr kumimoji="0" lang="ko-KR" altLang="en-US" sz="1600" b="0" i="0" u="none" strike="noStrike" kern="0" cap="none" spc="-72" normalizeH="0" baseline="0" noProof="0" dirty="0">
                <a:ln>
                  <a:noFill/>
                </a:ln>
                <a:effectLst/>
                <a:uLnTx/>
                <a:uFillTx/>
              </a:rPr>
              <a:t>문항 콘텐츠</a:t>
            </a:r>
            <a:r>
              <a:rPr lang="en-US" altLang="ko-KR" sz="1600" kern="0" spc="-72" dirty="0"/>
              <a:t/>
            </a:r>
            <a:br>
              <a:rPr lang="en-US" altLang="ko-KR" sz="1600" kern="0" spc="-72" dirty="0"/>
            </a:br>
            <a:r>
              <a:rPr kumimoji="0" lang="ko-KR" altLang="en-US" sz="1600" b="0" i="0" u="none" strike="noStrike" kern="0" cap="none" spc="-72" normalizeH="0" baseline="0" noProof="0" dirty="0">
                <a:ln>
                  <a:noFill/>
                </a:ln>
                <a:effectLst/>
                <a:uLnTx/>
                <a:uFillTx/>
              </a:rPr>
              <a:t>통합</a:t>
            </a:r>
            <a:r>
              <a:rPr lang="en-US" altLang="ko-KR" sz="1600" kern="0" spc="-72" dirty="0"/>
              <a:t> </a:t>
            </a:r>
            <a:r>
              <a:rPr kumimoji="0" lang="ko-KR" altLang="en-US" sz="1600" b="0" i="0" u="none" strike="noStrike" kern="0" cap="none" spc="-72" normalizeH="0" baseline="0" noProof="0" dirty="0">
                <a:ln>
                  <a:noFill/>
                </a:ln>
                <a:effectLst/>
                <a:uLnTx/>
                <a:uFillTx/>
              </a:rPr>
              <a:t>서비스 제공</a:t>
            </a:r>
            <a:endParaRPr kumimoji="0" lang="en-US" altLang="ko-KR" sz="1600" b="0" i="0" u="none" strike="noStrike" kern="0" cap="none" spc="-72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8218184" y="3214279"/>
            <a:ext cx="1259668" cy="738664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lvl="1" algn="ctr" defTabSz="957206" latinLnBrk="0">
              <a:buClr>
                <a:sysClr val="windowText" lastClr="000000"/>
              </a:buClr>
              <a:tabLst>
                <a:tab pos="5037002" algn="l"/>
              </a:tabLst>
              <a:defRPr/>
            </a:pPr>
            <a:r>
              <a:rPr lang="ko-KR" altLang="en-US" sz="1600" kern="0" spc="-72" dirty="0">
                <a:solidFill>
                  <a:schemeClr val="bg1"/>
                </a:solidFill>
              </a:rPr>
              <a:t>개방형 기술을 통한 활용 확대</a:t>
            </a:r>
            <a:endParaRPr lang="en-US" altLang="ko-KR" sz="1600" kern="0" spc="-72" dirty="0">
              <a:solidFill>
                <a:schemeClr val="bg1"/>
              </a:solidFill>
            </a:endParaRPr>
          </a:p>
          <a:p>
            <a:pPr marL="0" lvl="1" algn="ctr" defTabSz="957206" latinLnBrk="0">
              <a:buClr>
                <a:sysClr val="windowText" lastClr="000000"/>
              </a:buClr>
              <a:tabLst>
                <a:tab pos="5037002" algn="l"/>
              </a:tabLst>
              <a:defRPr/>
            </a:pPr>
            <a:r>
              <a:rPr lang="ko-KR" altLang="en-US" sz="1600" kern="0" spc="-72" dirty="0">
                <a:solidFill>
                  <a:schemeClr val="bg1"/>
                </a:solidFill>
              </a:rPr>
              <a:t>기반 마련</a:t>
            </a:r>
          </a:p>
        </p:txBody>
      </p:sp>
    </p:spTree>
    <p:extLst>
      <p:ext uri="{BB962C8B-B14F-4D97-AF65-F5344CB8AC3E}">
        <p14:creationId xmlns:p14="http://schemas.microsoft.com/office/powerpoint/2010/main" val="188376623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사업 범위 </a:t>
            </a:r>
            <a:r>
              <a:rPr lang="en-US" altLang="ko-KR" sz="1600" dirty="0"/>
              <a:t>(1/3)</a:t>
            </a:r>
            <a:endParaRPr lang="ko-KR" altLang="en-US" sz="1600" dirty="0"/>
          </a:p>
        </p:txBody>
      </p:sp>
      <p:grpSp>
        <p:nvGrpSpPr>
          <p:cNvPr id="32" name="그룹 31"/>
          <p:cNvGrpSpPr/>
          <p:nvPr/>
        </p:nvGrpSpPr>
        <p:grpSpPr>
          <a:xfrm>
            <a:off x="6858912" y="1709205"/>
            <a:ext cx="3092820" cy="5239866"/>
            <a:chOff x="7543753" y="1709205"/>
            <a:chExt cx="2408747" cy="5239866"/>
          </a:xfrm>
        </p:grpSpPr>
        <p:sp>
          <p:nvSpPr>
            <p:cNvPr id="33" name="직사각형 32"/>
            <p:cNvSpPr/>
            <p:nvPr/>
          </p:nvSpPr>
          <p:spPr bwMode="auto">
            <a:xfrm>
              <a:off x="7543753" y="1709205"/>
              <a:ext cx="2408747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/>
              <a:r>
                <a:rPr lang="en-US" altLang="ko-KR" sz="21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DB</a:t>
              </a:r>
              <a:r>
                <a:rPr lang="ko-KR" altLang="en-US" sz="21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 통합 및 공동활용</a:t>
              </a:r>
              <a:endParaRPr lang="en-US" altLang="ko-KR" sz="2100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7543753" y="2295525"/>
              <a:ext cx="2408747" cy="4653546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35" name="직사각형 34"/>
          <p:cNvSpPr/>
          <p:nvPr/>
        </p:nvSpPr>
        <p:spPr bwMode="auto">
          <a:xfrm>
            <a:off x="732511" y="1709205"/>
            <a:ext cx="5838359" cy="58632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</a:ln>
          <a:effectLst>
            <a:outerShdw blurRad="63500" algn="ctr" rotWithShape="0">
              <a:prstClr val="black">
                <a:alpha val="47000"/>
              </a:prstClr>
            </a:outerShdw>
          </a:effectLst>
        </p:spPr>
        <p:txBody>
          <a:bodyPr wrap="square" lIns="0" tIns="0" rIns="0" bIns="0" rtlCol="0" anchor="ctr" anchorCtr="0">
            <a:noAutofit/>
          </a:bodyPr>
          <a:lstStyle/>
          <a:p>
            <a:pPr algn="ctr" defTabSz="1042990" latinLnBrk="0">
              <a:defRPr/>
            </a:pPr>
            <a:r>
              <a:rPr lang="ko-KR" altLang="en-US" sz="2100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rPr>
              <a:t>문제은행 통합관리 서비스 구축</a:t>
            </a:r>
            <a:endParaRPr lang="en-US" altLang="ko-KR" sz="2100" kern="0" dirty="0">
              <a:gradFill>
                <a:gsLst>
                  <a:gs pos="48333">
                    <a:prstClr val="white"/>
                  </a:gs>
                  <a:gs pos="62000">
                    <a:prstClr val="white"/>
                  </a:gs>
                </a:gsLst>
                <a:path path="rect">
                  <a:fillToRect l="50000" t="50000" r="50000" b="50000"/>
                </a:path>
              </a:gradFill>
              <a:latin typeface="+mj-ea"/>
              <a:ea typeface="+mj-ea"/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732511" y="2295525"/>
            <a:ext cx="5838359" cy="464222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>
            <a:outerShdw blurRad="63500" algn="ctr" rotWithShape="0">
              <a:prstClr val="black">
                <a:alpha val="47000"/>
              </a:prstClr>
            </a:outerShdw>
          </a:effectLst>
        </p:spPr>
        <p:txBody>
          <a:bodyPr wrap="square" lIns="0" tIns="0" rIns="0" bIns="0" rtlCol="0" anchor="ctr" anchorCtr="0">
            <a:noAutofit/>
          </a:bodyPr>
          <a:lstStyle/>
          <a:p>
            <a:pPr algn="ctr" defTabSz="1041607" latinLnBrk="0"/>
            <a:endParaRPr lang="ko-KR" altLang="en-US" kern="0" spc="-150" dirty="0">
              <a:solidFill>
                <a:srgbClr val="217083"/>
              </a:solidFill>
              <a:latin typeface="Rix고딕 EB"/>
              <a:ea typeface="Rix고딕 EB"/>
            </a:endParaRPr>
          </a:p>
        </p:txBody>
      </p:sp>
      <p:sp>
        <p:nvSpPr>
          <p:cNvPr id="37" name="직사각형 91"/>
          <p:cNvSpPr/>
          <p:nvPr/>
        </p:nvSpPr>
        <p:spPr>
          <a:xfrm>
            <a:off x="732839" y="2462593"/>
            <a:ext cx="5838030" cy="372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vert="horz" lIns="72000" tIns="0" rIns="0" bIns="0" rtlCol="0" anchor="ctr"/>
          <a:lstStyle/>
          <a:p>
            <a:pPr algn="ctr" defTabSz="914127" latinLnBrk="0">
              <a:spcAft>
                <a:spcPts val="150"/>
              </a:spcAft>
              <a:buClr>
                <a:srgbClr val="8B8F9E"/>
              </a:buClr>
              <a:buSzPct val="100000"/>
              <a:tabLst>
                <a:tab pos="1079500" algn="l"/>
              </a:tabLst>
            </a:pPr>
            <a:r>
              <a:rPr lang="ko-KR" altLang="en-US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온라인 테스트 </a:t>
            </a:r>
            <a:r>
              <a:rPr lang="en-US" altLang="ko-KR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API </a:t>
            </a:r>
            <a:r>
              <a:rPr lang="ko-KR" altLang="en-US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개발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6987428" y="3403762"/>
            <a:ext cx="2835131" cy="30485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테이블 및 </a:t>
            </a:r>
            <a:r>
              <a:rPr lang="ko-KR" altLang="en-US" sz="1100" kern="0" dirty="0" err="1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속성명</a:t>
            </a: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 표준화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6990239" y="2971702"/>
            <a:ext cx="2835131" cy="30485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en-US" altLang="ko-KR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DB </a:t>
            </a: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표준용어사전 적용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6953975" y="4581569"/>
            <a:ext cx="2907660" cy="3428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데이터 마이그레이션</a:t>
            </a:r>
            <a:endParaRPr lang="en-US" altLang="ko-KR" sz="11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5400000" scaled="0"/>
              </a:gradFill>
            </a:endParaRPr>
          </a:p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en-US" altLang="ko-KR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(MSSQL → PostgreSQL)</a:t>
            </a:r>
            <a:endParaRPr lang="ko-KR" altLang="en-US" sz="11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5400000" scaled="0"/>
              </a:gra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930999" y="2970400"/>
            <a:ext cx="1751331" cy="43416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 err="1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바로테스트</a:t>
            </a:r>
            <a:endParaRPr lang="en-US" altLang="ko-KR" sz="11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5400000" scaled="0"/>
              </a:gradFill>
            </a:endParaRPr>
          </a:p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팝업 호출 </a:t>
            </a:r>
            <a:r>
              <a:rPr lang="en-US" altLang="ko-KR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API</a:t>
            </a:r>
            <a:endParaRPr lang="ko-KR" altLang="en-US" sz="11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5400000" scaled="0"/>
              </a:gradFill>
            </a:endParaRPr>
          </a:p>
        </p:txBody>
      </p:sp>
      <p:sp>
        <p:nvSpPr>
          <p:cNvPr id="52" name="직사각형 91"/>
          <p:cNvSpPr/>
          <p:nvPr/>
        </p:nvSpPr>
        <p:spPr>
          <a:xfrm>
            <a:off x="732511" y="5269387"/>
            <a:ext cx="5838031" cy="3720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vert="horz" lIns="72000" tIns="0" rIns="0" bIns="0" rtlCol="0" anchor="ctr"/>
          <a:lstStyle/>
          <a:p>
            <a:pPr algn="ctr" defTabSz="914127" latinLnBrk="0">
              <a:spcAft>
                <a:spcPts val="150"/>
              </a:spcAft>
              <a:buClr>
                <a:srgbClr val="8B8F9E"/>
              </a:buClr>
              <a:buSzPct val="100000"/>
              <a:tabLst>
                <a:tab pos="1079500" algn="l"/>
              </a:tabLst>
            </a:pPr>
            <a:r>
              <a:rPr lang="ko-KR" altLang="en-US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통합 시험지</a:t>
            </a:r>
            <a:r>
              <a:rPr lang="en-US" altLang="ko-KR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/</a:t>
            </a:r>
            <a:r>
              <a:rPr lang="ko-KR" altLang="en-US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문항 관리 개발</a:t>
            </a:r>
          </a:p>
        </p:txBody>
      </p:sp>
      <p:sp>
        <p:nvSpPr>
          <p:cNvPr id="53" name="직사각형 91"/>
          <p:cNvSpPr/>
          <p:nvPr/>
        </p:nvSpPr>
        <p:spPr>
          <a:xfrm>
            <a:off x="6858910" y="2459162"/>
            <a:ext cx="3092821" cy="372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vert="horz" lIns="72000" tIns="0" rIns="0" bIns="0" rtlCol="0" anchor="ctr"/>
          <a:lstStyle/>
          <a:p>
            <a:pPr algn="ctr" defTabSz="914127" latinLnBrk="0">
              <a:spcAft>
                <a:spcPts val="150"/>
              </a:spcAft>
              <a:buClr>
                <a:srgbClr val="8B8F9E"/>
              </a:buClr>
              <a:buSzPct val="100000"/>
              <a:tabLst>
                <a:tab pos="1079500" algn="l"/>
              </a:tabLst>
            </a:pPr>
            <a:r>
              <a:rPr lang="ko-KR" altLang="en-US" sz="1400" kern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통합 </a:t>
            </a:r>
            <a:r>
              <a:rPr lang="en-US" altLang="ko-KR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DB </a:t>
            </a:r>
            <a:r>
              <a:rPr lang="ko-KR" altLang="en-US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구축</a:t>
            </a:r>
          </a:p>
        </p:txBody>
      </p:sp>
      <p:sp>
        <p:nvSpPr>
          <p:cNvPr id="55" name="직사각형 91"/>
          <p:cNvSpPr/>
          <p:nvPr/>
        </p:nvSpPr>
        <p:spPr>
          <a:xfrm>
            <a:off x="6858584" y="4068671"/>
            <a:ext cx="3092821" cy="372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vert="horz" lIns="72000" tIns="0" rIns="0" bIns="0" rtlCol="0" anchor="ctr"/>
          <a:lstStyle/>
          <a:p>
            <a:pPr algn="ctr" defTabSz="914127" latinLnBrk="0">
              <a:spcAft>
                <a:spcPts val="150"/>
              </a:spcAft>
              <a:buClr>
                <a:srgbClr val="8B8F9E"/>
              </a:buClr>
              <a:buSzPct val="100000"/>
              <a:tabLst>
                <a:tab pos="1079500" algn="l"/>
              </a:tabLst>
            </a:pPr>
            <a:r>
              <a:rPr lang="en-US" altLang="ko-KR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DB </a:t>
            </a:r>
            <a:r>
              <a:rPr lang="ko-KR" altLang="en-US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이관</a:t>
            </a:r>
          </a:p>
        </p:txBody>
      </p:sp>
      <p:sp>
        <p:nvSpPr>
          <p:cNvPr id="56" name="직사각형 91"/>
          <p:cNvSpPr/>
          <p:nvPr/>
        </p:nvSpPr>
        <p:spPr>
          <a:xfrm>
            <a:off x="6858584" y="5728403"/>
            <a:ext cx="3092821" cy="372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vert="horz" lIns="72000" tIns="0" rIns="0" bIns="0" rtlCol="0" anchor="ctr"/>
          <a:lstStyle/>
          <a:p>
            <a:pPr algn="ctr" defTabSz="914127" latinLnBrk="0">
              <a:spcAft>
                <a:spcPts val="150"/>
              </a:spcAft>
              <a:buClr>
                <a:srgbClr val="8B8F9E"/>
              </a:buClr>
              <a:buSzPct val="100000"/>
              <a:tabLst>
                <a:tab pos="1079500" algn="l"/>
              </a:tabLst>
            </a:pPr>
            <a:r>
              <a:rPr lang="ko-KR" altLang="en-US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오픈 </a:t>
            </a:r>
            <a:r>
              <a:rPr lang="en-US" altLang="ko-KR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API </a:t>
            </a:r>
            <a:r>
              <a:rPr lang="ko-KR" altLang="en-US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제공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6947175" y="5042310"/>
            <a:ext cx="2907660" cy="3428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en-US" altLang="ko-KR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AWS</a:t>
            </a: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환경으로 이관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6953975" y="6246173"/>
            <a:ext cx="2907660" cy="3428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 </a:t>
            </a:r>
            <a:r>
              <a:rPr lang="en-US" altLang="ko-KR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Web Service </a:t>
            </a: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개발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2792897" y="2966219"/>
            <a:ext cx="1751331" cy="43416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 err="1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미니테스트</a:t>
            </a:r>
            <a:endParaRPr lang="en-US" altLang="ko-KR" sz="11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5400000" scaled="0"/>
              </a:gradFill>
            </a:endParaRPr>
          </a:p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팝업 호출 </a:t>
            </a:r>
            <a:r>
              <a:rPr lang="en-US" altLang="ko-KR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API</a:t>
            </a:r>
            <a:endParaRPr lang="ko-KR" altLang="en-US" sz="11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5400000" scaled="0"/>
              </a:gra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4649454" y="2966218"/>
            <a:ext cx="1751331" cy="43416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en-US" altLang="ko-KR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E-Bank </a:t>
            </a: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테스트</a:t>
            </a:r>
            <a:endParaRPr lang="en-US" altLang="ko-KR" sz="11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5400000" scaled="0"/>
              </a:gradFill>
            </a:endParaRPr>
          </a:p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팝업 호출 </a:t>
            </a:r>
            <a:r>
              <a:rPr lang="en-US" altLang="ko-KR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API</a:t>
            </a:r>
            <a:endParaRPr lang="ko-KR" altLang="en-US" sz="11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5400000" scaled="0"/>
              </a:gra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954090" y="6284162"/>
            <a:ext cx="2229499" cy="3700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문제풀이 및 검수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956901" y="5852102"/>
            <a:ext cx="2229499" cy="3700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시험지 생성 관리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269561" y="6291001"/>
            <a:ext cx="2229499" cy="3700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콘텐츠 제작 관리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3272372" y="5858941"/>
            <a:ext cx="2229499" cy="3700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 err="1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정답파일</a:t>
            </a: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 관리</a:t>
            </a:r>
          </a:p>
        </p:txBody>
      </p:sp>
      <p:sp>
        <p:nvSpPr>
          <p:cNvPr id="76" name="직사각형 91"/>
          <p:cNvSpPr/>
          <p:nvPr/>
        </p:nvSpPr>
        <p:spPr>
          <a:xfrm>
            <a:off x="725216" y="4072902"/>
            <a:ext cx="5838031" cy="3720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vert="horz" lIns="72000" tIns="0" rIns="0" bIns="0" rtlCol="0" anchor="ctr"/>
          <a:lstStyle/>
          <a:p>
            <a:pPr algn="ctr" defTabSz="914127" latinLnBrk="0">
              <a:spcAft>
                <a:spcPts val="150"/>
              </a:spcAft>
              <a:buClr>
                <a:srgbClr val="8B8F9E"/>
              </a:buClr>
              <a:buSzPct val="100000"/>
              <a:tabLst>
                <a:tab pos="1079500" algn="l"/>
              </a:tabLst>
            </a:pPr>
            <a:r>
              <a:rPr lang="ko-KR" altLang="en-US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시험지</a:t>
            </a:r>
            <a:r>
              <a:rPr lang="en-US" altLang="ko-KR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(HWP) </a:t>
            </a:r>
            <a:r>
              <a:rPr lang="ko-KR" altLang="en-US" sz="1400" kern="0" dirty="0">
                <a:gradFill>
                  <a:gsLst>
                    <a:gs pos="17917">
                      <a:srgbClr val="0E69AA">
                        <a:lumMod val="50000"/>
                      </a:srgbClr>
                    </a:gs>
                    <a:gs pos="48000">
                      <a:srgbClr val="0E69AA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파일 컨트롤 모듈 개발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931000" y="3538031"/>
            <a:ext cx="2630990" cy="32071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테스트 화면 처리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3769795" y="3533606"/>
            <a:ext cx="2630990" cy="32071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채점결과 </a:t>
            </a:r>
            <a:r>
              <a:rPr lang="ko-KR" altLang="en-US" sz="1100" kern="0" dirty="0" err="1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화면처리</a:t>
            </a: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 및 결과 저장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5562698" y="5852101"/>
            <a:ext cx="823647" cy="80892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문제</a:t>
            </a:r>
            <a:endParaRPr lang="en-US" altLang="ko-KR" sz="11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5400000" scaled="0"/>
              </a:gradFill>
            </a:endParaRPr>
          </a:p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검색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933180" y="4597127"/>
            <a:ext cx="1751331" cy="43416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한글문서</a:t>
            </a:r>
            <a:endParaRPr lang="en-US" altLang="ko-KR" sz="11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5400000" scaled="0"/>
              </a:gradFill>
            </a:endParaRPr>
          </a:p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 err="1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특정필드</a:t>
            </a: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 값 읽기</a:t>
            </a:r>
            <a:r>
              <a:rPr lang="en-US" altLang="ko-KR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/</a:t>
            </a: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쓰기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2798934" y="4597126"/>
            <a:ext cx="1751331" cy="43416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한글문서</a:t>
            </a:r>
            <a:endParaRPr lang="en-US" altLang="ko-KR" sz="11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5400000" scaled="0"/>
              </a:gradFill>
            </a:endParaRPr>
          </a:p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분리 및 통합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4635014" y="4597125"/>
            <a:ext cx="1751331" cy="43416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한글문서</a:t>
            </a:r>
            <a:endParaRPr lang="en-US" altLang="ko-KR" sz="11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5400000" scaled="0"/>
              </a:gradFill>
            </a:endParaRPr>
          </a:p>
          <a:p>
            <a:pPr algn="ctr" defTabSz="994964" eaLnBrk="0" latinLnBrk="0" hangingPunct="0">
              <a:buClr>
                <a:sysClr val="window" lastClr="FFFFFF"/>
              </a:buClr>
              <a:buSzPct val="80000"/>
              <a:buFont typeface="Arial" pitchFamily="34" charset="0"/>
              <a:buNone/>
            </a:pP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이미지 및 </a:t>
            </a:r>
            <a:r>
              <a:rPr lang="en-US" altLang="ko-KR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PDF </a:t>
            </a:r>
            <a:r>
              <a:rPr lang="ko-KR" altLang="en-US" sz="11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0"/>
                </a:gradFill>
              </a:rPr>
              <a:t>변환</a:t>
            </a:r>
          </a:p>
        </p:txBody>
      </p:sp>
    </p:spTree>
    <p:extLst>
      <p:ext uri="{BB962C8B-B14F-4D97-AF65-F5344CB8AC3E}">
        <p14:creationId xmlns:p14="http://schemas.microsoft.com/office/powerpoint/2010/main" val="370531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사업 범위 </a:t>
            </a:r>
            <a:r>
              <a:rPr lang="en-US" altLang="ko-KR" sz="1600" dirty="0"/>
              <a:t>(2/3)</a:t>
            </a:r>
            <a:endParaRPr lang="en-US" altLang="ko-KR" sz="24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448198"/>
              </p:ext>
            </p:extLst>
          </p:nvPr>
        </p:nvGraphicFramePr>
        <p:xfrm>
          <a:off x="738315" y="1619253"/>
          <a:ext cx="9217025" cy="5307022"/>
        </p:xfrm>
        <a:graphic>
          <a:graphicData uri="http://schemas.openxmlformats.org/drawingml/2006/table">
            <a:tbl>
              <a:tblPr firstRow="1"/>
              <a:tblGrid>
                <a:gridCol w="1337629">
                  <a:extLst>
                    <a:ext uri="{9D8B030D-6E8A-4147-A177-3AD203B41FA5}">
                      <a16:colId xmlns:a16="http://schemas.microsoft.com/office/drawing/2014/main" val="100569621"/>
                    </a:ext>
                  </a:extLst>
                </a:gridCol>
                <a:gridCol w="2838696">
                  <a:extLst>
                    <a:ext uri="{9D8B030D-6E8A-4147-A177-3AD203B41FA5}">
                      <a16:colId xmlns:a16="http://schemas.microsoft.com/office/drawing/2014/main" val="2652618112"/>
                    </a:ext>
                  </a:extLst>
                </a:gridCol>
                <a:gridCol w="5040700">
                  <a:extLst>
                    <a:ext uri="{9D8B030D-6E8A-4147-A177-3AD203B41FA5}">
                      <a16:colId xmlns:a16="http://schemas.microsoft.com/office/drawing/2014/main" val="345304633"/>
                    </a:ext>
                  </a:extLst>
                </a:gridCol>
              </a:tblGrid>
              <a:tr h="384502"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주요과제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세부과제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세부내용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924847"/>
                  </a:ext>
                </a:extLst>
              </a:tr>
              <a:tr h="667454">
                <a:tc rowSpan="3"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문제은행 통합관리 서비스 구축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lnSpc>
                          <a:spcPct val="100000"/>
                        </a:lnSpc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통합 시험지</a:t>
                      </a:r>
                      <a:r>
                        <a:rPr lang="en-US" altLang="ko-KR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문항 관리 개발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시험지 관리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시험지 생성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열기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저장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다른이름저장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DB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저장기록 조회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메타정보 한글 저장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한글문서 일괄인쇄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파일 모음 편집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문제 편집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외주 해설 파일 검수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외주 해설 합치기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단원코드 입력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초기화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정답 입력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초기화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파일모음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DB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검사 및 저장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동영상 코드 넣기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환경설정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미주 삽입이미지 비율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정답위치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페이지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레코드수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단원정보 표시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컨텐츠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제작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단원별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문제 제작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생성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기출족보 제작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생성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예상족보 제작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생성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우리지역 기출족보 출제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강남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구 기출족보 출제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우리지역 기출 서술형 족보 마법사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학교별 마스터 마법사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단원별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마스터 마법사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카카오 페이지 마법사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수능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단원별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출제 마법사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8453">
                <a:tc vMerge="1"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indent="0" algn="ctr" defTabSz="914400" rtl="0" eaLnBrk="1" fontAlgn="ctr" latinLnBrk="0" hangingPunct="1">
                        <a:lnSpc>
                          <a:spcPct val="100000"/>
                        </a:lnSpc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Rix고딕 B"/>
                          <a:cs typeface="+mn-cs"/>
                        </a:rPr>
                        <a:t>온라인 테스트 </a:t>
                      </a:r>
                      <a:r>
                        <a:rPr lang="en-US" altLang="ko-KR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Rix고딕 B"/>
                          <a:cs typeface="+mn-cs"/>
                        </a:rPr>
                        <a:t>API </a:t>
                      </a:r>
                      <a:r>
                        <a:rPr lang="ko-KR" altLang="en-US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Rix고딕 B"/>
                          <a:cs typeface="+mn-cs"/>
                        </a:rPr>
                        <a:t>개발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다양한 문제 검색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API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제공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실제출제문항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기출시험지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맞춤 문제 등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문제항목 조회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API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제공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시험지 생성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시스템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MY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시험지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 API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제공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문제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정답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해설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오답문항 분석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API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제공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유사문항조회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API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제공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문제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정답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해설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문제은행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미니테스트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등 문제은행 연계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Front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서비스 개편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JSON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형식의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RestFul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방식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WebSevice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API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제공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8453">
                <a:tc vMerge="1"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16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indent="0" algn="ctr" defTabSz="914400" rtl="0" eaLnBrk="1" fontAlgn="ctr" latinLnBrk="0" hangingPunct="1">
                        <a:lnSpc>
                          <a:spcPct val="100000"/>
                        </a:lnSpc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Rix고딕 B"/>
                          <a:cs typeface="+mn-cs"/>
                        </a:rPr>
                        <a:t>시험지</a:t>
                      </a:r>
                      <a:r>
                        <a:rPr lang="en-US" altLang="ko-KR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Rix고딕 B"/>
                          <a:cs typeface="+mn-cs"/>
                        </a:rPr>
                        <a:t>(HWP) </a:t>
                      </a:r>
                      <a:r>
                        <a:rPr lang="ko-KR" altLang="en-US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Rix고딕 B"/>
                          <a:cs typeface="+mn-cs"/>
                        </a:rPr>
                        <a:t>파일 컨트롤 모듈 개발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문서 내 텍스트 추출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문서 내 모든 수식크기 조절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문서 내 모든 그림크기 조절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페이지를 이미지로 저장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한글문서를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PDF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파일로 저장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블록으로 지정된 부분만 파일로 저장 등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8140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사업 범위 </a:t>
            </a:r>
            <a:r>
              <a:rPr lang="en-US" altLang="ko-KR" sz="1600" dirty="0"/>
              <a:t>(3/3)</a:t>
            </a:r>
            <a:endParaRPr lang="en-US" altLang="ko-KR" sz="24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332432"/>
              </p:ext>
            </p:extLst>
          </p:nvPr>
        </p:nvGraphicFramePr>
        <p:xfrm>
          <a:off x="738315" y="1619254"/>
          <a:ext cx="9217025" cy="5329233"/>
        </p:xfrm>
        <a:graphic>
          <a:graphicData uri="http://schemas.openxmlformats.org/drawingml/2006/table">
            <a:tbl>
              <a:tblPr firstRow="1"/>
              <a:tblGrid>
                <a:gridCol w="1337629">
                  <a:extLst>
                    <a:ext uri="{9D8B030D-6E8A-4147-A177-3AD203B41FA5}">
                      <a16:colId xmlns:a16="http://schemas.microsoft.com/office/drawing/2014/main" val="100569621"/>
                    </a:ext>
                  </a:extLst>
                </a:gridCol>
                <a:gridCol w="2838696">
                  <a:extLst>
                    <a:ext uri="{9D8B030D-6E8A-4147-A177-3AD203B41FA5}">
                      <a16:colId xmlns:a16="http://schemas.microsoft.com/office/drawing/2014/main" val="2652618112"/>
                    </a:ext>
                  </a:extLst>
                </a:gridCol>
                <a:gridCol w="5040700">
                  <a:extLst>
                    <a:ext uri="{9D8B030D-6E8A-4147-A177-3AD203B41FA5}">
                      <a16:colId xmlns:a16="http://schemas.microsoft.com/office/drawing/2014/main" val="345304633"/>
                    </a:ext>
                  </a:extLst>
                </a:gridCol>
              </a:tblGrid>
              <a:tr h="410772"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주요과제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세부과제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세부내용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924847"/>
                  </a:ext>
                </a:extLst>
              </a:tr>
              <a:tr h="702638">
                <a:tc rowSpan="5"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문제은행</a:t>
                      </a:r>
                      <a:r>
                        <a:rPr kumimoji="1" lang="en-US" altLang="ko-KR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</a:br>
                      <a:r>
                        <a:rPr kumimoji="1" lang="ko-KR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통합 </a:t>
                      </a:r>
                      <a:r>
                        <a:rPr kumimoji="1" lang="en-US" altLang="ko-KR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DB</a:t>
                      </a:r>
                      <a:r>
                        <a:rPr kumimoji="1" lang="ko-KR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구축</a:t>
                      </a:r>
                      <a:endParaRPr kumimoji="1" lang="en-US" altLang="ko-KR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indent="0" algn="l" defTabSz="914400" rtl="0" eaLnBrk="1" fontAlgn="ctr" latinLnBrk="0" hangingPunct="1">
                        <a:lnSpc>
                          <a:spcPct val="100000"/>
                        </a:lnSpc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표준용어사전 개발</a:t>
                      </a:r>
                    </a:p>
                  </a:txBody>
                  <a:tcPr marL="360000"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문제은행 통합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DB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에서 사용할 표준용어사전을 개발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신규 통합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DB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에 맞게 표준단어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표준용어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표준도메인 정의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291181"/>
                  </a:ext>
                </a:extLst>
              </a:tr>
              <a:tr h="486440">
                <a:tc vMerge="1"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16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indent="0" algn="l" defTabSz="914400" rtl="0" eaLnBrk="1" fontAlgn="ctr" latinLnBrk="0" hangingPunct="1">
                        <a:lnSpc>
                          <a:spcPct val="100000"/>
                        </a:lnSpc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테이블 및 </a:t>
                      </a:r>
                      <a:r>
                        <a:rPr lang="ko-KR" altLang="en-US" sz="12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속성명</a:t>
                      </a:r>
                      <a:r>
                        <a:rPr lang="ko-KR" altLang="en-US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 표준화</a:t>
                      </a:r>
                    </a:p>
                  </a:txBody>
                  <a:tcPr marL="360000"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이관대상 테이블에 대한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테이블명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및 속성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컬럼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명을 표준용어사전을 준수하여 명칭 변경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618">
                <a:tc vMerge="1"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16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indent="0" algn="l" defTabSz="914400" rtl="0" eaLnBrk="1" fontAlgn="ctr" latinLnBrk="0" hangingPunct="1">
                        <a:lnSpc>
                          <a:spcPct val="100000"/>
                        </a:lnSpc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DB</a:t>
                      </a:r>
                      <a:r>
                        <a:rPr lang="en-US" altLang="ko-KR" sz="1200" b="0" i="0" u="none" strike="noStrike" kern="1200" baseline="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데이터 이관</a:t>
                      </a:r>
                    </a:p>
                  </a:txBody>
                  <a:tcPr marL="360000"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현재 사용중인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I-SYSTEM DB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의 데이터를 신규 통합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DB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로 전체 이관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E-BANK DB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의 이관대상 테이블을 신규 통합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DB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로 이관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초기분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이관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Script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와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증분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수정 또는 추가된 데이터에 대한 이관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Script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시스템 오픈 전 이관스크립트 단위 및 통합테스트를 통해 정합성 점검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모의 사전이관을 실시하여 서비스 정식 오픈 시 발생할 수 있는 이슈 사전 점검 및 제거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전체 데이터 이관 이후 발생한 변경 또는 추가된 데이터에 대한 이관 수행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3127">
                <a:tc vMerge="1"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16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indent="0" algn="l" defTabSz="914400" rtl="0" eaLnBrk="1" fontAlgn="ctr" latinLnBrk="0" hangingPunct="1">
                        <a:lnSpc>
                          <a:spcPct val="100000"/>
                        </a:lnSpc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오브젝트 이관</a:t>
                      </a:r>
                    </a:p>
                  </a:txBody>
                  <a:tcPr marL="360000"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TABLE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(88), VIEW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(20), PROCEDURE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(346), FUNCTION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(6)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등 주요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DB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오브젝트 이관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이관대상 오브젝트 중 사용유무를 업무담당자와 검토하여 선별작업 실시 후 이관대상 확정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이관 대상 오브젝트는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1:1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로 이관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신규 통합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DB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에 적용할 명명규칙 가이드 준수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2638">
                <a:tc vMerge="1"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indent="0" algn="l" defTabSz="914400" rtl="0" eaLnBrk="1" fontAlgn="ctr" latinLnBrk="0" hangingPunct="1">
                        <a:lnSpc>
                          <a:spcPct val="100000"/>
                        </a:lnSpc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인덱스 최적화</a:t>
                      </a:r>
                    </a:p>
                  </a:txBody>
                  <a:tcPr marL="360000"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중복 설정된 인덱스 정리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성능을 고려한 인덱스 최적화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7061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슬라이드 번호 개체 틀 5"/>
          <p:cNvSpPr txBox="1">
            <a:spLocks/>
          </p:cNvSpPr>
          <p:nvPr/>
        </p:nvSpPr>
        <p:spPr>
          <a:xfrm>
            <a:off x="5276169" y="7285565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lang="ko-KR" altLang="en-US" sz="900" b="0" kern="1200" smtClean="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00711" latinLnBrk="0"/>
            <a:fld id="{F83005E4-C3F3-420A-8F83-CC0B60522D03}" type="slidenum">
              <a:rPr lang="en-US" altLang="ko-KR">
                <a:gradFill>
                  <a:gsLst>
                    <a:gs pos="0">
                      <a:srgbClr val="262626">
                        <a:lumMod val="50000"/>
                        <a:lumOff val="50000"/>
                      </a:srgbClr>
                    </a:gs>
                    <a:gs pos="100000">
                      <a:srgbClr val="262626">
                        <a:lumMod val="50000"/>
                        <a:lumOff val="50000"/>
                      </a:srgbClr>
                    </a:gs>
                  </a:gsLst>
                  <a:lin ang="5400000" scaled="0"/>
                </a:gradFill>
              </a:rPr>
              <a:pPr defTabSz="1000711" latinLnBrk="0"/>
              <a:t>10</a:t>
            </a:fld>
            <a:endParaRPr lang="en-US" altLang="ko-KR" dirty="0">
              <a:gradFill>
                <a:gsLst>
                  <a:gs pos="0">
                    <a:srgbClr val="262626">
                      <a:lumMod val="50000"/>
                      <a:lumOff val="50000"/>
                    </a:srgbClr>
                  </a:gs>
                  <a:gs pos="100000">
                    <a:srgbClr val="262626">
                      <a:lumMod val="50000"/>
                      <a:lumOff val="50000"/>
                    </a:srgbClr>
                  </a:gs>
                </a:gsLst>
                <a:lin ang="5400000" scaled="0"/>
              </a:gradFill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0" y="2124401"/>
            <a:ext cx="8695616" cy="2764537"/>
            <a:chOff x="0" y="2124401"/>
            <a:chExt cx="8695616" cy="2764537"/>
          </a:xfrm>
        </p:grpSpPr>
        <p:sp>
          <p:nvSpPr>
            <p:cNvPr id="17" name="TextBox 16"/>
            <p:cNvSpPr txBox="1"/>
            <p:nvPr/>
          </p:nvSpPr>
          <p:spPr>
            <a:xfrm>
              <a:off x="2970370" y="3564601"/>
              <a:ext cx="2808312" cy="1324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  <a:spcBef>
                  <a:spcPts val="400"/>
                </a:spcBef>
              </a:pPr>
              <a:r>
                <a:rPr lang="en-US" altLang="ko-KR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1. </a:t>
              </a: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현행시스템 구성</a:t>
              </a:r>
            </a:p>
            <a:p>
              <a:pPr>
                <a:lnSpc>
                  <a:spcPct val="140000"/>
                </a:lnSpc>
                <a:spcBef>
                  <a:spcPts val="400"/>
                </a:spcBef>
              </a:pPr>
              <a:r>
                <a:rPr lang="en-US" altLang="ko-KR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2. </a:t>
              </a: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목표시스템 구성</a:t>
              </a:r>
            </a:p>
            <a:p>
              <a:pPr>
                <a:lnSpc>
                  <a:spcPct val="140000"/>
                </a:lnSpc>
                <a:spcBef>
                  <a:spcPts val="400"/>
                </a:spcBef>
              </a:pPr>
              <a:r>
                <a:rPr lang="en-US" altLang="ko-KR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3. </a:t>
              </a: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주요 개발 방안</a:t>
              </a:r>
            </a:p>
          </p:txBody>
        </p:sp>
        <p:sp>
          <p:nvSpPr>
            <p:cNvPr id="19" name="TextBox 4"/>
            <p:cNvSpPr txBox="1"/>
            <p:nvPr/>
          </p:nvSpPr>
          <p:spPr>
            <a:xfrm>
              <a:off x="1530170" y="2124401"/>
              <a:ext cx="929742" cy="110799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defTabSz="457148" latinLnBrk="0">
                <a:defRPr sz="5400" spc="50">
                  <a:ln w="13500">
                    <a:solidFill>
                      <a:srgbClr val="002060">
                        <a:alpha val="6000"/>
                      </a:srgbClr>
                    </a:solidFill>
                    <a:prstDash val="solid"/>
                  </a:ln>
                  <a:solidFill>
                    <a:srgbClr val="FFFFFF"/>
                  </a:solidFill>
                  <a:effectLst/>
                  <a:latin typeface="HY견명조" panose="02030600000101010101" pitchFamily="18" charset="-127"/>
                  <a:ea typeface="HY견명조" panose="02030600000101010101" pitchFamily="18" charset="-127"/>
                </a:defRPr>
              </a:lvl1pPr>
              <a:lvl2pPr marL="457148" defTabSz="457148" latinLnBrk="0">
                <a:defRPr sz="1800"/>
              </a:lvl2pPr>
              <a:lvl3pPr marL="914296" defTabSz="457148" latinLnBrk="0">
                <a:defRPr sz="1800"/>
              </a:lvl3pPr>
              <a:lvl4pPr marL="1371444" defTabSz="457148" latinLnBrk="0">
                <a:defRPr sz="1800"/>
              </a:lvl4pPr>
              <a:lvl5pPr marL="1828592" defTabSz="457148" latinLnBrk="0">
                <a:defRPr sz="1800"/>
              </a:lvl5pPr>
              <a:lvl6pPr marL="2285740" defTabSz="457148" latinLnBrk="0">
                <a:defRPr sz="1800"/>
              </a:lvl6pPr>
              <a:lvl7pPr marL="2742888" defTabSz="457148" latinLnBrk="0">
                <a:defRPr sz="1800"/>
              </a:lvl7pPr>
              <a:lvl8pPr marL="3200036" defTabSz="457148" latinLnBrk="0">
                <a:defRPr sz="1800"/>
              </a:lvl8pPr>
              <a:lvl9pPr marL="3657184" defTabSz="457148" latinLnBrk="0">
                <a:defRPr sz="1800"/>
              </a:lvl9pPr>
            </a:lstStyle>
            <a:p>
              <a:r>
                <a:rPr lang="en-US" altLang="ko-KR" sz="7200" dirty="0">
                  <a:solidFill>
                    <a:schemeClr val="accent2"/>
                  </a:solidFill>
                </a:rPr>
                <a:t>Ⅱ</a:t>
              </a:r>
            </a:p>
          </p:txBody>
        </p:sp>
        <p:sp>
          <p:nvSpPr>
            <p:cNvPr id="20" name="TextBox 8"/>
            <p:cNvSpPr txBox="1"/>
            <p:nvPr/>
          </p:nvSpPr>
          <p:spPr>
            <a:xfrm>
              <a:off x="3015774" y="2650920"/>
              <a:ext cx="2657779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defTabSz="457148" latinLnBrk="0">
                <a:defRPr b="0" spc="50">
                  <a:ln w="0">
                    <a:solidFill>
                      <a:srgbClr val="002060">
                        <a:alpha val="6000"/>
                      </a:srgbClr>
                    </a:solidFill>
                    <a:prstDash val="solid"/>
                  </a:ln>
                  <a:gradFill>
                    <a:gsLst>
                      <a:gs pos="54583">
                        <a:schemeClr val="tx1">
                          <a:lumMod val="85000"/>
                          <a:lumOff val="15000"/>
                        </a:schemeClr>
                      </a:gs>
                      <a:gs pos="34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effectLst/>
                  <a:latin typeface="Rix고딕 M" panose="02020603020101020101" pitchFamily="18" charset="-127"/>
                  <a:ea typeface="Rix고딕 M" panose="02020603020101020101" pitchFamily="18" charset="-127"/>
                </a:defRPr>
              </a:lvl1pPr>
              <a:lvl2pPr marL="457148" defTabSz="457148" latinLnBrk="0">
                <a:defRPr sz="1800"/>
              </a:lvl2pPr>
              <a:lvl3pPr marL="914296" defTabSz="457148" latinLnBrk="0">
                <a:defRPr sz="1800"/>
              </a:lvl3pPr>
              <a:lvl4pPr marL="1371444" defTabSz="457148" latinLnBrk="0">
                <a:defRPr sz="1800"/>
              </a:lvl4pPr>
              <a:lvl5pPr marL="1828592" defTabSz="457148" latinLnBrk="0">
                <a:defRPr sz="1800"/>
              </a:lvl5pPr>
              <a:lvl6pPr marL="2285740" defTabSz="457148" latinLnBrk="0">
                <a:defRPr sz="1800"/>
              </a:lvl6pPr>
              <a:lvl7pPr marL="2742888" defTabSz="457148" latinLnBrk="0">
                <a:defRPr sz="1800"/>
              </a:lvl7pPr>
              <a:lvl8pPr marL="3200036" defTabSz="457148" latinLnBrk="0">
                <a:defRPr sz="1800"/>
              </a:lvl8pPr>
              <a:lvl9pPr marL="3657184" defTabSz="457148" latinLnBrk="0">
                <a:defRPr sz="1800"/>
              </a:lvl9pPr>
            </a:lstStyle>
            <a:p>
              <a:r>
                <a:rPr lang="ko-KR" altLang="en-US" sz="3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사업수행 방안</a:t>
              </a:r>
            </a:p>
          </p:txBody>
        </p:sp>
        <p:cxnSp>
          <p:nvCxnSpPr>
            <p:cNvPr id="23" name="직선 연결선 22"/>
            <p:cNvCxnSpPr/>
            <p:nvPr/>
          </p:nvCxnSpPr>
          <p:spPr>
            <a:xfrm>
              <a:off x="0" y="2772491"/>
              <a:ext cx="1386150" cy="0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제목 1"/>
            <p:cNvSpPr txBox="1">
              <a:spLocks/>
            </p:cNvSpPr>
            <p:nvPr/>
          </p:nvSpPr>
          <p:spPr>
            <a:xfrm>
              <a:off x="3015774" y="2377404"/>
              <a:ext cx="5679842" cy="203133"/>
            </a:xfrm>
            <a:prstGeom prst="rect">
              <a:avLst/>
            </a:prstGeom>
            <a:noFill/>
            <a:ln w="19050" algn="ctr">
              <a:noFill/>
              <a:round/>
              <a:headEnd/>
              <a:tailEnd/>
            </a:ln>
            <a:effectLst/>
          </p:spPr>
          <p:txBody>
            <a:bodyPr vert="horz"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 prstMaterial="softEdge">
                <a:bevelT w="0" h="0"/>
                <a:contourClr>
                  <a:schemeClr val="bg1"/>
                </a:contourClr>
              </a:sp3d>
            </a:bodyPr>
            <a:lstStyle>
              <a:lvl1pPr marL="0" indent="0" algn="l" defTabSz="914400" rtl="0" eaLnBrk="1" latinLnBrk="1" hangingPunct="1">
                <a:spcBef>
                  <a:spcPct val="0"/>
                </a:spcBef>
                <a:buFont typeface="Arial" pitchFamily="34" charset="0"/>
                <a:buNone/>
                <a:defRPr kumimoji="1" lang="ko-KR" altLang="en-US" sz="4400" b="0" i="0" u="none" strike="noStrike" kern="0" cap="none" spc="0" normalizeH="0" baseline="0">
                  <a:ln w="15875" cmpd="sng">
                    <a:noFill/>
                    <a:prstDash val="solid"/>
                  </a:ln>
                  <a:gradFill>
                    <a:gsLst>
                      <a:gs pos="0">
                        <a:schemeClr val="tx1">
                          <a:lumMod val="90000"/>
                          <a:lumOff val="10000"/>
                        </a:schemeClr>
                      </a:gs>
                      <a:gs pos="50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Rix고딕 EB" panose="02020603020101020101" pitchFamily="18" charset="-127"/>
                  <a:ea typeface="Rix고딕 EB" panose="02020603020101020101" pitchFamily="18" charset="-127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ko-KR" altLang="en-US" sz="1100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문제은행 </a:t>
              </a:r>
              <a:r>
                <a:rPr lang="en-US" altLang="ko-KR" sz="1100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DB</a:t>
              </a:r>
              <a:r>
                <a:rPr lang="ko-KR" altLang="en-US" sz="1100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통합 프로젝트 │ 착수보고</a:t>
              </a:r>
              <a:endParaRPr lang="en-US" altLang="ko-KR" sz="11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17543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1119663" y="5878354"/>
            <a:ext cx="6853263" cy="882833"/>
            <a:chOff x="1119663" y="5878354"/>
            <a:chExt cx="6853263" cy="882833"/>
          </a:xfrm>
        </p:grpSpPr>
        <p:sp>
          <p:nvSpPr>
            <p:cNvPr id="165" name="직사각형 164"/>
            <p:cNvSpPr/>
            <p:nvPr/>
          </p:nvSpPr>
          <p:spPr>
            <a:xfrm>
              <a:off x="1119663" y="5878354"/>
              <a:ext cx="6853263" cy="8828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00B0F0"/>
              </a:solidFill>
              <a:prstDash val="sysDash"/>
            </a:ln>
            <a:effectLst/>
          </p:spPr>
          <p:txBody>
            <a:bodyPr rtlCol="0" anchor="ctr"/>
            <a:lstStyle/>
            <a:p>
              <a:pPr algn="ctr" defTabSz="914400" latinLnBrk="0"/>
              <a:endParaRPr lang="ko-KR" altLang="en-US" sz="1800" ker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93" name="그룹 192"/>
            <p:cNvGrpSpPr/>
            <p:nvPr/>
          </p:nvGrpSpPr>
          <p:grpSpPr>
            <a:xfrm>
              <a:off x="3750397" y="6079664"/>
              <a:ext cx="443911" cy="418938"/>
              <a:chOff x="4175072" y="1947928"/>
              <a:chExt cx="710029" cy="637991"/>
            </a:xfrm>
          </p:grpSpPr>
          <p:pic>
            <p:nvPicPr>
              <p:cNvPr id="194" name="그림 19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5072" y="1947928"/>
                <a:ext cx="710029" cy="637991"/>
              </a:xfrm>
              <a:prstGeom prst="rect">
                <a:avLst/>
              </a:prstGeom>
            </p:spPr>
          </p:pic>
          <p:sp>
            <p:nvSpPr>
              <p:cNvPr id="195" name="TextBox 194"/>
              <p:cNvSpPr txBox="1"/>
              <p:nvPr/>
            </p:nvSpPr>
            <p:spPr>
              <a:xfrm>
                <a:off x="4286834" y="2059319"/>
                <a:ext cx="464593" cy="39439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ko-KR" sz="12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gradFill>
                      <a:gsLst>
                        <a:gs pos="5833">
                          <a:prstClr val="white"/>
                        </a:gs>
                        <a:gs pos="12917">
                          <a:prstClr val="white"/>
                        </a:gs>
                      </a:gsLst>
                      <a:lin ang="5400000" scaled="0"/>
                    </a:gradFill>
                    <a:effectLst>
                      <a:outerShdw blurRad="101600" dist="38100" dir="2700000" algn="tl" rotWithShape="0">
                        <a:prstClr val="black">
                          <a:alpha val="72000"/>
                        </a:prstClr>
                      </a:outerShdw>
                    </a:effectLst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D</a:t>
                </a:r>
                <a:endPara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5833">
                        <a:prstClr val="white"/>
                      </a:gs>
                      <a:gs pos="12917">
                        <a:prstClr val="white"/>
                      </a:gs>
                    </a:gsLst>
                    <a:lin ang="5400000" scaled="0"/>
                  </a:gradFill>
                  <a:effectLst>
                    <a:outerShdw blurRad="101600" dist="38100" dir="2700000" algn="tl" rotWithShape="0">
                      <a:prstClr val="black">
                        <a:alpha val="72000"/>
                      </a:prstClr>
                    </a:outerShdw>
                  </a:effectLst>
                  <a:latin typeface="Rix고딕 B" panose="02020603020101020101" pitchFamily="18" charset="-127"/>
                  <a:ea typeface="Rix고딕 B" panose="02020603020101020101" pitchFamily="18" charset="-127"/>
                </a:endParaRPr>
              </a:p>
            </p:txBody>
          </p:sp>
        </p:grpSp>
        <p:sp>
          <p:nvSpPr>
            <p:cNvPr id="196" name="직사각형 195"/>
            <p:cNvSpPr/>
            <p:nvPr/>
          </p:nvSpPr>
          <p:spPr>
            <a:xfrm>
              <a:off x="4086145" y="6012941"/>
              <a:ext cx="1260555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/>
              <a:r>
                <a:rPr lang="en-US" altLang="ko-KR" sz="1400" b="1" spc="-65" dirty="0">
                  <a:gradFill>
                    <a:gsLst>
                      <a:gs pos="12083">
                        <a:schemeClr val="tx1">
                          <a:lumMod val="90000"/>
                          <a:lumOff val="10000"/>
                        </a:schemeClr>
                      </a:gs>
                      <a:gs pos="26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</a:rPr>
                <a:t>Contents Data</a:t>
              </a:r>
            </a:p>
            <a:p>
              <a:pPr latinLnBrk="0"/>
              <a:r>
                <a:rPr lang="en-US" altLang="ko-KR" sz="1400" b="1" spc="-65" dirty="0">
                  <a:gradFill>
                    <a:gsLst>
                      <a:gs pos="12083">
                        <a:schemeClr val="tx1">
                          <a:lumMod val="90000"/>
                          <a:lumOff val="10000"/>
                        </a:schemeClr>
                      </a:gs>
                      <a:gs pos="26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</a:rPr>
                <a:t>Management</a:t>
              </a:r>
              <a:endParaRPr lang="ko-KR" altLang="en-US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098110" y="4828782"/>
            <a:ext cx="9361301" cy="801529"/>
            <a:chOff x="1098110" y="4828782"/>
            <a:chExt cx="9361301" cy="801529"/>
          </a:xfrm>
        </p:grpSpPr>
        <p:sp>
          <p:nvSpPr>
            <p:cNvPr id="169" name="직사각형 168"/>
            <p:cNvSpPr/>
            <p:nvPr/>
          </p:nvSpPr>
          <p:spPr>
            <a:xfrm>
              <a:off x="1098110" y="4960767"/>
              <a:ext cx="8378168" cy="6695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00B0F0"/>
              </a:solidFill>
              <a:prstDash val="sysDash"/>
            </a:ln>
            <a:effectLst/>
          </p:spPr>
          <p:txBody>
            <a:bodyPr rtlCol="0" anchor="ctr"/>
            <a:lstStyle/>
            <a:p>
              <a:pPr algn="ctr" defTabSz="914400" latinLnBrk="0"/>
              <a:endParaRPr lang="ko-KR" altLang="en-US" sz="1800" ker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81" name="그룹 180"/>
            <p:cNvGrpSpPr/>
            <p:nvPr/>
          </p:nvGrpSpPr>
          <p:grpSpPr>
            <a:xfrm>
              <a:off x="9254323" y="4856864"/>
              <a:ext cx="443911" cy="418938"/>
              <a:chOff x="4175072" y="1947928"/>
              <a:chExt cx="710029" cy="637991"/>
            </a:xfrm>
          </p:grpSpPr>
          <p:pic>
            <p:nvPicPr>
              <p:cNvPr id="182" name="그림 181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5072" y="1947928"/>
                <a:ext cx="710029" cy="637991"/>
              </a:xfrm>
              <a:prstGeom prst="rect">
                <a:avLst/>
              </a:prstGeom>
            </p:spPr>
          </p:pic>
          <p:sp>
            <p:nvSpPr>
              <p:cNvPr id="183" name="TextBox 182"/>
              <p:cNvSpPr txBox="1"/>
              <p:nvPr/>
            </p:nvSpPr>
            <p:spPr>
              <a:xfrm>
                <a:off x="4298372" y="2059319"/>
                <a:ext cx="441519" cy="39439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ko-KR" sz="12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gradFill>
                      <a:gsLst>
                        <a:gs pos="5833">
                          <a:prstClr val="white"/>
                        </a:gs>
                        <a:gs pos="12917">
                          <a:prstClr val="white"/>
                        </a:gs>
                      </a:gsLst>
                      <a:lin ang="5400000" scaled="0"/>
                    </a:gradFill>
                    <a:effectLst>
                      <a:outerShdw blurRad="101600" dist="38100" dir="2700000" algn="tl" rotWithShape="0">
                        <a:prstClr val="black">
                          <a:alpha val="72000"/>
                        </a:prstClr>
                      </a:outerShdw>
                    </a:effectLst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C</a:t>
                </a:r>
                <a:endPara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5833">
                        <a:prstClr val="white"/>
                      </a:gs>
                      <a:gs pos="12917">
                        <a:prstClr val="white"/>
                      </a:gs>
                    </a:gsLst>
                    <a:lin ang="5400000" scaled="0"/>
                  </a:gradFill>
                  <a:effectLst>
                    <a:outerShdw blurRad="101600" dist="38100" dir="2700000" algn="tl" rotWithShape="0">
                      <a:prstClr val="black">
                        <a:alpha val="72000"/>
                      </a:prstClr>
                    </a:outerShdw>
                  </a:effectLst>
                  <a:latin typeface="Rix고딕 B" panose="02020603020101020101" pitchFamily="18" charset="-127"/>
                  <a:ea typeface="Rix고딕 B" panose="02020603020101020101" pitchFamily="18" charset="-127"/>
                </a:endParaRPr>
              </a:p>
            </p:txBody>
          </p:sp>
        </p:grpSp>
        <p:sp>
          <p:nvSpPr>
            <p:cNvPr id="184" name="직사각형 183"/>
            <p:cNvSpPr/>
            <p:nvPr/>
          </p:nvSpPr>
          <p:spPr>
            <a:xfrm>
              <a:off x="9577715" y="4828782"/>
              <a:ext cx="88169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/>
              <a:r>
                <a:rPr lang="en-US" altLang="ko-KR" sz="1400" b="1" spc="-65" dirty="0">
                  <a:gradFill>
                    <a:gsLst>
                      <a:gs pos="12083">
                        <a:schemeClr val="tx1">
                          <a:lumMod val="90000"/>
                          <a:lumOff val="10000"/>
                        </a:schemeClr>
                      </a:gs>
                      <a:gs pos="26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</a:rPr>
                <a:t>HWP </a:t>
              </a:r>
              <a:br>
                <a:rPr lang="en-US" altLang="ko-KR" sz="1400" b="1" spc="-65" dirty="0">
                  <a:gradFill>
                    <a:gsLst>
                      <a:gs pos="12083">
                        <a:schemeClr val="tx1">
                          <a:lumMod val="90000"/>
                          <a:lumOff val="10000"/>
                        </a:schemeClr>
                      </a:gs>
                      <a:gs pos="26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</a:rPr>
              </a:br>
              <a:r>
                <a:rPr lang="ko-KR" altLang="en-US" sz="1400" b="1" spc="-65" dirty="0">
                  <a:gradFill>
                    <a:gsLst>
                      <a:gs pos="12083">
                        <a:schemeClr val="tx1">
                          <a:lumMod val="90000"/>
                          <a:lumOff val="10000"/>
                        </a:schemeClr>
                      </a:gs>
                      <a:gs pos="26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</a:rPr>
                <a:t>기반 </a:t>
              </a:r>
              <a:r>
                <a:rPr lang="en-US" altLang="ko-KR" sz="1400" b="1" spc="-65" dirty="0">
                  <a:gradFill>
                    <a:gsLst>
                      <a:gs pos="12083">
                        <a:schemeClr val="tx1">
                          <a:lumMod val="90000"/>
                          <a:lumOff val="10000"/>
                        </a:schemeClr>
                      </a:gs>
                      <a:gs pos="26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</a:rPr>
                <a:t>CMS</a:t>
              </a:r>
              <a:endParaRPr lang="ko-KR" altLang="en-US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1098110" y="3837617"/>
            <a:ext cx="8378168" cy="1047887"/>
            <a:chOff x="1098110" y="3837617"/>
            <a:chExt cx="8378168" cy="1047887"/>
          </a:xfrm>
        </p:grpSpPr>
        <p:sp>
          <p:nvSpPr>
            <p:cNvPr id="173" name="직사각형 172"/>
            <p:cNvSpPr/>
            <p:nvPr/>
          </p:nvSpPr>
          <p:spPr>
            <a:xfrm>
              <a:off x="1098110" y="4215960"/>
              <a:ext cx="8378168" cy="6695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00B0F0"/>
              </a:solidFill>
              <a:prstDash val="sysDash"/>
            </a:ln>
            <a:effectLst/>
          </p:spPr>
          <p:txBody>
            <a:bodyPr rtlCol="0" anchor="ctr"/>
            <a:lstStyle/>
            <a:p>
              <a:pPr algn="ctr" defTabSz="914400" latinLnBrk="0"/>
              <a:endParaRPr lang="ko-KR" altLang="en-US" sz="1800" ker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77" name="그룹 176"/>
            <p:cNvGrpSpPr/>
            <p:nvPr/>
          </p:nvGrpSpPr>
          <p:grpSpPr>
            <a:xfrm>
              <a:off x="3975120" y="3837617"/>
              <a:ext cx="443911" cy="418938"/>
              <a:chOff x="4175072" y="1947928"/>
              <a:chExt cx="710029" cy="637991"/>
            </a:xfrm>
          </p:grpSpPr>
          <p:pic>
            <p:nvPicPr>
              <p:cNvPr id="178" name="그림 177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5072" y="1947928"/>
                <a:ext cx="710029" cy="637991"/>
              </a:xfrm>
              <a:prstGeom prst="rect">
                <a:avLst/>
              </a:prstGeom>
            </p:spPr>
          </p:pic>
          <p:sp>
            <p:nvSpPr>
              <p:cNvPr id="179" name="TextBox 178"/>
              <p:cNvSpPr txBox="1"/>
              <p:nvPr/>
            </p:nvSpPr>
            <p:spPr>
              <a:xfrm>
                <a:off x="4290680" y="2059661"/>
                <a:ext cx="456902" cy="3937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ko-KR" sz="12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gradFill>
                      <a:gsLst>
                        <a:gs pos="5833">
                          <a:prstClr val="white"/>
                        </a:gs>
                        <a:gs pos="12917">
                          <a:prstClr val="white"/>
                        </a:gs>
                      </a:gsLst>
                      <a:lin ang="5400000" scaled="0"/>
                    </a:gradFill>
                    <a:effectLst>
                      <a:outerShdw blurRad="101600" dist="38100" dir="2700000" algn="tl" rotWithShape="0">
                        <a:prstClr val="black">
                          <a:alpha val="72000"/>
                        </a:prstClr>
                      </a:outerShdw>
                    </a:effectLst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B</a:t>
                </a:r>
                <a:endPara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5833">
                        <a:prstClr val="white"/>
                      </a:gs>
                      <a:gs pos="12917">
                        <a:prstClr val="white"/>
                      </a:gs>
                    </a:gsLst>
                    <a:lin ang="5400000" scaled="0"/>
                  </a:gradFill>
                  <a:effectLst>
                    <a:outerShdw blurRad="101600" dist="38100" dir="2700000" algn="tl" rotWithShape="0">
                      <a:prstClr val="black">
                        <a:alpha val="72000"/>
                      </a:prstClr>
                    </a:outerShdw>
                  </a:effectLst>
                  <a:latin typeface="Rix고딕 B" panose="02020603020101020101" pitchFamily="18" charset="-127"/>
                  <a:ea typeface="Rix고딕 B" panose="02020603020101020101" pitchFamily="18" charset="-127"/>
                </a:endParaRPr>
              </a:p>
            </p:txBody>
          </p:sp>
        </p:grpSp>
        <p:sp>
          <p:nvSpPr>
            <p:cNvPr id="180" name="직사각형 179"/>
            <p:cNvSpPr/>
            <p:nvPr/>
          </p:nvSpPr>
          <p:spPr>
            <a:xfrm>
              <a:off x="4326804" y="3878983"/>
              <a:ext cx="1508466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/>
              <a:r>
                <a:rPr lang="en-US" altLang="ko-KR" sz="1400" b="1" spc="-65" dirty="0">
                  <a:gradFill>
                    <a:gsLst>
                      <a:gs pos="12083">
                        <a:schemeClr val="tx1">
                          <a:lumMod val="90000"/>
                          <a:lumOff val="10000"/>
                        </a:schemeClr>
                      </a:gs>
                      <a:gs pos="26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</a:rPr>
                <a:t>Web Interface</a:t>
              </a:r>
              <a:endParaRPr lang="ko-KR" altLang="en-US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2961073" y="1628481"/>
            <a:ext cx="6515202" cy="1633225"/>
            <a:chOff x="2961073" y="1628481"/>
            <a:chExt cx="6515202" cy="1633225"/>
          </a:xfrm>
        </p:grpSpPr>
        <p:grpSp>
          <p:nvGrpSpPr>
            <p:cNvPr id="4" name="그룹 3"/>
            <p:cNvGrpSpPr/>
            <p:nvPr/>
          </p:nvGrpSpPr>
          <p:grpSpPr>
            <a:xfrm>
              <a:off x="2961073" y="1764351"/>
              <a:ext cx="6515202" cy="1497355"/>
              <a:chOff x="2961073" y="1764351"/>
              <a:chExt cx="6515202" cy="1497355"/>
            </a:xfrm>
            <a:solidFill>
              <a:schemeClr val="bg1">
                <a:lumMod val="95000"/>
              </a:schemeClr>
            </a:solidFill>
          </p:grpSpPr>
          <p:sp>
            <p:nvSpPr>
              <p:cNvPr id="202" name="L 도형 201"/>
              <p:cNvSpPr/>
              <p:nvPr/>
            </p:nvSpPr>
            <p:spPr>
              <a:xfrm>
                <a:off x="2961073" y="1764351"/>
                <a:ext cx="2766510" cy="1491787"/>
              </a:xfrm>
              <a:prstGeom prst="corner">
                <a:avLst>
                  <a:gd name="adj1" fmla="val 35803"/>
                  <a:gd name="adj2" fmla="val 102835"/>
                </a:avLst>
              </a:prstGeom>
              <a:grpFill/>
              <a:ln w="19050" cap="flat" cmpd="sng" algn="ctr">
                <a:solidFill>
                  <a:srgbClr val="00B0F0"/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01" name="L 도형 200"/>
              <p:cNvSpPr/>
              <p:nvPr/>
            </p:nvSpPr>
            <p:spPr>
              <a:xfrm flipH="1">
                <a:off x="5727582" y="1769919"/>
                <a:ext cx="3748693" cy="1491787"/>
              </a:xfrm>
              <a:prstGeom prst="corner">
                <a:avLst>
                  <a:gd name="adj1" fmla="val 35803"/>
                  <a:gd name="adj2" fmla="val 102835"/>
                </a:avLst>
              </a:prstGeom>
              <a:grpFill/>
              <a:ln w="19050" cap="flat" cmpd="sng" algn="ctr">
                <a:solidFill>
                  <a:srgbClr val="00B0F0"/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04" name="L 도형 203"/>
              <p:cNvSpPr/>
              <p:nvPr/>
            </p:nvSpPr>
            <p:spPr>
              <a:xfrm flipH="1">
                <a:off x="5648382" y="2743307"/>
                <a:ext cx="195302" cy="498861"/>
              </a:xfrm>
              <a:prstGeom prst="corner">
                <a:avLst>
                  <a:gd name="adj1" fmla="val 35803"/>
                  <a:gd name="adj2" fmla="val 751450"/>
                </a:avLst>
              </a:prstGeom>
              <a:grpFill/>
              <a:ln w="19050" cap="flat" cmpd="sng" algn="ctr">
                <a:noFill/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70" name="그룹 169"/>
            <p:cNvGrpSpPr/>
            <p:nvPr/>
          </p:nvGrpSpPr>
          <p:grpSpPr>
            <a:xfrm>
              <a:off x="4365463" y="1628481"/>
              <a:ext cx="443911" cy="418938"/>
              <a:chOff x="4175072" y="1947928"/>
              <a:chExt cx="710029" cy="637991"/>
            </a:xfrm>
          </p:grpSpPr>
          <p:pic>
            <p:nvPicPr>
              <p:cNvPr id="171" name="그림 170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5072" y="1947928"/>
                <a:ext cx="710029" cy="637991"/>
              </a:xfrm>
              <a:prstGeom prst="rect">
                <a:avLst/>
              </a:prstGeom>
            </p:spPr>
          </p:pic>
          <p:sp>
            <p:nvSpPr>
              <p:cNvPr id="172" name="TextBox 171"/>
              <p:cNvSpPr txBox="1"/>
              <p:nvPr/>
            </p:nvSpPr>
            <p:spPr>
              <a:xfrm>
                <a:off x="4295808" y="2059661"/>
                <a:ext cx="446647" cy="3937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ko-KR" sz="12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gradFill>
                      <a:gsLst>
                        <a:gs pos="5833">
                          <a:prstClr val="white"/>
                        </a:gs>
                        <a:gs pos="12917">
                          <a:prstClr val="white"/>
                        </a:gs>
                      </a:gsLst>
                      <a:lin ang="5400000" scaled="0"/>
                    </a:gradFill>
                    <a:effectLst>
                      <a:outerShdw blurRad="101600" dist="38100" dir="2700000" algn="tl" rotWithShape="0">
                        <a:prstClr val="black">
                          <a:alpha val="72000"/>
                        </a:prstClr>
                      </a:outerShdw>
                    </a:effectLst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A</a:t>
                </a:r>
                <a:endParaRPr lang="ko-KR" altLang="en-US" sz="12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5833">
                        <a:prstClr val="white"/>
                      </a:gs>
                      <a:gs pos="12917">
                        <a:prstClr val="white"/>
                      </a:gs>
                    </a:gsLst>
                    <a:lin ang="5400000" scaled="0"/>
                  </a:gradFill>
                  <a:effectLst>
                    <a:outerShdw blurRad="101600" dist="38100" dir="2700000" algn="tl" rotWithShape="0">
                      <a:prstClr val="black">
                        <a:alpha val="72000"/>
                      </a:prstClr>
                    </a:outerShdw>
                  </a:effectLst>
                  <a:latin typeface="Rix고딕 B" panose="02020603020101020101" pitchFamily="18" charset="-127"/>
                  <a:ea typeface="Rix고딕 B" panose="02020603020101020101" pitchFamily="18" charset="-127"/>
                </a:endParaRPr>
              </a:p>
            </p:txBody>
          </p:sp>
        </p:grpSp>
        <p:sp>
          <p:nvSpPr>
            <p:cNvPr id="174" name="직사각형 173"/>
            <p:cNvSpPr/>
            <p:nvPr/>
          </p:nvSpPr>
          <p:spPr>
            <a:xfrm>
              <a:off x="4717147" y="1669847"/>
              <a:ext cx="1508466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0"/>
              <a:r>
                <a:rPr lang="en-US" altLang="ko-KR" sz="1400" b="1" spc="-65" dirty="0">
                  <a:gradFill>
                    <a:gsLst>
                      <a:gs pos="12083">
                        <a:schemeClr val="tx1">
                          <a:lumMod val="90000"/>
                          <a:lumOff val="10000"/>
                        </a:schemeClr>
                      </a:gs>
                      <a:gs pos="26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</a:rPr>
                <a:t>Front Service</a:t>
              </a:r>
              <a:endParaRPr lang="ko-KR" altLang="en-US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현행시스템 구성</a:t>
            </a:r>
          </a:p>
        </p:txBody>
      </p:sp>
      <p:cxnSp>
        <p:nvCxnSpPr>
          <p:cNvPr id="125" name="직선 연결선 124"/>
          <p:cNvCxnSpPr>
            <a:stCxn id="127" idx="1"/>
            <a:endCxn id="197" idx="0"/>
          </p:cNvCxnSpPr>
          <p:nvPr/>
        </p:nvCxnSpPr>
        <p:spPr>
          <a:xfrm>
            <a:off x="2062849" y="2481141"/>
            <a:ext cx="0" cy="25292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직사각형 125"/>
          <p:cNvSpPr/>
          <p:nvPr/>
        </p:nvSpPr>
        <p:spPr>
          <a:xfrm>
            <a:off x="3238047" y="1959737"/>
            <a:ext cx="1003614" cy="51975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11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미니테스트</a:t>
            </a:r>
            <a:endParaRPr lang="en-US" altLang="ko-KR" sz="1100" b="1" spc="-65" dirty="0">
              <a:gradFill>
                <a:gsLst>
                  <a:gs pos="12083">
                    <a:schemeClr val="tx1">
                      <a:lumMod val="90000"/>
                      <a:lumOff val="10000"/>
                    </a:schemeClr>
                  </a:gs>
                  <a:gs pos="26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</a:endParaRPr>
          </a:p>
          <a:p>
            <a:pPr algn="ctr" latinLnBrk="0"/>
            <a:r>
              <a:rPr lang="ko-KR" altLang="en-US" sz="11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팝업</a:t>
            </a:r>
          </a:p>
        </p:txBody>
      </p:sp>
      <p:sp>
        <p:nvSpPr>
          <p:cNvPr id="127" name="대각선 방향의 모서리가 둥근 사각형 126"/>
          <p:cNvSpPr/>
          <p:nvPr/>
        </p:nvSpPr>
        <p:spPr>
          <a:xfrm flipH="1">
            <a:off x="1342749" y="1958086"/>
            <a:ext cx="1440200" cy="523055"/>
          </a:xfrm>
          <a:prstGeom prst="round2DiagRect">
            <a:avLst/>
          </a:prstGeom>
          <a:solidFill>
            <a:srgbClr val="B2DE82"/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ETOOS</a:t>
            </a:r>
          </a:p>
          <a:p>
            <a:pPr algn="ctr" latinLnBrk="0"/>
            <a:r>
              <a:rPr lang="en-US" altLang="ko-KR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Web</a:t>
            </a:r>
          </a:p>
        </p:txBody>
      </p:sp>
      <p:sp>
        <p:nvSpPr>
          <p:cNvPr id="128" name="대각선 방향의 모서리가 둥근 사각형 127"/>
          <p:cNvSpPr/>
          <p:nvPr/>
        </p:nvSpPr>
        <p:spPr>
          <a:xfrm flipH="1">
            <a:off x="6282830" y="1958086"/>
            <a:ext cx="1440200" cy="523055"/>
          </a:xfrm>
          <a:prstGeom prst="round2DiagRect">
            <a:avLst/>
          </a:prstGeom>
          <a:solidFill>
            <a:srgbClr val="69D8FF"/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1400" b="1" spc="-65" dirty="0" err="1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족보닷컴</a:t>
            </a:r>
            <a:endParaRPr lang="en-US" altLang="ko-KR" sz="1400" b="1" spc="-65" dirty="0">
              <a:gradFill>
                <a:gsLst>
                  <a:gs pos="12083">
                    <a:schemeClr val="tx1">
                      <a:lumMod val="90000"/>
                      <a:lumOff val="10000"/>
                    </a:schemeClr>
                  </a:gs>
                  <a:gs pos="26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</a:endParaRPr>
          </a:p>
          <a:p>
            <a:pPr algn="ctr" latinLnBrk="0"/>
            <a:r>
              <a:rPr lang="en-US" altLang="ko-KR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Web</a:t>
            </a:r>
          </a:p>
        </p:txBody>
      </p:sp>
      <p:sp>
        <p:nvSpPr>
          <p:cNvPr id="129" name="원통 128"/>
          <p:cNvSpPr/>
          <p:nvPr/>
        </p:nvSpPr>
        <p:spPr>
          <a:xfrm>
            <a:off x="1285531" y="5929041"/>
            <a:ext cx="1554637" cy="809568"/>
          </a:xfrm>
          <a:prstGeom prst="can">
            <a:avLst/>
          </a:prstGeom>
          <a:solidFill>
            <a:srgbClr val="92D050">
              <a:alpha val="39000"/>
            </a:srgbClr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E-Bank DB</a:t>
            </a:r>
          </a:p>
          <a:p>
            <a:pPr algn="ctr" latinLnBrk="0"/>
            <a:r>
              <a:rPr lang="en-US" altLang="ko-KR" sz="12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(MS-SQL)</a:t>
            </a:r>
            <a:endParaRPr lang="ko-KR" altLang="en-US" sz="1200" b="1" spc="-65" dirty="0">
              <a:gradFill>
                <a:gsLst>
                  <a:gs pos="12083">
                    <a:schemeClr val="tx1">
                      <a:lumMod val="90000"/>
                      <a:lumOff val="10000"/>
                    </a:schemeClr>
                  </a:gs>
                  <a:gs pos="26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</a:endParaRPr>
          </a:p>
        </p:txBody>
      </p:sp>
      <p:sp>
        <p:nvSpPr>
          <p:cNvPr id="130" name="원통 129"/>
          <p:cNvSpPr/>
          <p:nvPr/>
        </p:nvSpPr>
        <p:spPr>
          <a:xfrm>
            <a:off x="6225612" y="5906648"/>
            <a:ext cx="1554637" cy="809568"/>
          </a:xfrm>
          <a:prstGeom prst="can">
            <a:avLst/>
          </a:prstGeom>
          <a:solidFill>
            <a:srgbClr val="00B0F0">
              <a:alpha val="21000"/>
            </a:srgbClr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I-System DB</a:t>
            </a:r>
          </a:p>
          <a:p>
            <a:pPr algn="ctr" latinLnBrk="0"/>
            <a:r>
              <a:rPr lang="en-US" altLang="ko-KR" sz="12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(MS-SQL)</a:t>
            </a:r>
            <a:endParaRPr lang="ko-KR" altLang="en-US" sz="1200" b="1" spc="-65" dirty="0">
              <a:gradFill>
                <a:gsLst>
                  <a:gs pos="12083">
                    <a:schemeClr val="tx1">
                      <a:lumMod val="90000"/>
                      <a:lumOff val="10000"/>
                    </a:schemeClr>
                  </a:gs>
                  <a:gs pos="26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</a:endParaRPr>
          </a:p>
        </p:txBody>
      </p:sp>
      <p:sp>
        <p:nvSpPr>
          <p:cNvPr id="131" name="Rectangle 6"/>
          <p:cNvSpPr/>
          <p:nvPr/>
        </p:nvSpPr>
        <p:spPr>
          <a:xfrm>
            <a:off x="1228312" y="3341608"/>
            <a:ext cx="1669074" cy="693523"/>
          </a:xfrm>
          <a:prstGeom prst="rect">
            <a:avLst/>
          </a:prstGeom>
          <a:solidFill>
            <a:srgbClr val="B2DE82"/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E-Bank</a:t>
            </a:r>
          </a:p>
          <a:p>
            <a:pPr algn="ctr" latinLnBrk="0"/>
            <a:r>
              <a:rPr lang="ko-KR" altLang="en-US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문제은행</a:t>
            </a:r>
          </a:p>
        </p:txBody>
      </p:sp>
      <p:cxnSp>
        <p:nvCxnSpPr>
          <p:cNvPr id="132" name="직선 연결선 131"/>
          <p:cNvCxnSpPr>
            <a:stCxn id="197" idx="2"/>
            <a:endCxn id="129" idx="1"/>
          </p:cNvCxnSpPr>
          <p:nvPr/>
        </p:nvCxnSpPr>
        <p:spPr>
          <a:xfrm>
            <a:off x="2062849" y="5548364"/>
            <a:ext cx="1" cy="380677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/>
          <p:cNvCxnSpPr>
            <a:stCxn id="128" idx="1"/>
            <a:endCxn id="136" idx="0"/>
          </p:cNvCxnSpPr>
          <p:nvPr/>
        </p:nvCxnSpPr>
        <p:spPr>
          <a:xfrm flipH="1">
            <a:off x="7002929" y="2481141"/>
            <a:ext cx="1" cy="25292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>
            <a:endCxn id="130" idx="1"/>
          </p:cNvCxnSpPr>
          <p:nvPr/>
        </p:nvCxnSpPr>
        <p:spPr>
          <a:xfrm>
            <a:off x="7002931" y="4825488"/>
            <a:ext cx="0" cy="108116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6"/>
          <p:cNvSpPr/>
          <p:nvPr/>
        </p:nvSpPr>
        <p:spPr>
          <a:xfrm>
            <a:off x="6168393" y="3319215"/>
            <a:ext cx="1669074" cy="693523"/>
          </a:xfrm>
          <a:prstGeom prst="rect">
            <a:avLst/>
          </a:prstGeom>
          <a:solidFill>
            <a:srgbClr val="69D8FF"/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I-System</a:t>
            </a:r>
          </a:p>
          <a:p>
            <a:pPr algn="ctr" latinLnBrk="0"/>
            <a:r>
              <a:rPr lang="ko-KR" altLang="en-US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문제은행</a:t>
            </a:r>
          </a:p>
        </p:txBody>
      </p:sp>
      <p:sp>
        <p:nvSpPr>
          <p:cNvPr id="136" name="Flowchart: Document 20"/>
          <p:cNvSpPr/>
          <p:nvPr/>
        </p:nvSpPr>
        <p:spPr>
          <a:xfrm>
            <a:off x="6354839" y="5010369"/>
            <a:ext cx="1296180" cy="576080"/>
          </a:xfrm>
          <a:prstGeom prst="flowChartDocument">
            <a:avLst/>
          </a:prstGeom>
          <a:solidFill>
            <a:schemeClr val="accent3"/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1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Client</a:t>
            </a:r>
          </a:p>
          <a:p>
            <a:pPr algn="ctr" latinLnBrk="0"/>
            <a:r>
              <a:rPr lang="en-US" altLang="ko-KR" sz="11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(Visual Basic)</a:t>
            </a:r>
            <a:endParaRPr lang="ko-KR" altLang="en-US" sz="1100" b="1" spc="-65" dirty="0">
              <a:gradFill>
                <a:gsLst>
                  <a:gs pos="12083">
                    <a:schemeClr val="tx1">
                      <a:lumMod val="90000"/>
                      <a:lumOff val="10000"/>
                    </a:schemeClr>
                  </a:gs>
                  <a:gs pos="26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3238047" y="2655368"/>
            <a:ext cx="1003614" cy="519753"/>
          </a:xfrm>
          <a:prstGeom prst="rect">
            <a:avLst/>
          </a:prstGeom>
          <a:solidFill>
            <a:srgbClr val="92D050"/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1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E-Bank</a:t>
            </a:r>
          </a:p>
          <a:p>
            <a:pPr algn="ctr" latinLnBrk="0"/>
            <a:r>
              <a:rPr lang="ko-KR" altLang="en-US" sz="11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팝업</a:t>
            </a:r>
          </a:p>
        </p:txBody>
      </p:sp>
      <p:sp>
        <p:nvSpPr>
          <p:cNvPr id="138" name="직사각형 137"/>
          <p:cNvSpPr/>
          <p:nvPr/>
        </p:nvSpPr>
        <p:spPr>
          <a:xfrm>
            <a:off x="8155090" y="1959737"/>
            <a:ext cx="1003614" cy="519753"/>
          </a:xfrm>
          <a:prstGeom prst="rect">
            <a:avLst/>
          </a:prstGeom>
          <a:solidFill>
            <a:schemeClr val="accent3"/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1100" b="1" spc="-65" dirty="0" err="1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바로테스트</a:t>
            </a:r>
            <a:endParaRPr lang="en-US" altLang="ko-KR" sz="1100" b="1" spc="-65" dirty="0">
              <a:gradFill>
                <a:gsLst>
                  <a:gs pos="12083">
                    <a:schemeClr val="tx1">
                      <a:lumMod val="90000"/>
                      <a:lumOff val="10000"/>
                    </a:schemeClr>
                  </a:gs>
                  <a:gs pos="26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</a:endParaRPr>
          </a:p>
          <a:p>
            <a:pPr algn="ctr" latinLnBrk="0"/>
            <a:r>
              <a:rPr lang="ko-KR" altLang="en-US" sz="11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팝업</a:t>
            </a:r>
          </a:p>
        </p:txBody>
      </p:sp>
      <p:sp>
        <p:nvSpPr>
          <p:cNvPr id="140" name="Rounded Rectangle 22"/>
          <p:cNvSpPr/>
          <p:nvPr/>
        </p:nvSpPr>
        <p:spPr>
          <a:xfrm>
            <a:off x="4444722" y="4303798"/>
            <a:ext cx="950336" cy="5216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Interface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(ASP)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Flowchart: Document 20"/>
          <p:cNvSpPr/>
          <p:nvPr/>
        </p:nvSpPr>
        <p:spPr>
          <a:xfrm>
            <a:off x="4414583" y="5010369"/>
            <a:ext cx="1010614" cy="576080"/>
          </a:xfrm>
          <a:prstGeom prst="flowChartDocumen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Servlet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(VB)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42" name="꺾인 연결선 141"/>
          <p:cNvCxnSpPr>
            <a:stCxn id="126" idx="3"/>
            <a:endCxn id="140" idx="0"/>
          </p:cNvCxnSpPr>
          <p:nvPr/>
        </p:nvCxnSpPr>
        <p:spPr>
          <a:xfrm>
            <a:off x="4241661" y="2219614"/>
            <a:ext cx="678229" cy="2084184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/>
          <p:cNvCxnSpPr>
            <a:stCxn id="140" idx="2"/>
            <a:endCxn id="141" idx="0"/>
          </p:cNvCxnSpPr>
          <p:nvPr/>
        </p:nvCxnSpPr>
        <p:spPr>
          <a:xfrm>
            <a:off x="4919890" y="4825488"/>
            <a:ext cx="0" cy="18488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/>
          <p:cNvCxnSpPr>
            <a:stCxn id="127" idx="2"/>
            <a:endCxn id="126" idx="1"/>
          </p:cNvCxnSpPr>
          <p:nvPr/>
        </p:nvCxnSpPr>
        <p:spPr>
          <a:xfrm>
            <a:off x="2782949" y="2219614"/>
            <a:ext cx="455098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127" idx="2"/>
            <a:endCxn id="137" idx="1"/>
          </p:cNvCxnSpPr>
          <p:nvPr/>
        </p:nvCxnSpPr>
        <p:spPr>
          <a:xfrm>
            <a:off x="2782949" y="2219614"/>
            <a:ext cx="455098" cy="695631"/>
          </a:xfrm>
          <a:prstGeom prst="bentConnector3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22"/>
          <p:cNvSpPr/>
          <p:nvPr/>
        </p:nvSpPr>
        <p:spPr>
          <a:xfrm>
            <a:off x="8181729" y="4303798"/>
            <a:ext cx="950336" cy="5216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Interface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(ASP)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8" name="Flowchart: Document 20"/>
          <p:cNvSpPr/>
          <p:nvPr/>
        </p:nvSpPr>
        <p:spPr>
          <a:xfrm>
            <a:off x="8155090" y="5010369"/>
            <a:ext cx="1010614" cy="576080"/>
          </a:xfrm>
          <a:prstGeom prst="flowChartDocumen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Servlet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(VB)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49" name="직선 연결선 148"/>
          <p:cNvCxnSpPr>
            <a:stCxn id="147" idx="2"/>
            <a:endCxn id="148" idx="0"/>
          </p:cNvCxnSpPr>
          <p:nvPr/>
        </p:nvCxnSpPr>
        <p:spPr>
          <a:xfrm>
            <a:off x="8656897" y="4825488"/>
            <a:ext cx="3500" cy="18488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>
            <a:stCxn id="138" idx="2"/>
            <a:endCxn id="147" idx="0"/>
          </p:cNvCxnSpPr>
          <p:nvPr/>
        </p:nvCxnSpPr>
        <p:spPr>
          <a:xfrm>
            <a:off x="8656897" y="2479490"/>
            <a:ext cx="0" cy="182430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/>
          <p:cNvCxnSpPr>
            <a:stCxn id="128" idx="2"/>
            <a:endCxn id="138" idx="1"/>
          </p:cNvCxnSpPr>
          <p:nvPr/>
        </p:nvCxnSpPr>
        <p:spPr>
          <a:xfrm>
            <a:off x="7723030" y="2219614"/>
            <a:ext cx="432060" cy="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꺾인 연결선 160"/>
          <p:cNvCxnSpPr>
            <a:stCxn id="137" idx="2"/>
            <a:endCxn id="168" idx="3"/>
          </p:cNvCxnSpPr>
          <p:nvPr/>
        </p:nvCxnSpPr>
        <p:spPr>
          <a:xfrm rot="5400000">
            <a:off x="2437858" y="3261963"/>
            <a:ext cx="1388839" cy="1215155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꺾인 연결선 161"/>
          <p:cNvCxnSpPr>
            <a:stCxn id="141" idx="3"/>
            <a:endCxn id="72" idx="1"/>
          </p:cNvCxnSpPr>
          <p:nvPr/>
        </p:nvCxnSpPr>
        <p:spPr>
          <a:xfrm>
            <a:off x="5425197" y="5298409"/>
            <a:ext cx="691619" cy="1060181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162"/>
          <p:cNvCxnSpPr>
            <a:stCxn id="148" idx="2"/>
            <a:endCxn id="130" idx="1"/>
          </p:cNvCxnSpPr>
          <p:nvPr/>
        </p:nvCxnSpPr>
        <p:spPr>
          <a:xfrm rot="5400000">
            <a:off x="7652522" y="4898773"/>
            <a:ext cx="358284" cy="16574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원통 163"/>
          <p:cNvSpPr/>
          <p:nvPr/>
        </p:nvSpPr>
        <p:spPr>
          <a:xfrm>
            <a:off x="8305335" y="5907128"/>
            <a:ext cx="1554637" cy="809568"/>
          </a:xfrm>
          <a:prstGeom prst="can">
            <a:avLst/>
          </a:prstGeom>
          <a:solidFill>
            <a:srgbClr val="00B0F0">
              <a:alpha val="21000"/>
            </a:srgbClr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족보 </a:t>
            </a:r>
            <a:r>
              <a:rPr lang="en-US" altLang="ko-KR" sz="14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DB</a:t>
            </a:r>
          </a:p>
          <a:p>
            <a:pPr lvl="0" algn="ctr" latinLnBrk="0"/>
            <a:r>
              <a:rPr lang="en-US" altLang="ko-KR" sz="1200" b="1" spc="-65" dirty="0">
                <a:gradFill>
                  <a:gsLst>
                    <a:gs pos="12083">
                      <a:prstClr val="black">
                        <a:lumMod val="90000"/>
                        <a:lumOff val="10000"/>
                      </a:prstClr>
                    </a:gs>
                    <a:gs pos="26000">
                      <a:prstClr val="black">
                        <a:lumMod val="90000"/>
                        <a:lumOff val="10000"/>
                      </a:prstClr>
                    </a:gs>
                  </a:gsLst>
                  <a:lin ang="5400000" scaled="0"/>
                </a:gradFill>
              </a:rPr>
              <a:t>(MS-SQL)</a:t>
            </a:r>
            <a:endParaRPr lang="ko-KR" altLang="en-US" sz="1200" b="1" spc="-65" dirty="0">
              <a:gradFill>
                <a:gsLst>
                  <a:gs pos="12083">
                    <a:prstClr val="black">
                      <a:lumMod val="90000"/>
                      <a:lumOff val="10000"/>
                    </a:prstClr>
                  </a:gs>
                  <a:gs pos="26000">
                    <a:prstClr val="black">
                      <a:lumMod val="90000"/>
                      <a:lumOff val="10000"/>
                    </a:prstClr>
                  </a:gs>
                </a:gsLst>
                <a:lin ang="5400000" scaled="0"/>
              </a:gradFill>
            </a:endParaRPr>
          </a:p>
        </p:txBody>
      </p:sp>
      <p:cxnSp>
        <p:nvCxnSpPr>
          <p:cNvPr id="166" name="꺾인 연결선 165"/>
          <p:cNvCxnSpPr>
            <a:stCxn id="148" idx="2"/>
            <a:endCxn id="164" idx="1"/>
          </p:cNvCxnSpPr>
          <p:nvPr/>
        </p:nvCxnSpPr>
        <p:spPr>
          <a:xfrm rot="16200000" flipH="1">
            <a:off x="8692143" y="5516617"/>
            <a:ext cx="358764" cy="422257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ounded Rectangle 22"/>
          <p:cNvSpPr/>
          <p:nvPr/>
        </p:nvSpPr>
        <p:spPr>
          <a:xfrm>
            <a:off x="6450698" y="4274869"/>
            <a:ext cx="1049780" cy="5216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(ASP)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8" name="Rounded Rectangle 22"/>
          <p:cNvSpPr/>
          <p:nvPr/>
        </p:nvSpPr>
        <p:spPr>
          <a:xfrm>
            <a:off x="1574363" y="4303115"/>
            <a:ext cx="950336" cy="5216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WAS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(ASP)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5" name="Rounded Rectangle 22"/>
          <p:cNvSpPr/>
          <p:nvPr/>
        </p:nvSpPr>
        <p:spPr>
          <a:xfrm>
            <a:off x="1432322" y="5766764"/>
            <a:ext cx="1278617" cy="27939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Data Logic (SP)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6" name="Rounded Rectangle 22"/>
          <p:cNvSpPr/>
          <p:nvPr/>
        </p:nvSpPr>
        <p:spPr>
          <a:xfrm>
            <a:off x="6392366" y="5778183"/>
            <a:ext cx="1278617" cy="27939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Data Logic (SP)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7" name="Flowchart: Document 20"/>
          <p:cNvSpPr/>
          <p:nvPr/>
        </p:nvSpPr>
        <p:spPr>
          <a:xfrm>
            <a:off x="1414759" y="5010369"/>
            <a:ext cx="1296180" cy="576080"/>
          </a:xfrm>
          <a:prstGeom prst="flowChartDocument">
            <a:avLst/>
          </a:prstGeom>
          <a:solidFill>
            <a:srgbClr val="92D050"/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100" b="1" spc="-65" dirty="0" err="1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iBank</a:t>
            </a:r>
            <a:r>
              <a:rPr lang="en-US" altLang="ko-KR" sz="11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 </a:t>
            </a:r>
          </a:p>
          <a:p>
            <a:pPr algn="ctr" latinLnBrk="0"/>
            <a:r>
              <a:rPr lang="en-US" altLang="ko-KR" sz="1100" b="1" spc="-65" dirty="0">
                <a:gradFill>
                  <a:gsLst>
                    <a:gs pos="12083">
                      <a:schemeClr val="tx1">
                        <a:lumMod val="90000"/>
                        <a:lumOff val="10000"/>
                      </a:schemeClr>
                    </a:gs>
                    <a:gs pos="26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</a:rPr>
              <a:t>(Solution)</a:t>
            </a:r>
            <a:endParaRPr lang="ko-KR" altLang="en-US" sz="1100" b="1" spc="-65" dirty="0">
              <a:gradFill>
                <a:gsLst>
                  <a:gs pos="12083">
                    <a:schemeClr val="tx1">
                      <a:lumMod val="90000"/>
                      <a:lumOff val="10000"/>
                    </a:schemeClr>
                  </a:gs>
                  <a:gs pos="26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6138810" y="5204655"/>
            <a:ext cx="332027" cy="20335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100" b="1" spc="-65" dirty="0">
              <a:gradFill>
                <a:gsLst>
                  <a:gs pos="12083">
                    <a:schemeClr val="tx1">
                      <a:lumMod val="90000"/>
                      <a:lumOff val="10000"/>
                    </a:schemeClr>
                  </a:gs>
                  <a:gs pos="26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</a:endParaRPr>
          </a:p>
        </p:txBody>
      </p:sp>
      <p:sp>
        <p:nvSpPr>
          <p:cNvPr id="199" name="직사각형 198"/>
          <p:cNvSpPr/>
          <p:nvPr/>
        </p:nvSpPr>
        <p:spPr>
          <a:xfrm>
            <a:off x="6123271" y="4501991"/>
            <a:ext cx="332027" cy="20335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100" b="1" spc="-65" dirty="0">
              <a:gradFill>
                <a:gsLst>
                  <a:gs pos="12083">
                    <a:schemeClr val="tx1">
                      <a:lumMod val="90000"/>
                      <a:lumOff val="10000"/>
                    </a:schemeClr>
                  </a:gs>
                  <a:gs pos="26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6116816" y="6256912"/>
            <a:ext cx="332027" cy="20335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100" b="1" spc="-65" dirty="0">
              <a:gradFill>
                <a:gsLst>
                  <a:gs pos="12083">
                    <a:schemeClr val="tx1">
                      <a:lumMod val="90000"/>
                      <a:lumOff val="10000"/>
                    </a:schemeClr>
                  </a:gs>
                  <a:gs pos="26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</a:endParaRPr>
          </a:p>
        </p:txBody>
      </p:sp>
      <p:cxnSp>
        <p:nvCxnSpPr>
          <p:cNvPr id="74" name="꺾인 연결선 73"/>
          <p:cNvCxnSpPr>
            <a:stCxn id="198" idx="1"/>
            <a:endCxn id="72" idx="1"/>
          </p:cNvCxnSpPr>
          <p:nvPr/>
        </p:nvCxnSpPr>
        <p:spPr>
          <a:xfrm rot="10800000" flipV="1">
            <a:off x="6116816" y="5306332"/>
            <a:ext cx="21994" cy="1052257"/>
          </a:xfrm>
          <a:prstGeom prst="bentConnector3">
            <a:avLst>
              <a:gd name="adj1" fmla="val 1139374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stCxn id="198" idx="1"/>
            <a:endCxn id="199" idx="1"/>
          </p:cNvCxnSpPr>
          <p:nvPr/>
        </p:nvCxnSpPr>
        <p:spPr>
          <a:xfrm rot="10800000">
            <a:off x="6123272" y="4603669"/>
            <a:ext cx="15539" cy="702664"/>
          </a:xfrm>
          <a:prstGeom prst="bentConnector3">
            <a:avLst>
              <a:gd name="adj1" fmla="val 1571137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0143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목표시스템 구성</a:t>
            </a:r>
          </a:p>
        </p:txBody>
      </p:sp>
      <p:grpSp>
        <p:nvGrpSpPr>
          <p:cNvPr id="52" name="그룹 51"/>
          <p:cNvGrpSpPr/>
          <p:nvPr/>
        </p:nvGrpSpPr>
        <p:grpSpPr>
          <a:xfrm>
            <a:off x="739757" y="1619251"/>
            <a:ext cx="859098" cy="2555242"/>
            <a:chOff x="539875" y="6127639"/>
            <a:chExt cx="1143461" cy="3429112"/>
          </a:xfrm>
        </p:grpSpPr>
        <p:sp>
          <p:nvSpPr>
            <p:cNvPr id="53" name="직사각형 52"/>
            <p:cNvSpPr/>
            <p:nvPr/>
          </p:nvSpPr>
          <p:spPr>
            <a:xfrm>
              <a:off x="539875" y="6127639"/>
              <a:ext cx="1143461" cy="26482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1037431" latinLnBrk="0"/>
              <a:r>
                <a:rPr lang="ko-KR" altLang="en-US" sz="14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사용자</a:t>
              </a:r>
              <a:endPara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539875" y="6394993"/>
              <a:ext cx="1143461" cy="3161758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lIns="72000" tIns="72000" rIns="72000" bIns="72000" rtlCol="0" anchor="t" anchorCtr="0"/>
            <a:lstStyle/>
            <a:p>
              <a:pPr marL="90488" indent="-90488" latinLnBrk="0">
                <a:lnSpc>
                  <a:spcPct val="110000"/>
                </a:lnSpc>
                <a:spcBef>
                  <a:spcPct val="20000"/>
                </a:spcBef>
                <a:buClr>
                  <a:srgbClr val="7D7C7F"/>
                </a:buClr>
                <a:buSzPct val="90000"/>
                <a:buFont typeface="Arial" pitchFamily="34" charset="0"/>
                <a:buChar char="•"/>
              </a:pPr>
              <a:endPara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</p:txBody>
        </p:sp>
        <p:grpSp>
          <p:nvGrpSpPr>
            <p:cNvPr id="55" name="그룹 54"/>
            <p:cNvGrpSpPr/>
            <p:nvPr/>
          </p:nvGrpSpPr>
          <p:grpSpPr>
            <a:xfrm>
              <a:off x="735548" y="7551369"/>
              <a:ext cx="756097" cy="958568"/>
              <a:chOff x="735549" y="7551374"/>
              <a:chExt cx="756097" cy="958572"/>
            </a:xfrm>
          </p:grpSpPr>
          <p:sp>
            <p:nvSpPr>
              <p:cNvPr id="56" name="모서리가 둥근 직사각형 55"/>
              <p:cNvSpPr/>
              <p:nvPr/>
            </p:nvSpPr>
            <p:spPr>
              <a:xfrm>
                <a:off x="735549" y="8023801"/>
                <a:ext cx="756097" cy="486145"/>
              </a:xfrm>
              <a:prstGeom prst="roundRect">
                <a:avLst>
                  <a:gd name="adj" fmla="val 0"/>
                </a:avLst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/>
              <a:lstStyle/>
              <a:p>
                <a:pPr algn="ctr" latinLnBrk="0">
                  <a:lnSpc>
                    <a:spcPct val="110000"/>
                  </a:lnSpc>
                  <a:spcBef>
                    <a:spcPct val="20000"/>
                  </a:spcBef>
                  <a:buClr>
                    <a:srgbClr val="7D7C7F"/>
                  </a:buClr>
                  <a:buSzPct val="90000"/>
                </a:pPr>
                <a:r>
                  <a:rPr lang="ko-KR" altLang="en-US" sz="10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Rix고딕 B" panose="02020603020101020101" pitchFamily="18" charset="-127"/>
                    <a:ea typeface="Rix고딕 B" panose="02020603020101020101" pitchFamily="18" charset="-127"/>
                    <a:sym typeface="Wingdings" pitchFamily="2" charset="2"/>
                  </a:rPr>
                  <a:t>학생</a:t>
                </a:r>
                <a:endParaRPr lang="en-US" altLang="ko-KR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Rix고딕 B" panose="02020603020101020101" pitchFamily="18" charset="-127"/>
                  <a:ea typeface="Rix고딕 B" panose="02020603020101020101" pitchFamily="18" charset="-127"/>
                  <a:sym typeface="Wingdings" pitchFamily="2" charset="2"/>
                </a:endParaRPr>
              </a:p>
            </p:txBody>
          </p:sp>
          <p:pic>
            <p:nvPicPr>
              <p:cNvPr id="57" name="Picture 15" descr="D:\19.전지수\2. 업무지원디자인\1. 오픈SNS\아이콘\png\SNS인(A)\일반국민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5008" y="7551374"/>
                <a:ext cx="739927" cy="4824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그룹 57"/>
          <p:cNvGrpSpPr/>
          <p:nvPr/>
        </p:nvGrpSpPr>
        <p:grpSpPr>
          <a:xfrm>
            <a:off x="739757" y="4615559"/>
            <a:ext cx="868326" cy="2449739"/>
            <a:chOff x="739757" y="3607419"/>
            <a:chExt cx="868326" cy="2449739"/>
          </a:xfrm>
        </p:grpSpPr>
        <p:sp>
          <p:nvSpPr>
            <p:cNvPr id="59" name="직사각형 58"/>
            <p:cNvSpPr/>
            <p:nvPr/>
          </p:nvSpPr>
          <p:spPr>
            <a:xfrm>
              <a:off x="739757" y="3607419"/>
              <a:ext cx="862423" cy="214742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952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103743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effectLst/>
                  <a:uLnTx/>
                  <a:uFillTx/>
                  <a:latin typeface="윤명조420"/>
                  <a:ea typeface="Rix고딕 EB"/>
                </a:rPr>
                <a:t>관리자</a:t>
              </a:r>
              <a:endParaRPr kumimoji="0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effectLst/>
                <a:uLnTx/>
                <a:uFillTx/>
                <a:latin typeface="윤명조420"/>
                <a:ea typeface="Rix고딕 EB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739757" y="3828591"/>
              <a:ext cx="862423" cy="2228567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lIns="72000" tIns="72000" rIns="72000" bIns="72000" rtlCol="0" anchor="t" anchorCtr="0"/>
            <a:lstStyle/>
            <a:p>
              <a:pPr marL="90488" marR="0" lvl="0" indent="-90488" defTabSz="91440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7D7C7F"/>
                </a:buClr>
                <a:buSzPct val="90000"/>
                <a:buFont typeface="Arial" pitchFamily="34" charset="0"/>
                <a:buChar char="•"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61" name="그룹 60"/>
            <p:cNvGrpSpPr/>
            <p:nvPr/>
          </p:nvGrpSpPr>
          <p:grpSpPr>
            <a:xfrm>
              <a:off x="806434" y="3964401"/>
              <a:ext cx="711578" cy="817447"/>
              <a:chOff x="540810" y="2929796"/>
              <a:chExt cx="942729" cy="1008111"/>
            </a:xfrm>
          </p:grpSpPr>
          <p:pic>
            <p:nvPicPr>
              <p:cNvPr id="65" name="Picture 5" descr="C:\Users\INSIDE\Desktop\데이타솔루션 아이콘\B타입\1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7858" y="2929796"/>
                <a:ext cx="520661" cy="578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6" name="모서리가 둥근 직사각형 65"/>
              <p:cNvSpPr/>
              <p:nvPr/>
            </p:nvSpPr>
            <p:spPr>
              <a:xfrm>
                <a:off x="540810" y="3451761"/>
                <a:ext cx="942729" cy="486146"/>
              </a:xfrm>
              <a:prstGeom prst="roundRect">
                <a:avLst>
                  <a:gd name="adj" fmla="val 0"/>
                </a:avLst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7D7C7F"/>
                  </a:buClr>
                  <a:buSzPct val="90000"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sym typeface="Wingdings" pitchFamily="2" charset="2"/>
                  </a:rPr>
                  <a:t>이투스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sym typeface="Wingdings" pitchFamily="2" charset="2"/>
                  </a:rPr>
                  <a:t/>
                </a:r>
                <a:br>
                  <a:rPr kumimoji="0" lang="en-US" altLang="ko-KR" sz="10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sym typeface="Wingdings" pitchFamily="2" charset="2"/>
                  </a:rPr>
                </a:br>
                <a:r>
                  <a:rPr kumimoji="0" lang="ko-KR" altLang="en-US" sz="1000" b="0" i="0" u="none" strike="noStrike" kern="0" cap="none" spc="0" normalizeH="0" baseline="0" noProof="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sym typeface="Wingdings" pitchFamily="2" charset="2"/>
                  </a:rPr>
                  <a:t>콘텐츠팀</a:t>
                </a:r>
                <a:endParaRPr kumimoji="0" lang="en-US" altLang="ko-KR" sz="1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sym typeface="Wingdings" pitchFamily="2" charset="2"/>
                </a:endParaRPr>
              </a:p>
            </p:txBody>
          </p:sp>
        </p:grpSp>
        <p:grpSp>
          <p:nvGrpSpPr>
            <p:cNvPr id="62" name="그룹 61"/>
            <p:cNvGrpSpPr/>
            <p:nvPr/>
          </p:nvGrpSpPr>
          <p:grpSpPr>
            <a:xfrm>
              <a:off x="755635" y="5025118"/>
              <a:ext cx="852448" cy="813167"/>
              <a:chOff x="461635" y="3907999"/>
              <a:chExt cx="1129359" cy="1002833"/>
            </a:xfrm>
          </p:grpSpPr>
          <p:pic>
            <p:nvPicPr>
              <p:cNvPr id="63" name="Picture 8" descr="C:\Users\INSIDE\Desktop\데이타솔루션 아이콘\협력사\1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4825" y="3907999"/>
                <a:ext cx="473328" cy="5467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4" name="모서리가 둥근 직사각형 63"/>
              <p:cNvSpPr/>
              <p:nvPr/>
            </p:nvSpPr>
            <p:spPr>
              <a:xfrm>
                <a:off x="461635" y="4424688"/>
                <a:ext cx="1129359" cy="486144"/>
              </a:xfrm>
              <a:prstGeom prst="roundRect">
                <a:avLst>
                  <a:gd name="adj" fmla="val 0"/>
                </a:avLst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lIns="72000" tIns="72000" rIns="72000" bIns="72000"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7D7C7F"/>
                  </a:buClr>
                  <a:buSzPct val="90000"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sym typeface="Wingdings" pitchFamily="2" charset="2"/>
                  </a:rPr>
                  <a:t>교육지대</a:t>
                </a:r>
                <a:r>
                  <a:rPr lang="en-US" altLang="ko-KR" sz="10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sym typeface="Wingdings" pitchFamily="2" charset="2"/>
                  </a:rPr>
                  <a:t/>
                </a:r>
                <a:br>
                  <a:rPr lang="en-US" altLang="ko-KR" sz="10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sym typeface="Wingdings" pitchFamily="2" charset="2"/>
                  </a:rPr>
                </a:br>
                <a:r>
                  <a:rPr lang="ko-KR" altLang="en-US" sz="1000" kern="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sym typeface="Wingdings" pitchFamily="2" charset="2"/>
                  </a:rPr>
                  <a:t>콘텐츠팀</a:t>
                </a:r>
                <a:endParaRPr kumimoji="0" lang="en-US" altLang="ko-KR" sz="1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sym typeface="Wingdings" pitchFamily="2" charset="2"/>
                </a:endParaRPr>
              </a:p>
            </p:txBody>
          </p:sp>
        </p:grpSp>
      </p:grpSp>
      <p:sp>
        <p:nvSpPr>
          <p:cNvPr id="67" name="모서리가 둥근 직사각형 66"/>
          <p:cNvSpPr/>
          <p:nvPr/>
        </p:nvSpPr>
        <p:spPr>
          <a:xfrm>
            <a:off x="1987693" y="1620321"/>
            <a:ext cx="1346483" cy="2578728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tIns="792000" rtlCol="0" anchor="t"/>
          <a:lstStyle/>
          <a:p>
            <a:pPr marL="0" marR="0" lvl="0" indent="0" algn="ctr" defTabSz="9577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800" b="0" i="0" u="none" strike="noStrike" kern="0" cap="none" spc="-3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ix고딕 B"/>
              <a:ea typeface="Rix고딕 B"/>
              <a:cs typeface="+mn-cs"/>
              <a:sym typeface="Wingdings" pitchFamily="2" charset="2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987693" y="1611242"/>
            <a:ext cx="1346483" cy="248838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</a:ln>
          <a:effectLst/>
        </p:spPr>
        <p:txBody>
          <a:bodyPr bIns="72000" rtlCol="0" anchor="ctr"/>
          <a:lstStyle/>
          <a:p>
            <a:pPr algn="ctr" defTabSz="1037431" latinLnBrk="0"/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Front 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서비스</a:t>
            </a:r>
            <a:endParaRPr lang="en-US" altLang="ko-KR" sz="1400" kern="0" dirty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48333">
                    <a:prstClr val="white"/>
                  </a:gs>
                  <a:gs pos="62000">
                    <a:prstClr val="white"/>
                  </a:gs>
                </a:gsLst>
                <a:path path="rect">
                  <a:fillToRect l="50000" t="50000" r="50000" b="50000"/>
                </a:path>
              </a:gra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1987693" y="4615559"/>
            <a:ext cx="1346483" cy="2449739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tIns="792000" rtlCol="0" anchor="t"/>
          <a:lstStyle/>
          <a:p>
            <a:pPr marL="0" marR="0" lvl="0" indent="0" algn="ctr" defTabSz="9577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800" b="0" i="0" u="none" strike="noStrike" kern="0" cap="none" spc="-3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ix고딕 B"/>
              <a:ea typeface="Rix고딕 B"/>
              <a:cs typeface="+mn-cs"/>
              <a:sym typeface="Wingdings" pitchFamily="2" charset="2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1987693" y="4606480"/>
            <a:ext cx="1346483" cy="248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bIns="72000" rtlCol="0" anchor="ctr"/>
          <a:lstStyle/>
          <a:p>
            <a:pPr algn="ctr" defTabSz="1037431" latinLnBrk="0"/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Back Office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69393" y="2627366"/>
            <a:ext cx="403403" cy="2171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WEB</a:t>
            </a:r>
            <a:endParaRPr lang="ko-KR" altLang="en-US" sz="1050" dirty="0"/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3043" y="2123296"/>
            <a:ext cx="696103" cy="522077"/>
          </a:xfrm>
          <a:prstGeom prst="rect">
            <a:avLst/>
          </a:prstGeom>
          <a:ln w="28575">
            <a:noFill/>
          </a:ln>
        </p:spPr>
      </p:pic>
      <p:pic>
        <p:nvPicPr>
          <p:cNvPr id="73" name="그림 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6302" y="3186819"/>
            <a:ext cx="849265" cy="392508"/>
          </a:xfrm>
          <a:prstGeom prst="rect">
            <a:avLst/>
          </a:prstGeom>
        </p:spPr>
      </p:pic>
      <p:sp>
        <p:nvSpPr>
          <p:cNvPr id="74" name="직사각형 73"/>
          <p:cNvSpPr/>
          <p:nvPr/>
        </p:nvSpPr>
        <p:spPr>
          <a:xfrm>
            <a:off x="2214160" y="2107051"/>
            <a:ext cx="913868" cy="527205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/>
          <p:cNvSpPr/>
          <p:nvPr/>
        </p:nvSpPr>
        <p:spPr>
          <a:xfrm>
            <a:off x="2204000" y="3108516"/>
            <a:ext cx="913868" cy="527205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2459233" y="3666201"/>
            <a:ext cx="403403" cy="2171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WEB</a:t>
            </a:r>
            <a:endParaRPr lang="ko-KR" altLang="en-US" sz="1050" dirty="0"/>
          </a:p>
        </p:txBody>
      </p:sp>
      <p:sp>
        <p:nvSpPr>
          <p:cNvPr id="77" name="직사각형 76"/>
          <p:cNvSpPr/>
          <p:nvPr/>
        </p:nvSpPr>
        <p:spPr>
          <a:xfrm>
            <a:off x="2214160" y="5474609"/>
            <a:ext cx="913868" cy="527205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TMS Web</a:t>
            </a:r>
            <a:endParaRPr lang="ko-KR" altLang="en-US" sz="1200" dirty="0"/>
          </a:p>
        </p:txBody>
      </p:sp>
      <p:sp>
        <p:nvSpPr>
          <p:cNvPr id="78" name="TextBox 77"/>
          <p:cNvSpPr txBox="1"/>
          <p:nvPr/>
        </p:nvSpPr>
        <p:spPr>
          <a:xfrm>
            <a:off x="2456333" y="6036105"/>
            <a:ext cx="403403" cy="2171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WEB</a:t>
            </a:r>
            <a:endParaRPr lang="ko-KR" altLang="en-US" sz="1050" dirty="0"/>
          </a:p>
        </p:txBody>
      </p:sp>
      <p:sp>
        <p:nvSpPr>
          <p:cNvPr id="79" name="직사각형 78"/>
          <p:cNvSpPr/>
          <p:nvPr/>
        </p:nvSpPr>
        <p:spPr>
          <a:xfrm>
            <a:off x="1430540" y="2628592"/>
            <a:ext cx="699405" cy="132516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algn="ctr" latinLnBrk="0">
              <a:defRPr/>
            </a:pP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8333">
                      <a:prstClr val="black">
                        <a:lumMod val="75000"/>
                        <a:lumOff val="25000"/>
                      </a:prstClr>
                    </a:gs>
                    <a:gs pos="158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서비스</a:t>
            </a:r>
            <a:r>
              <a:rPr lang="en-US" altLang="ko-KR" sz="90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8333">
                      <a:prstClr val="black">
                        <a:lumMod val="75000"/>
                        <a:lumOff val="25000"/>
                      </a:prstClr>
                    </a:gs>
                    <a:gs pos="158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/>
            </a:r>
            <a:br>
              <a:rPr lang="en-US" altLang="ko-KR" sz="90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8333">
                      <a:prstClr val="black">
                        <a:lumMod val="75000"/>
                        <a:lumOff val="25000"/>
                      </a:prstClr>
                    </a:gs>
                    <a:gs pos="158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</a:b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8333">
                      <a:prstClr val="black">
                        <a:lumMod val="75000"/>
                        <a:lumOff val="25000"/>
                      </a:prstClr>
                    </a:gs>
                    <a:gs pos="158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이용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1456649" y="5711843"/>
            <a:ext cx="699405" cy="132516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algn="ctr" latinLnBrk="0">
              <a:defRPr/>
            </a:pP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8333">
                      <a:prstClr val="black">
                        <a:lumMod val="75000"/>
                        <a:lumOff val="25000"/>
                      </a:prstClr>
                    </a:gs>
                    <a:gs pos="158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콘텐츠</a:t>
            </a:r>
            <a:r>
              <a:rPr lang="en-US" altLang="ko-KR" sz="90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8333">
                      <a:prstClr val="black">
                        <a:lumMod val="75000"/>
                        <a:lumOff val="25000"/>
                      </a:prstClr>
                    </a:gs>
                    <a:gs pos="158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/>
            </a:r>
            <a:br>
              <a:rPr lang="en-US" altLang="ko-KR" sz="90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8333">
                      <a:prstClr val="black">
                        <a:lumMod val="75000"/>
                        <a:lumOff val="25000"/>
                      </a:prstClr>
                    </a:gs>
                    <a:gs pos="158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</a:b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8333">
                      <a:prstClr val="black">
                        <a:lumMod val="75000"/>
                        <a:lumOff val="25000"/>
                      </a:prstClr>
                    </a:gs>
                    <a:gs pos="158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관리</a:t>
            </a:r>
          </a:p>
        </p:txBody>
      </p:sp>
      <p:sp>
        <p:nvSpPr>
          <p:cNvPr id="81" name="오른쪽 화살표 186">
            <a:extLst>
              <a:ext uri="{FF2B5EF4-FFF2-40B4-BE49-F238E27FC236}">
                <a16:creationId xmlns:a16="http://schemas.microsoft.com/office/drawing/2014/main" id="{804EC1AA-E6A3-4AD6-AEAC-872C18FBFE16}"/>
              </a:ext>
            </a:extLst>
          </p:cNvPr>
          <p:cNvSpPr/>
          <p:nvPr/>
        </p:nvSpPr>
        <p:spPr>
          <a:xfrm>
            <a:off x="1589541" y="2789149"/>
            <a:ext cx="418472" cy="238677"/>
          </a:xfrm>
          <a:prstGeom prst="rightArrow">
            <a:avLst/>
          </a:prstGeom>
          <a:solidFill>
            <a:srgbClr val="0E69AA"/>
          </a:solidFill>
          <a:ln w="127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lIns="101919" tIns="50960" rIns="101919" bIns="5096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82" name="오른쪽 화살표 186">
            <a:extLst>
              <a:ext uri="{FF2B5EF4-FFF2-40B4-BE49-F238E27FC236}">
                <a16:creationId xmlns:a16="http://schemas.microsoft.com/office/drawing/2014/main" id="{804EC1AA-E6A3-4AD6-AEAC-872C18FBFE16}"/>
              </a:ext>
            </a:extLst>
          </p:cNvPr>
          <p:cNvSpPr/>
          <p:nvPr/>
        </p:nvSpPr>
        <p:spPr>
          <a:xfrm>
            <a:off x="1592728" y="5908091"/>
            <a:ext cx="386900" cy="239342"/>
          </a:xfrm>
          <a:prstGeom prst="rightArrow">
            <a:avLst/>
          </a:prstGeom>
          <a:solidFill>
            <a:srgbClr val="0E69AA"/>
          </a:solidFill>
          <a:ln w="127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lIns="101919" tIns="50960" rIns="101919" bIns="5096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3885684" y="1619251"/>
            <a:ext cx="6183978" cy="248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bIns="72000" rtlCol="0" anchor="ctr"/>
          <a:lstStyle/>
          <a:p>
            <a:pPr algn="ctr" defTabSz="1037431" latinLnBrk="0"/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TMS 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목표 시스템</a:t>
            </a:r>
            <a:endParaRPr lang="en-US" altLang="ko-KR" sz="1400" kern="0" dirty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48333">
                    <a:prstClr val="white"/>
                  </a:gs>
                  <a:gs pos="62000">
                    <a:prstClr val="white"/>
                  </a:gs>
                </a:gsLst>
                <a:path path="rect">
                  <a:fillToRect l="50000" t="50000" r="50000" b="50000"/>
                </a:path>
              </a:gra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3885684" y="1876146"/>
            <a:ext cx="6183978" cy="5189152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tIns="792000" rtlCol="0" anchor="t"/>
          <a:lstStyle/>
          <a:p>
            <a:pPr marL="0" marR="0" lvl="0" indent="0" algn="ctr" defTabSz="9577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800" b="0" i="0" u="none" strike="noStrike" kern="0" cap="none" spc="-3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ix고딕 B"/>
              <a:ea typeface="Rix고딕 B"/>
              <a:cs typeface="+mn-cs"/>
              <a:sym typeface="Wingdings" pitchFamily="2" charset="2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8443130" y="2668859"/>
            <a:ext cx="1350137" cy="269907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72000" tIns="72000" rIns="72000" bIns="72000" rtlCol="0" anchor="t" anchorCtr="0"/>
          <a:lstStyle/>
          <a:p>
            <a:pPr marL="90488" indent="-90488" latinLnBrk="0">
              <a:lnSpc>
                <a:spcPct val="110000"/>
              </a:lnSpc>
              <a:spcBef>
                <a:spcPct val="20000"/>
              </a:spcBef>
              <a:buClr>
                <a:srgbClr val="7D7C7F"/>
              </a:buClr>
              <a:buSzPct val="90000"/>
              <a:buFont typeface="Arial" pitchFamily="34" charset="0"/>
              <a:buChar char="•"/>
            </a:pPr>
            <a:endParaRPr lang="ko-KR" altLang="en-US" sz="800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6" name="Rectangle 48"/>
          <p:cNvSpPr>
            <a:spLocks noChangeArrowheads="1"/>
          </p:cNvSpPr>
          <p:nvPr/>
        </p:nvSpPr>
        <p:spPr bwMode="auto">
          <a:xfrm>
            <a:off x="8664034" y="2704104"/>
            <a:ext cx="897822" cy="334061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33009" tIns="33009" rIns="33009" bIns="33009" rtlCol="0" anchor="ctr"/>
          <a:lstStyle/>
          <a:p>
            <a:pPr marL="0" lvl="1" algn="ctr" defTabSz="912788" latinLnBrk="0"/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TMS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 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DB</a:t>
            </a:r>
            <a:endParaRPr lang="ko-KR" altLang="en-US" sz="1400" kern="0" dirty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16200000" scaled="1"/>
              </a:gradFill>
            </a:endParaRPr>
          </a:p>
        </p:txBody>
      </p:sp>
      <p:grpSp>
        <p:nvGrpSpPr>
          <p:cNvPr id="87" name="그룹 86"/>
          <p:cNvGrpSpPr/>
          <p:nvPr/>
        </p:nvGrpSpPr>
        <p:grpSpPr>
          <a:xfrm>
            <a:off x="8687303" y="3135628"/>
            <a:ext cx="907987" cy="1335930"/>
            <a:chOff x="8741259" y="3824585"/>
            <a:chExt cx="753878" cy="764653"/>
          </a:xfrm>
        </p:grpSpPr>
        <p:pic>
          <p:nvPicPr>
            <p:cNvPr id="88" name="Picture 13" descr="D:\19.전지수\1. 제안서\1. 표준제안\★2017_인사이드정보 표준제안템플릿,요약서겸(세로형)\아이콘\완료\png\DB\DB(블루)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1259" y="4145388"/>
              <a:ext cx="753878" cy="443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13" descr="D:\19.전지수\1. 제안서\1. 표준제안\★2017_인사이드정보 표준제안템플릿,요약서겸(세로형)\아이콘\완료\png\DB\DB(블루)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1259" y="3824585"/>
              <a:ext cx="753878" cy="443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0" name="그림 8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843" y="4676243"/>
            <a:ext cx="552710" cy="508492"/>
          </a:xfrm>
          <a:prstGeom prst="rect">
            <a:avLst/>
          </a:prstGeom>
        </p:spPr>
      </p:pic>
      <p:sp>
        <p:nvSpPr>
          <p:cNvPr id="91" name="직사각형 90"/>
          <p:cNvSpPr/>
          <p:nvPr/>
        </p:nvSpPr>
        <p:spPr>
          <a:xfrm>
            <a:off x="8769880" y="3462260"/>
            <a:ext cx="729904" cy="26307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037431" latinLnBrk="0"/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족보 문항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8769880" y="4022737"/>
            <a:ext cx="729904" cy="26307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037431" latinLnBrk="0"/>
            <a:r>
              <a:rPr lang="en-US" altLang="ko-KR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E-Bank</a:t>
            </a:r>
            <a:r>
              <a:rPr lang="ko-KR" altLang="en-US" sz="9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 문항</a:t>
            </a:r>
          </a:p>
        </p:txBody>
      </p:sp>
      <p:sp>
        <p:nvSpPr>
          <p:cNvPr id="93" name="AutoShape 37"/>
          <p:cNvSpPr>
            <a:spLocks noChangeArrowheads="1"/>
          </p:cNvSpPr>
          <p:nvPr/>
        </p:nvSpPr>
        <p:spPr bwMode="gray">
          <a:xfrm>
            <a:off x="8443130" y="5377898"/>
            <a:ext cx="1350137" cy="1015403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252000" indent="-108000" defTabSz="914127" latinLnBrk="0">
              <a:spcBef>
                <a:spcPct val="50000"/>
              </a:spcBef>
              <a:spcAft>
                <a:spcPts val="150"/>
              </a:spcAft>
              <a:buClr>
                <a:srgbClr val="8B8F9E"/>
              </a:buClr>
              <a:buSzPct val="100000"/>
              <a:buFont typeface="Arial" panose="020B0604020202020204" pitchFamily="34" charset="0"/>
              <a:buChar char="•"/>
              <a:tabLst>
                <a:tab pos="801688" algn="l"/>
                <a:tab pos="1079500" algn="l"/>
              </a:tabLst>
            </a:pP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용어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도메인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표준화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252000" indent="-108000" defTabSz="914127" latinLnBrk="0">
              <a:spcBef>
                <a:spcPct val="50000"/>
              </a:spcBef>
              <a:spcAft>
                <a:spcPts val="150"/>
              </a:spcAft>
              <a:buClr>
                <a:srgbClr val="8B8F9E"/>
              </a:buClr>
              <a:buSzPct val="100000"/>
              <a:buFont typeface="Arial" panose="020B0604020202020204" pitchFamily="34" charset="0"/>
              <a:buChar char="•"/>
              <a:tabLst>
                <a:tab pos="801688" algn="l"/>
                <a:tab pos="1079500" algn="l"/>
              </a:tabLst>
            </a:pP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DB 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마이그레이션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252000" indent="-108000" defTabSz="914127" latinLnBrk="0">
              <a:spcBef>
                <a:spcPct val="50000"/>
              </a:spcBef>
              <a:spcAft>
                <a:spcPts val="150"/>
              </a:spcAft>
              <a:buClr>
                <a:srgbClr val="8B8F9E"/>
              </a:buClr>
              <a:buSzPct val="100000"/>
              <a:buFont typeface="Arial" panose="020B0604020202020204" pitchFamily="34" charset="0"/>
              <a:buChar char="•"/>
              <a:tabLst>
                <a:tab pos="801688" algn="l"/>
                <a:tab pos="1079500" algn="l"/>
              </a:tabLst>
            </a:pP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DB 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이관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94" name="그림 9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481" y="1949697"/>
            <a:ext cx="972309" cy="579522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969614" y="3705760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97" name="AutoShape 37"/>
          <p:cNvSpPr>
            <a:spLocks noChangeArrowheads="1"/>
          </p:cNvSpPr>
          <p:nvPr/>
        </p:nvSpPr>
        <p:spPr bwMode="gray">
          <a:xfrm>
            <a:off x="4185565" y="5356138"/>
            <a:ext cx="3812551" cy="1532411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127" latinLnBrk="0">
              <a:spcBef>
                <a:spcPct val="50000"/>
              </a:spcBef>
              <a:spcAft>
                <a:spcPts val="150"/>
              </a:spcAft>
              <a:buClr>
                <a:srgbClr val="8B8F9E"/>
              </a:buClr>
              <a:buSzPct val="100000"/>
              <a:tabLst>
                <a:tab pos="801688" algn="l"/>
                <a:tab pos="1079500" algn="l"/>
              </a:tabLst>
            </a:pP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8" name="AutoShape 37"/>
          <p:cNvSpPr>
            <a:spLocks noChangeArrowheads="1"/>
          </p:cNvSpPr>
          <p:nvPr/>
        </p:nvSpPr>
        <p:spPr bwMode="gray">
          <a:xfrm>
            <a:off x="4241741" y="2399289"/>
            <a:ext cx="3812551" cy="1335786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127" latinLnBrk="0">
              <a:spcBef>
                <a:spcPct val="50000"/>
              </a:spcBef>
              <a:spcAft>
                <a:spcPts val="150"/>
              </a:spcAft>
              <a:buClr>
                <a:srgbClr val="8B8F9E"/>
              </a:buClr>
              <a:buSzPct val="100000"/>
              <a:tabLst>
                <a:tab pos="801688" algn="l"/>
                <a:tab pos="1079500" algn="l"/>
              </a:tabLst>
            </a:pP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9" name="AutoShape 37"/>
          <p:cNvSpPr>
            <a:spLocks noChangeArrowheads="1"/>
          </p:cNvSpPr>
          <p:nvPr/>
        </p:nvSpPr>
        <p:spPr bwMode="gray">
          <a:xfrm>
            <a:off x="4192543" y="4352170"/>
            <a:ext cx="3812551" cy="436601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127" latinLnBrk="0">
              <a:spcBef>
                <a:spcPct val="50000"/>
              </a:spcBef>
              <a:spcAft>
                <a:spcPts val="150"/>
              </a:spcAft>
              <a:buClr>
                <a:srgbClr val="8B8F9E"/>
              </a:buClr>
              <a:buSzPct val="100000"/>
              <a:tabLst>
                <a:tab pos="801688" algn="l"/>
                <a:tab pos="1079500" algn="l"/>
              </a:tabLst>
            </a:pP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3" name="AutoShape 37"/>
          <p:cNvSpPr>
            <a:spLocks noChangeArrowheads="1"/>
          </p:cNvSpPr>
          <p:nvPr/>
        </p:nvSpPr>
        <p:spPr bwMode="gray">
          <a:xfrm>
            <a:off x="4241153" y="2124401"/>
            <a:ext cx="3818183" cy="285313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latinLnBrk="0">
              <a:lnSpc>
                <a:spcPct val="110000"/>
              </a:lnSpc>
            </a:pPr>
            <a:r>
              <a:rPr lang="en-US" altLang="ko-KR" sz="14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</a:rPr>
              <a:t>TMS API Service</a:t>
            </a:r>
          </a:p>
        </p:txBody>
      </p:sp>
      <p:sp>
        <p:nvSpPr>
          <p:cNvPr id="105" name="AutoShape 37"/>
          <p:cNvSpPr>
            <a:spLocks noChangeArrowheads="1"/>
          </p:cNvSpPr>
          <p:nvPr/>
        </p:nvSpPr>
        <p:spPr bwMode="gray">
          <a:xfrm>
            <a:off x="4190768" y="5067463"/>
            <a:ext cx="3818183" cy="285313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latinLnBrk="0">
              <a:lnSpc>
                <a:spcPct val="110000"/>
              </a:lnSpc>
            </a:pPr>
            <a:r>
              <a:rPr lang="en-US" altLang="ko-KR" sz="14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</a:rPr>
              <a:t>TMS Back-Office Application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4184581" y="4029770"/>
            <a:ext cx="3820513" cy="336013"/>
            <a:chOff x="10416388" y="5796801"/>
            <a:chExt cx="3820513" cy="336013"/>
          </a:xfrm>
        </p:grpSpPr>
        <p:sp>
          <p:nvSpPr>
            <p:cNvPr id="106" name="직사각형 105"/>
            <p:cNvSpPr/>
            <p:nvPr/>
          </p:nvSpPr>
          <p:spPr>
            <a:xfrm>
              <a:off x="10416388" y="5796801"/>
              <a:ext cx="3820513" cy="33601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lIns="72000" tIns="72000" rIns="72000" bIns="72000" rtlCol="0" anchor="t" anchorCtr="0"/>
            <a:lstStyle/>
            <a:p>
              <a:pPr marL="90488" indent="-90488" latinLnBrk="0">
                <a:lnSpc>
                  <a:spcPct val="110000"/>
                </a:lnSpc>
                <a:spcBef>
                  <a:spcPct val="20000"/>
                </a:spcBef>
                <a:buClr>
                  <a:srgbClr val="7D7C7F"/>
                </a:buClr>
                <a:buSzPct val="90000"/>
                <a:buFont typeface="Arial" pitchFamily="34" charset="0"/>
                <a:buChar char="•"/>
              </a:pPr>
              <a:endPara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07" name="Rectangle 48"/>
            <p:cNvSpPr>
              <a:spLocks noChangeArrowheads="1"/>
            </p:cNvSpPr>
            <p:nvPr/>
          </p:nvSpPr>
          <p:spPr bwMode="auto">
            <a:xfrm>
              <a:off x="10804502" y="5797777"/>
              <a:ext cx="3044285" cy="334061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square" lIns="33009" tIns="33009" rIns="33009" bIns="33009" rtlCol="0" anchor="ctr"/>
            <a:lstStyle/>
            <a:p>
              <a:pPr marL="0" lvl="1" algn="ctr" defTabSz="912788" latinLnBrk="0"/>
              <a:r>
                <a:rPr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</a:rPr>
                <a:t>TMS</a:t>
              </a:r>
              <a:r>
                <a:rPr lang="ko-KR" altLang="en-US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</a:rPr>
                <a:t> </a:t>
              </a:r>
              <a:r>
                <a:rPr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</a:rPr>
                <a:t>HWP Control Module</a:t>
              </a:r>
              <a:endPara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endParaRPr>
            </a:p>
          </p:txBody>
        </p:sp>
      </p:grpSp>
      <p:sp>
        <p:nvSpPr>
          <p:cNvPr id="108" name="모서리가 둥근 직사각형 107"/>
          <p:cNvSpPr/>
          <p:nvPr/>
        </p:nvSpPr>
        <p:spPr>
          <a:xfrm>
            <a:off x="3366738" y="2448678"/>
            <a:ext cx="687363" cy="398483"/>
          </a:xfrm>
          <a:prstGeom prst="roundRect">
            <a:avLst>
              <a:gd name="adj" fmla="val 0"/>
            </a:avLst>
          </a:prstGeom>
          <a:noFill/>
          <a:ln w="9525" cap="flat" cmpd="sng" algn="ctr">
            <a:noFill/>
            <a:prstDash val="solid"/>
          </a:ln>
          <a:effectLst/>
        </p:spPr>
        <p:txBody>
          <a:bodyPr lIns="72000" tIns="72000" rIns="72000" bIns="72000" rtlCol="0" anchor="t" anchorCtr="0"/>
          <a:lstStyle/>
          <a:p>
            <a:pPr algn="ctr" latinLnBrk="0">
              <a:lnSpc>
                <a:spcPct val="110000"/>
              </a:lnSpc>
              <a:spcBef>
                <a:spcPct val="20000"/>
              </a:spcBef>
              <a:buClr>
                <a:srgbClr val="7D7C7F"/>
              </a:buClr>
              <a:buSzPct val="90000"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sym typeface="Wingdings" pitchFamily="2" charset="2"/>
              </a:rPr>
              <a:t>JSON</a:t>
            </a:r>
            <a:b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sym typeface="Wingdings" pitchFamily="2" charset="2"/>
              </a:rPr>
            </a:b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sym typeface="Wingdings" pitchFamily="2" charset="2"/>
              </a:rPr>
              <a:t>Response</a:t>
            </a:r>
          </a:p>
        </p:txBody>
      </p:sp>
      <p:sp>
        <p:nvSpPr>
          <p:cNvPr id="109" name="모서리가 둥근 직사각형 108"/>
          <p:cNvSpPr/>
          <p:nvPr/>
        </p:nvSpPr>
        <p:spPr>
          <a:xfrm>
            <a:off x="3347419" y="3000066"/>
            <a:ext cx="687363" cy="204485"/>
          </a:xfrm>
          <a:prstGeom prst="roundRect">
            <a:avLst>
              <a:gd name="adj" fmla="val 0"/>
            </a:avLst>
          </a:prstGeom>
          <a:noFill/>
          <a:ln w="9525" cap="flat" cmpd="sng" algn="ctr">
            <a:noFill/>
            <a:prstDash val="solid"/>
          </a:ln>
          <a:effectLst/>
        </p:spPr>
        <p:txBody>
          <a:bodyPr lIns="72000" tIns="72000" rIns="72000" bIns="72000" rtlCol="0" anchor="t" anchorCtr="0"/>
          <a:lstStyle/>
          <a:p>
            <a:pPr algn="ctr" latinLnBrk="0">
              <a:lnSpc>
                <a:spcPct val="110000"/>
              </a:lnSpc>
              <a:spcBef>
                <a:spcPct val="20000"/>
              </a:spcBef>
              <a:buClr>
                <a:srgbClr val="7D7C7F"/>
              </a:buClr>
              <a:buSzPct val="90000"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sym typeface="Wingdings" pitchFamily="2" charset="2"/>
              </a:rPr>
              <a:t>Restful</a:t>
            </a:r>
            <a:b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sym typeface="Wingdings" pitchFamily="2" charset="2"/>
              </a:rPr>
            </a:b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sym typeface="Wingdings" pitchFamily="2" charset="2"/>
              </a:rPr>
              <a:t>Request</a:t>
            </a:r>
          </a:p>
        </p:txBody>
      </p:sp>
      <p:cxnSp>
        <p:nvCxnSpPr>
          <p:cNvPr id="110" name="직선 화살표 연결선 109"/>
          <p:cNvCxnSpPr/>
          <p:nvPr/>
        </p:nvCxnSpPr>
        <p:spPr>
          <a:xfrm>
            <a:off x="3391567" y="3041342"/>
            <a:ext cx="634816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/>
          <p:nvPr/>
        </p:nvCxnSpPr>
        <p:spPr>
          <a:xfrm flipH="1">
            <a:off x="3367474" y="2842798"/>
            <a:ext cx="634816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49"/>
          <p:cNvCxnSpPr/>
          <p:nvPr/>
        </p:nvCxnSpPr>
        <p:spPr>
          <a:xfrm rot="10800000">
            <a:off x="8056496" y="3067183"/>
            <a:ext cx="360000" cy="951217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chemeClr val="bg1">
                <a:lumMod val="65000"/>
              </a:schemeClr>
            </a:solidFill>
            <a:round/>
            <a:headEnd/>
            <a:tailEnd type="triangle"/>
          </a:ln>
        </p:spPr>
      </p:cxnSp>
      <p:cxnSp>
        <p:nvCxnSpPr>
          <p:cNvPr id="114" name="직선 화살표 연결선 149"/>
          <p:cNvCxnSpPr/>
          <p:nvPr/>
        </p:nvCxnSpPr>
        <p:spPr>
          <a:xfrm rot="10800000" flipV="1">
            <a:off x="8006367" y="4019046"/>
            <a:ext cx="432000" cy="2103945"/>
          </a:xfrm>
          <a:prstGeom prst="bentConnector3">
            <a:avLst>
              <a:gd name="adj1" fmla="val 45890"/>
            </a:avLst>
          </a:prstGeom>
          <a:noFill/>
          <a:ln w="12700" cap="rnd">
            <a:solidFill>
              <a:schemeClr val="bg1">
                <a:lumMod val="65000"/>
              </a:schemeClr>
            </a:solidFill>
            <a:round/>
            <a:headEnd/>
            <a:tailEnd type="triangle"/>
          </a:ln>
        </p:spPr>
      </p:cxnSp>
      <p:cxnSp>
        <p:nvCxnSpPr>
          <p:cNvPr id="117" name="직선 화살표 연결선 116"/>
          <p:cNvCxnSpPr/>
          <p:nvPr/>
        </p:nvCxnSpPr>
        <p:spPr>
          <a:xfrm>
            <a:off x="3415660" y="5841108"/>
            <a:ext cx="634816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/>
          <p:cNvCxnSpPr/>
          <p:nvPr/>
        </p:nvCxnSpPr>
        <p:spPr>
          <a:xfrm flipH="1">
            <a:off x="3391567" y="5642564"/>
            <a:ext cx="634816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/>
          <p:cNvCxnSpPr>
            <a:stCxn id="106" idx="0"/>
          </p:cNvCxnSpPr>
          <p:nvPr/>
        </p:nvCxnSpPr>
        <p:spPr>
          <a:xfrm flipH="1" flipV="1">
            <a:off x="6092832" y="3765134"/>
            <a:ext cx="2006" cy="264636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/>
          <p:cNvCxnSpPr/>
          <p:nvPr/>
        </p:nvCxnSpPr>
        <p:spPr>
          <a:xfrm>
            <a:off x="6098818" y="4788771"/>
            <a:ext cx="0" cy="295207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타원 121"/>
          <p:cNvSpPr/>
          <p:nvPr/>
        </p:nvSpPr>
        <p:spPr>
          <a:xfrm>
            <a:off x="7406237" y="2046759"/>
            <a:ext cx="530710" cy="426368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+mn-ea"/>
              </a:rPr>
              <a:t>JSP/</a:t>
            </a:r>
          </a:p>
          <a:p>
            <a:pPr algn="ctr"/>
            <a:r>
              <a:rPr lang="en-US" altLang="ko-KR" sz="800" dirty="0">
                <a:latin typeface="+mn-ea"/>
              </a:rPr>
              <a:t>JAVA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3" name="타원 122"/>
          <p:cNvSpPr/>
          <p:nvPr/>
        </p:nvSpPr>
        <p:spPr>
          <a:xfrm>
            <a:off x="7395581" y="4987805"/>
            <a:ext cx="530710" cy="426368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+mn-ea"/>
              </a:rPr>
              <a:t>JSP/</a:t>
            </a:r>
          </a:p>
          <a:p>
            <a:pPr algn="ctr"/>
            <a:r>
              <a:rPr lang="en-US" altLang="ko-KR" sz="800" dirty="0">
                <a:latin typeface="+mn-ea"/>
              </a:rPr>
              <a:t>JAVA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3367474" y="5220831"/>
            <a:ext cx="687363" cy="398483"/>
          </a:xfrm>
          <a:prstGeom prst="roundRect">
            <a:avLst>
              <a:gd name="adj" fmla="val 0"/>
            </a:avLst>
          </a:prstGeom>
          <a:noFill/>
          <a:ln w="9525" cap="flat" cmpd="sng" algn="ctr">
            <a:noFill/>
            <a:prstDash val="solid"/>
          </a:ln>
          <a:effectLst/>
        </p:spPr>
        <p:txBody>
          <a:bodyPr lIns="72000" tIns="72000" rIns="72000" bIns="72000" rtlCol="0" anchor="t" anchorCtr="0"/>
          <a:lstStyle/>
          <a:p>
            <a:pPr algn="ctr" latinLnBrk="0">
              <a:lnSpc>
                <a:spcPct val="110000"/>
              </a:lnSpc>
              <a:spcBef>
                <a:spcPct val="20000"/>
              </a:spcBef>
              <a:buClr>
                <a:srgbClr val="7D7C7F"/>
              </a:buClr>
              <a:buSzPct val="90000"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sym typeface="Wingdings" pitchFamily="2" charset="2"/>
              </a:rPr>
              <a:t>HTTP</a:t>
            </a:r>
            <a:b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sym typeface="Wingdings" pitchFamily="2" charset="2"/>
              </a:rPr>
            </a:b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sym typeface="Wingdings" pitchFamily="2" charset="2"/>
              </a:rPr>
              <a:t>Response</a:t>
            </a:r>
          </a:p>
        </p:txBody>
      </p:sp>
      <p:sp>
        <p:nvSpPr>
          <p:cNvPr id="127" name="모서리가 둥근 직사각형 126"/>
          <p:cNvSpPr/>
          <p:nvPr/>
        </p:nvSpPr>
        <p:spPr>
          <a:xfrm>
            <a:off x="3362286" y="5813056"/>
            <a:ext cx="687363" cy="204485"/>
          </a:xfrm>
          <a:prstGeom prst="roundRect">
            <a:avLst>
              <a:gd name="adj" fmla="val 0"/>
            </a:avLst>
          </a:prstGeom>
          <a:noFill/>
          <a:ln w="9525" cap="flat" cmpd="sng" algn="ctr">
            <a:noFill/>
            <a:prstDash val="solid"/>
          </a:ln>
          <a:effectLst/>
        </p:spPr>
        <p:txBody>
          <a:bodyPr lIns="72000" tIns="72000" rIns="72000" bIns="72000" rtlCol="0" anchor="t" anchorCtr="0"/>
          <a:lstStyle/>
          <a:p>
            <a:pPr algn="ctr" latinLnBrk="0">
              <a:lnSpc>
                <a:spcPct val="110000"/>
              </a:lnSpc>
              <a:spcBef>
                <a:spcPct val="20000"/>
              </a:spcBef>
              <a:buClr>
                <a:srgbClr val="7D7C7F"/>
              </a:buClr>
              <a:buSzPct val="90000"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sym typeface="Wingdings" pitchFamily="2" charset="2"/>
              </a:rPr>
              <a:t>HTTP</a:t>
            </a:r>
            <a:b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sym typeface="Wingdings" pitchFamily="2" charset="2"/>
              </a:rPr>
            </a:b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sym typeface="Wingdings" pitchFamily="2" charset="2"/>
              </a:rPr>
              <a:t>Request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4872958" y="5441858"/>
            <a:ext cx="1154362" cy="61259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037431" latinLnBrk="0"/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ETOOS 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콘텐츠 제작 및 </a:t>
            </a:r>
            <a:r>
              <a:rPr lang="ko-KR" altLang="en-US" sz="1000" kern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채점 관리</a:t>
            </a:r>
            <a:endParaRPr lang="ko-KR" altLang="en-US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4867817" y="6134902"/>
            <a:ext cx="1159504" cy="65352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037431" latinLnBrk="0"/>
            <a:r>
              <a:rPr lang="ko-KR" altLang="en-US" sz="10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족보닷컴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 defTabSz="1037431" latinLnBrk="0"/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콘텐츠 제작 관리</a:t>
            </a:r>
          </a:p>
        </p:txBody>
      </p:sp>
      <p:sp>
        <p:nvSpPr>
          <p:cNvPr id="130" name="직사각형 129"/>
          <p:cNvSpPr/>
          <p:nvPr/>
        </p:nvSpPr>
        <p:spPr>
          <a:xfrm>
            <a:off x="6147754" y="5439639"/>
            <a:ext cx="1775899" cy="134878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037431" latinLnBrk="0"/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4343839" y="4422197"/>
            <a:ext cx="1712392" cy="2867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037431" latinLnBrk="0"/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한글문서 컨트롤 </a:t>
            </a:r>
            <a:r>
              <a:rPr lang="ko-KR" altLang="en-US" sz="1000" kern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공통 기능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6143608" y="4427251"/>
            <a:ext cx="1712392" cy="2867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037431" latinLnBrk="0"/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한글문서 변환 </a:t>
            </a:r>
            <a:r>
              <a:rPr lang="ko-KR" altLang="en-US" sz="1000" kern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공통 기능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6" name="타원 135"/>
          <p:cNvSpPr/>
          <p:nvPr/>
        </p:nvSpPr>
        <p:spPr>
          <a:xfrm>
            <a:off x="4132618" y="2057441"/>
            <a:ext cx="288000" cy="288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</a:t>
            </a:r>
            <a:endParaRPr lang="ko-KR" altLang="en-US" sz="1600" dirty="0"/>
          </a:p>
        </p:txBody>
      </p:sp>
      <p:sp>
        <p:nvSpPr>
          <p:cNvPr id="137" name="타원 136"/>
          <p:cNvSpPr/>
          <p:nvPr/>
        </p:nvSpPr>
        <p:spPr>
          <a:xfrm>
            <a:off x="4077604" y="3956020"/>
            <a:ext cx="288000" cy="288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2</a:t>
            </a:r>
            <a:endParaRPr lang="ko-KR" altLang="en-US" sz="1600" dirty="0"/>
          </a:p>
        </p:txBody>
      </p:sp>
      <p:sp>
        <p:nvSpPr>
          <p:cNvPr id="138" name="타원 137"/>
          <p:cNvSpPr/>
          <p:nvPr/>
        </p:nvSpPr>
        <p:spPr>
          <a:xfrm>
            <a:off x="4077604" y="5041997"/>
            <a:ext cx="288000" cy="288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3</a:t>
            </a:r>
            <a:endParaRPr lang="ko-KR" altLang="en-US" sz="1600" dirty="0"/>
          </a:p>
        </p:txBody>
      </p:sp>
      <p:sp>
        <p:nvSpPr>
          <p:cNvPr id="139" name="타원 138"/>
          <p:cNvSpPr/>
          <p:nvPr/>
        </p:nvSpPr>
        <p:spPr>
          <a:xfrm>
            <a:off x="8346149" y="2647927"/>
            <a:ext cx="288000" cy="288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4</a:t>
            </a:r>
            <a:endParaRPr lang="ko-KR" altLang="en-US" sz="1600" dirty="0"/>
          </a:p>
        </p:txBody>
      </p:sp>
      <p:grpSp>
        <p:nvGrpSpPr>
          <p:cNvPr id="140" name="그룹 139"/>
          <p:cNvGrpSpPr/>
          <p:nvPr/>
        </p:nvGrpSpPr>
        <p:grpSpPr>
          <a:xfrm>
            <a:off x="4346864" y="2502318"/>
            <a:ext cx="1744976" cy="336013"/>
            <a:chOff x="10416388" y="5796801"/>
            <a:chExt cx="3820513" cy="336013"/>
          </a:xfrm>
        </p:grpSpPr>
        <p:sp>
          <p:nvSpPr>
            <p:cNvPr id="141" name="직사각형 140"/>
            <p:cNvSpPr/>
            <p:nvPr/>
          </p:nvSpPr>
          <p:spPr>
            <a:xfrm>
              <a:off x="10416388" y="5796801"/>
              <a:ext cx="3820513" cy="33601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lIns="72000" tIns="72000" rIns="72000" bIns="72000" rtlCol="0" anchor="t" anchorCtr="0"/>
            <a:lstStyle/>
            <a:p>
              <a:pPr marL="90488" indent="-90488" latinLnBrk="0">
                <a:lnSpc>
                  <a:spcPct val="110000"/>
                </a:lnSpc>
                <a:spcBef>
                  <a:spcPct val="20000"/>
                </a:spcBef>
                <a:buClr>
                  <a:srgbClr val="7D7C7F"/>
                </a:buClr>
                <a:buSzPct val="90000"/>
                <a:buFont typeface="Arial" pitchFamily="34" charset="0"/>
                <a:buChar char="•"/>
              </a:pPr>
              <a:endPara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42" name="Rectangle 48"/>
            <p:cNvSpPr>
              <a:spLocks noChangeArrowheads="1"/>
            </p:cNvSpPr>
            <p:nvPr/>
          </p:nvSpPr>
          <p:spPr bwMode="auto">
            <a:xfrm>
              <a:off x="10804502" y="5797777"/>
              <a:ext cx="3044285" cy="334061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square" lIns="33009" tIns="33009" rIns="33009" bIns="33009" rtlCol="0" anchor="ctr"/>
            <a:lstStyle/>
            <a:p>
              <a:pPr marL="0" lvl="1" algn="ctr" defTabSz="912788" latinLnBrk="0"/>
              <a:r>
                <a:rPr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</a:rPr>
                <a:t>Open-API</a:t>
              </a:r>
              <a:endPara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endParaRPr>
            </a:p>
          </p:txBody>
        </p:sp>
      </p:grpSp>
      <p:grpSp>
        <p:nvGrpSpPr>
          <p:cNvPr id="143" name="그룹 142"/>
          <p:cNvGrpSpPr/>
          <p:nvPr/>
        </p:nvGrpSpPr>
        <p:grpSpPr>
          <a:xfrm>
            <a:off x="6156150" y="2508488"/>
            <a:ext cx="1767503" cy="336013"/>
            <a:chOff x="10416388" y="5796801"/>
            <a:chExt cx="3820513" cy="336013"/>
          </a:xfrm>
        </p:grpSpPr>
        <p:sp>
          <p:nvSpPr>
            <p:cNvPr id="144" name="직사각형 143"/>
            <p:cNvSpPr/>
            <p:nvPr/>
          </p:nvSpPr>
          <p:spPr>
            <a:xfrm>
              <a:off x="10416388" y="5796801"/>
              <a:ext cx="3820513" cy="33601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lIns="72000" tIns="72000" rIns="72000" bIns="72000" rtlCol="0" anchor="t" anchorCtr="0"/>
            <a:lstStyle/>
            <a:p>
              <a:pPr marL="90488" indent="-90488" latinLnBrk="0">
                <a:lnSpc>
                  <a:spcPct val="110000"/>
                </a:lnSpc>
                <a:spcBef>
                  <a:spcPct val="20000"/>
                </a:spcBef>
                <a:buClr>
                  <a:srgbClr val="7D7C7F"/>
                </a:buClr>
                <a:buSzPct val="90000"/>
                <a:buFont typeface="Arial" pitchFamily="34" charset="0"/>
                <a:buChar char="•"/>
              </a:pPr>
              <a:endPara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45" name="Rectangle 48"/>
            <p:cNvSpPr>
              <a:spLocks noChangeArrowheads="1"/>
            </p:cNvSpPr>
            <p:nvPr/>
          </p:nvSpPr>
          <p:spPr bwMode="auto">
            <a:xfrm>
              <a:off x="10804502" y="5797777"/>
              <a:ext cx="3044285" cy="334061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square" lIns="33009" tIns="33009" rIns="33009" bIns="33009" rtlCol="0" anchor="ctr"/>
            <a:lstStyle/>
            <a:p>
              <a:pPr marL="0" lvl="1" algn="ctr" defTabSz="912788" latinLnBrk="0"/>
              <a:r>
                <a:rPr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</a:rPr>
                <a:t>Front </a:t>
              </a:r>
              <a:r>
                <a:rPr lang="ko-KR" altLang="en-US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</a:rPr>
                <a:t>제공 기능</a:t>
              </a:r>
            </a:p>
          </p:txBody>
        </p:sp>
      </p:grpSp>
      <p:sp>
        <p:nvSpPr>
          <p:cNvPr id="146" name="AutoShape 37"/>
          <p:cNvSpPr>
            <a:spLocks noChangeArrowheads="1"/>
          </p:cNvSpPr>
          <p:nvPr/>
        </p:nvSpPr>
        <p:spPr bwMode="gray">
          <a:xfrm>
            <a:off x="4343839" y="2853627"/>
            <a:ext cx="1748001" cy="781705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127" latinLnBrk="0">
              <a:spcBef>
                <a:spcPct val="50000"/>
              </a:spcBef>
              <a:spcAft>
                <a:spcPts val="150"/>
              </a:spcAft>
              <a:buClr>
                <a:srgbClr val="8B8F9E"/>
              </a:buClr>
              <a:buSzPct val="100000"/>
              <a:tabLst>
                <a:tab pos="801688" algn="l"/>
                <a:tab pos="1079500" algn="l"/>
              </a:tabLst>
            </a:pP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4412040" y="2911742"/>
            <a:ext cx="1597753" cy="646504"/>
            <a:chOff x="-2454161" y="4352170"/>
            <a:chExt cx="1712392" cy="646504"/>
          </a:xfrm>
        </p:grpSpPr>
        <p:sp>
          <p:nvSpPr>
            <p:cNvPr id="133" name="직사각형 132"/>
            <p:cNvSpPr/>
            <p:nvPr/>
          </p:nvSpPr>
          <p:spPr>
            <a:xfrm>
              <a:off x="-2454161" y="4352170"/>
              <a:ext cx="1712392" cy="28671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1037431" latinLnBrk="0"/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요청 확인</a:t>
              </a:r>
              <a:endPara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34" name="직사각형 133"/>
            <p:cNvSpPr/>
            <p:nvPr/>
          </p:nvSpPr>
          <p:spPr>
            <a:xfrm>
              <a:off x="-2454161" y="4711961"/>
              <a:ext cx="1712392" cy="28671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1037431" latinLnBrk="0"/>
              <a:r>
                <a:rPr lang="ko-KR" altLang="en-US" sz="1000" kern="0" dirty="0" err="1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요청결과</a:t>
              </a:r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처리</a:t>
              </a:r>
              <a:endPara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147" name="AutoShape 37"/>
          <p:cNvSpPr>
            <a:spLocks noChangeArrowheads="1"/>
          </p:cNvSpPr>
          <p:nvPr/>
        </p:nvSpPr>
        <p:spPr bwMode="gray">
          <a:xfrm>
            <a:off x="6151106" y="2854834"/>
            <a:ext cx="1772547" cy="781705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127" latinLnBrk="0">
              <a:spcBef>
                <a:spcPct val="50000"/>
              </a:spcBef>
              <a:spcAft>
                <a:spcPts val="150"/>
              </a:spcAft>
              <a:buClr>
                <a:srgbClr val="8B8F9E"/>
              </a:buClr>
              <a:buSzPct val="100000"/>
              <a:tabLst>
                <a:tab pos="801688" algn="l"/>
                <a:tab pos="1079500" algn="l"/>
              </a:tabLst>
            </a:pP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6209359" y="2918250"/>
            <a:ext cx="1646642" cy="370395"/>
            <a:chOff x="-2487778" y="2587432"/>
            <a:chExt cx="1968297" cy="427554"/>
          </a:xfrm>
        </p:grpSpPr>
        <p:sp>
          <p:nvSpPr>
            <p:cNvPr id="100" name="직사각형 99"/>
            <p:cNvSpPr/>
            <p:nvPr/>
          </p:nvSpPr>
          <p:spPr>
            <a:xfrm>
              <a:off x="-2487778" y="2587432"/>
              <a:ext cx="614147" cy="42755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1037431" latinLnBrk="0"/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바로</a:t>
              </a:r>
              <a:endPara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ctr" defTabSz="1037431" latinLnBrk="0"/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테스트</a:t>
              </a: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-1815702" y="2587432"/>
              <a:ext cx="608369" cy="42755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1037431" latinLnBrk="0"/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미니</a:t>
              </a:r>
              <a:endPara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ctr" defTabSz="1037431" latinLnBrk="0"/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테스트</a:t>
              </a: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-1149405" y="2587432"/>
              <a:ext cx="629924" cy="42755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1037431" latinLnBrk="0"/>
              <a:r>
                <a:rPr lang="ko-KR" altLang="en-US" sz="1000" kern="0" dirty="0" err="1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이뱅크</a:t>
              </a:r>
              <a:endPara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ctr" defTabSz="1037431" latinLnBrk="0"/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테스트</a:t>
              </a:r>
            </a:p>
          </p:txBody>
        </p:sp>
      </p:grpSp>
      <p:sp>
        <p:nvSpPr>
          <p:cNvPr id="148" name="직사각형 147"/>
          <p:cNvSpPr/>
          <p:nvPr/>
        </p:nvSpPr>
        <p:spPr>
          <a:xfrm>
            <a:off x="4282336" y="5441859"/>
            <a:ext cx="488709" cy="13465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037431" latinLnBrk="0"/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공통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 defTabSz="1037431" latinLnBrk="0"/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사용자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 defTabSz="1037431" latinLnBrk="0"/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관리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6213373" y="3350112"/>
            <a:ext cx="1642627" cy="19509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037431" latinLnBrk="0"/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공통 기능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50" name="그룹 149"/>
          <p:cNvGrpSpPr/>
          <p:nvPr/>
        </p:nvGrpSpPr>
        <p:grpSpPr>
          <a:xfrm>
            <a:off x="6150244" y="5435261"/>
            <a:ext cx="1767503" cy="336013"/>
            <a:chOff x="10416388" y="5796801"/>
            <a:chExt cx="3820513" cy="336013"/>
          </a:xfrm>
        </p:grpSpPr>
        <p:sp>
          <p:nvSpPr>
            <p:cNvPr id="151" name="직사각형 150"/>
            <p:cNvSpPr/>
            <p:nvPr/>
          </p:nvSpPr>
          <p:spPr>
            <a:xfrm>
              <a:off x="10416388" y="5796801"/>
              <a:ext cx="3820513" cy="33601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lIns="72000" tIns="72000" rIns="72000" bIns="72000" rtlCol="0" anchor="t" anchorCtr="0"/>
            <a:lstStyle/>
            <a:p>
              <a:pPr marL="90488" indent="-90488" latinLnBrk="0">
                <a:lnSpc>
                  <a:spcPct val="110000"/>
                </a:lnSpc>
                <a:spcBef>
                  <a:spcPct val="20000"/>
                </a:spcBef>
                <a:buClr>
                  <a:srgbClr val="7D7C7F"/>
                </a:buClr>
                <a:buSzPct val="90000"/>
                <a:buFont typeface="Arial" pitchFamily="34" charset="0"/>
                <a:buChar char="•"/>
              </a:pPr>
              <a:endPara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52" name="Rectangle 48"/>
            <p:cNvSpPr>
              <a:spLocks noChangeArrowheads="1"/>
            </p:cNvSpPr>
            <p:nvPr/>
          </p:nvSpPr>
          <p:spPr bwMode="auto">
            <a:xfrm>
              <a:off x="10804502" y="5797777"/>
              <a:ext cx="3044285" cy="334061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square" lIns="33009" tIns="33009" rIns="33009" bIns="33009" rtlCol="0" anchor="ctr"/>
            <a:lstStyle/>
            <a:p>
              <a:pPr marL="0" lvl="1" algn="ctr" defTabSz="912788" latinLnBrk="0"/>
              <a:r>
                <a:rPr lang="ko-KR" altLang="en-US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</a:rPr>
                <a:t>문항 등록관리</a:t>
              </a:r>
            </a:p>
          </p:txBody>
        </p:sp>
      </p:grpSp>
      <p:sp>
        <p:nvSpPr>
          <p:cNvPr id="153" name="직사각형 152"/>
          <p:cNvSpPr/>
          <p:nvPr/>
        </p:nvSpPr>
        <p:spPr>
          <a:xfrm>
            <a:off x="6241363" y="5865594"/>
            <a:ext cx="678888" cy="79543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037431" latinLnBrk="0"/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문항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 defTabSz="1037431" latinLnBrk="0"/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등록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관리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6977266" y="5862343"/>
            <a:ext cx="878734" cy="39089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037431" latinLnBrk="0"/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정답</a:t>
            </a:r>
            <a:r>
              <a:rPr lang="en-US" altLang="ko-KR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해설 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 defTabSz="1037431" latinLnBrk="0"/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관리</a:t>
            </a:r>
          </a:p>
        </p:txBody>
      </p:sp>
      <p:sp>
        <p:nvSpPr>
          <p:cNvPr id="113" name="직사각형 112"/>
          <p:cNvSpPr/>
          <p:nvPr/>
        </p:nvSpPr>
        <p:spPr>
          <a:xfrm>
            <a:off x="6981936" y="6306338"/>
            <a:ext cx="878734" cy="35469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037431" latinLnBrk="0"/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공통 기능</a:t>
            </a:r>
            <a:endParaRPr lang="en-US" altLang="ko-KR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11070" y="6855303"/>
            <a:ext cx="20633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Rix고딕 M" panose="02020603020101020101" pitchFamily="18" charset="-127"/>
                <a:ea typeface="Rix고딕 M" panose="02020603020101020101" pitchFamily="18" charset="-127"/>
              </a:rPr>
              <a:t>* TMS : Test-Bank Management System</a:t>
            </a:r>
            <a:endParaRPr lang="ko-KR" altLang="en-US" sz="8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80317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그룹 89"/>
          <p:cNvGrpSpPr/>
          <p:nvPr/>
        </p:nvGrpSpPr>
        <p:grpSpPr>
          <a:xfrm>
            <a:off x="738188" y="1625666"/>
            <a:ext cx="9217025" cy="5322823"/>
            <a:chOff x="3847798" y="1568595"/>
            <a:chExt cx="6107415" cy="5322823"/>
          </a:xfrm>
        </p:grpSpPr>
        <p:sp>
          <p:nvSpPr>
            <p:cNvPr id="91" name="직사각형 90"/>
            <p:cNvSpPr/>
            <p:nvPr/>
          </p:nvSpPr>
          <p:spPr bwMode="auto">
            <a:xfrm>
              <a:off x="3847798" y="1568595"/>
              <a:ext cx="2960322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en-US" altLang="ko-KR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AS-IS</a:t>
              </a: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 문제은행 </a:t>
              </a:r>
              <a:r>
                <a:rPr lang="en-US" altLang="ko-KR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Front service</a:t>
              </a:r>
            </a:p>
          </p:txBody>
        </p:sp>
        <p:sp>
          <p:nvSpPr>
            <p:cNvPr id="92" name="직사각형 91"/>
            <p:cNvSpPr/>
            <p:nvPr/>
          </p:nvSpPr>
          <p:spPr bwMode="auto">
            <a:xfrm>
              <a:off x="3847798" y="2154916"/>
              <a:ext cx="2960322" cy="473650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93" name="직사각형 92"/>
            <p:cNvSpPr/>
            <p:nvPr/>
          </p:nvSpPr>
          <p:spPr bwMode="auto">
            <a:xfrm>
              <a:off x="6994891" y="1568595"/>
              <a:ext cx="2960322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en-US" altLang="ko-KR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Front API </a:t>
              </a: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구현 방안</a:t>
              </a:r>
              <a:endParaRPr lang="en-US" altLang="ko-KR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endParaRPr>
            </a:p>
          </p:txBody>
        </p:sp>
        <p:sp>
          <p:nvSpPr>
            <p:cNvPr id="94" name="직사각형 93"/>
            <p:cNvSpPr/>
            <p:nvPr/>
          </p:nvSpPr>
          <p:spPr bwMode="auto">
            <a:xfrm>
              <a:off x="6994891" y="2154916"/>
              <a:ext cx="2960322" cy="473650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3. </a:t>
            </a:r>
            <a:r>
              <a:rPr lang="ko-KR" altLang="en-US" sz="2000" dirty="0"/>
              <a:t>주요 개발 방안</a:t>
            </a:r>
            <a:r>
              <a:rPr lang="ko-KR" altLang="en-US" dirty="0"/>
              <a:t> </a:t>
            </a:r>
            <a:r>
              <a:rPr lang="en-US" altLang="ko-KR" dirty="0"/>
              <a:t>– ① TMI API Service </a:t>
            </a:r>
            <a:r>
              <a:rPr lang="en-US" altLang="ko-KR" sz="1600" dirty="0"/>
              <a:t>(1/2)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DC879B37-B38E-4949-9DA6-19CBF32E041E}"/>
              </a:ext>
            </a:extLst>
          </p:cNvPr>
          <p:cNvGrpSpPr/>
          <p:nvPr/>
        </p:nvGrpSpPr>
        <p:grpSpPr>
          <a:xfrm>
            <a:off x="5688000" y="2448005"/>
            <a:ext cx="2861479" cy="265390"/>
            <a:chOff x="460373" y="2034191"/>
            <a:chExt cx="2650774" cy="240706"/>
          </a:xfrm>
        </p:grpSpPr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28F16B8A-8755-481D-8EC5-B0A556C564FA}"/>
                </a:ext>
              </a:extLst>
            </p:cNvPr>
            <p:cNvSpPr/>
            <p:nvPr/>
          </p:nvSpPr>
          <p:spPr>
            <a:xfrm>
              <a:off x="766386" y="2048356"/>
              <a:ext cx="2344761" cy="209362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defTabSz="995393" fontAlgn="base" latinLnBrk="0">
                <a:spcAft>
                  <a:spcPts val="163"/>
                </a:spcAft>
                <a:buClr>
                  <a:srgbClr val="8B8F9E"/>
                </a:buClr>
                <a:buSzPct val="100000"/>
                <a:tabLst>
                  <a:tab pos="1175468" algn="l"/>
                </a:tabLst>
                <a:defRPr/>
              </a:pPr>
              <a:r>
                <a:rPr lang="en-US" altLang="ko-KR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Front service </a:t>
              </a:r>
              <a:r>
                <a:rPr lang="ko-KR" altLang="en-US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기능 분류 및 통합</a:t>
              </a:r>
            </a:p>
          </p:txBody>
        </p:sp>
        <p:pic>
          <p:nvPicPr>
            <p:cNvPr id="100" name="Picture 3" descr="D:\19.전지수\1. 제안서\1. 표준제안\★2017_표준제안설명회\작업\버트2.png">
              <a:extLst>
                <a:ext uri="{FF2B5EF4-FFF2-40B4-BE49-F238E27FC236}">
                  <a16:creationId xmlns:a16="http://schemas.microsoft.com/office/drawing/2014/main" id="{ED7A0B1A-39B8-4AF8-8B73-0B71972853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373" y="2034191"/>
              <a:ext cx="255754" cy="2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DC879B37-B38E-4949-9DA6-19CBF32E041E}"/>
              </a:ext>
            </a:extLst>
          </p:cNvPr>
          <p:cNvGrpSpPr/>
          <p:nvPr/>
        </p:nvGrpSpPr>
        <p:grpSpPr>
          <a:xfrm>
            <a:off x="5688001" y="3626911"/>
            <a:ext cx="2614617" cy="265390"/>
            <a:chOff x="460373" y="2034191"/>
            <a:chExt cx="2422091" cy="240706"/>
          </a:xfrm>
        </p:grpSpPr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28F16B8A-8755-481D-8EC5-B0A556C564FA}"/>
                </a:ext>
              </a:extLst>
            </p:cNvPr>
            <p:cNvSpPr/>
            <p:nvPr/>
          </p:nvSpPr>
          <p:spPr>
            <a:xfrm>
              <a:off x="766386" y="2048356"/>
              <a:ext cx="2116078" cy="209362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defTabSz="995393" fontAlgn="base" latinLnBrk="0">
                <a:spcAft>
                  <a:spcPts val="163"/>
                </a:spcAft>
                <a:buClr>
                  <a:srgbClr val="8B8F9E"/>
                </a:buClr>
                <a:buSzPct val="100000"/>
                <a:tabLst>
                  <a:tab pos="1175468" algn="l"/>
                </a:tabLst>
                <a:defRPr/>
              </a:pPr>
              <a:r>
                <a:rPr lang="ko-KR" altLang="en-US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문제은행 </a:t>
              </a:r>
              <a:r>
                <a:rPr lang="en-US" altLang="ko-KR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Front API </a:t>
              </a:r>
              <a:r>
                <a:rPr lang="ko-KR" altLang="en-US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주요기능</a:t>
              </a:r>
            </a:p>
          </p:txBody>
        </p:sp>
        <p:pic>
          <p:nvPicPr>
            <p:cNvPr id="103" name="Picture 3" descr="D:\19.전지수\1. 제안서\1. 표준제안\★2017_표준제안설명회\작업\버트2.png">
              <a:extLst>
                <a:ext uri="{FF2B5EF4-FFF2-40B4-BE49-F238E27FC236}">
                  <a16:creationId xmlns:a16="http://schemas.microsoft.com/office/drawing/2014/main" id="{ED7A0B1A-39B8-4AF8-8B73-0B71972853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373" y="2034191"/>
              <a:ext cx="255754" cy="2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DC879B37-B38E-4949-9DA6-19CBF32E041E}"/>
              </a:ext>
            </a:extLst>
          </p:cNvPr>
          <p:cNvGrpSpPr/>
          <p:nvPr/>
        </p:nvGrpSpPr>
        <p:grpSpPr>
          <a:xfrm>
            <a:off x="5688000" y="5581061"/>
            <a:ext cx="2665913" cy="265390"/>
            <a:chOff x="460373" y="2034191"/>
            <a:chExt cx="2469610" cy="240706"/>
          </a:xfrm>
        </p:grpSpPr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28F16B8A-8755-481D-8EC5-B0A556C564FA}"/>
                </a:ext>
              </a:extLst>
            </p:cNvPr>
            <p:cNvSpPr/>
            <p:nvPr/>
          </p:nvSpPr>
          <p:spPr>
            <a:xfrm>
              <a:off x="766386" y="2048356"/>
              <a:ext cx="2163597" cy="209362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wrap="none" lIns="0" tIns="0" rIns="0" bIns="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defTabSz="995393" fontAlgn="base" latinLnBrk="0">
                <a:spcAft>
                  <a:spcPts val="163"/>
                </a:spcAft>
                <a:buClr>
                  <a:srgbClr val="8B8F9E"/>
                </a:buClr>
                <a:buSzPct val="100000"/>
                <a:tabLst>
                  <a:tab pos="1175468" algn="l"/>
                </a:tabLst>
                <a:defRPr/>
              </a:pPr>
              <a:r>
                <a:rPr lang="ko-KR" altLang="en-US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문제은행 </a:t>
              </a:r>
              <a:r>
                <a:rPr lang="en-US" altLang="ko-KR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Front API </a:t>
              </a:r>
              <a:r>
                <a:rPr lang="ko-KR" altLang="en-US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구현 방안</a:t>
              </a:r>
            </a:p>
          </p:txBody>
        </p:sp>
        <p:pic>
          <p:nvPicPr>
            <p:cNvPr id="106" name="Picture 3" descr="D:\19.전지수\1. 제안서\1. 표준제안\★2017_표준제안설명회\작업\버트2.png">
              <a:extLst>
                <a:ext uri="{FF2B5EF4-FFF2-40B4-BE49-F238E27FC236}">
                  <a16:creationId xmlns:a16="http://schemas.microsoft.com/office/drawing/2014/main" id="{ED7A0B1A-39B8-4AF8-8B73-0B71972853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373" y="2034191"/>
              <a:ext cx="255754" cy="2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직사각형 2"/>
          <p:cNvSpPr/>
          <p:nvPr/>
        </p:nvSpPr>
        <p:spPr>
          <a:xfrm>
            <a:off x="5885816" y="2755759"/>
            <a:ext cx="3960000" cy="100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16000" indent="-216000" latinLnBrk="0">
              <a:spcBef>
                <a:spcPts val="600"/>
              </a:spcBef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ko-KR" altLang="en-US" sz="1200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바로테스트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미니테스트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, e-Bank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의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Front service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를 기능별로 분류하여 공통 기능 및 개별 기능 도출</a:t>
            </a:r>
            <a:endParaRPr lang="en-US" altLang="ko-KR" sz="120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gradFill>
                <a:gsLst>
                  <a:gs pos="57083">
                    <a:prstClr val="black">
                      <a:lumMod val="75000"/>
                      <a:lumOff val="25000"/>
                    </a:prstClr>
                  </a:gs>
                  <a:gs pos="68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216000" indent="-216000" latinLnBrk="0">
              <a:spcBef>
                <a:spcPts val="600"/>
              </a:spcBef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도출된 문제은행 기능은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UI service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와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API service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구분</a:t>
            </a:r>
            <a:endParaRPr lang="en-US" altLang="ko-KR" sz="120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gradFill>
                <a:gsLst>
                  <a:gs pos="57083">
                    <a:prstClr val="black">
                      <a:lumMod val="75000"/>
                      <a:lumOff val="25000"/>
                    </a:prstClr>
                  </a:gs>
                  <a:gs pos="68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5797698" y="5869061"/>
            <a:ext cx="3960000" cy="100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16000" indent="-216000" latinLnBrk="0">
              <a:spcBef>
                <a:spcPts val="600"/>
              </a:spcBef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문제은행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Front API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는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RESTful OPEN-API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로 제공</a:t>
            </a:r>
            <a:endParaRPr lang="en-US" altLang="ko-KR" sz="120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gradFill>
                <a:gsLst>
                  <a:gs pos="57083">
                    <a:prstClr val="black">
                      <a:lumMod val="75000"/>
                      <a:lumOff val="25000"/>
                    </a:prstClr>
                  </a:gs>
                  <a:gs pos="68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216000" indent="-216000" latinLnBrk="0">
              <a:spcBef>
                <a:spcPts val="600"/>
              </a:spcBef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데이터 </a:t>
            </a:r>
            <a:r>
              <a:rPr lang="ko-KR" altLang="en-US" sz="1200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포멧은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JSON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으로 통일</a:t>
            </a:r>
            <a:endParaRPr lang="ko-KR" altLang="en-US" sz="120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FF0000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5797698" y="3924791"/>
            <a:ext cx="3960000" cy="15277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16000" indent="-216000" latinLnBrk="0">
              <a:spcBef>
                <a:spcPts val="600"/>
              </a:spcBef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다양한 문제 검색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API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 제공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(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실제출제문항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기출시험지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맞춤 문제 등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)</a:t>
            </a:r>
          </a:p>
          <a:p>
            <a:pPr marL="216000" indent="-216000" latinLnBrk="0">
              <a:spcBef>
                <a:spcPts val="600"/>
              </a:spcBef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문제항목 조회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API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제공</a:t>
            </a:r>
            <a:endParaRPr lang="en-US" altLang="ko-KR" sz="120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gradFill>
                <a:gsLst>
                  <a:gs pos="57083">
                    <a:prstClr val="black">
                      <a:lumMod val="75000"/>
                      <a:lumOff val="25000"/>
                    </a:prstClr>
                  </a:gs>
                  <a:gs pos="68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216000" indent="-216000" latinLnBrk="0">
              <a:spcBef>
                <a:spcPts val="600"/>
              </a:spcBef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시험지 생성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(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시스템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, MY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시험지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)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API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제공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(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문제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정답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해설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)</a:t>
            </a:r>
          </a:p>
          <a:p>
            <a:pPr marL="216000" indent="-216000" latinLnBrk="0">
              <a:spcBef>
                <a:spcPts val="600"/>
              </a:spcBef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오답문항 분석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API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제공</a:t>
            </a:r>
            <a:endParaRPr lang="en-US" altLang="ko-KR" sz="120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gradFill>
                <a:gsLst>
                  <a:gs pos="57083">
                    <a:prstClr val="black">
                      <a:lumMod val="75000"/>
                      <a:lumOff val="25000"/>
                    </a:prstClr>
                  </a:gs>
                  <a:gs pos="68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216000" indent="-216000" latinLnBrk="0">
              <a:spcBef>
                <a:spcPts val="600"/>
              </a:spcBef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유사문항조회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API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제공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(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문제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정답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해설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)</a:t>
            </a:r>
            <a:endParaRPr lang="ko-KR" altLang="en-US" sz="120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gradFill>
                <a:gsLst>
                  <a:gs pos="57083">
                    <a:prstClr val="black">
                      <a:lumMod val="75000"/>
                      <a:lumOff val="25000"/>
                    </a:prstClr>
                  </a:gs>
                  <a:gs pos="68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graphicFrame>
        <p:nvGraphicFramePr>
          <p:cNvPr id="22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840568"/>
              </p:ext>
            </p:extLst>
          </p:nvPr>
        </p:nvGraphicFramePr>
        <p:xfrm>
          <a:off x="786273" y="2242311"/>
          <a:ext cx="4344398" cy="4681033"/>
        </p:xfrm>
        <a:graphic>
          <a:graphicData uri="http://schemas.openxmlformats.org/drawingml/2006/table">
            <a:tbl>
              <a:tblPr firstRow="1"/>
              <a:tblGrid>
                <a:gridCol w="607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0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966">
                <a:tc gridSpan="2"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기능</a:t>
                      </a:r>
                      <a:endParaRPr kumimoji="0" 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kern="1200" dirty="0" err="1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바로테스트</a:t>
                      </a:r>
                      <a:endParaRPr kumimoji="0" lang="ko-KR" alt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미니테스트</a:t>
                      </a:r>
                      <a:endParaRPr kumimoji="0" lang="ko-KR" alt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E-Bank</a:t>
                      </a:r>
                      <a:endParaRPr kumimoji="0" 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5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시험지 생성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5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시험 보기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5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채점 하기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5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오답문항 분석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55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유사문항 보기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55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실제</a:t>
                      </a:r>
                      <a:endParaRPr lang="en-US" altLang="ko-KR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출제문항</a:t>
                      </a:r>
                      <a:endParaRPr lang="en-US" altLang="ko-KR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맛보기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문항목록 조회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5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출제문항 조회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담기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55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기출</a:t>
                      </a:r>
                      <a:endParaRPr lang="en-US" altLang="ko-KR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시험지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시험지 검색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5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시험지 출력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55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맞춤 문제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맞춤문항 검색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5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맞춤문항 조회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담기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55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나만의 </a:t>
                      </a:r>
                      <a:endParaRPr lang="en-US" altLang="ko-KR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모의고사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모의고사 생성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5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문항 조회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담기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55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MY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문제은행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문제지 관리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45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문제지 풀기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5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문제지 채점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sym typeface="Wingdings"/>
                        </a:rPr>
                        <a:t></a:t>
                      </a:r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94220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3. </a:t>
            </a:r>
            <a:r>
              <a:rPr lang="ko-KR" altLang="en-US" sz="2000" dirty="0"/>
              <a:t>주요 개발 방안</a:t>
            </a:r>
            <a:r>
              <a:rPr lang="ko-KR" altLang="en-US" dirty="0"/>
              <a:t> </a:t>
            </a:r>
            <a:r>
              <a:rPr lang="en-US" altLang="ko-KR" dirty="0"/>
              <a:t>– ① TMI API Service </a:t>
            </a:r>
            <a:r>
              <a:rPr lang="en-US" altLang="ko-KR" sz="1600" dirty="0"/>
              <a:t>(2/2)</a:t>
            </a:r>
            <a:endParaRPr lang="ko-KR" altLang="en-US" dirty="0"/>
          </a:p>
        </p:txBody>
      </p:sp>
      <p:sp>
        <p:nvSpPr>
          <p:cNvPr id="93" name="직사각형 92"/>
          <p:cNvSpPr/>
          <p:nvPr/>
        </p:nvSpPr>
        <p:spPr>
          <a:xfrm>
            <a:off x="0" y="1610790"/>
            <a:ext cx="3755982" cy="5321003"/>
          </a:xfrm>
          <a:prstGeom prst="rect">
            <a:avLst/>
          </a:prstGeom>
          <a:solidFill>
            <a:srgbClr val="ECECEC"/>
          </a:solidFill>
          <a:ln w="9525" cap="flat" cmpd="sng" algn="ctr">
            <a:noFill/>
            <a:prstDash val="solid"/>
          </a:ln>
          <a:effectLst/>
        </p:spPr>
        <p:txBody>
          <a:bodyPr tIns="792000" rtlCol="0" anchor="t"/>
          <a:lstStyle/>
          <a:p>
            <a:pPr marL="0" marR="0" lvl="0" indent="0" algn="ctr" defTabSz="9577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0" cap="none" spc="-3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0" y="1603636"/>
            <a:ext cx="4176000" cy="578681"/>
          </a:xfrm>
          <a:prstGeom prst="rect">
            <a:avLst/>
          </a:prstGeom>
          <a:solidFill>
            <a:schemeClr val="bg2">
              <a:lumMod val="75000"/>
            </a:schemeClr>
          </a:solidFill>
          <a:ln w="571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8" name="양쪽 모서리가 둥근 사각형 97"/>
          <p:cNvSpPr/>
          <p:nvPr/>
        </p:nvSpPr>
        <p:spPr>
          <a:xfrm>
            <a:off x="0" y="5724900"/>
            <a:ext cx="3744000" cy="120723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8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prstClr val="black"/>
              </a:solidFill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394143" y="2503321"/>
            <a:ext cx="2880000" cy="288000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prstClr val="black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588183" y="2553914"/>
            <a:ext cx="491920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US" altLang="ko-KR" sz="1400" dirty="0"/>
              <a:t>Front</a:t>
            </a:r>
            <a:endParaRPr lang="ko-KR" altLang="en-US" sz="1200" dirty="0"/>
          </a:p>
        </p:txBody>
      </p:sp>
      <p:grpSp>
        <p:nvGrpSpPr>
          <p:cNvPr id="130" name="그룹 129"/>
          <p:cNvGrpSpPr/>
          <p:nvPr/>
        </p:nvGrpSpPr>
        <p:grpSpPr>
          <a:xfrm>
            <a:off x="792000" y="3600000"/>
            <a:ext cx="327446" cy="288000"/>
            <a:chOff x="792000" y="3600000"/>
            <a:chExt cx="327446" cy="288000"/>
          </a:xfrm>
        </p:grpSpPr>
        <p:sp>
          <p:nvSpPr>
            <p:cNvPr id="131" name="Line 51"/>
            <p:cNvSpPr>
              <a:spLocks noChangeShapeType="1"/>
            </p:cNvSpPr>
            <p:nvPr/>
          </p:nvSpPr>
          <p:spPr bwMode="auto">
            <a:xfrm flipV="1">
              <a:off x="792000" y="3600000"/>
              <a:ext cx="0" cy="28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500" kern="0" dirty="0">
                <a:solidFill>
                  <a:prstClr val="black"/>
                </a:solidFill>
              </a:endParaRPr>
            </a:p>
          </p:txBody>
        </p:sp>
        <p:sp>
          <p:nvSpPr>
            <p:cNvPr id="133" name="Line 51"/>
            <p:cNvSpPr>
              <a:spLocks noChangeShapeType="1"/>
            </p:cNvSpPr>
            <p:nvPr/>
          </p:nvSpPr>
          <p:spPr bwMode="auto">
            <a:xfrm>
              <a:off x="1116000" y="3600000"/>
              <a:ext cx="3446" cy="28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500" kern="0" dirty="0">
                <a:solidFill>
                  <a:prstClr val="black"/>
                </a:solidFill>
              </a:endParaRPr>
            </a:p>
          </p:txBody>
        </p:sp>
      </p:grpSp>
      <p:sp>
        <p:nvSpPr>
          <p:cNvPr id="137" name="모서리가 둥근 직사각형 136"/>
          <p:cNvSpPr/>
          <p:nvPr/>
        </p:nvSpPr>
        <p:spPr>
          <a:xfrm>
            <a:off x="1159512" y="1719175"/>
            <a:ext cx="811298" cy="362651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AS-IS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38" name="직사각형 137"/>
          <p:cNvSpPr/>
          <p:nvPr/>
        </p:nvSpPr>
        <p:spPr>
          <a:xfrm flipV="1">
            <a:off x="2880000" y="1610788"/>
            <a:ext cx="1297312" cy="5303911"/>
          </a:xfrm>
          <a:prstGeom prst="rect">
            <a:avLst/>
          </a:prstGeom>
          <a:gradFill flip="none" rotWithShape="1">
            <a:gsLst>
              <a:gs pos="76000">
                <a:sysClr val="window" lastClr="FFFFFF">
                  <a:alpha val="12000"/>
                </a:sysClr>
              </a:gs>
              <a:gs pos="16000">
                <a:sysClr val="window" lastClr="FFFFFF">
                  <a:lumMod val="75000"/>
                </a:sysClr>
              </a:gs>
              <a:gs pos="100000">
                <a:srgbClr val="7F7F7F">
                  <a:lumMod val="20000"/>
                  <a:lumOff val="80000"/>
                  <a:alpha val="0"/>
                </a:srgbClr>
              </a:gs>
            </a:gsLst>
            <a:lin ang="10800000" scaled="1"/>
            <a:tileRect/>
          </a:gradFill>
          <a:ln w="571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1" name="사다리꼴 140"/>
          <p:cNvSpPr/>
          <p:nvPr/>
        </p:nvSpPr>
        <p:spPr>
          <a:xfrm rot="16200000">
            <a:off x="3687058" y="1622018"/>
            <a:ext cx="508635" cy="471872"/>
          </a:xfrm>
          <a:prstGeom prst="trapezoid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2" name="왼쪽 대괄호 141"/>
          <p:cNvSpPr/>
          <p:nvPr/>
        </p:nvSpPr>
        <p:spPr>
          <a:xfrm>
            <a:off x="3706081" y="1725345"/>
            <a:ext cx="6984000" cy="5207027"/>
          </a:xfrm>
          <a:prstGeom prst="leftBracket">
            <a:avLst>
              <a:gd name="adj" fmla="val 0"/>
            </a:avLst>
          </a:prstGeom>
          <a:solidFill>
            <a:schemeClr val="bg1"/>
          </a:solidFill>
          <a:ln w="12700" cap="flat" cmpd="sng" algn="ctr">
            <a:noFill/>
            <a:prstDash val="solid"/>
          </a:ln>
          <a:effectLst>
            <a:outerShdw blurRad="63500" algn="ctr" rotWithShape="0">
              <a:prstClr val="black">
                <a:alpha val="47000"/>
              </a:prstClr>
            </a:outerShdw>
          </a:effectLst>
        </p:spPr>
        <p:txBody>
          <a:bodyPr wrap="square" lIns="0" tIns="0" rIns="0" bIns="0" rtlCol="0" anchor="ctr" anchorCtr="0">
            <a:noAutofit/>
          </a:bodyPr>
          <a:lstStyle/>
          <a:p>
            <a:pPr algn="ctr" defTabSz="1041607" latinLnBrk="0"/>
            <a:endParaRPr lang="ko-KR" altLang="en-US" kern="0" spc="-150" dirty="0">
              <a:solidFill>
                <a:srgbClr val="217083"/>
              </a:solidFill>
              <a:latin typeface="Rix고딕 EB"/>
              <a:ea typeface="Rix고딕 EB"/>
            </a:endParaRPr>
          </a:p>
        </p:txBody>
      </p:sp>
      <p:sp>
        <p:nvSpPr>
          <p:cNvPr id="143" name="직사각형 142"/>
          <p:cNvSpPr/>
          <p:nvPr/>
        </p:nvSpPr>
        <p:spPr bwMode="auto">
          <a:xfrm>
            <a:off x="3697533" y="1725344"/>
            <a:ext cx="6984000" cy="62319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</a:ln>
          <a:effectLst>
            <a:outerShdw blurRad="63500" algn="ctr" rotWithShape="0">
              <a:prstClr val="black">
                <a:alpha val="47000"/>
              </a:prstClr>
            </a:outerShdw>
          </a:effectLst>
        </p:spPr>
        <p:txBody>
          <a:bodyPr wrap="square" lIns="0" tIns="0" rIns="0" bIns="0" rtlCol="0" anchor="ctr" anchorCtr="0">
            <a:noAutofit/>
          </a:bodyPr>
          <a:lstStyle/>
          <a:p>
            <a:pPr algn="ctr" defTabSz="1042990" latinLnBrk="0">
              <a:defRPr/>
            </a:pPr>
            <a:endParaRPr lang="ko-KR" altLang="en-US" kern="0" dirty="0">
              <a:gradFill>
                <a:gsLst>
                  <a:gs pos="48333">
                    <a:prstClr val="white"/>
                  </a:gs>
                  <a:gs pos="62000">
                    <a:prstClr val="white"/>
                  </a:gs>
                </a:gsLst>
                <a:path path="rect">
                  <a:fillToRect l="50000" t="50000" r="50000" b="50000"/>
                </a:path>
              </a:gradFill>
              <a:latin typeface="+mj-ea"/>
              <a:ea typeface="+mj-ea"/>
            </a:endParaRPr>
          </a:p>
        </p:txBody>
      </p:sp>
      <p:sp>
        <p:nvSpPr>
          <p:cNvPr id="144" name="모서리가 둥근 직사각형 143"/>
          <p:cNvSpPr/>
          <p:nvPr/>
        </p:nvSpPr>
        <p:spPr>
          <a:xfrm>
            <a:off x="6677700" y="1855615"/>
            <a:ext cx="1768184" cy="362651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TO-BE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3705439" y="5598798"/>
            <a:ext cx="6984000" cy="1332996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349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04" tIns="41953" rIns="83904" bIns="41953" rtlCol="0" anchor="ctr"/>
          <a:lstStyle/>
          <a:p>
            <a:pPr marL="355600" indent="-173038" fontAlgn="base" latinLnBrk="0">
              <a:spcBef>
                <a:spcPts val="300"/>
              </a:spcBef>
              <a:spcAft>
                <a:spcPct val="0"/>
              </a:spcAft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SP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는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JAVA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클래스 전환을 기본 방침으로 하되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업무처리 </a:t>
            </a:r>
            <a:r>
              <a:rPr lang="ko-KR" altLang="en-US" sz="1200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로직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 또는 성능 이슈가 있는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Procedure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는 유지  </a:t>
            </a:r>
            <a:endParaRPr lang="en-US" altLang="ko-KR" sz="120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gradFill>
                <a:gsLst>
                  <a:gs pos="57083">
                    <a:prstClr val="black">
                      <a:lumMod val="75000"/>
                      <a:lumOff val="25000"/>
                    </a:prstClr>
                  </a:gs>
                  <a:gs pos="68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355600" indent="-173038" fontAlgn="base" latinLnBrk="0">
              <a:spcBef>
                <a:spcPts val="300"/>
              </a:spcBef>
              <a:spcAft>
                <a:spcPct val="0"/>
              </a:spcAft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I-System, E-Bank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문제은행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DB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통합에 따른 전환대상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SP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 선정</a:t>
            </a:r>
          </a:p>
          <a:p>
            <a:pPr marL="355600" indent="-173038" fontAlgn="base" latinLnBrk="0">
              <a:spcBef>
                <a:spcPts val="300"/>
              </a:spcBef>
              <a:spcAft>
                <a:spcPct val="0"/>
              </a:spcAft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Data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요청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/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결과 프로토콜 표준화로 업무처리 효율화</a:t>
            </a:r>
          </a:p>
          <a:p>
            <a:pPr marL="355600" indent="-173038" fontAlgn="base" latinLnBrk="0">
              <a:spcBef>
                <a:spcPts val="300"/>
              </a:spcBef>
              <a:spcAft>
                <a:spcPct val="0"/>
              </a:spcAft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API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연계 기능 제공을 통해서 프로그램 및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DB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 종속성 탈피</a:t>
            </a:r>
          </a:p>
          <a:p>
            <a:pPr marL="355600" indent="-173038" fontAlgn="base" latinLnBrk="0">
              <a:spcBef>
                <a:spcPts val="300"/>
              </a:spcBef>
              <a:spcAft>
                <a:spcPct val="0"/>
              </a:spcAft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API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시스템 테스트 화면 제공으로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Front (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웹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)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연계 개발 전 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API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테스트 지원</a:t>
            </a:r>
          </a:p>
        </p:txBody>
      </p:sp>
      <p:grpSp>
        <p:nvGrpSpPr>
          <p:cNvPr id="146" name="그룹 145"/>
          <p:cNvGrpSpPr/>
          <p:nvPr/>
        </p:nvGrpSpPr>
        <p:grpSpPr>
          <a:xfrm>
            <a:off x="6717934" y="2484976"/>
            <a:ext cx="2760042" cy="241978"/>
            <a:chOff x="460373" y="2034191"/>
            <a:chExt cx="2760042" cy="241978"/>
          </a:xfrm>
        </p:grpSpPr>
        <p:sp>
          <p:nvSpPr>
            <p:cNvPr id="148" name="직사각형 91"/>
            <p:cNvSpPr/>
            <p:nvPr/>
          </p:nvSpPr>
          <p:spPr>
            <a:xfrm>
              <a:off x="766386" y="2048360"/>
              <a:ext cx="2454029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/>
            <a:p>
              <a:pPr marL="0" lvl="1" defTabSz="914127" fontAlgn="base" latinLnBrk="0">
                <a:spcAft>
                  <a:spcPts val="150"/>
                </a:spcAft>
                <a:buClr>
                  <a:srgbClr val="8B8F9E"/>
                </a:buClr>
                <a:buSzPct val="100000"/>
                <a:tabLst>
                  <a:tab pos="1079500" algn="l"/>
                </a:tabLst>
                <a:defRPr/>
              </a:pPr>
              <a:r>
                <a:rPr lang="en-US" altLang="ko-KR" sz="135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API </a:t>
              </a:r>
              <a:r>
                <a:rPr lang="ko-KR" altLang="en-US" sz="135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시스템 프로토콜 표준안</a:t>
              </a:r>
            </a:p>
          </p:txBody>
        </p:sp>
        <p:pic>
          <p:nvPicPr>
            <p:cNvPr id="149" name="Picture 3" descr="D:\19.전지수\1. 제안서\1. 표준제안\★2017_표준제안설명회\작업\버트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373" y="2034191"/>
              <a:ext cx="255754" cy="2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0" name="직사각형 149"/>
          <p:cNvSpPr/>
          <p:nvPr/>
        </p:nvSpPr>
        <p:spPr>
          <a:xfrm>
            <a:off x="4079021" y="2499145"/>
            <a:ext cx="2517859" cy="2951549"/>
          </a:xfrm>
          <a:prstGeom prst="rect">
            <a:avLst/>
          </a:prstGeom>
          <a:solidFill>
            <a:srgbClr val="E0F0FC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prstClr val="black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4147014" y="3768833"/>
            <a:ext cx="2377856" cy="6437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>
              <a:solidFill>
                <a:schemeClr val="tx1"/>
              </a:solidFill>
            </a:endParaRPr>
          </a:p>
        </p:txBody>
      </p:sp>
      <p:pic>
        <p:nvPicPr>
          <p:cNvPr id="158" name="Picture 13" descr="D:\19.전지수\1. 제안서\1. 표준제안\★2017_인사이드정보 표준제안템플릿,요약서겸(세로형)\아이콘\완료\png\DB\DB(블루).png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142" y="4712665"/>
            <a:ext cx="72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9" name="TextBox 158"/>
          <p:cNvSpPr txBox="1"/>
          <p:nvPr/>
        </p:nvSpPr>
        <p:spPr>
          <a:xfrm>
            <a:off x="4316143" y="4861969"/>
            <a:ext cx="72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 err="1"/>
              <a:t>Postgre</a:t>
            </a:r>
            <a:endParaRPr lang="en-US" altLang="ko-KR" sz="1050" dirty="0"/>
          </a:p>
          <a:p>
            <a:pPr algn="ctr"/>
            <a:r>
              <a:rPr lang="en-US" altLang="ko-KR" sz="1050" dirty="0"/>
              <a:t>SQL</a:t>
            </a:r>
            <a:endParaRPr lang="ko-KR" altLang="en-US" sz="1050" dirty="0"/>
          </a:p>
        </p:txBody>
      </p:sp>
      <p:sp>
        <p:nvSpPr>
          <p:cNvPr id="160" name="Line 51"/>
          <p:cNvSpPr>
            <a:spLocks noChangeShapeType="1"/>
          </p:cNvSpPr>
          <p:nvPr/>
        </p:nvSpPr>
        <p:spPr bwMode="auto">
          <a:xfrm>
            <a:off x="4480015" y="4324602"/>
            <a:ext cx="0" cy="34988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/>
        </p:spPr>
        <p:txBody>
          <a:bodyPr wrap="none" anchor="ctr"/>
          <a:lstStyle/>
          <a:p>
            <a:pPr latinLnBrk="0">
              <a:defRPr/>
            </a:pPr>
            <a:endParaRPr lang="ko-KR" altLang="en-US" sz="500" kern="0" dirty="0">
              <a:solidFill>
                <a:prstClr val="black"/>
              </a:solidFill>
            </a:endParaRPr>
          </a:p>
        </p:txBody>
      </p:sp>
      <p:sp>
        <p:nvSpPr>
          <p:cNvPr id="161" name="Line 51"/>
          <p:cNvSpPr>
            <a:spLocks noChangeShapeType="1"/>
          </p:cNvSpPr>
          <p:nvPr/>
        </p:nvSpPr>
        <p:spPr bwMode="auto">
          <a:xfrm flipH="1" flipV="1">
            <a:off x="4580600" y="4343448"/>
            <a:ext cx="0" cy="33103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/>
        </p:spPr>
        <p:txBody>
          <a:bodyPr wrap="none" anchor="ctr"/>
          <a:lstStyle/>
          <a:p>
            <a:pPr latinLnBrk="0">
              <a:defRPr/>
            </a:pPr>
            <a:endParaRPr lang="ko-KR" altLang="en-US" sz="500" kern="0" dirty="0">
              <a:solidFill>
                <a:prstClr val="black"/>
              </a:solidFill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4841272" y="3812465"/>
            <a:ext cx="172034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kern="0" dirty="0">
                <a:gradFill>
                  <a:gsLst>
                    <a:gs pos="11667">
                      <a:prstClr val="black">
                        <a:lumMod val="75000"/>
                        <a:lumOff val="25000"/>
                      </a:prstClr>
                    </a:gs>
                    <a:gs pos="36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▷ </a:t>
            </a:r>
            <a:r>
              <a:rPr lang="en-US" altLang="ko-KR" sz="1200" b="1" kern="0" dirty="0">
                <a:gradFill>
                  <a:gsLst>
                    <a:gs pos="11667">
                      <a:prstClr val="black">
                        <a:lumMod val="75000"/>
                        <a:lumOff val="25000"/>
                      </a:prstClr>
                    </a:gs>
                    <a:gs pos="36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API </a:t>
            </a:r>
            <a:r>
              <a:rPr lang="ko-KR" altLang="en-US" sz="1200" b="1" kern="0" dirty="0">
                <a:gradFill>
                  <a:gsLst>
                    <a:gs pos="11667">
                      <a:prstClr val="black">
                        <a:lumMod val="75000"/>
                        <a:lumOff val="25000"/>
                      </a:prstClr>
                    </a:gs>
                    <a:gs pos="36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시스템</a:t>
            </a:r>
            <a:endParaRPr lang="en-US" altLang="ko-KR" sz="1200" b="1" dirty="0"/>
          </a:p>
          <a:p>
            <a:r>
              <a:rPr lang="ko-KR" altLang="en-US" sz="1050" kern="0" dirty="0">
                <a:gradFill>
                  <a:gsLst>
                    <a:gs pos="11667">
                      <a:prstClr val="black">
                        <a:lumMod val="75000"/>
                        <a:lumOff val="25000"/>
                      </a:prstClr>
                    </a:gs>
                    <a:gs pos="36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    </a:t>
            </a:r>
            <a:r>
              <a:rPr lang="en-US" altLang="ko-KR" sz="1050" kern="0" dirty="0">
                <a:gradFill>
                  <a:gsLst>
                    <a:gs pos="11667">
                      <a:prstClr val="black">
                        <a:lumMod val="75000"/>
                        <a:lumOff val="25000"/>
                      </a:prstClr>
                    </a:gs>
                    <a:gs pos="36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JAVA </a:t>
            </a:r>
            <a:r>
              <a:rPr lang="ko-KR" altLang="en-US" sz="1050" kern="0" dirty="0">
                <a:gradFill>
                  <a:gsLst>
                    <a:gs pos="11667">
                      <a:prstClr val="black">
                        <a:lumMod val="75000"/>
                        <a:lumOff val="25000"/>
                      </a:prstClr>
                    </a:gs>
                    <a:gs pos="36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기반</a:t>
            </a:r>
            <a:endParaRPr lang="en-US" altLang="ko-KR" sz="1050" kern="0" dirty="0">
              <a:gradFill>
                <a:gsLst>
                  <a:gs pos="11667">
                    <a:prstClr val="black">
                      <a:lumMod val="75000"/>
                      <a:lumOff val="25000"/>
                    </a:prstClr>
                  </a:gs>
                  <a:gs pos="36000">
                    <a:prstClr val="black">
                      <a:lumMod val="75000"/>
                      <a:lumOff val="25000"/>
                    </a:prstClr>
                  </a:gs>
                </a:gsLst>
                <a:lin ang="16200000" scaled="1"/>
              </a:gradFill>
            </a:endParaRPr>
          </a:p>
          <a:p>
            <a:r>
              <a:rPr lang="en-US" altLang="ko-KR" sz="1050" kern="0" dirty="0">
                <a:gradFill>
                  <a:gsLst>
                    <a:gs pos="11667">
                      <a:prstClr val="black">
                        <a:lumMod val="75000"/>
                        <a:lumOff val="25000"/>
                      </a:prstClr>
                    </a:gs>
                    <a:gs pos="36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    Spring </a:t>
            </a:r>
            <a:r>
              <a:rPr lang="ko-KR" altLang="en-US" sz="1050" kern="0" dirty="0">
                <a:gradFill>
                  <a:gsLst>
                    <a:gs pos="11667">
                      <a:prstClr val="black">
                        <a:lumMod val="75000"/>
                        <a:lumOff val="25000"/>
                      </a:prstClr>
                    </a:gs>
                    <a:gs pos="36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기반 </a:t>
            </a:r>
            <a:r>
              <a:rPr lang="en-US" altLang="ko-KR" sz="1050" kern="0" dirty="0">
                <a:gradFill>
                  <a:gsLst>
                    <a:gs pos="11667">
                      <a:prstClr val="black">
                        <a:lumMod val="75000"/>
                        <a:lumOff val="25000"/>
                      </a:prstClr>
                    </a:gs>
                    <a:gs pos="36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</a:rPr>
              <a:t>Framework</a:t>
            </a:r>
          </a:p>
        </p:txBody>
      </p:sp>
      <p:pic>
        <p:nvPicPr>
          <p:cNvPr id="163" name="Picture 20" descr="F:\업무\업무지원\표준제안\아이콘\아이콘PNG\28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885" y="3850154"/>
            <a:ext cx="262514" cy="454426"/>
          </a:xfrm>
          <a:prstGeom prst="rect">
            <a:avLst/>
          </a:prstGeom>
          <a:noFill/>
        </p:spPr>
      </p:pic>
      <p:grpSp>
        <p:nvGrpSpPr>
          <p:cNvPr id="164" name="그룹 163"/>
          <p:cNvGrpSpPr/>
          <p:nvPr/>
        </p:nvGrpSpPr>
        <p:grpSpPr>
          <a:xfrm>
            <a:off x="6081485" y="3770537"/>
            <a:ext cx="474984" cy="442154"/>
            <a:chOff x="5407385" y="3194457"/>
            <a:chExt cx="474984" cy="442154"/>
          </a:xfrm>
        </p:grpSpPr>
        <p:pic>
          <p:nvPicPr>
            <p:cNvPr id="165" name="그림 16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8710" y="3194457"/>
              <a:ext cx="463659" cy="442154"/>
            </a:xfrm>
            <a:prstGeom prst="rect">
              <a:avLst/>
            </a:prstGeom>
          </p:spPr>
        </p:pic>
        <p:sp>
          <p:nvSpPr>
            <p:cNvPr id="166" name="TextBox 165"/>
            <p:cNvSpPr txBox="1"/>
            <p:nvPr/>
          </p:nvSpPr>
          <p:spPr>
            <a:xfrm>
              <a:off x="5407385" y="3278875"/>
              <a:ext cx="460382" cy="25898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1200" dirty="0">
                  <a:gradFill>
                    <a:gsLst>
                      <a:gs pos="5833">
                        <a:prstClr val="white"/>
                      </a:gs>
                      <a:gs pos="12917">
                        <a:prstClr val="white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신규</a:t>
              </a:r>
            </a:p>
          </p:txBody>
        </p:sp>
      </p:grpSp>
      <p:grpSp>
        <p:nvGrpSpPr>
          <p:cNvPr id="167" name="그룹 166"/>
          <p:cNvGrpSpPr/>
          <p:nvPr/>
        </p:nvGrpSpPr>
        <p:grpSpPr>
          <a:xfrm>
            <a:off x="4073090" y="3334383"/>
            <a:ext cx="1201600" cy="290429"/>
            <a:chOff x="4033095" y="3444454"/>
            <a:chExt cx="1201600" cy="290429"/>
          </a:xfrm>
        </p:grpSpPr>
        <p:sp>
          <p:nvSpPr>
            <p:cNvPr id="168" name="Line 51"/>
            <p:cNvSpPr>
              <a:spLocks noChangeShapeType="1"/>
            </p:cNvSpPr>
            <p:nvPr/>
          </p:nvSpPr>
          <p:spPr bwMode="auto">
            <a:xfrm flipH="1">
              <a:off x="4748202" y="3444457"/>
              <a:ext cx="0" cy="29042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500" kern="0" dirty="0">
                <a:solidFill>
                  <a:prstClr val="black"/>
                </a:solidFill>
              </a:endParaRPr>
            </a:p>
          </p:txBody>
        </p:sp>
        <p:sp>
          <p:nvSpPr>
            <p:cNvPr id="169" name="Line 51"/>
            <p:cNvSpPr>
              <a:spLocks noChangeShapeType="1"/>
            </p:cNvSpPr>
            <p:nvPr/>
          </p:nvSpPr>
          <p:spPr bwMode="auto">
            <a:xfrm flipH="1" flipV="1">
              <a:off x="4604182" y="3444454"/>
              <a:ext cx="0" cy="2904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500" kern="0" dirty="0">
                <a:solidFill>
                  <a:prstClr val="black"/>
                </a:solidFill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4033095" y="3493837"/>
              <a:ext cx="64371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Rest-</a:t>
              </a:r>
              <a:r>
                <a:rPr lang="en-US" altLang="ko-KR" sz="900" dirty="0" err="1"/>
                <a:t>ful</a:t>
              </a:r>
              <a:endParaRPr lang="ko-KR" altLang="en-US" sz="900" dirty="0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4728993" y="3499114"/>
              <a:ext cx="50570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JSON</a:t>
              </a:r>
              <a:endParaRPr lang="ko-KR" altLang="en-US" sz="900" dirty="0"/>
            </a:p>
          </p:txBody>
        </p:sp>
      </p:grpSp>
      <p:sp>
        <p:nvSpPr>
          <p:cNvPr id="176" name="모서리가 둥근 직사각형 175"/>
          <p:cNvSpPr/>
          <p:nvPr/>
        </p:nvSpPr>
        <p:spPr>
          <a:xfrm>
            <a:off x="4387741" y="4697966"/>
            <a:ext cx="264869" cy="18090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 dirty="0">
                <a:solidFill>
                  <a:schemeClr val="lt1"/>
                </a:solidFill>
              </a:rPr>
              <a:t>SP</a:t>
            </a:r>
            <a:endParaRPr lang="ko-KR" altLang="en-US" sz="1000" dirty="0">
              <a:solidFill>
                <a:schemeClr val="lt1"/>
              </a:solidFill>
            </a:endParaRPr>
          </a:p>
        </p:txBody>
      </p:sp>
      <p:sp>
        <p:nvSpPr>
          <p:cNvPr id="177" name="모서리가 둥근 직사각형 176"/>
          <p:cNvSpPr/>
          <p:nvPr/>
        </p:nvSpPr>
        <p:spPr>
          <a:xfrm>
            <a:off x="4623517" y="4275721"/>
            <a:ext cx="436370" cy="23096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000" dirty="0" smtClean="0">
                <a:solidFill>
                  <a:schemeClr val="lt1"/>
                </a:solidFill>
              </a:rPr>
              <a:t>Logic</a:t>
            </a:r>
            <a:endParaRPr lang="ko-KR" altLang="en-US" sz="1000" dirty="0">
              <a:solidFill>
                <a:schemeClr val="lt1"/>
              </a:solidFill>
            </a:endParaRPr>
          </a:p>
        </p:txBody>
      </p:sp>
      <p:sp>
        <p:nvSpPr>
          <p:cNvPr id="178" name="Line 51"/>
          <p:cNvSpPr>
            <a:spLocks noChangeShapeType="1"/>
          </p:cNvSpPr>
          <p:nvPr/>
        </p:nvSpPr>
        <p:spPr bwMode="auto">
          <a:xfrm flipH="1" flipV="1">
            <a:off x="4801833" y="4472738"/>
            <a:ext cx="0" cy="23077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/>
        </p:spPr>
        <p:txBody>
          <a:bodyPr wrap="none" anchor="ctr"/>
          <a:lstStyle/>
          <a:p>
            <a:pPr latinLnBrk="0">
              <a:defRPr/>
            </a:pPr>
            <a:endParaRPr lang="ko-KR" altLang="en-US" sz="500" kern="0" dirty="0">
              <a:solidFill>
                <a:prstClr val="black"/>
              </a:solidFill>
            </a:endParaRPr>
          </a:p>
        </p:txBody>
      </p:sp>
      <p:sp>
        <p:nvSpPr>
          <p:cNvPr id="179" name="Line 51"/>
          <p:cNvSpPr>
            <a:spLocks noChangeShapeType="1"/>
          </p:cNvSpPr>
          <p:nvPr/>
        </p:nvSpPr>
        <p:spPr bwMode="auto">
          <a:xfrm flipH="1" flipV="1">
            <a:off x="4907753" y="4493669"/>
            <a:ext cx="0" cy="23077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wrap="none" anchor="ctr"/>
          <a:lstStyle/>
          <a:p>
            <a:pPr latinLnBrk="0">
              <a:defRPr/>
            </a:pPr>
            <a:endParaRPr lang="ko-KR" altLang="en-US" sz="500" kern="0" dirty="0">
              <a:solidFill>
                <a:prstClr val="black"/>
              </a:solidFill>
            </a:endParaRPr>
          </a:p>
        </p:txBody>
      </p:sp>
      <p:pic>
        <p:nvPicPr>
          <p:cNvPr id="180" name="그림 179"/>
          <p:cNvPicPr>
            <a:picLocks noChangeAspect="1"/>
          </p:cNvPicPr>
          <p:nvPr/>
        </p:nvPicPr>
        <p:blipFill>
          <a:blip r:embed="rId7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2360" y="3670629"/>
            <a:ext cx="589130" cy="987438"/>
          </a:xfrm>
          <a:prstGeom prst="rect">
            <a:avLst/>
          </a:prstGeom>
        </p:spPr>
      </p:pic>
      <p:pic>
        <p:nvPicPr>
          <p:cNvPr id="181" name="그림 180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719" y="2815649"/>
            <a:ext cx="721451" cy="224715"/>
          </a:xfrm>
          <a:prstGeom prst="rect">
            <a:avLst/>
          </a:prstGeom>
        </p:spPr>
      </p:pic>
      <p:pic>
        <p:nvPicPr>
          <p:cNvPr id="182" name="그림 18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0" y="2784006"/>
            <a:ext cx="751305" cy="288000"/>
          </a:xfrm>
          <a:prstGeom prst="rect">
            <a:avLst/>
          </a:prstGeom>
        </p:spPr>
      </p:pic>
      <p:graphicFrame>
        <p:nvGraphicFramePr>
          <p:cNvPr id="183" name="표 1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683846"/>
              </p:ext>
            </p:extLst>
          </p:nvPr>
        </p:nvGraphicFramePr>
        <p:xfrm>
          <a:off x="6741850" y="2851596"/>
          <a:ext cx="3780000" cy="2586091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gradFill>
                            <a:gsLst>
                              <a:gs pos="0">
                                <a:prstClr val="white"/>
                              </a:gs>
                              <a:gs pos="100000">
                                <a:prstClr val="white"/>
                              </a:gs>
                            </a:gsLst>
                            <a:lin ang="0" scaled="1"/>
                          </a:gra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대상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gradFill>
                            <a:gsLst>
                              <a:gs pos="0">
                                <a:prstClr val="white"/>
                              </a:gs>
                              <a:gs pos="100000">
                                <a:prstClr val="white"/>
                              </a:gs>
                            </a:gsLst>
                            <a:lin ang="0" scaled="1"/>
                          </a:gra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상세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5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1" lang="en-US" altLang="ko-KR" sz="1050" b="0" kern="1200" spc="0" dirty="0">
                          <a:gradFill>
                            <a:gsLst>
                              <a:gs pos="4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5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Data</a:t>
                      </a:r>
                      <a:endParaRPr kumimoji="1" lang="en-US" altLang="ko-KR" sz="1050" b="0" kern="1200" spc="0" baseline="0" dirty="0">
                        <a:gradFill>
                          <a:gsLst>
                            <a:gs pos="4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5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1" lang="ko-KR" altLang="en-US" sz="1050" b="0" kern="1200" spc="0" baseline="0" dirty="0">
                          <a:gradFill>
                            <a:gsLst>
                              <a:gs pos="4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5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요청</a:t>
                      </a:r>
                      <a:endParaRPr kumimoji="1" lang="ko-KR" altLang="en-US" sz="1050" b="0" kern="1200" spc="0" dirty="0">
                        <a:gradFill>
                          <a:gsLst>
                            <a:gs pos="4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5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Rest-</a:t>
                      </a:r>
                      <a:r>
                        <a:rPr kumimoji="1" lang="en-US" altLang="ko-KR" sz="85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ful</a:t>
                      </a: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방식</a:t>
                      </a:r>
                      <a:endParaRPr kumimoji="1" lang="en-US" altLang="ko-KR" sz="8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82563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Ex) </a:t>
                      </a:r>
                      <a:r>
                        <a:rPr kumimoji="1" lang="en-US" altLang="ko-KR" sz="85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getTMSDataSvc?TstCD</a:t>
                      </a: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=11110&amp;DeaLYMD=201912&amp;serviceKey=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78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1" lang="en-US" altLang="ko-KR" sz="1050" b="0" kern="1200" spc="0" dirty="0">
                          <a:gradFill>
                            <a:gsLst>
                              <a:gs pos="4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5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Data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1" lang="ko-KR" altLang="en-US" sz="1050" b="0" kern="1200" spc="0" dirty="0">
                          <a:gradFill>
                            <a:gsLst>
                              <a:gs pos="4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5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JSON </a:t>
                      </a: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방식</a:t>
                      </a:r>
                      <a:endParaRPr kumimoji="1" lang="en-US" altLang="ko-KR" sz="8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82563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Ex)</a:t>
                      </a:r>
                    </a:p>
                    <a:p>
                      <a:pPr marL="96838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{ “STATE”: {“API_ERR_CD”:”0000”,”API_ERR_MSG”:”</a:t>
                      </a: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성공”</a:t>
                      </a: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},</a:t>
                      </a:r>
                    </a:p>
                    <a:p>
                      <a:pPr marL="96838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   “DATA” : {“RESERVE_CD”:”1”},</a:t>
                      </a:r>
                    </a:p>
                    <a:p>
                      <a:pPr marL="96838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   "LIST":{ {"IDX":"1",”SEQ":"1",“SALE_SITE_CD”:”0001”,……},</a:t>
                      </a:r>
                    </a:p>
                    <a:p>
                      <a:pPr marL="96838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                {……},</a:t>
                      </a:r>
                    </a:p>
                    <a:p>
                      <a:pPr marL="96838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                 ……</a:t>
                      </a:r>
                    </a:p>
                    <a:p>
                      <a:pPr marL="96838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             }</a:t>
                      </a:r>
                    </a:p>
                    <a:p>
                      <a:pPr marL="96838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  }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85" name="Picture 8" descr="D:\자료\2. 이미지\샘플.png"/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12820" y="2759069"/>
            <a:ext cx="594884" cy="66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6" name="직사각형 185"/>
          <p:cNvSpPr/>
          <p:nvPr/>
        </p:nvSpPr>
        <p:spPr>
          <a:xfrm>
            <a:off x="614016" y="4824000"/>
            <a:ext cx="720000" cy="27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latinLnBrk="0">
              <a:lnSpc>
                <a:spcPct val="110000"/>
              </a:lnSpc>
            </a:pP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E-BANK</a:t>
            </a:r>
            <a:endParaRPr lang="ko-KR" altLang="en-US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1391204" y="5112000"/>
            <a:ext cx="760392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US" altLang="ko-KR" sz="1200" dirty="0"/>
              <a:t>Back-end</a:t>
            </a:r>
            <a:endParaRPr lang="ko-KR" altLang="en-US" sz="1200" dirty="0"/>
          </a:p>
        </p:txBody>
      </p:sp>
      <p:sp>
        <p:nvSpPr>
          <p:cNvPr id="188" name="직사각형 187"/>
          <p:cNvSpPr/>
          <p:nvPr/>
        </p:nvSpPr>
        <p:spPr>
          <a:xfrm>
            <a:off x="2383580" y="4824000"/>
            <a:ext cx="720000" cy="27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latinLnBrk="0">
              <a:lnSpc>
                <a:spcPct val="110000"/>
              </a:lnSpc>
            </a:pP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I-SYSTEM</a:t>
            </a:r>
            <a:endParaRPr lang="ko-KR" altLang="en-US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605307" y="3312000"/>
            <a:ext cx="720000" cy="27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latinLnBrk="0">
              <a:lnSpc>
                <a:spcPct val="110000"/>
              </a:lnSpc>
            </a:pP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E-Bank</a:t>
            </a:r>
          </a:p>
          <a:p>
            <a:pPr algn="ctr" latinLnBrk="0">
              <a:lnSpc>
                <a:spcPct val="110000"/>
              </a:lnSpc>
            </a:pP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문제은행</a:t>
            </a:r>
          </a:p>
        </p:txBody>
      </p:sp>
      <p:sp>
        <p:nvSpPr>
          <p:cNvPr id="190" name="직사각형 189"/>
          <p:cNvSpPr/>
          <p:nvPr/>
        </p:nvSpPr>
        <p:spPr>
          <a:xfrm>
            <a:off x="2374871" y="3312000"/>
            <a:ext cx="720000" cy="27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 dirty="0" err="1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바로테스트</a:t>
            </a:r>
            <a:endParaRPr lang="ko-KR" altLang="en-US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grpSp>
        <p:nvGrpSpPr>
          <p:cNvPr id="191" name="그룹 190"/>
          <p:cNvGrpSpPr/>
          <p:nvPr/>
        </p:nvGrpSpPr>
        <p:grpSpPr>
          <a:xfrm>
            <a:off x="594140" y="3883935"/>
            <a:ext cx="720000" cy="638129"/>
            <a:chOff x="594140" y="4049467"/>
            <a:chExt cx="720000" cy="638129"/>
          </a:xfrm>
        </p:grpSpPr>
        <p:pic>
          <p:nvPicPr>
            <p:cNvPr id="195" name="Picture 13" descr="D:\19.전지수\1. 제안서\1. 표준제안\★2017_인사이드정보 표준제안템플릿,요약서겸(세로형)\아이콘\완료\png\DB\DB(블루).png"/>
            <p:cNvPicPr preferRelativeResize="0">
              <a:picLocks noChangeArrowheads="1"/>
            </p:cNvPicPr>
            <p:nvPr/>
          </p:nvPicPr>
          <p:blipFill>
            <a:blip r:embed="rId4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140" y="4104751"/>
              <a:ext cx="720000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6" name="TextBox 195"/>
            <p:cNvSpPr txBox="1"/>
            <p:nvPr/>
          </p:nvSpPr>
          <p:spPr>
            <a:xfrm>
              <a:off x="594140" y="4247793"/>
              <a:ext cx="7200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/>
                <a:t>MS-SQL</a:t>
              </a:r>
              <a:endParaRPr lang="ko-KR" altLang="en-US" sz="1050" dirty="0"/>
            </a:p>
          </p:txBody>
        </p:sp>
        <p:grpSp>
          <p:nvGrpSpPr>
            <p:cNvPr id="197" name="그룹 196"/>
            <p:cNvGrpSpPr/>
            <p:nvPr/>
          </p:nvGrpSpPr>
          <p:grpSpPr>
            <a:xfrm>
              <a:off x="668161" y="4049467"/>
              <a:ext cx="571959" cy="180909"/>
              <a:chOff x="666926" y="4049467"/>
              <a:chExt cx="571959" cy="180909"/>
            </a:xfrm>
          </p:grpSpPr>
          <p:sp>
            <p:nvSpPr>
              <p:cNvPr id="201" name="모서리가 둥근 직사각형 200"/>
              <p:cNvSpPr/>
              <p:nvPr/>
            </p:nvSpPr>
            <p:spPr>
              <a:xfrm>
                <a:off x="666926" y="4049467"/>
                <a:ext cx="264869" cy="180909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1000" dirty="0"/>
                  <a:t>SP</a:t>
                </a:r>
                <a:endParaRPr lang="ko-KR" altLang="en-US" sz="1000" dirty="0"/>
              </a:p>
            </p:txBody>
          </p:sp>
          <p:sp>
            <p:nvSpPr>
              <p:cNvPr id="202" name="모서리가 둥근 직사각형 201"/>
              <p:cNvSpPr/>
              <p:nvPr/>
            </p:nvSpPr>
            <p:spPr>
              <a:xfrm>
                <a:off x="974016" y="4049467"/>
                <a:ext cx="264869" cy="180909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1000" dirty="0"/>
                  <a:t>SP</a:t>
                </a:r>
                <a:endParaRPr lang="ko-KR" altLang="en-US" sz="1000" dirty="0"/>
              </a:p>
            </p:txBody>
          </p:sp>
        </p:grpSp>
        <p:grpSp>
          <p:nvGrpSpPr>
            <p:cNvPr id="198" name="그룹 197"/>
            <p:cNvGrpSpPr/>
            <p:nvPr/>
          </p:nvGrpSpPr>
          <p:grpSpPr>
            <a:xfrm>
              <a:off x="668161" y="4506687"/>
              <a:ext cx="571959" cy="180909"/>
              <a:chOff x="686891" y="4506687"/>
              <a:chExt cx="571959" cy="180909"/>
            </a:xfrm>
          </p:grpSpPr>
          <p:sp>
            <p:nvSpPr>
              <p:cNvPr id="199" name="모서리가 둥근 직사각형 198"/>
              <p:cNvSpPr/>
              <p:nvPr/>
            </p:nvSpPr>
            <p:spPr>
              <a:xfrm>
                <a:off x="686891" y="4506687"/>
                <a:ext cx="264869" cy="180909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1000" dirty="0"/>
                  <a:t>SP</a:t>
                </a:r>
                <a:endParaRPr lang="ko-KR" altLang="en-US" sz="1000" dirty="0"/>
              </a:p>
            </p:txBody>
          </p:sp>
          <p:sp>
            <p:nvSpPr>
              <p:cNvPr id="200" name="모서리가 둥근 직사각형 199"/>
              <p:cNvSpPr/>
              <p:nvPr/>
            </p:nvSpPr>
            <p:spPr>
              <a:xfrm>
                <a:off x="993981" y="4506687"/>
                <a:ext cx="264869" cy="180909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1000" dirty="0"/>
                  <a:t>SP</a:t>
                </a:r>
                <a:endParaRPr lang="ko-KR" altLang="en-US" sz="1000" dirty="0"/>
              </a:p>
            </p:txBody>
          </p:sp>
        </p:grpSp>
      </p:grpSp>
      <p:grpSp>
        <p:nvGrpSpPr>
          <p:cNvPr id="203" name="그룹 202"/>
          <p:cNvGrpSpPr/>
          <p:nvPr/>
        </p:nvGrpSpPr>
        <p:grpSpPr>
          <a:xfrm>
            <a:off x="2394390" y="3883935"/>
            <a:ext cx="720000" cy="638129"/>
            <a:chOff x="594140" y="4049467"/>
            <a:chExt cx="720000" cy="638129"/>
          </a:xfrm>
        </p:grpSpPr>
        <p:pic>
          <p:nvPicPr>
            <p:cNvPr id="204" name="Picture 13" descr="D:\19.전지수\1. 제안서\1. 표준제안\★2017_인사이드정보 표준제안템플릿,요약서겸(세로형)\아이콘\완료\png\DB\DB(블루).png"/>
            <p:cNvPicPr preferRelativeResize="0">
              <a:picLocks noChangeArrowheads="1"/>
            </p:cNvPicPr>
            <p:nvPr/>
          </p:nvPicPr>
          <p:blipFill>
            <a:blip r:embed="rId4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140" y="4104751"/>
              <a:ext cx="720000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5" name="TextBox 204"/>
            <p:cNvSpPr txBox="1"/>
            <p:nvPr/>
          </p:nvSpPr>
          <p:spPr>
            <a:xfrm>
              <a:off x="594140" y="4247793"/>
              <a:ext cx="7200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/>
                <a:t>MS-SQL</a:t>
              </a:r>
              <a:endParaRPr lang="ko-KR" altLang="en-US" sz="1050" dirty="0"/>
            </a:p>
          </p:txBody>
        </p:sp>
        <p:grpSp>
          <p:nvGrpSpPr>
            <p:cNvPr id="206" name="그룹 205"/>
            <p:cNvGrpSpPr/>
            <p:nvPr/>
          </p:nvGrpSpPr>
          <p:grpSpPr>
            <a:xfrm>
              <a:off x="668161" y="4049467"/>
              <a:ext cx="571959" cy="180909"/>
              <a:chOff x="666926" y="4049467"/>
              <a:chExt cx="571959" cy="180909"/>
            </a:xfrm>
          </p:grpSpPr>
          <p:sp>
            <p:nvSpPr>
              <p:cNvPr id="210" name="모서리가 둥근 직사각형 209"/>
              <p:cNvSpPr/>
              <p:nvPr/>
            </p:nvSpPr>
            <p:spPr>
              <a:xfrm>
                <a:off x="666926" y="4049467"/>
                <a:ext cx="264869" cy="180909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1000" dirty="0"/>
                  <a:t>SP</a:t>
                </a:r>
                <a:endParaRPr lang="ko-KR" altLang="en-US" sz="1000" dirty="0"/>
              </a:p>
            </p:txBody>
          </p:sp>
          <p:sp>
            <p:nvSpPr>
              <p:cNvPr id="211" name="모서리가 둥근 직사각형 210"/>
              <p:cNvSpPr/>
              <p:nvPr/>
            </p:nvSpPr>
            <p:spPr>
              <a:xfrm>
                <a:off x="974016" y="4049467"/>
                <a:ext cx="264869" cy="180909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1000" dirty="0"/>
                  <a:t>SP</a:t>
                </a:r>
                <a:endParaRPr lang="ko-KR" altLang="en-US" sz="1000" dirty="0"/>
              </a:p>
            </p:txBody>
          </p:sp>
        </p:grpSp>
        <p:grpSp>
          <p:nvGrpSpPr>
            <p:cNvPr id="207" name="그룹 206"/>
            <p:cNvGrpSpPr/>
            <p:nvPr/>
          </p:nvGrpSpPr>
          <p:grpSpPr>
            <a:xfrm>
              <a:off x="668161" y="4506687"/>
              <a:ext cx="571959" cy="180909"/>
              <a:chOff x="686891" y="4506687"/>
              <a:chExt cx="571959" cy="180909"/>
            </a:xfrm>
          </p:grpSpPr>
          <p:sp>
            <p:nvSpPr>
              <p:cNvPr id="208" name="모서리가 둥근 직사각형 207"/>
              <p:cNvSpPr/>
              <p:nvPr/>
            </p:nvSpPr>
            <p:spPr>
              <a:xfrm>
                <a:off x="686891" y="4506687"/>
                <a:ext cx="264869" cy="180909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1000" dirty="0"/>
                  <a:t>SP</a:t>
                </a:r>
                <a:endParaRPr lang="ko-KR" altLang="en-US" sz="1000" dirty="0"/>
              </a:p>
            </p:txBody>
          </p:sp>
          <p:sp>
            <p:nvSpPr>
              <p:cNvPr id="209" name="모서리가 둥근 직사각형 208"/>
              <p:cNvSpPr/>
              <p:nvPr/>
            </p:nvSpPr>
            <p:spPr>
              <a:xfrm>
                <a:off x="993981" y="4506687"/>
                <a:ext cx="264869" cy="180909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1000" dirty="0"/>
                  <a:t>SP</a:t>
                </a:r>
                <a:endParaRPr lang="ko-KR" altLang="en-US" sz="1000" dirty="0"/>
              </a:p>
            </p:txBody>
          </p:sp>
        </p:grpSp>
      </p:grpSp>
      <p:sp>
        <p:nvSpPr>
          <p:cNvPr id="212" name="직사각형 211"/>
          <p:cNvSpPr/>
          <p:nvPr/>
        </p:nvSpPr>
        <p:spPr>
          <a:xfrm>
            <a:off x="1490089" y="3312000"/>
            <a:ext cx="720000" cy="27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미니테스트</a:t>
            </a:r>
          </a:p>
        </p:txBody>
      </p:sp>
      <p:grpSp>
        <p:nvGrpSpPr>
          <p:cNvPr id="213" name="그룹 212"/>
          <p:cNvGrpSpPr/>
          <p:nvPr/>
        </p:nvGrpSpPr>
        <p:grpSpPr>
          <a:xfrm>
            <a:off x="2663996" y="3594316"/>
            <a:ext cx="252001" cy="288000"/>
            <a:chOff x="-1556681" y="3384000"/>
            <a:chExt cx="213434" cy="576080"/>
          </a:xfrm>
        </p:grpSpPr>
        <p:sp>
          <p:nvSpPr>
            <p:cNvPr id="214" name="Line 51"/>
            <p:cNvSpPr>
              <a:spLocks noChangeShapeType="1"/>
            </p:cNvSpPr>
            <p:nvPr/>
          </p:nvSpPr>
          <p:spPr bwMode="auto">
            <a:xfrm flipV="1">
              <a:off x="-1556681" y="3384000"/>
              <a:ext cx="0" cy="57608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500" kern="0" dirty="0">
                <a:solidFill>
                  <a:prstClr val="black"/>
                </a:solidFill>
              </a:endParaRPr>
            </a:p>
          </p:txBody>
        </p:sp>
        <p:sp>
          <p:nvSpPr>
            <p:cNvPr id="215" name="Line 51"/>
            <p:cNvSpPr>
              <a:spLocks noChangeShapeType="1"/>
            </p:cNvSpPr>
            <p:nvPr/>
          </p:nvSpPr>
          <p:spPr bwMode="auto">
            <a:xfrm>
              <a:off x="-1346166" y="3384000"/>
              <a:ext cx="2919" cy="57607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500" kern="0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216" name="꺾인 연결선 215"/>
          <p:cNvCxnSpPr/>
          <p:nvPr/>
        </p:nvCxnSpPr>
        <p:spPr>
          <a:xfrm rot="16200000" flipV="1">
            <a:off x="2088000" y="3417950"/>
            <a:ext cx="301935" cy="630036"/>
          </a:xfrm>
          <a:prstGeom prst="bentConnector3">
            <a:avLst>
              <a:gd name="adj1" fmla="val 41588"/>
            </a:avLst>
          </a:prstGeom>
          <a:solidFill>
            <a:schemeClr val="accent1"/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17" name="꺾인 연결선 216"/>
          <p:cNvCxnSpPr/>
          <p:nvPr/>
        </p:nvCxnSpPr>
        <p:spPr>
          <a:xfrm rot="16200000" flipH="1">
            <a:off x="2286000" y="3318967"/>
            <a:ext cx="301935" cy="828000"/>
          </a:xfrm>
          <a:prstGeom prst="bentConnector3">
            <a:avLst>
              <a:gd name="adj1" fmla="val 35980"/>
            </a:avLst>
          </a:prstGeom>
          <a:solidFill>
            <a:schemeClr val="accent1"/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grpSp>
        <p:nvGrpSpPr>
          <p:cNvPr id="218" name="그룹 217"/>
          <p:cNvGrpSpPr/>
          <p:nvPr/>
        </p:nvGrpSpPr>
        <p:grpSpPr>
          <a:xfrm>
            <a:off x="801603" y="4517705"/>
            <a:ext cx="327446" cy="288000"/>
            <a:chOff x="792000" y="3600000"/>
            <a:chExt cx="327446" cy="288000"/>
          </a:xfrm>
        </p:grpSpPr>
        <p:sp>
          <p:nvSpPr>
            <p:cNvPr id="219" name="Line 51"/>
            <p:cNvSpPr>
              <a:spLocks noChangeShapeType="1"/>
            </p:cNvSpPr>
            <p:nvPr/>
          </p:nvSpPr>
          <p:spPr bwMode="auto">
            <a:xfrm flipV="1">
              <a:off x="792000" y="3600000"/>
              <a:ext cx="0" cy="28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500" kern="0" dirty="0">
                <a:solidFill>
                  <a:prstClr val="black"/>
                </a:solidFill>
              </a:endParaRPr>
            </a:p>
          </p:txBody>
        </p:sp>
        <p:sp>
          <p:nvSpPr>
            <p:cNvPr id="220" name="Line 51"/>
            <p:cNvSpPr>
              <a:spLocks noChangeShapeType="1"/>
            </p:cNvSpPr>
            <p:nvPr/>
          </p:nvSpPr>
          <p:spPr bwMode="auto">
            <a:xfrm>
              <a:off x="1116000" y="3600000"/>
              <a:ext cx="3446" cy="28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500" kern="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21" name="그룹 220"/>
          <p:cNvGrpSpPr/>
          <p:nvPr/>
        </p:nvGrpSpPr>
        <p:grpSpPr>
          <a:xfrm>
            <a:off x="2597579" y="4526172"/>
            <a:ext cx="327446" cy="288000"/>
            <a:chOff x="792000" y="3600000"/>
            <a:chExt cx="327446" cy="288000"/>
          </a:xfrm>
        </p:grpSpPr>
        <p:sp>
          <p:nvSpPr>
            <p:cNvPr id="222" name="Line 51"/>
            <p:cNvSpPr>
              <a:spLocks noChangeShapeType="1"/>
            </p:cNvSpPr>
            <p:nvPr/>
          </p:nvSpPr>
          <p:spPr bwMode="auto">
            <a:xfrm flipV="1">
              <a:off x="792000" y="3600000"/>
              <a:ext cx="0" cy="28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500" kern="0" dirty="0">
                <a:solidFill>
                  <a:prstClr val="black"/>
                </a:solidFill>
              </a:endParaRPr>
            </a:p>
          </p:txBody>
        </p:sp>
        <p:sp>
          <p:nvSpPr>
            <p:cNvPr id="223" name="Line 51"/>
            <p:cNvSpPr>
              <a:spLocks noChangeShapeType="1"/>
            </p:cNvSpPr>
            <p:nvPr/>
          </p:nvSpPr>
          <p:spPr bwMode="auto">
            <a:xfrm>
              <a:off x="1116000" y="3600000"/>
              <a:ext cx="3446" cy="28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500" kern="0" dirty="0">
                <a:solidFill>
                  <a:prstClr val="black"/>
                </a:solidFill>
              </a:endParaRPr>
            </a:p>
          </p:txBody>
        </p:sp>
      </p:grpSp>
      <p:sp>
        <p:nvSpPr>
          <p:cNvPr id="224" name="TextBox 223"/>
          <p:cNvSpPr txBox="1"/>
          <p:nvPr/>
        </p:nvSpPr>
        <p:spPr>
          <a:xfrm>
            <a:off x="4998800" y="2686781"/>
            <a:ext cx="491920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US" altLang="ko-KR" sz="1400" dirty="0"/>
              <a:t>Front</a:t>
            </a:r>
            <a:endParaRPr lang="ko-KR" altLang="en-US" sz="1200" dirty="0"/>
          </a:p>
        </p:txBody>
      </p:sp>
      <p:pic>
        <p:nvPicPr>
          <p:cNvPr id="225" name="그림 224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5199" y="2948516"/>
            <a:ext cx="721451" cy="224715"/>
          </a:xfrm>
          <a:prstGeom prst="rect">
            <a:avLst/>
          </a:prstGeom>
        </p:spPr>
      </p:pic>
      <p:pic>
        <p:nvPicPr>
          <p:cNvPr id="226" name="그림 2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311" y="2916873"/>
            <a:ext cx="751305" cy="288000"/>
          </a:xfrm>
          <a:prstGeom prst="rect">
            <a:avLst/>
          </a:prstGeom>
        </p:spPr>
      </p:pic>
      <p:grpSp>
        <p:nvGrpSpPr>
          <p:cNvPr id="227" name="그룹 226"/>
          <p:cNvGrpSpPr/>
          <p:nvPr/>
        </p:nvGrpSpPr>
        <p:grpSpPr>
          <a:xfrm>
            <a:off x="5297260" y="3326713"/>
            <a:ext cx="1201600" cy="290429"/>
            <a:chOff x="4033095" y="3444454"/>
            <a:chExt cx="1201600" cy="290429"/>
          </a:xfrm>
        </p:grpSpPr>
        <p:sp>
          <p:nvSpPr>
            <p:cNvPr id="228" name="Line 51"/>
            <p:cNvSpPr>
              <a:spLocks noChangeShapeType="1"/>
            </p:cNvSpPr>
            <p:nvPr/>
          </p:nvSpPr>
          <p:spPr bwMode="auto">
            <a:xfrm flipH="1">
              <a:off x="4748202" y="3444457"/>
              <a:ext cx="0" cy="29042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500" kern="0" dirty="0">
                <a:solidFill>
                  <a:prstClr val="black"/>
                </a:solidFill>
              </a:endParaRPr>
            </a:p>
          </p:txBody>
        </p:sp>
        <p:sp>
          <p:nvSpPr>
            <p:cNvPr id="229" name="Line 51"/>
            <p:cNvSpPr>
              <a:spLocks noChangeShapeType="1"/>
            </p:cNvSpPr>
            <p:nvPr/>
          </p:nvSpPr>
          <p:spPr bwMode="auto">
            <a:xfrm flipH="1" flipV="1">
              <a:off x="4604182" y="3444454"/>
              <a:ext cx="0" cy="2904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500" kern="0" dirty="0">
                <a:solidFill>
                  <a:prstClr val="black"/>
                </a:solidFill>
              </a:endParaRPr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4033095" y="3493837"/>
              <a:ext cx="64371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Rest-</a:t>
              </a:r>
              <a:r>
                <a:rPr lang="en-US" altLang="ko-KR" sz="900" dirty="0" err="1"/>
                <a:t>ful</a:t>
              </a:r>
              <a:endParaRPr lang="ko-KR" altLang="en-US" sz="900" dirty="0"/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4728993" y="3499114"/>
              <a:ext cx="50570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JSON</a:t>
              </a:r>
              <a:endParaRPr lang="ko-KR" altLang="en-US" sz="900" dirty="0"/>
            </a:p>
          </p:txBody>
        </p:sp>
      </p:grpSp>
      <p:sp>
        <p:nvSpPr>
          <p:cNvPr id="125" name="모서리가 둥근 직사각형 124"/>
          <p:cNvSpPr/>
          <p:nvPr/>
        </p:nvSpPr>
        <p:spPr>
          <a:xfrm>
            <a:off x="225912" y="5796910"/>
            <a:ext cx="3302744" cy="1069645"/>
          </a:xfrm>
          <a:prstGeom prst="roundRect">
            <a:avLst>
              <a:gd name="adj" fmla="val 0"/>
            </a:avLst>
          </a:prstGeom>
          <a:noFill/>
          <a:ln w="9525" cap="flat" cmpd="sng" algn="ctr">
            <a:noFill/>
            <a:prstDash val="solid"/>
          </a:ln>
          <a:effectLst/>
        </p:spPr>
        <p:txBody>
          <a:bodyPr lIns="72000" tIns="72000" rIns="72000" bIns="72000" rtlCol="0" anchor="ctr" anchorCtr="0"/>
          <a:lstStyle/>
          <a:p>
            <a:pPr marL="228600" indent="-228600" latinLnBrk="0">
              <a:spcBef>
                <a:spcPts val="1200"/>
              </a:spcBef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별도 구축된 문제은행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DB(I-SYSTEM, E-BANK)  Data </a:t>
            </a:r>
            <a:r>
              <a:rPr lang="en-US" altLang="ko-KR" sz="1200" dirty="0" smtClean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Logic</a:t>
            </a:r>
            <a:r>
              <a:rPr lang="ko-KR" altLang="en-US" sz="1200" dirty="0" smtClean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분석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/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통합 필요</a:t>
            </a:r>
            <a:endParaRPr lang="en-US" altLang="ko-KR" sz="120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gradFill>
                <a:gsLst>
                  <a:gs pos="57083">
                    <a:prstClr val="black">
                      <a:lumMod val="75000"/>
                      <a:lumOff val="25000"/>
                    </a:prstClr>
                  </a:gs>
                  <a:gs pos="68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  <a:sym typeface="Wingdings" pitchFamily="2" charset="2"/>
            </a:endParaRPr>
          </a:p>
          <a:p>
            <a:pPr marL="228600" indent="-228600" latinLnBrk="0">
              <a:spcBef>
                <a:spcPts val="1200"/>
              </a:spcBef>
              <a:buClr>
                <a:srgbClr val="7D7C7F"/>
              </a:buClr>
              <a:buSzPct val="90000"/>
              <a:buFont typeface="Arial" pitchFamily="34" charset="0"/>
              <a:buChar char="•"/>
            </a:pP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Data 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요청</a:t>
            </a:r>
            <a:r>
              <a: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/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결과가 프로그램에 종속되어 있어 업무처리에 유연한 대처가 어려움</a:t>
            </a:r>
          </a:p>
        </p:txBody>
      </p:sp>
    </p:spTree>
    <p:extLst>
      <p:ext uri="{BB962C8B-B14F-4D97-AF65-F5344CB8AC3E}">
        <p14:creationId xmlns:p14="http://schemas.microsoft.com/office/powerpoint/2010/main" val="17059162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그룹 89"/>
          <p:cNvGrpSpPr/>
          <p:nvPr/>
        </p:nvGrpSpPr>
        <p:grpSpPr>
          <a:xfrm>
            <a:off x="738188" y="1638729"/>
            <a:ext cx="9217025" cy="5322823"/>
            <a:chOff x="3847798" y="1568595"/>
            <a:chExt cx="6107415" cy="5322823"/>
          </a:xfrm>
        </p:grpSpPr>
        <p:sp>
          <p:nvSpPr>
            <p:cNvPr id="91" name="직사각형 90"/>
            <p:cNvSpPr/>
            <p:nvPr/>
          </p:nvSpPr>
          <p:spPr bwMode="auto">
            <a:xfrm>
              <a:off x="3847798" y="1568595"/>
              <a:ext cx="2960322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한글 </a:t>
              </a:r>
              <a:r>
                <a:rPr lang="en-US" altLang="ko-KR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OCX </a:t>
              </a: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적용 검토</a:t>
              </a:r>
              <a:endParaRPr lang="en-US" altLang="ko-KR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endParaRPr>
            </a:p>
          </p:txBody>
        </p:sp>
        <p:sp>
          <p:nvSpPr>
            <p:cNvPr id="92" name="직사각형 91"/>
            <p:cNvSpPr/>
            <p:nvPr/>
          </p:nvSpPr>
          <p:spPr bwMode="auto">
            <a:xfrm>
              <a:off x="3847798" y="2154916"/>
              <a:ext cx="2960322" cy="473650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93" name="직사각형 92"/>
            <p:cNvSpPr/>
            <p:nvPr/>
          </p:nvSpPr>
          <p:spPr bwMode="auto">
            <a:xfrm>
              <a:off x="6994891" y="1568595"/>
              <a:ext cx="2960322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한글 </a:t>
              </a:r>
              <a:r>
                <a:rPr lang="en-US" altLang="ko-KR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OCX </a:t>
              </a: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개선 방안</a:t>
              </a:r>
              <a:endParaRPr lang="en-US" altLang="ko-KR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endParaRPr>
            </a:p>
          </p:txBody>
        </p:sp>
        <p:sp>
          <p:nvSpPr>
            <p:cNvPr id="94" name="직사각형 93"/>
            <p:cNvSpPr/>
            <p:nvPr/>
          </p:nvSpPr>
          <p:spPr bwMode="auto">
            <a:xfrm>
              <a:off x="6994891" y="2154916"/>
              <a:ext cx="2960322" cy="473650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3. </a:t>
            </a:r>
            <a:r>
              <a:rPr lang="ko-KR" altLang="en-US" sz="2000" dirty="0"/>
              <a:t>주요 개발 방안</a:t>
            </a:r>
            <a:r>
              <a:rPr lang="ko-KR" altLang="en-US" dirty="0"/>
              <a:t> </a:t>
            </a:r>
            <a:r>
              <a:rPr lang="en-US" altLang="ko-KR" dirty="0"/>
              <a:t>– ② TMS HWP Control Module</a:t>
            </a:r>
            <a:br>
              <a:rPr lang="en-US" altLang="ko-KR" dirty="0"/>
            </a:b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15" name="AutoShape 37"/>
          <p:cNvSpPr>
            <a:spLocks noChangeArrowheads="1"/>
          </p:cNvSpPr>
          <p:nvPr/>
        </p:nvSpPr>
        <p:spPr bwMode="gray">
          <a:xfrm>
            <a:off x="863999" y="2317062"/>
            <a:ext cx="4176000" cy="288000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latinLnBrk="0">
              <a:lnSpc>
                <a:spcPct val="110000"/>
              </a:lnSpc>
            </a:pPr>
            <a:r>
              <a:rPr lang="en-US" altLang="ko-KR" sz="14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</a:rPr>
              <a:t>TMS Front Web Application (</a:t>
            </a:r>
            <a:r>
              <a:rPr lang="ko-KR" altLang="en-US" sz="1400" kern="0" dirty="0" err="1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</a:rPr>
              <a:t>바로테스트</a:t>
            </a:r>
            <a:r>
              <a:rPr lang="en-US" altLang="ko-KR" sz="14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</a:rPr>
              <a:t>)</a:t>
            </a:r>
          </a:p>
        </p:txBody>
      </p:sp>
      <p:sp>
        <p:nvSpPr>
          <p:cNvPr id="316" name="직사각형 315"/>
          <p:cNvSpPr/>
          <p:nvPr/>
        </p:nvSpPr>
        <p:spPr>
          <a:xfrm>
            <a:off x="863999" y="2605063"/>
            <a:ext cx="4176000" cy="177231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037431" latinLnBrk="0"/>
            <a:endParaRPr lang="ko-KR" altLang="en-US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7" name="직사각형 326"/>
          <p:cNvSpPr/>
          <p:nvPr/>
        </p:nvSpPr>
        <p:spPr>
          <a:xfrm>
            <a:off x="863999" y="4837062"/>
            <a:ext cx="4176000" cy="20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037431" latinLnBrk="0"/>
            <a:endParaRPr lang="ko-KR" altLang="en-US" sz="10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337" name="Picture 4" descr="ì¬ëì ëí ì´ë¯¸ì§ ê²ìê²°ê³¼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83"/>
          <a:stretch/>
        </p:blipFill>
        <p:spPr bwMode="auto">
          <a:xfrm>
            <a:off x="1028341" y="6063602"/>
            <a:ext cx="324382" cy="25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2" name="TextBox 351"/>
          <p:cNvSpPr txBox="1"/>
          <p:nvPr/>
        </p:nvSpPr>
        <p:spPr>
          <a:xfrm>
            <a:off x="942795" y="6366893"/>
            <a:ext cx="52097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900" dirty="0">
                <a:latin typeface="Rix고딕 B" panose="02020603020101020101" pitchFamily="18" charset="-127"/>
                <a:ea typeface="Rix고딕 B" panose="02020603020101020101" pitchFamily="18" charset="-127"/>
              </a:rPr>
              <a:t>문제은행</a:t>
            </a:r>
            <a:endParaRPr lang="en-US" altLang="ko-KR" sz="900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algn="ctr"/>
            <a:r>
              <a:rPr lang="ko-KR" altLang="en-US" sz="900" dirty="0">
                <a:latin typeface="Rix고딕 B" panose="02020603020101020101" pitchFamily="18" charset="-127"/>
                <a:ea typeface="Rix고딕 B" panose="02020603020101020101" pitchFamily="18" charset="-127"/>
              </a:rPr>
              <a:t>문항관리자</a:t>
            </a:r>
            <a:endParaRPr lang="ko-KR" altLang="en-US" sz="900" baseline="30000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57" name="AutoShape 37"/>
          <p:cNvSpPr>
            <a:spLocks noChangeArrowheads="1"/>
          </p:cNvSpPr>
          <p:nvPr/>
        </p:nvSpPr>
        <p:spPr bwMode="gray">
          <a:xfrm>
            <a:off x="864000" y="4549062"/>
            <a:ext cx="4176000" cy="288000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latinLnBrk="0">
              <a:lnSpc>
                <a:spcPct val="110000"/>
              </a:lnSpc>
            </a:pPr>
            <a:r>
              <a:rPr lang="en-US" altLang="ko-KR" sz="14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</a:rPr>
              <a:t>TMS Back-Office Application (I-SYSTEM)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5688000" y="2461068"/>
            <a:ext cx="4069698" cy="1296000"/>
            <a:chOff x="5688000" y="5328000"/>
            <a:chExt cx="4069698" cy="1296000"/>
          </a:xfrm>
        </p:grpSpPr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DC879B37-B38E-4949-9DA6-19CBF32E041E}"/>
                </a:ext>
              </a:extLst>
            </p:cNvPr>
            <p:cNvGrpSpPr/>
            <p:nvPr/>
          </p:nvGrpSpPr>
          <p:grpSpPr>
            <a:xfrm>
              <a:off x="5688000" y="5328000"/>
              <a:ext cx="2273177" cy="265390"/>
              <a:chOff x="460373" y="2034191"/>
              <a:chExt cx="2105793" cy="240706"/>
            </a:xfrm>
          </p:grpSpPr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28F16B8A-8755-481D-8EC5-B0A556C564FA}"/>
                  </a:ext>
                </a:extLst>
              </p:cNvPr>
              <p:cNvSpPr/>
              <p:nvPr/>
            </p:nvSpPr>
            <p:spPr>
              <a:xfrm>
                <a:off x="766386" y="2048356"/>
                <a:ext cx="1799780" cy="20936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vert="horz"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defTabSz="995393" fontAlgn="base" latinLnBrk="0">
                  <a:spcAft>
                    <a:spcPts val="163"/>
                  </a:spcAft>
                  <a:buClr>
                    <a:srgbClr val="8B8F9E"/>
                  </a:buClr>
                  <a:buSzPct val="100000"/>
                  <a:tabLst>
                    <a:tab pos="1175468" algn="l"/>
                  </a:tabLst>
                  <a:defRPr/>
                </a:pPr>
                <a:r>
                  <a:rPr lang="en-US" altLang="ko-KR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1</a:t>
                </a:r>
                <a:r>
                  <a:rPr lang="ko-KR" altLang="en-US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안</a:t>
                </a:r>
                <a:r>
                  <a:rPr lang="en-US" altLang="ko-KR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) </a:t>
                </a:r>
                <a:r>
                  <a:rPr lang="ko-KR" altLang="en-US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웹 저작 솔루션 활용</a:t>
                </a:r>
              </a:p>
            </p:txBody>
          </p:sp>
          <p:pic>
            <p:nvPicPr>
              <p:cNvPr id="106" name="Picture 3" descr="D:\19.전지수\1. 제안서\1. 표준제안\★2017_표준제안설명회\작업\버트2.png">
                <a:extLst>
                  <a:ext uri="{FF2B5EF4-FFF2-40B4-BE49-F238E27FC236}">
                    <a16:creationId xmlns:a16="http://schemas.microsoft.com/office/drawing/2014/main" id="{ED7A0B1A-39B8-4AF8-8B73-0B71972853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0373" y="2034191"/>
                <a:ext cx="255754" cy="2407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7" name="직사각형 106"/>
            <p:cNvSpPr/>
            <p:nvPr/>
          </p:nvSpPr>
          <p:spPr>
            <a:xfrm>
              <a:off x="5797698" y="5616000"/>
              <a:ext cx="3960000" cy="10080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16000" indent="-216000" latinLnBrk="0">
                <a:spcBef>
                  <a:spcPts val="600"/>
                </a:spcBef>
                <a:buClr>
                  <a:srgbClr val="7D7C7F"/>
                </a:buClr>
                <a:buSzPct val="90000"/>
                <a:buFont typeface="Arial" pitchFamily="34" charset="0"/>
                <a:buChar char="•"/>
              </a:pP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HTML5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 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WEB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기반으로 구현</a:t>
              </a:r>
              <a:endPara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  <a:p>
              <a:pPr marL="216000" indent="-216000" latinLnBrk="0">
                <a:spcBef>
                  <a:spcPts val="600"/>
                </a:spcBef>
                <a:buClr>
                  <a:srgbClr val="7D7C7F"/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전체 업무 기능 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JAVA 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기반 구현</a:t>
              </a:r>
              <a:endPara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  <a:p>
              <a:pPr marL="216000" indent="-216000" latinLnBrk="0">
                <a:spcBef>
                  <a:spcPts val="600"/>
                </a:spcBef>
                <a:buSzPct val="90000"/>
                <a:buFont typeface="Rix고딕 B" panose="02020603020101020101" pitchFamily="18" charset="-127"/>
                <a:buChar char="※"/>
              </a:pP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한글 웹 </a:t>
              </a:r>
              <a:r>
                <a:rPr lang="ko-KR" altLang="en-US" sz="1200" dirty="0" err="1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기안기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 솔루션 등 기술적 구현 가능성 검토</a:t>
              </a:r>
              <a:endPara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FF0000"/>
                </a:soli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  <a:p>
              <a:pPr marL="216000" indent="-216000" latinLnBrk="0">
                <a:spcBef>
                  <a:spcPts val="600"/>
                </a:spcBef>
                <a:buSzPct val="90000"/>
                <a:buFont typeface="Rix고딕 B" panose="02020603020101020101" pitchFamily="18" charset="-127"/>
                <a:buChar char="※"/>
              </a:pP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제약사항 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: 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서버 솔루션의 한글 버전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 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호환성 등 문제 </a:t>
              </a: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688000" y="3901063"/>
            <a:ext cx="4098997" cy="1305880"/>
            <a:chOff x="5688000" y="3888000"/>
            <a:chExt cx="4098997" cy="1305880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DC879B37-B38E-4949-9DA6-19CBF32E041E}"/>
                </a:ext>
              </a:extLst>
            </p:cNvPr>
            <p:cNvGrpSpPr/>
            <p:nvPr/>
          </p:nvGrpSpPr>
          <p:grpSpPr>
            <a:xfrm>
              <a:off x="5688000" y="3888000"/>
              <a:ext cx="4098997" cy="265390"/>
              <a:chOff x="460373" y="2034191"/>
              <a:chExt cx="3797173" cy="240706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28F16B8A-8755-481D-8EC5-B0A556C564FA}"/>
                  </a:ext>
                </a:extLst>
              </p:cNvPr>
              <p:cNvSpPr/>
              <p:nvPr/>
            </p:nvSpPr>
            <p:spPr>
              <a:xfrm>
                <a:off x="766386" y="2048356"/>
                <a:ext cx="3491160" cy="20936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vert="horz"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defTabSz="995393" fontAlgn="base" latinLnBrk="0">
                  <a:spcAft>
                    <a:spcPts val="163"/>
                  </a:spcAft>
                  <a:buClr>
                    <a:srgbClr val="8B8F9E"/>
                  </a:buClr>
                  <a:buSzPct val="100000"/>
                  <a:tabLst>
                    <a:tab pos="1175468" algn="l"/>
                  </a:tabLst>
                  <a:defRPr/>
                </a:pPr>
                <a:r>
                  <a:rPr lang="en-US" altLang="ko-KR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2</a:t>
                </a:r>
                <a:r>
                  <a:rPr lang="ko-KR" altLang="en-US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안</a:t>
                </a:r>
                <a:r>
                  <a:rPr lang="en-US" altLang="ko-KR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) OCX</a:t>
                </a:r>
                <a:r>
                  <a:rPr lang="ko-KR" altLang="en-US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활용</a:t>
                </a:r>
                <a:r>
                  <a:rPr lang="en-US" altLang="ko-KR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, Linux </a:t>
                </a:r>
                <a:r>
                  <a:rPr lang="ko-KR" altLang="en-US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서버</a:t>
                </a:r>
                <a:r>
                  <a:rPr lang="en-US" altLang="ko-KR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(</a:t>
                </a:r>
                <a:r>
                  <a:rPr lang="ko-KR" altLang="en-US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한글 </a:t>
                </a:r>
                <a:r>
                  <a:rPr lang="en-US" altLang="ko-KR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JAVA API </a:t>
                </a:r>
                <a:r>
                  <a:rPr lang="ko-KR" altLang="en-US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전환</a:t>
                </a:r>
                <a:r>
                  <a:rPr lang="en-US" altLang="ko-KR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)</a:t>
                </a:r>
                <a:endParaRPr lang="ko-KR" altLang="en-US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endParaRPr>
              </a:p>
            </p:txBody>
          </p:sp>
          <p:pic>
            <p:nvPicPr>
              <p:cNvPr id="103" name="Picture 3" descr="D:\19.전지수\1. 제안서\1. 표준제안\★2017_표준제안설명회\작업\버트2.png">
                <a:extLst>
                  <a:ext uri="{FF2B5EF4-FFF2-40B4-BE49-F238E27FC236}">
                    <a16:creationId xmlns:a16="http://schemas.microsoft.com/office/drawing/2014/main" id="{ED7A0B1A-39B8-4AF8-8B73-0B71972853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0373" y="2034191"/>
                <a:ext cx="255754" cy="2407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8" name="직사각형 107"/>
            <p:cNvSpPr/>
            <p:nvPr/>
          </p:nvSpPr>
          <p:spPr>
            <a:xfrm>
              <a:off x="5797698" y="4185880"/>
              <a:ext cx="3960000" cy="10080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16000" indent="-216000" latinLnBrk="0">
                <a:spcBef>
                  <a:spcPts val="600"/>
                </a:spcBef>
                <a:buClr>
                  <a:srgbClr val="7D7C7F"/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사용자단 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WEB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기반으로 구현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, 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문항편집 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ActiveX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기반 구현</a:t>
              </a:r>
              <a:endPara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  <a:p>
              <a:pPr marL="216000" indent="-216000" latinLnBrk="0">
                <a:spcBef>
                  <a:spcPts val="600"/>
                </a:spcBef>
                <a:buClr>
                  <a:srgbClr val="7D7C7F"/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전체 업무 기능 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JAVA 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기반 구현</a:t>
              </a:r>
              <a:endPara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  <a:p>
              <a:pPr marL="216000" indent="-216000" latinLnBrk="0">
                <a:spcBef>
                  <a:spcPts val="600"/>
                </a:spcBef>
                <a:buSzPct val="90000"/>
                <a:buFont typeface="Rix고딕 B" panose="02020603020101020101" pitchFamily="18" charset="-127"/>
                <a:buChar char="※"/>
              </a:pP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한글 컨트롤 기능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(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이미지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 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변환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,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 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PDF 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변환 등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)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FF0000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에 대한 기술적 구현 가능성 검토 </a:t>
              </a:r>
            </a:p>
          </p:txBody>
        </p:sp>
      </p:grpSp>
      <p:sp>
        <p:nvSpPr>
          <p:cNvPr id="111" name="Rectangle 303"/>
          <p:cNvSpPr>
            <a:spLocks noChangeArrowheads="1"/>
          </p:cNvSpPr>
          <p:nvPr/>
        </p:nvSpPr>
        <p:spPr bwMode="auto">
          <a:xfrm>
            <a:off x="1512000" y="4981063"/>
            <a:ext cx="3456000" cy="792000"/>
          </a:xfrm>
          <a:prstGeom prst="rect">
            <a:avLst/>
          </a:prstGeom>
          <a:solidFill>
            <a:srgbClr val="255A7B">
              <a:lumMod val="20000"/>
              <a:lumOff val="80000"/>
            </a:srgbClr>
          </a:solidFill>
          <a:ln w="12700" cap="flat" cmpd="sng" algn="ctr">
            <a:solidFill>
              <a:srgbClr val="255A7B">
                <a:lumMod val="20000"/>
                <a:lumOff val="8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83969" tIns="41985" rIns="83969" bIns="419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57416" latinLnBrk="0">
              <a:defRPr/>
            </a:pPr>
            <a:endParaRPr lang="ko-KR" altLang="ko-KR" sz="1200" kern="0" dirty="0">
              <a:solidFill>
                <a:prstClr val="white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21" name="Rectangle 306"/>
          <p:cNvSpPr>
            <a:spLocks noChangeArrowheads="1"/>
          </p:cNvSpPr>
          <p:nvPr/>
        </p:nvSpPr>
        <p:spPr bwMode="auto">
          <a:xfrm>
            <a:off x="2088000" y="5773062"/>
            <a:ext cx="828000" cy="108000"/>
          </a:xfrm>
          <a:prstGeom prst="rect">
            <a:avLst/>
          </a:prstGeom>
          <a:solidFill>
            <a:srgbClr val="255A7B">
              <a:lumMod val="20000"/>
              <a:lumOff val="80000"/>
            </a:srgbClr>
          </a:solidFill>
          <a:ln w="12700" cap="flat" cmpd="sng" algn="ctr">
            <a:solidFill>
              <a:srgbClr val="255A7B">
                <a:lumMod val="20000"/>
                <a:lumOff val="8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83969" tIns="41985" rIns="83969" bIns="419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57416" latinLnBrk="0">
              <a:defRPr/>
            </a:pPr>
            <a:endParaRPr lang="ko-KR" altLang="ko-KR" kern="0" dirty="0">
              <a:solidFill>
                <a:prstClr val="white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23" name="Rectangle 308"/>
          <p:cNvSpPr>
            <a:spLocks noChangeArrowheads="1"/>
          </p:cNvSpPr>
          <p:nvPr/>
        </p:nvSpPr>
        <p:spPr bwMode="auto">
          <a:xfrm>
            <a:off x="1512000" y="5921051"/>
            <a:ext cx="3456000" cy="873745"/>
          </a:xfrm>
          <a:prstGeom prst="rect">
            <a:avLst/>
          </a:prstGeom>
          <a:solidFill>
            <a:srgbClr val="0E69AA">
              <a:lumMod val="7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ko-KR" sz="1600" b="1" kern="0" dirty="0">
              <a:ln w="12700">
                <a:solidFill>
                  <a:srgbClr val="7D7C7F">
                    <a:satMod val="155000"/>
                  </a:srgbClr>
                </a:solidFill>
                <a:prstDash val="solid"/>
              </a:ln>
              <a:solidFill>
                <a:srgbClr val="D5D5D5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124" name="Text Box 323"/>
          <p:cNvSpPr txBox="1">
            <a:spLocks noChangeArrowheads="1"/>
          </p:cNvSpPr>
          <p:nvPr/>
        </p:nvSpPr>
        <p:spPr bwMode="auto">
          <a:xfrm>
            <a:off x="2520000" y="6565063"/>
            <a:ext cx="1440000" cy="216000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</p:spPr>
        <p:txBody>
          <a:bodyPr wrap="none" lIns="0" tIns="0" rIns="0" bIns="0" anchor="t" anchorCtr="0">
            <a:noAutofit/>
          </a:bodyPr>
          <a:lstStyle>
            <a:defPPr>
              <a:defRPr lang="ko-KR"/>
            </a:defPPr>
            <a:lvl1pPr algn="ctr" defTabSz="955544" fontAlgn="ctr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90000"/>
              <a:tabLst>
                <a:tab pos="237127" algn="l"/>
              </a:tabLst>
              <a:defRPr kern="0">
                <a:gradFill>
                  <a:gsLst>
                    <a:gs pos="47083">
                      <a:schemeClr val="bg1"/>
                    </a:gs>
                    <a:gs pos="33000">
                      <a:schemeClr val="bg1"/>
                    </a:gs>
                  </a:gsLst>
                  <a:lin ang="16200000" scaled="1"/>
                </a:gradFill>
                <a:latin typeface="Rix고딕 EB" panose="02020603020101020101" pitchFamily="18" charset="-127"/>
                <a:ea typeface="Rix고딕 EB" panose="02020603020101020101" pitchFamily="18" charset="-127"/>
              </a:defRPr>
            </a:lvl1pPr>
          </a:lstStyle>
          <a:p>
            <a:pPr>
              <a:defRPr/>
            </a:pPr>
            <a:r>
              <a:rPr lang="en-US" altLang="ko-KR" sz="1050" dirty="0">
                <a:gradFill>
                  <a:gsLst>
                    <a:gs pos="47083">
                      <a:prstClr val="white"/>
                    </a:gs>
                    <a:gs pos="33000">
                      <a:prstClr val="white"/>
                    </a:gs>
                  </a:gsLst>
                  <a:lin ang="16200000" scaled="1"/>
                </a:gradFill>
              </a:rPr>
              <a:t>Window </a:t>
            </a:r>
            <a:r>
              <a:rPr lang="ko-KR" altLang="en-US" sz="1050" dirty="0">
                <a:gradFill>
                  <a:gsLst>
                    <a:gs pos="47083">
                      <a:prstClr val="white"/>
                    </a:gs>
                    <a:gs pos="33000">
                      <a:prstClr val="white"/>
                    </a:gs>
                  </a:gsLst>
                  <a:lin ang="16200000" scaled="1"/>
                </a:gradFill>
              </a:rPr>
              <a:t>서버</a:t>
            </a:r>
          </a:p>
        </p:txBody>
      </p:sp>
      <p:sp>
        <p:nvSpPr>
          <p:cNvPr id="128" name="Rectangle 309"/>
          <p:cNvSpPr>
            <a:spLocks noChangeArrowheads="1"/>
          </p:cNvSpPr>
          <p:nvPr/>
        </p:nvSpPr>
        <p:spPr bwMode="auto">
          <a:xfrm>
            <a:off x="1512000" y="5845063"/>
            <a:ext cx="504000" cy="145205"/>
          </a:xfrm>
          <a:prstGeom prst="rect">
            <a:avLst/>
          </a:prstGeom>
          <a:solidFill>
            <a:srgbClr val="0E69AA">
              <a:lumMod val="7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ko-KR" sz="2800" b="1" kern="0" dirty="0">
              <a:ln w="12700">
                <a:solidFill>
                  <a:srgbClr val="7D7C7F">
                    <a:satMod val="155000"/>
                  </a:srgbClr>
                </a:solidFill>
                <a:prstDash val="solid"/>
              </a:ln>
              <a:solidFill>
                <a:srgbClr val="D5D5D5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129" name="Rectangle 309"/>
          <p:cNvSpPr>
            <a:spLocks noChangeArrowheads="1"/>
          </p:cNvSpPr>
          <p:nvPr/>
        </p:nvSpPr>
        <p:spPr bwMode="auto">
          <a:xfrm>
            <a:off x="4464000" y="5845063"/>
            <a:ext cx="504000" cy="145205"/>
          </a:xfrm>
          <a:prstGeom prst="rect">
            <a:avLst/>
          </a:prstGeom>
          <a:solidFill>
            <a:srgbClr val="0E69AA">
              <a:lumMod val="7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ko-KR" sz="2800" b="1" kern="0" dirty="0">
              <a:ln w="12700">
                <a:solidFill>
                  <a:srgbClr val="7D7C7F">
                    <a:satMod val="155000"/>
                  </a:srgbClr>
                </a:solidFill>
                <a:prstDash val="solid"/>
              </a:ln>
              <a:solidFill>
                <a:srgbClr val="D5D5D5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130" name="Rectangle 309"/>
          <p:cNvSpPr>
            <a:spLocks noChangeArrowheads="1"/>
          </p:cNvSpPr>
          <p:nvPr/>
        </p:nvSpPr>
        <p:spPr bwMode="auto">
          <a:xfrm>
            <a:off x="2988000" y="5845063"/>
            <a:ext cx="504000" cy="145205"/>
          </a:xfrm>
          <a:prstGeom prst="rect">
            <a:avLst/>
          </a:prstGeom>
          <a:solidFill>
            <a:srgbClr val="0E69AA">
              <a:lumMod val="7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ko-KR" sz="2800" b="1" kern="0" dirty="0">
              <a:ln w="12700">
                <a:solidFill>
                  <a:srgbClr val="7D7C7F">
                    <a:satMod val="155000"/>
                  </a:srgbClr>
                </a:solidFill>
                <a:prstDash val="solid"/>
              </a:ln>
              <a:solidFill>
                <a:srgbClr val="D5D5D5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1620000" y="6025063"/>
            <a:ext cx="3240000" cy="468000"/>
            <a:chOff x="1620000" y="6084000"/>
            <a:chExt cx="3240000" cy="468000"/>
          </a:xfrm>
        </p:grpSpPr>
        <p:sp>
          <p:nvSpPr>
            <p:cNvPr id="125" name="Rectangle 10"/>
            <p:cNvSpPr>
              <a:spLocks noChangeArrowheads="1"/>
            </p:cNvSpPr>
            <p:nvPr/>
          </p:nvSpPr>
          <p:spPr bwMode="auto">
            <a:xfrm>
              <a:off x="1620000" y="6084000"/>
              <a:ext cx="1548000" cy="468000"/>
            </a:xfrm>
            <a:prstGeom prst="roundRect">
              <a:avLst>
                <a:gd name="adj" fmla="val 3585"/>
              </a:avLst>
            </a:prstGeom>
            <a:solidFill>
              <a:sysClr val="window" lastClr="FFFFFF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defTabSz="957416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197" name="Rectangle 10"/>
            <p:cNvSpPr>
              <a:spLocks noChangeArrowheads="1"/>
            </p:cNvSpPr>
            <p:nvPr/>
          </p:nvSpPr>
          <p:spPr bwMode="auto">
            <a:xfrm>
              <a:off x="3312000" y="6084000"/>
              <a:ext cx="1548000" cy="468000"/>
            </a:xfrm>
            <a:prstGeom prst="roundRect">
              <a:avLst>
                <a:gd name="adj" fmla="val 358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defTabSz="957416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198" name="직사각형 197"/>
            <p:cNvSpPr/>
            <p:nvPr/>
          </p:nvSpPr>
          <p:spPr>
            <a:xfrm>
              <a:off x="1881279" y="6084000"/>
              <a:ext cx="989442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 defTabSz="914127" latinLnBrk="0">
                <a:defRPr/>
              </a:pPr>
              <a:r>
                <a:rPr kumimoji="1" lang="en-US" altLang="ko-KR" sz="1000" dirty="0"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VB </a:t>
              </a:r>
              <a:r>
                <a:rPr kumimoji="1" lang="ko-KR" altLang="en-US" sz="1000" dirty="0"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서블릿</a:t>
              </a:r>
            </a:p>
          </p:txBody>
        </p:sp>
        <p:sp>
          <p:nvSpPr>
            <p:cNvPr id="199" name="직사각형 198"/>
            <p:cNvSpPr/>
            <p:nvPr/>
          </p:nvSpPr>
          <p:spPr>
            <a:xfrm>
              <a:off x="3565148" y="6084000"/>
              <a:ext cx="989442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 defTabSz="914127" latinLnBrk="0">
                <a:defRPr/>
              </a:pPr>
              <a:r>
                <a:rPr kumimoji="1" lang="ko-KR" altLang="en-US" sz="1000" dirty="0"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한글 </a:t>
              </a:r>
              <a:r>
                <a:rPr kumimoji="1" lang="en-US" altLang="ko-KR" sz="1000" dirty="0"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OCX</a:t>
              </a:r>
              <a:endParaRPr kumimoji="1" lang="ko-KR" altLang="en-US" sz="10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0"/>
                </a:gra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  <p:sp>
          <p:nvSpPr>
            <p:cNvPr id="200" name="AutoShape 7"/>
            <p:cNvSpPr>
              <a:spLocks noChangeArrowheads="1"/>
            </p:cNvSpPr>
            <p:nvPr/>
          </p:nvSpPr>
          <p:spPr bwMode="auto">
            <a:xfrm>
              <a:off x="3366000" y="6282000"/>
              <a:ext cx="540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ko-KR" altLang="en-US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이미지변환</a:t>
              </a:r>
              <a:endParaRPr kumimoji="1" lang="en-US" altLang="ko-KR" sz="900" kern="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201" name="AutoShape 7"/>
            <p:cNvSpPr>
              <a:spLocks noChangeArrowheads="1"/>
            </p:cNvSpPr>
            <p:nvPr/>
          </p:nvSpPr>
          <p:spPr bwMode="auto">
            <a:xfrm>
              <a:off x="3960000" y="6282000"/>
              <a:ext cx="504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en-US" altLang="ko-KR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PDF</a:t>
              </a:r>
              <a:r>
                <a:rPr kumimoji="1" lang="ko-KR" altLang="en-US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변환</a:t>
              </a:r>
              <a:endParaRPr kumimoji="1" lang="en-US" altLang="ko-KR" sz="900" kern="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202" name="AutoShape 7"/>
            <p:cNvSpPr>
              <a:spLocks noChangeArrowheads="1"/>
            </p:cNvSpPr>
            <p:nvPr/>
          </p:nvSpPr>
          <p:spPr bwMode="auto">
            <a:xfrm>
              <a:off x="4518000" y="6282000"/>
              <a:ext cx="288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en-US" altLang="ko-KR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…</a:t>
              </a:r>
            </a:p>
          </p:txBody>
        </p:sp>
        <p:sp>
          <p:nvSpPr>
            <p:cNvPr id="203" name="AutoShape 7"/>
            <p:cNvSpPr>
              <a:spLocks noChangeArrowheads="1"/>
            </p:cNvSpPr>
            <p:nvPr/>
          </p:nvSpPr>
          <p:spPr bwMode="auto">
            <a:xfrm>
              <a:off x="1674000" y="6294442"/>
              <a:ext cx="450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en-US" altLang="ko-KR" sz="900" kern="0" dirty="0" err="1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ooo</a:t>
              </a:r>
              <a:endParaRPr kumimoji="1" lang="en-US" altLang="ko-KR" sz="900" kern="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204" name="AutoShape 7"/>
            <p:cNvSpPr>
              <a:spLocks noChangeArrowheads="1"/>
            </p:cNvSpPr>
            <p:nvPr/>
          </p:nvSpPr>
          <p:spPr bwMode="auto">
            <a:xfrm>
              <a:off x="2169000" y="6294442"/>
              <a:ext cx="450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en-US" altLang="ko-KR" sz="900" kern="0" dirty="0" err="1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ooo</a:t>
              </a:r>
              <a:endParaRPr kumimoji="1" lang="en-US" altLang="ko-KR" sz="900" kern="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205" name="AutoShape 7"/>
            <p:cNvSpPr>
              <a:spLocks noChangeArrowheads="1"/>
            </p:cNvSpPr>
            <p:nvPr/>
          </p:nvSpPr>
          <p:spPr bwMode="auto">
            <a:xfrm>
              <a:off x="2664000" y="6300000"/>
              <a:ext cx="450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en-US" altLang="ko-KR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…</a:t>
              </a:r>
            </a:p>
          </p:txBody>
        </p:sp>
      </p:grpSp>
      <p:sp>
        <p:nvSpPr>
          <p:cNvPr id="208" name="Rectangle 306"/>
          <p:cNvSpPr>
            <a:spLocks noChangeArrowheads="1"/>
          </p:cNvSpPr>
          <p:nvPr/>
        </p:nvSpPr>
        <p:spPr bwMode="auto">
          <a:xfrm>
            <a:off x="3564000" y="5773062"/>
            <a:ext cx="828000" cy="108000"/>
          </a:xfrm>
          <a:prstGeom prst="rect">
            <a:avLst/>
          </a:prstGeom>
          <a:solidFill>
            <a:srgbClr val="255A7B">
              <a:lumMod val="20000"/>
              <a:lumOff val="80000"/>
            </a:srgbClr>
          </a:solidFill>
          <a:ln w="12700" cap="flat" cmpd="sng" algn="ctr">
            <a:solidFill>
              <a:srgbClr val="255A7B">
                <a:lumMod val="20000"/>
                <a:lumOff val="8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83969" tIns="41985" rIns="83969" bIns="419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57416" latinLnBrk="0">
              <a:defRPr/>
            </a:pPr>
            <a:endParaRPr lang="ko-KR" altLang="ko-KR" kern="0" dirty="0">
              <a:solidFill>
                <a:prstClr val="white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09" name="Rectangle 338"/>
          <p:cNvSpPr>
            <a:spLocks noChangeArrowheads="1"/>
          </p:cNvSpPr>
          <p:nvPr/>
        </p:nvSpPr>
        <p:spPr bwMode="auto">
          <a:xfrm>
            <a:off x="1815645" y="4997386"/>
            <a:ext cx="2880000" cy="21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t" anchorCtr="0"/>
          <a:lstStyle/>
          <a:p>
            <a:pPr algn="ctr" defTabSz="955544" fontAlgn="ctr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90000"/>
              <a:tabLst>
                <a:tab pos="237127" algn="l"/>
              </a:tabLst>
              <a:defRPr/>
            </a:pPr>
            <a:r>
              <a:rPr lang="ko-KR" altLang="en-US" sz="1000" kern="0" spc="-46" dirty="0">
                <a:gradFill>
                  <a:gsLst>
                    <a:gs pos="54167">
                      <a:srgbClr val="002060"/>
                    </a:gs>
                    <a:gs pos="47083">
                      <a:srgbClr val="002060"/>
                    </a:gs>
                  </a:gsLst>
                  <a:lin ang="16200000" scaled="1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사용자 </a:t>
            </a:r>
            <a:r>
              <a:rPr lang="en-US" altLang="ko-KR" sz="1000" kern="0" spc="-46" dirty="0">
                <a:gradFill>
                  <a:gsLst>
                    <a:gs pos="54167">
                      <a:srgbClr val="002060"/>
                    </a:gs>
                    <a:gs pos="47083">
                      <a:srgbClr val="002060"/>
                    </a:gs>
                  </a:gsLst>
                  <a:lin ang="16200000" scaled="1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PC (Window XP, 7, 10 </a:t>
            </a:r>
            <a:r>
              <a:rPr lang="ko-KR" altLang="en-US" sz="1000" kern="0" spc="-46" dirty="0">
                <a:gradFill>
                  <a:gsLst>
                    <a:gs pos="54167">
                      <a:srgbClr val="002060"/>
                    </a:gs>
                    <a:gs pos="47083">
                      <a:srgbClr val="002060"/>
                    </a:gs>
                  </a:gsLst>
                  <a:lin ang="16200000" scaled="1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등</a:t>
            </a:r>
            <a:r>
              <a:rPr lang="en-US" altLang="ko-KR" sz="1000" kern="0" spc="-46" dirty="0">
                <a:gradFill>
                  <a:gsLst>
                    <a:gs pos="54167">
                      <a:srgbClr val="002060"/>
                    </a:gs>
                    <a:gs pos="47083">
                      <a:srgbClr val="002060"/>
                    </a:gs>
                  </a:gsLst>
                  <a:lin ang="16200000" scaled="1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)</a:t>
            </a:r>
            <a:endParaRPr lang="ko-KR" altLang="en-US" sz="1000" kern="0" spc="-46" dirty="0">
              <a:gradFill>
                <a:gsLst>
                  <a:gs pos="54167">
                    <a:srgbClr val="002060"/>
                  </a:gs>
                  <a:gs pos="47083">
                    <a:srgbClr val="002060"/>
                  </a:gs>
                </a:gsLst>
                <a:lin ang="16200000" scaled="1"/>
              </a:gra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grpSp>
        <p:nvGrpSpPr>
          <p:cNvPr id="210" name="그룹 209"/>
          <p:cNvGrpSpPr/>
          <p:nvPr/>
        </p:nvGrpSpPr>
        <p:grpSpPr>
          <a:xfrm>
            <a:off x="1620000" y="5233894"/>
            <a:ext cx="3240000" cy="468000"/>
            <a:chOff x="1620000" y="6084000"/>
            <a:chExt cx="3240000" cy="468000"/>
          </a:xfrm>
        </p:grpSpPr>
        <p:sp>
          <p:nvSpPr>
            <p:cNvPr id="211" name="Rectangle 10"/>
            <p:cNvSpPr>
              <a:spLocks noChangeArrowheads="1"/>
            </p:cNvSpPr>
            <p:nvPr/>
          </p:nvSpPr>
          <p:spPr bwMode="auto">
            <a:xfrm>
              <a:off x="1620000" y="6084000"/>
              <a:ext cx="1548000" cy="468000"/>
            </a:xfrm>
            <a:prstGeom prst="roundRect">
              <a:avLst>
                <a:gd name="adj" fmla="val 3585"/>
              </a:avLst>
            </a:prstGeom>
            <a:solidFill>
              <a:sysClr val="window" lastClr="FFFFFF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defTabSz="957416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212" name="Rectangle 10"/>
            <p:cNvSpPr>
              <a:spLocks noChangeArrowheads="1"/>
            </p:cNvSpPr>
            <p:nvPr/>
          </p:nvSpPr>
          <p:spPr bwMode="auto">
            <a:xfrm>
              <a:off x="3312000" y="6084000"/>
              <a:ext cx="1548000" cy="468000"/>
            </a:xfrm>
            <a:prstGeom prst="roundRect">
              <a:avLst>
                <a:gd name="adj" fmla="val 358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defTabSz="957416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213" name="직사각형 212"/>
            <p:cNvSpPr/>
            <p:nvPr/>
          </p:nvSpPr>
          <p:spPr>
            <a:xfrm>
              <a:off x="1881279" y="6084000"/>
              <a:ext cx="989442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 defTabSz="914127" latinLnBrk="0">
                <a:defRPr/>
              </a:pPr>
              <a:r>
                <a:rPr kumimoji="1" lang="en-US" altLang="ko-KR" sz="1000" dirty="0"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VB </a:t>
              </a:r>
              <a:r>
                <a:rPr kumimoji="1" lang="ko-KR" altLang="en-US" sz="1000" dirty="0"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클라이언트</a:t>
              </a:r>
            </a:p>
          </p:txBody>
        </p:sp>
        <p:sp>
          <p:nvSpPr>
            <p:cNvPr id="214" name="직사각형 213"/>
            <p:cNvSpPr/>
            <p:nvPr/>
          </p:nvSpPr>
          <p:spPr>
            <a:xfrm>
              <a:off x="3565148" y="6084000"/>
              <a:ext cx="989442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 defTabSz="914127" latinLnBrk="0">
                <a:defRPr/>
              </a:pPr>
              <a:r>
                <a:rPr kumimoji="1" lang="ko-KR" altLang="en-US" sz="1000" dirty="0"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한글 </a:t>
              </a:r>
              <a:r>
                <a:rPr kumimoji="1" lang="en-US" altLang="ko-KR" sz="1000" dirty="0"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OCX</a:t>
              </a:r>
              <a:endParaRPr kumimoji="1" lang="ko-KR" altLang="en-US" sz="10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0"/>
                </a:gra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  <p:sp>
          <p:nvSpPr>
            <p:cNvPr id="215" name="AutoShape 7"/>
            <p:cNvSpPr>
              <a:spLocks noChangeArrowheads="1"/>
            </p:cNvSpPr>
            <p:nvPr/>
          </p:nvSpPr>
          <p:spPr bwMode="auto">
            <a:xfrm>
              <a:off x="3366000" y="6282000"/>
              <a:ext cx="540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ko-KR" altLang="en-US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시험지 등록</a:t>
              </a:r>
              <a:endParaRPr kumimoji="1" lang="en-US" altLang="ko-KR" sz="900" kern="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216" name="AutoShape 7"/>
            <p:cNvSpPr>
              <a:spLocks noChangeArrowheads="1"/>
            </p:cNvSpPr>
            <p:nvPr/>
          </p:nvSpPr>
          <p:spPr bwMode="auto">
            <a:xfrm>
              <a:off x="3960000" y="6282000"/>
              <a:ext cx="504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ko-KR" altLang="en-US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시험문항 분할</a:t>
              </a:r>
              <a:endParaRPr kumimoji="1" lang="en-US" altLang="ko-KR" sz="900" kern="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217" name="AutoShape 7"/>
            <p:cNvSpPr>
              <a:spLocks noChangeArrowheads="1"/>
            </p:cNvSpPr>
            <p:nvPr/>
          </p:nvSpPr>
          <p:spPr bwMode="auto">
            <a:xfrm>
              <a:off x="4518000" y="6282000"/>
              <a:ext cx="288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en-US" altLang="ko-KR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…</a:t>
              </a:r>
            </a:p>
          </p:txBody>
        </p:sp>
        <p:sp>
          <p:nvSpPr>
            <p:cNvPr id="218" name="AutoShape 7"/>
            <p:cNvSpPr>
              <a:spLocks noChangeArrowheads="1"/>
            </p:cNvSpPr>
            <p:nvPr/>
          </p:nvSpPr>
          <p:spPr bwMode="auto">
            <a:xfrm>
              <a:off x="1674000" y="6294442"/>
              <a:ext cx="450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en-US" altLang="ko-KR" sz="900" kern="0" dirty="0" err="1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ooo</a:t>
              </a:r>
              <a:endParaRPr kumimoji="1" lang="en-US" altLang="ko-KR" sz="900" kern="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219" name="AutoShape 7"/>
            <p:cNvSpPr>
              <a:spLocks noChangeArrowheads="1"/>
            </p:cNvSpPr>
            <p:nvPr/>
          </p:nvSpPr>
          <p:spPr bwMode="auto">
            <a:xfrm>
              <a:off x="2169000" y="6294442"/>
              <a:ext cx="450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en-US" altLang="ko-KR" sz="900" kern="0" dirty="0" err="1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ooo</a:t>
              </a:r>
              <a:endParaRPr kumimoji="1" lang="en-US" altLang="ko-KR" sz="900" kern="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220" name="AutoShape 7"/>
            <p:cNvSpPr>
              <a:spLocks noChangeArrowheads="1"/>
            </p:cNvSpPr>
            <p:nvPr/>
          </p:nvSpPr>
          <p:spPr bwMode="auto">
            <a:xfrm>
              <a:off x="2664000" y="6300000"/>
              <a:ext cx="450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en-US" altLang="ko-KR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…</a:t>
              </a:r>
            </a:p>
          </p:txBody>
        </p:sp>
      </p:grpSp>
      <p:pic>
        <p:nvPicPr>
          <p:cNvPr id="1026" name="Picture 2" descr="vb6에 대한 이미지 검색결과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" t="22141" r="4036" b="23233"/>
          <a:stretch/>
        </p:blipFill>
        <p:spPr bwMode="auto">
          <a:xfrm>
            <a:off x="968782" y="5161063"/>
            <a:ext cx="429077" cy="24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9" name="TextBox 338"/>
          <p:cNvSpPr txBox="1"/>
          <p:nvPr/>
        </p:nvSpPr>
        <p:spPr>
          <a:xfrm>
            <a:off x="914742" y="5485063"/>
            <a:ext cx="54341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</a:lstStyle>
          <a:p>
            <a:pPr algn="ctr"/>
            <a:r>
              <a:rPr lang="en-US" altLang="ko-KR" dirty="0"/>
              <a:t>VB6 form</a:t>
            </a:r>
          </a:p>
          <a:p>
            <a:pPr algn="ctr"/>
            <a:r>
              <a:rPr lang="en-US" altLang="ko-KR" dirty="0"/>
              <a:t>(ActiveX)</a:t>
            </a:r>
            <a:endParaRPr lang="ko-KR" altLang="en-US" dirty="0"/>
          </a:p>
        </p:txBody>
      </p:sp>
      <p:cxnSp>
        <p:nvCxnSpPr>
          <p:cNvPr id="222" name="직선 화살표 연결선 221"/>
          <p:cNvCxnSpPr/>
          <p:nvPr/>
        </p:nvCxnSpPr>
        <p:spPr>
          <a:xfrm flipH="1" flipV="1">
            <a:off x="1190532" y="5777051"/>
            <a:ext cx="0" cy="2880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Rectangle 308"/>
          <p:cNvSpPr>
            <a:spLocks noChangeArrowheads="1"/>
          </p:cNvSpPr>
          <p:nvPr/>
        </p:nvSpPr>
        <p:spPr bwMode="auto">
          <a:xfrm>
            <a:off x="1512000" y="3437051"/>
            <a:ext cx="3456000" cy="873745"/>
          </a:xfrm>
          <a:prstGeom prst="rect">
            <a:avLst/>
          </a:prstGeom>
          <a:solidFill>
            <a:srgbClr val="0E69AA">
              <a:lumMod val="7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ko-KR" sz="1600" b="1" kern="0" dirty="0">
              <a:ln w="12700">
                <a:solidFill>
                  <a:srgbClr val="7D7C7F">
                    <a:satMod val="155000"/>
                  </a:srgbClr>
                </a:solidFill>
                <a:prstDash val="solid"/>
              </a:ln>
              <a:solidFill>
                <a:srgbClr val="D5D5D5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244" name="Text Box 323"/>
          <p:cNvSpPr txBox="1">
            <a:spLocks noChangeArrowheads="1"/>
          </p:cNvSpPr>
          <p:nvPr/>
        </p:nvSpPr>
        <p:spPr bwMode="auto">
          <a:xfrm>
            <a:off x="2520000" y="4081063"/>
            <a:ext cx="1440000" cy="216000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</p:spPr>
        <p:txBody>
          <a:bodyPr wrap="none" lIns="0" tIns="0" rIns="0" bIns="0" anchor="t" anchorCtr="0">
            <a:noAutofit/>
          </a:bodyPr>
          <a:lstStyle>
            <a:defPPr>
              <a:defRPr lang="ko-KR"/>
            </a:defPPr>
            <a:lvl1pPr algn="ctr" defTabSz="955544" fontAlgn="ctr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90000"/>
              <a:tabLst>
                <a:tab pos="237127" algn="l"/>
              </a:tabLst>
              <a:defRPr kern="0">
                <a:gradFill>
                  <a:gsLst>
                    <a:gs pos="47083">
                      <a:schemeClr val="bg1"/>
                    </a:gs>
                    <a:gs pos="33000">
                      <a:schemeClr val="bg1"/>
                    </a:gs>
                  </a:gsLst>
                  <a:lin ang="16200000" scaled="1"/>
                </a:gradFill>
                <a:latin typeface="Rix고딕 EB" panose="02020603020101020101" pitchFamily="18" charset="-127"/>
                <a:ea typeface="Rix고딕 EB" panose="02020603020101020101" pitchFamily="18" charset="-127"/>
              </a:defRPr>
            </a:lvl1pPr>
          </a:lstStyle>
          <a:p>
            <a:pPr>
              <a:defRPr/>
            </a:pPr>
            <a:r>
              <a:rPr lang="en-US" altLang="ko-KR" sz="1050" dirty="0">
                <a:gradFill>
                  <a:gsLst>
                    <a:gs pos="47083">
                      <a:prstClr val="white"/>
                    </a:gs>
                    <a:gs pos="33000">
                      <a:prstClr val="white"/>
                    </a:gs>
                  </a:gsLst>
                  <a:lin ang="16200000" scaled="1"/>
                </a:gradFill>
              </a:rPr>
              <a:t>Window </a:t>
            </a:r>
            <a:r>
              <a:rPr lang="ko-KR" altLang="en-US" sz="1050" dirty="0">
                <a:gradFill>
                  <a:gsLst>
                    <a:gs pos="47083">
                      <a:prstClr val="white"/>
                    </a:gs>
                    <a:gs pos="33000">
                      <a:prstClr val="white"/>
                    </a:gs>
                  </a:gsLst>
                  <a:lin ang="16200000" scaled="1"/>
                </a:gradFill>
              </a:rPr>
              <a:t>서버</a:t>
            </a:r>
          </a:p>
        </p:txBody>
      </p:sp>
      <p:sp>
        <p:nvSpPr>
          <p:cNvPr id="245" name="Rectangle 309"/>
          <p:cNvSpPr>
            <a:spLocks noChangeArrowheads="1"/>
          </p:cNvSpPr>
          <p:nvPr/>
        </p:nvSpPr>
        <p:spPr bwMode="auto">
          <a:xfrm>
            <a:off x="1512000" y="3361063"/>
            <a:ext cx="504000" cy="145205"/>
          </a:xfrm>
          <a:prstGeom prst="rect">
            <a:avLst/>
          </a:prstGeom>
          <a:solidFill>
            <a:srgbClr val="0E69AA">
              <a:lumMod val="7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ko-KR" sz="2800" b="1" kern="0" dirty="0">
              <a:ln w="12700">
                <a:solidFill>
                  <a:srgbClr val="7D7C7F">
                    <a:satMod val="155000"/>
                  </a:srgbClr>
                </a:solidFill>
                <a:prstDash val="solid"/>
              </a:ln>
              <a:solidFill>
                <a:srgbClr val="D5D5D5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246" name="Rectangle 309"/>
          <p:cNvSpPr>
            <a:spLocks noChangeArrowheads="1"/>
          </p:cNvSpPr>
          <p:nvPr/>
        </p:nvSpPr>
        <p:spPr bwMode="auto">
          <a:xfrm>
            <a:off x="4464000" y="3361063"/>
            <a:ext cx="504000" cy="145205"/>
          </a:xfrm>
          <a:prstGeom prst="rect">
            <a:avLst/>
          </a:prstGeom>
          <a:solidFill>
            <a:srgbClr val="0E69AA">
              <a:lumMod val="7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ko-KR" sz="2800" b="1" kern="0" dirty="0">
              <a:ln w="12700">
                <a:solidFill>
                  <a:srgbClr val="7D7C7F">
                    <a:satMod val="155000"/>
                  </a:srgbClr>
                </a:solidFill>
                <a:prstDash val="solid"/>
              </a:ln>
              <a:solidFill>
                <a:srgbClr val="D5D5D5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247" name="Rectangle 309"/>
          <p:cNvSpPr>
            <a:spLocks noChangeArrowheads="1"/>
          </p:cNvSpPr>
          <p:nvPr/>
        </p:nvSpPr>
        <p:spPr bwMode="auto">
          <a:xfrm>
            <a:off x="2988000" y="3361063"/>
            <a:ext cx="504000" cy="145205"/>
          </a:xfrm>
          <a:prstGeom prst="rect">
            <a:avLst/>
          </a:prstGeom>
          <a:solidFill>
            <a:srgbClr val="0E69AA">
              <a:lumMod val="7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ko-KR" sz="2800" b="1" kern="0" dirty="0">
              <a:ln w="12700">
                <a:solidFill>
                  <a:srgbClr val="7D7C7F">
                    <a:satMod val="155000"/>
                  </a:srgbClr>
                </a:solidFill>
                <a:prstDash val="solid"/>
              </a:ln>
              <a:solidFill>
                <a:srgbClr val="D5D5D5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grpSp>
        <p:nvGrpSpPr>
          <p:cNvPr id="248" name="그룹 247"/>
          <p:cNvGrpSpPr/>
          <p:nvPr/>
        </p:nvGrpSpPr>
        <p:grpSpPr>
          <a:xfrm>
            <a:off x="1620000" y="3541063"/>
            <a:ext cx="3240000" cy="468000"/>
            <a:chOff x="1620000" y="6084000"/>
            <a:chExt cx="3240000" cy="468000"/>
          </a:xfrm>
        </p:grpSpPr>
        <p:sp>
          <p:nvSpPr>
            <p:cNvPr id="249" name="Rectangle 10"/>
            <p:cNvSpPr>
              <a:spLocks noChangeArrowheads="1"/>
            </p:cNvSpPr>
            <p:nvPr/>
          </p:nvSpPr>
          <p:spPr bwMode="auto">
            <a:xfrm>
              <a:off x="1620000" y="6084000"/>
              <a:ext cx="1548000" cy="468000"/>
            </a:xfrm>
            <a:prstGeom prst="roundRect">
              <a:avLst>
                <a:gd name="adj" fmla="val 3585"/>
              </a:avLst>
            </a:prstGeom>
            <a:solidFill>
              <a:sysClr val="window" lastClr="FFFFFF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defTabSz="957416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250" name="Rectangle 10"/>
            <p:cNvSpPr>
              <a:spLocks noChangeArrowheads="1"/>
            </p:cNvSpPr>
            <p:nvPr/>
          </p:nvSpPr>
          <p:spPr bwMode="auto">
            <a:xfrm>
              <a:off x="3312000" y="6084000"/>
              <a:ext cx="1548000" cy="468000"/>
            </a:xfrm>
            <a:prstGeom prst="roundRect">
              <a:avLst>
                <a:gd name="adj" fmla="val 358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defTabSz="957416" latinLnBrk="0">
                <a:defRPr/>
              </a:pPr>
              <a:endParaRPr lang="ko-KR" altLang="en-US" sz="1800" kern="0" dirty="0">
                <a:solidFill>
                  <a:prstClr val="black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251" name="직사각형 250"/>
            <p:cNvSpPr/>
            <p:nvPr/>
          </p:nvSpPr>
          <p:spPr>
            <a:xfrm>
              <a:off x="1881279" y="6084000"/>
              <a:ext cx="989442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 defTabSz="914127" latinLnBrk="0">
                <a:defRPr/>
              </a:pPr>
              <a:r>
                <a:rPr kumimoji="1" lang="en-US" altLang="ko-KR" sz="1000" dirty="0"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VB </a:t>
              </a:r>
              <a:r>
                <a:rPr kumimoji="1" lang="ko-KR" altLang="en-US" sz="1000" dirty="0"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서블릿</a:t>
              </a:r>
            </a:p>
          </p:txBody>
        </p:sp>
        <p:sp>
          <p:nvSpPr>
            <p:cNvPr id="252" name="직사각형 251"/>
            <p:cNvSpPr/>
            <p:nvPr/>
          </p:nvSpPr>
          <p:spPr>
            <a:xfrm>
              <a:off x="3565148" y="6084000"/>
              <a:ext cx="989442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 defTabSz="914127" latinLnBrk="0">
                <a:defRPr/>
              </a:pPr>
              <a:r>
                <a:rPr kumimoji="1" lang="ko-KR" altLang="en-US" sz="1000" dirty="0"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한글 </a:t>
              </a:r>
              <a:r>
                <a:rPr kumimoji="1" lang="en-US" altLang="ko-KR" sz="1000" dirty="0"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OCX</a:t>
              </a:r>
              <a:endParaRPr kumimoji="1" lang="ko-KR" altLang="en-US" sz="10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0"/>
                </a:gra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  <p:sp>
          <p:nvSpPr>
            <p:cNvPr id="253" name="AutoShape 7"/>
            <p:cNvSpPr>
              <a:spLocks noChangeArrowheads="1"/>
            </p:cNvSpPr>
            <p:nvPr/>
          </p:nvSpPr>
          <p:spPr bwMode="auto">
            <a:xfrm>
              <a:off x="3366000" y="6282000"/>
              <a:ext cx="540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ko-KR" altLang="en-US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이미지변환</a:t>
              </a:r>
              <a:endParaRPr kumimoji="1" lang="en-US" altLang="ko-KR" sz="900" kern="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254" name="AutoShape 7"/>
            <p:cNvSpPr>
              <a:spLocks noChangeArrowheads="1"/>
            </p:cNvSpPr>
            <p:nvPr/>
          </p:nvSpPr>
          <p:spPr bwMode="auto">
            <a:xfrm>
              <a:off x="3960000" y="6282000"/>
              <a:ext cx="504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en-US" altLang="ko-KR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PDF</a:t>
              </a:r>
              <a:r>
                <a:rPr kumimoji="1" lang="ko-KR" altLang="en-US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변환</a:t>
              </a:r>
              <a:endParaRPr kumimoji="1" lang="en-US" altLang="ko-KR" sz="900" kern="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255" name="AutoShape 7"/>
            <p:cNvSpPr>
              <a:spLocks noChangeArrowheads="1"/>
            </p:cNvSpPr>
            <p:nvPr/>
          </p:nvSpPr>
          <p:spPr bwMode="auto">
            <a:xfrm>
              <a:off x="4518000" y="6282000"/>
              <a:ext cx="288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en-US" altLang="ko-KR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…</a:t>
              </a:r>
            </a:p>
          </p:txBody>
        </p:sp>
        <p:sp>
          <p:nvSpPr>
            <p:cNvPr id="256" name="AutoShape 7"/>
            <p:cNvSpPr>
              <a:spLocks noChangeArrowheads="1"/>
            </p:cNvSpPr>
            <p:nvPr/>
          </p:nvSpPr>
          <p:spPr bwMode="auto">
            <a:xfrm>
              <a:off x="1674000" y="6294442"/>
              <a:ext cx="450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ko-KR" altLang="en-US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시험지 생성</a:t>
              </a:r>
              <a:endParaRPr kumimoji="1" lang="en-US" altLang="ko-KR" sz="900" kern="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257" name="AutoShape 7"/>
            <p:cNvSpPr>
              <a:spLocks noChangeArrowheads="1"/>
            </p:cNvSpPr>
            <p:nvPr/>
          </p:nvSpPr>
          <p:spPr bwMode="auto">
            <a:xfrm>
              <a:off x="2169000" y="6294442"/>
              <a:ext cx="450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en-US" altLang="ko-KR" sz="900" kern="0" dirty="0" err="1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ooo</a:t>
              </a:r>
              <a:endParaRPr kumimoji="1" lang="en-US" altLang="ko-KR" sz="900" kern="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258" name="AutoShape 7"/>
            <p:cNvSpPr>
              <a:spLocks noChangeArrowheads="1"/>
            </p:cNvSpPr>
            <p:nvPr/>
          </p:nvSpPr>
          <p:spPr bwMode="auto">
            <a:xfrm>
              <a:off x="2664000" y="6300000"/>
              <a:ext cx="450000" cy="216000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9525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57416" fontAlgn="base" latinLnBrk="0">
                <a:buClr>
                  <a:srgbClr val="4D4D4D"/>
                </a:buClr>
                <a:buSzPts val="1300"/>
                <a:buFont typeface="Wingdings" pitchFamily="2" charset="2"/>
                <a:buNone/>
                <a:defRPr/>
              </a:pPr>
              <a:r>
                <a:rPr kumimoji="1" lang="en-US" altLang="ko-KR" sz="900" kern="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…</a:t>
              </a: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1512000" y="2713063"/>
            <a:ext cx="3456000" cy="683999"/>
            <a:chOff x="1512000" y="2700000"/>
            <a:chExt cx="3456000" cy="683999"/>
          </a:xfrm>
        </p:grpSpPr>
        <p:sp>
          <p:nvSpPr>
            <p:cNvPr id="241" name="Rectangle 303"/>
            <p:cNvSpPr>
              <a:spLocks noChangeArrowheads="1"/>
            </p:cNvSpPr>
            <p:nvPr/>
          </p:nvSpPr>
          <p:spPr bwMode="auto">
            <a:xfrm>
              <a:off x="1512000" y="2700000"/>
              <a:ext cx="3456000" cy="576000"/>
            </a:xfrm>
            <a:prstGeom prst="rect">
              <a:avLst/>
            </a:prstGeom>
            <a:solidFill>
              <a:srgbClr val="255A7B">
                <a:lumMod val="20000"/>
                <a:lumOff val="80000"/>
              </a:srgbClr>
            </a:solidFill>
            <a:ln w="12700" cap="flat" cmpd="sng" algn="ctr">
              <a:solidFill>
                <a:srgbClr val="255A7B">
                  <a:lumMod val="20000"/>
                  <a:lumOff val="8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83969" tIns="41985" rIns="83969" bIns="4198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7416" latinLnBrk="0">
                <a:defRPr/>
              </a:pPr>
              <a:endParaRPr lang="ko-KR" altLang="ko-KR" sz="1200" kern="0" dirty="0">
                <a:solidFill>
                  <a:prstClr val="white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242" name="Rectangle 306"/>
            <p:cNvSpPr>
              <a:spLocks noChangeArrowheads="1"/>
            </p:cNvSpPr>
            <p:nvPr/>
          </p:nvSpPr>
          <p:spPr bwMode="auto">
            <a:xfrm>
              <a:off x="2088000" y="3275999"/>
              <a:ext cx="828000" cy="108000"/>
            </a:xfrm>
            <a:prstGeom prst="rect">
              <a:avLst/>
            </a:prstGeom>
            <a:solidFill>
              <a:srgbClr val="255A7B">
                <a:lumMod val="20000"/>
                <a:lumOff val="80000"/>
              </a:srgbClr>
            </a:solidFill>
            <a:ln w="12700" cap="flat" cmpd="sng" algn="ctr">
              <a:solidFill>
                <a:srgbClr val="255A7B">
                  <a:lumMod val="20000"/>
                  <a:lumOff val="8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83969" tIns="41985" rIns="83969" bIns="4198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7416" latinLnBrk="0">
                <a:defRPr/>
              </a:pPr>
              <a:endParaRPr lang="ko-KR" altLang="ko-KR" kern="0" dirty="0">
                <a:solidFill>
                  <a:prstClr val="white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259" name="Rectangle 306"/>
            <p:cNvSpPr>
              <a:spLocks noChangeArrowheads="1"/>
            </p:cNvSpPr>
            <p:nvPr/>
          </p:nvSpPr>
          <p:spPr bwMode="auto">
            <a:xfrm>
              <a:off x="3564000" y="3275999"/>
              <a:ext cx="828000" cy="108000"/>
            </a:xfrm>
            <a:prstGeom prst="rect">
              <a:avLst/>
            </a:prstGeom>
            <a:solidFill>
              <a:srgbClr val="255A7B">
                <a:lumMod val="20000"/>
                <a:lumOff val="80000"/>
              </a:srgbClr>
            </a:solidFill>
            <a:ln w="12700" cap="flat" cmpd="sng" algn="ctr">
              <a:solidFill>
                <a:srgbClr val="255A7B">
                  <a:lumMod val="20000"/>
                  <a:lumOff val="8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83969" tIns="41985" rIns="83969" bIns="4198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7416" latinLnBrk="0">
                <a:defRPr/>
              </a:pPr>
              <a:endParaRPr lang="ko-KR" altLang="ko-KR" kern="0" dirty="0">
                <a:solidFill>
                  <a:prstClr val="white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</p:grpSp>
      <p:sp>
        <p:nvSpPr>
          <p:cNvPr id="276" name="Rectangle 338"/>
          <p:cNvSpPr>
            <a:spLocks noChangeArrowheads="1"/>
          </p:cNvSpPr>
          <p:nvPr/>
        </p:nvSpPr>
        <p:spPr bwMode="auto">
          <a:xfrm>
            <a:off x="1800000" y="2713063"/>
            <a:ext cx="2880000" cy="21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t" anchorCtr="0"/>
          <a:lstStyle/>
          <a:p>
            <a:pPr algn="ctr" defTabSz="955544" fontAlgn="ctr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90000"/>
              <a:tabLst>
                <a:tab pos="237127" algn="l"/>
              </a:tabLst>
              <a:defRPr/>
            </a:pPr>
            <a:r>
              <a:rPr lang="ko-KR" altLang="en-US" sz="1000" kern="0" spc="-46" dirty="0">
                <a:gradFill>
                  <a:gsLst>
                    <a:gs pos="54167">
                      <a:srgbClr val="002060"/>
                    </a:gs>
                    <a:gs pos="47083">
                      <a:srgbClr val="002060"/>
                    </a:gs>
                  </a:gsLst>
                  <a:lin ang="16200000" scaled="1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사용자 </a:t>
            </a:r>
            <a:r>
              <a:rPr lang="en-US" altLang="ko-KR" sz="1000" kern="0" spc="-46" dirty="0">
                <a:gradFill>
                  <a:gsLst>
                    <a:gs pos="54167">
                      <a:srgbClr val="002060"/>
                    </a:gs>
                    <a:gs pos="47083">
                      <a:srgbClr val="002060"/>
                    </a:gs>
                  </a:gsLst>
                  <a:lin ang="16200000" scaled="1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PC (</a:t>
            </a:r>
            <a:r>
              <a:rPr lang="ko-KR" altLang="en-US" sz="1000" kern="0" spc="-46" dirty="0">
                <a:gradFill>
                  <a:gsLst>
                    <a:gs pos="54167">
                      <a:srgbClr val="002060"/>
                    </a:gs>
                    <a:gs pos="47083">
                      <a:srgbClr val="002060"/>
                    </a:gs>
                  </a:gsLst>
                  <a:lin ang="16200000" scaled="1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브라우저</a:t>
            </a:r>
            <a:r>
              <a:rPr lang="en-US" altLang="ko-KR" sz="1000" kern="0" spc="-46" dirty="0">
                <a:gradFill>
                  <a:gsLst>
                    <a:gs pos="54167">
                      <a:srgbClr val="002060"/>
                    </a:gs>
                    <a:gs pos="47083">
                      <a:srgbClr val="002060"/>
                    </a:gs>
                  </a:gsLst>
                  <a:lin ang="16200000" scaled="1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)</a:t>
            </a:r>
            <a:endParaRPr lang="ko-KR" altLang="en-US" sz="1000" kern="0" spc="-46" dirty="0">
              <a:gradFill>
                <a:gsLst>
                  <a:gs pos="54167">
                    <a:srgbClr val="002060"/>
                  </a:gs>
                  <a:gs pos="47083">
                    <a:srgbClr val="002060"/>
                  </a:gs>
                </a:gsLst>
                <a:lin ang="16200000" scaled="1"/>
              </a:gra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278" name="Rectangle 10"/>
          <p:cNvSpPr>
            <a:spLocks noChangeArrowheads="1"/>
          </p:cNvSpPr>
          <p:nvPr/>
        </p:nvSpPr>
        <p:spPr bwMode="auto">
          <a:xfrm>
            <a:off x="1620000" y="2929063"/>
            <a:ext cx="3240000" cy="309600"/>
          </a:xfrm>
          <a:prstGeom prst="roundRect">
            <a:avLst>
              <a:gd name="adj" fmla="val 3585"/>
            </a:avLst>
          </a:prstGeom>
          <a:solidFill>
            <a:sysClr val="window" lastClr="FFFFFF"/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 defTabSz="957416" latinLnBrk="0">
              <a:defRPr/>
            </a:pPr>
            <a:endParaRPr lang="ko-KR" altLang="en-US" sz="1800" kern="0" dirty="0">
              <a:solidFill>
                <a:prstClr val="black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99" name="AutoShape 7"/>
          <p:cNvSpPr>
            <a:spLocks noChangeArrowheads="1"/>
          </p:cNvSpPr>
          <p:nvPr/>
        </p:nvSpPr>
        <p:spPr bwMode="auto">
          <a:xfrm>
            <a:off x="4068000" y="2965063"/>
            <a:ext cx="720000" cy="216000"/>
          </a:xfrm>
          <a:prstGeom prst="rect">
            <a:avLst/>
          </a:prstGeom>
          <a:solidFill>
            <a:srgbClr val="7F7F7F">
              <a:lumMod val="20000"/>
              <a:lumOff val="80000"/>
            </a:srgbClr>
          </a:solidFill>
          <a:ln w="9525" algn="ctr">
            <a:noFill/>
            <a:prstDash val="solid"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957416" fontAlgn="base" latinLnBrk="0">
              <a:buClr>
                <a:srgbClr val="4D4D4D"/>
              </a:buClr>
              <a:buSzPts val="1300"/>
              <a:buFont typeface="Wingdings" pitchFamily="2" charset="2"/>
              <a:buNone/>
              <a:defRPr/>
            </a:pPr>
            <a:r>
              <a:rPr kumimoji="1" lang="ko-KR" altLang="en-US" sz="900" kern="0" dirty="0">
                <a:solidFill>
                  <a:prstClr val="black">
                    <a:lumMod val="85000"/>
                    <a:lumOff val="15000"/>
                  </a:prstClr>
                </a:solidFill>
              </a:rPr>
              <a:t>채점</a:t>
            </a:r>
            <a:endParaRPr kumimoji="1" lang="en-US" altLang="ko-KR" sz="900" kern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300" name="AutoShape 7"/>
          <p:cNvSpPr>
            <a:spLocks noChangeArrowheads="1"/>
          </p:cNvSpPr>
          <p:nvPr/>
        </p:nvSpPr>
        <p:spPr bwMode="auto">
          <a:xfrm>
            <a:off x="1674000" y="2965063"/>
            <a:ext cx="720000" cy="216000"/>
          </a:xfrm>
          <a:prstGeom prst="rect">
            <a:avLst/>
          </a:prstGeom>
          <a:solidFill>
            <a:srgbClr val="7F7F7F">
              <a:lumMod val="20000"/>
              <a:lumOff val="80000"/>
            </a:srgbClr>
          </a:solidFill>
          <a:ln w="9525" algn="ctr">
            <a:noFill/>
            <a:prstDash val="solid"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957416" fontAlgn="base" latinLnBrk="0">
              <a:buClr>
                <a:srgbClr val="4D4D4D"/>
              </a:buClr>
              <a:buSzPts val="1300"/>
              <a:buFont typeface="Wingdings" pitchFamily="2" charset="2"/>
              <a:buNone/>
              <a:defRPr/>
            </a:pPr>
            <a:r>
              <a:rPr kumimoji="1" lang="ko-KR" altLang="en-US" sz="900" kern="0" dirty="0">
                <a:solidFill>
                  <a:prstClr val="black">
                    <a:lumMod val="85000"/>
                    <a:lumOff val="15000"/>
                  </a:prstClr>
                </a:solidFill>
              </a:rPr>
              <a:t>시험지 생성</a:t>
            </a:r>
            <a:endParaRPr kumimoji="1" lang="en-US" altLang="ko-KR" sz="900" kern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301" name="AutoShape 7"/>
          <p:cNvSpPr>
            <a:spLocks noChangeArrowheads="1"/>
          </p:cNvSpPr>
          <p:nvPr/>
        </p:nvSpPr>
        <p:spPr bwMode="auto">
          <a:xfrm>
            <a:off x="2472000" y="2965063"/>
            <a:ext cx="720000" cy="216000"/>
          </a:xfrm>
          <a:prstGeom prst="rect">
            <a:avLst/>
          </a:prstGeom>
          <a:solidFill>
            <a:srgbClr val="7F7F7F">
              <a:lumMod val="20000"/>
              <a:lumOff val="80000"/>
            </a:srgbClr>
          </a:solidFill>
          <a:ln w="9525" algn="ctr">
            <a:noFill/>
            <a:prstDash val="solid"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957416" fontAlgn="base" latinLnBrk="0">
              <a:buClr>
                <a:srgbClr val="4D4D4D"/>
              </a:buClr>
              <a:buSzPts val="1300"/>
              <a:buFont typeface="Wingdings" pitchFamily="2" charset="2"/>
              <a:buNone/>
              <a:defRPr/>
            </a:pPr>
            <a:r>
              <a:rPr kumimoji="1" lang="ko-KR" altLang="en-US" sz="900" kern="0" dirty="0">
                <a:solidFill>
                  <a:prstClr val="black">
                    <a:lumMod val="85000"/>
                    <a:lumOff val="15000"/>
                  </a:prstClr>
                </a:solidFill>
              </a:rPr>
              <a:t>문항 이동</a:t>
            </a:r>
            <a:endParaRPr kumimoji="1" lang="en-US" altLang="ko-KR" sz="900" kern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312" name="AutoShape 7"/>
          <p:cNvSpPr>
            <a:spLocks noChangeArrowheads="1"/>
          </p:cNvSpPr>
          <p:nvPr/>
        </p:nvSpPr>
        <p:spPr bwMode="auto">
          <a:xfrm>
            <a:off x="3270000" y="2965063"/>
            <a:ext cx="720000" cy="216000"/>
          </a:xfrm>
          <a:prstGeom prst="rect">
            <a:avLst/>
          </a:prstGeom>
          <a:solidFill>
            <a:srgbClr val="7F7F7F">
              <a:lumMod val="20000"/>
              <a:lumOff val="80000"/>
            </a:srgbClr>
          </a:solidFill>
          <a:ln w="9525" algn="ctr">
            <a:noFill/>
            <a:prstDash val="solid"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957416" fontAlgn="base" latinLnBrk="0">
              <a:buClr>
                <a:srgbClr val="4D4D4D"/>
              </a:buClr>
              <a:buSzPts val="1300"/>
              <a:buFont typeface="Wingdings" pitchFamily="2" charset="2"/>
              <a:buNone/>
              <a:defRPr/>
            </a:pPr>
            <a:r>
              <a:rPr kumimoji="1" lang="ko-KR" altLang="en-US" sz="900" kern="0" dirty="0">
                <a:solidFill>
                  <a:prstClr val="black">
                    <a:lumMod val="85000"/>
                    <a:lumOff val="15000"/>
                  </a:prstClr>
                </a:solidFill>
              </a:rPr>
              <a:t>답 입력</a:t>
            </a:r>
            <a:endParaRPr kumimoji="1" lang="en-US" altLang="ko-KR" sz="900" kern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pic>
        <p:nvPicPr>
          <p:cNvPr id="358" name="Picture 6" descr="wwwì ëí ì´ë¯¸ì§ ê²ìê²°ê³¼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583" y="2952471"/>
            <a:ext cx="328764" cy="315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5" name="TextBox 364"/>
          <p:cNvSpPr txBox="1"/>
          <p:nvPr/>
        </p:nvSpPr>
        <p:spPr>
          <a:xfrm>
            <a:off x="814078" y="2741557"/>
            <a:ext cx="7617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</a:lstStyle>
          <a:p>
            <a:r>
              <a:rPr lang="ko-KR" altLang="en-US" dirty="0" err="1"/>
              <a:t>웹브라우져</a:t>
            </a:r>
            <a:endParaRPr lang="ko-KR" altLang="en-US" dirty="0"/>
          </a:p>
        </p:txBody>
      </p:sp>
      <p:cxnSp>
        <p:nvCxnSpPr>
          <p:cNvPr id="366" name="직선 연결선 365"/>
          <p:cNvCxnSpPr/>
          <p:nvPr/>
        </p:nvCxnSpPr>
        <p:spPr>
          <a:xfrm flipV="1">
            <a:off x="1198513" y="3225742"/>
            <a:ext cx="0" cy="19509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직선 연결선 366"/>
          <p:cNvCxnSpPr/>
          <p:nvPr/>
        </p:nvCxnSpPr>
        <p:spPr>
          <a:xfrm flipH="1">
            <a:off x="1317813" y="3123078"/>
            <a:ext cx="183787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TextBox 367"/>
          <p:cNvSpPr txBox="1"/>
          <p:nvPr/>
        </p:nvSpPr>
        <p:spPr>
          <a:xfrm>
            <a:off x="1008327" y="3764089"/>
            <a:ext cx="34624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</a:lstStyle>
          <a:p>
            <a:r>
              <a:rPr lang="ko-KR" altLang="en-US" dirty="0"/>
              <a:t>사용자</a:t>
            </a:r>
            <a:endParaRPr lang="en-US" altLang="ko-KR" dirty="0"/>
          </a:p>
        </p:txBody>
      </p:sp>
      <p:pic>
        <p:nvPicPr>
          <p:cNvPr id="369" name="Picture 4" descr="ì¬ëì ëí ì´ë¯¸ì§ ê²ìê²°ê³¼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83"/>
          <a:stretch/>
        </p:blipFill>
        <p:spPr bwMode="auto">
          <a:xfrm>
            <a:off x="1028341" y="3435452"/>
            <a:ext cx="324382" cy="25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6" name="그룹 95"/>
          <p:cNvGrpSpPr/>
          <p:nvPr/>
        </p:nvGrpSpPr>
        <p:grpSpPr>
          <a:xfrm>
            <a:off x="5688000" y="5321309"/>
            <a:ext cx="4157816" cy="1315754"/>
            <a:chOff x="5688000" y="2448005"/>
            <a:chExt cx="4157816" cy="1315754"/>
          </a:xfrm>
        </p:grpSpPr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DC879B37-B38E-4949-9DA6-19CBF32E041E}"/>
                </a:ext>
              </a:extLst>
            </p:cNvPr>
            <p:cNvGrpSpPr/>
            <p:nvPr/>
          </p:nvGrpSpPr>
          <p:grpSpPr>
            <a:xfrm>
              <a:off x="5688000" y="2448005"/>
              <a:ext cx="3060251" cy="265390"/>
              <a:chOff x="460373" y="2034191"/>
              <a:chExt cx="2834913" cy="240706"/>
            </a:xfrm>
          </p:grpSpPr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28F16B8A-8755-481D-8EC5-B0A556C564FA}"/>
                  </a:ext>
                </a:extLst>
              </p:cNvPr>
              <p:cNvSpPr/>
              <p:nvPr/>
            </p:nvSpPr>
            <p:spPr>
              <a:xfrm>
                <a:off x="766386" y="2048356"/>
                <a:ext cx="2528900" cy="20936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vert="horz"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defTabSz="995393" fontAlgn="base" latinLnBrk="0">
                  <a:spcAft>
                    <a:spcPts val="163"/>
                  </a:spcAft>
                  <a:buClr>
                    <a:srgbClr val="8B8F9E"/>
                  </a:buClr>
                  <a:buSzPct val="100000"/>
                  <a:tabLst>
                    <a:tab pos="1175468" algn="l"/>
                  </a:tabLst>
                  <a:defRPr/>
                </a:pPr>
                <a:r>
                  <a:rPr lang="en-US" altLang="ko-KR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3</a:t>
                </a:r>
                <a:r>
                  <a:rPr lang="ko-KR" altLang="en-US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안</a:t>
                </a:r>
                <a:r>
                  <a:rPr lang="en-US" altLang="ko-KR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) OCX</a:t>
                </a:r>
                <a:r>
                  <a:rPr lang="ko-KR" altLang="en-US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활용</a:t>
                </a:r>
                <a:r>
                  <a:rPr lang="en-US" altLang="ko-KR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, Window</a:t>
                </a:r>
                <a:r>
                  <a:rPr lang="ko-KR" altLang="en-US" sz="15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 서버 사용</a:t>
                </a:r>
              </a:p>
            </p:txBody>
          </p:sp>
          <p:pic>
            <p:nvPicPr>
              <p:cNvPr id="112" name="Picture 3" descr="D:\19.전지수\1. 제안서\1. 표준제안\★2017_표준제안설명회\작업\버트2.png">
                <a:extLst>
                  <a:ext uri="{FF2B5EF4-FFF2-40B4-BE49-F238E27FC236}">
                    <a16:creationId xmlns:a16="http://schemas.microsoft.com/office/drawing/2014/main" id="{ED7A0B1A-39B8-4AF8-8B73-0B71972853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0373" y="2034191"/>
                <a:ext cx="255754" cy="2407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9" name="직사각형 108"/>
            <p:cNvSpPr/>
            <p:nvPr/>
          </p:nvSpPr>
          <p:spPr>
            <a:xfrm>
              <a:off x="5885816" y="2755759"/>
              <a:ext cx="3960000" cy="10080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16000" indent="-216000" latinLnBrk="0">
                <a:spcBef>
                  <a:spcPts val="600"/>
                </a:spcBef>
                <a:buClr>
                  <a:srgbClr val="7D7C7F"/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사용자단 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WEB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기반으로 구현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, 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문항편집 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ActiveX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기반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 구현</a:t>
              </a:r>
              <a:endPara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  <a:p>
              <a:pPr marL="216000" indent="-216000" latinLnBrk="0">
                <a:spcBef>
                  <a:spcPts val="600"/>
                </a:spcBef>
                <a:buClr>
                  <a:srgbClr val="7D7C7F"/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한글 이외의 업무기능은 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JAVA 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기반 구현</a:t>
              </a:r>
            </a:p>
            <a:p>
              <a:pPr marL="216000" indent="-216000" latinLnBrk="0">
                <a:spcBef>
                  <a:spcPts val="600"/>
                </a:spcBef>
                <a:buClr>
                  <a:srgbClr val="7D7C7F"/>
                </a:buClr>
                <a:buSzPct val="90000"/>
                <a:buFont typeface="Arial" pitchFamily="34" charset="0"/>
                <a:buChar char="•"/>
              </a:pP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한글 시험문항을 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이미지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 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변환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,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 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PDF 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변환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은 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Window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기반 </a:t>
              </a:r>
              <a:r>
                <a:rPr lang="en-US" altLang="ko-KR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OCX</a:t>
              </a:r>
              <a:r>
                <a:rPr lang="ko-KR" altLang="en-US" sz="12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gradFill>
                    <a:gsLst>
                      <a:gs pos="57083">
                        <a:prstClr val="black">
                          <a:lumMod val="75000"/>
                          <a:lumOff val="25000"/>
                        </a:prstClr>
                      </a:gs>
                      <a:gs pos="68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활용</a:t>
              </a:r>
              <a:endParaRPr lang="en-US" altLang="ko-KR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57083">
                      <a:prstClr val="black">
                        <a:lumMod val="75000"/>
                        <a:lumOff val="25000"/>
                      </a:prstClr>
                    </a:gs>
                    <a:gs pos="68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05171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3. </a:t>
            </a:r>
            <a:r>
              <a:rPr lang="ko-KR" altLang="en-US" sz="2000" dirty="0"/>
              <a:t>주요 개발 방안</a:t>
            </a:r>
            <a:r>
              <a:rPr lang="ko-KR" altLang="en-US" dirty="0"/>
              <a:t> </a:t>
            </a:r>
            <a:r>
              <a:rPr lang="en-US" altLang="ko-KR" dirty="0"/>
              <a:t>– ③ </a:t>
            </a:r>
            <a:r>
              <a:rPr lang="en-US" altLang="ko-KR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</a:rPr>
              <a:t>TMS Back-Office Application </a:t>
            </a:r>
            <a:r>
              <a:rPr lang="en-US" altLang="ko-KR" sz="160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</a:rPr>
              <a:t>(1/2)</a:t>
            </a:r>
            <a:endParaRPr lang="ko-KR" altLang="en-US" sz="1600" dirty="0"/>
          </a:p>
        </p:txBody>
      </p:sp>
      <p:grpSp>
        <p:nvGrpSpPr>
          <p:cNvPr id="95" name="그룹 94"/>
          <p:cNvGrpSpPr/>
          <p:nvPr/>
        </p:nvGrpSpPr>
        <p:grpSpPr>
          <a:xfrm>
            <a:off x="738188" y="1629856"/>
            <a:ext cx="9217025" cy="5318633"/>
            <a:chOff x="3847798" y="1572785"/>
            <a:chExt cx="6107415" cy="5318633"/>
          </a:xfrm>
        </p:grpSpPr>
        <p:sp>
          <p:nvSpPr>
            <p:cNvPr id="98" name="직사각형 97"/>
            <p:cNvSpPr/>
            <p:nvPr/>
          </p:nvSpPr>
          <p:spPr bwMode="auto">
            <a:xfrm>
              <a:off x="3847798" y="1572785"/>
              <a:ext cx="2960322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문제은행 </a:t>
              </a:r>
              <a:r>
                <a:rPr lang="en-US" altLang="ko-KR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C/S</a:t>
              </a: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의 </a:t>
              </a:r>
              <a:r>
                <a:rPr lang="en-US" altLang="ko-KR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WEB</a:t>
              </a: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 전환</a:t>
              </a:r>
              <a:endParaRPr lang="en-US" altLang="ko-KR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endParaRPr>
            </a:p>
          </p:txBody>
        </p:sp>
        <p:sp>
          <p:nvSpPr>
            <p:cNvPr id="99" name="직사각형 98"/>
            <p:cNvSpPr/>
            <p:nvPr/>
          </p:nvSpPr>
          <p:spPr bwMode="auto">
            <a:xfrm>
              <a:off x="3847798" y="2159106"/>
              <a:ext cx="2960322" cy="473231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100" name="직사각형 99"/>
            <p:cNvSpPr/>
            <p:nvPr/>
          </p:nvSpPr>
          <p:spPr bwMode="auto">
            <a:xfrm>
              <a:off x="6994891" y="1572785"/>
              <a:ext cx="2960322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서비스 환경 변경</a:t>
              </a:r>
              <a:endParaRPr lang="en-US" altLang="ko-KR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endParaRPr>
            </a:p>
          </p:txBody>
        </p:sp>
        <p:sp>
          <p:nvSpPr>
            <p:cNvPr id="113" name="직사각형 112"/>
            <p:cNvSpPr/>
            <p:nvPr/>
          </p:nvSpPr>
          <p:spPr bwMode="auto">
            <a:xfrm>
              <a:off x="6994891" y="2159106"/>
              <a:ext cx="2960322" cy="473231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graphicFrame>
        <p:nvGraphicFramePr>
          <p:cNvPr id="11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018105"/>
              </p:ext>
            </p:extLst>
          </p:nvPr>
        </p:nvGraphicFramePr>
        <p:xfrm>
          <a:off x="5670459" y="2467199"/>
          <a:ext cx="4140861" cy="4277470"/>
        </p:xfrm>
        <a:graphic>
          <a:graphicData uri="http://schemas.openxmlformats.org/drawingml/2006/table">
            <a:tbl>
              <a:tblPr firstRow="1"/>
              <a:tblGrid>
                <a:gridCol w="612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626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구분</a:t>
                      </a:r>
                      <a:endParaRPr kumimoji="0" 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AS-IS</a:t>
                      </a:r>
                      <a:endParaRPr kumimoji="0" lang="ko-KR" alt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TO-BE</a:t>
                      </a:r>
                      <a:endParaRPr kumimoji="0" 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364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UI</a:t>
                      </a:r>
                      <a:endParaRPr 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Visual</a:t>
                      </a:r>
                      <a:r>
                        <a:rPr lang="en-US" altLang="ko-KR" sz="1000" b="0" i="0" u="none" strike="noStrike" kern="1200" baseline="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 Basic Client</a:t>
                      </a:r>
                      <a:endParaRPr 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WEB interface</a:t>
                      </a:r>
                    </a:p>
                    <a:p>
                      <a:pPr marL="0" marR="0" lvl="0" indent="0" algn="ctr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한글 </a:t>
                      </a: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OCX </a:t>
                      </a: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사용 검토 중</a:t>
                      </a: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3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Servlet</a:t>
                      </a:r>
                      <a:endParaRPr lang="ko-KR" altLang="en-US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Visual</a:t>
                      </a:r>
                      <a:r>
                        <a:rPr lang="en-US" altLang="ko-KR" sz="1000" b="0" i="0" u="none" strike="noStrike" kern="1200" baseline="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 Basic Servlet</a:t>
                      </a:r>
                      <a:endParaRPr lang="en-US" alt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JAVA Servlet</a:t>
                      </a:r>
                    </a:p>
                    <a:p>
                      <a:pPr marL="0" marR="0" lvl="0" indent="0" algn="ctr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방안 검토 중</a:t>
                      </a: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871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HWP</a:t>
                      </a: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Control</a:t>
                      </a:r>
                      <a:endParaRPr 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Hwpctrl.ocx</a:t>
                      </a:r>
                      <a:endParaRPr lang="ko-KR" alt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Hwpctrl.ocx</a:t>
                      </a:r>
                      <a:r>
                        <a:rPr lang="en-US" altLang="ko-KR" sz="1000" b="0" i="0" u="none" strike="noStrike" kern="1200" baseline="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baseline="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제거를 위한</a:t>
                      </a:r>
                      <a:endParaRPr lang="en-US" altLang="ko-KR" sz="1000" b="0" i="0" u="none" strike="noStrike" kern="1200" baseline="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baseline="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오픈소스</a:t>
                      </a:r>
                      <a:r>
                        <a:rPr lang="en-US" altLang="ko-KR" sz="1000" b="0" i="0" u="none" strike="noStrike" kern="1200" baseline="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baseline="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솔루션 검토 중</a:t>
                      </a:r>
                      <a:endParaRPr lang="en-US" alt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82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DB</a:t>
                      </a:r>
                      <a:endParaRPr 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0" marB="0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5" name="그룹 114"/>
          <p:cNvGrpSpPr/>
          <p:nvPr/>
        </p:nvGrpSpPr>
        <p:grpSpPr>
          <a:xfrm>
            <a:off x="6714890" y="5156096"/>
            <a:ext cx="864120" cy="570078"/>
            <a:chOff x="6714890" y="5216478"/>
            <a:chExt cx="864120" cy="570078"/>
          </a:xfrm>
        </p:grpSpPr>
        <p:pic>
          <p:nvPicPr>
            <p:cNvPr id="116" name="Picture 13" descr="D:\19.전지수\1. 제안서\1. 표준제안\★2017_인사이드정보 표준제안템플릿,요약서겸(세로형)\아이콘\완료\png\DB\DB(블루).png"/>
            <p:cNvPicPr preferRelativeResize="0"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4890" y="5216478"/>
              <a:ext cx="864120" cy="570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7" name="TextBox 116"/>
            <p:cNvSpPr txBox="1"/>
            <p:nvPr/>
          </p:nvSpPr>
          <p:spPr>
            <a:xfrm>
              <a:off x="6714890" y="5370475"/>
              <a:ext cx="8641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  <a:t>I-SYSTEM</a:t>
              </a:r>
              <a:br>
                <a:rPr lang="en-US" altLang="ko-KR" sz="100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</a:br>
              <a:r>
                <a:rPr lang="en-US" altLang="ko-KR" sz="100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  <a:t>DB</a:t>
              </a:r>
              <a:endParaRPr lang="ko-KR" altLang="en-US" sz="1000" dirty="0">
                <a:gradFill>
                  <a:gsLst>
                    <a:gs pos="87500">
                      <a:prstClr val="black">
                        <a:lumMod val="85000"/>
                        <a:lumOff val="15000"/>
                      </a:prstClr>
                    </a:gs>
                    <a:gs pos="687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  <a:latin typeface="+mn-ea"/>
              </a:endParaRPr>
            </a:p>
          </p:txBody>
        </p:sp>
      </p:grpSp>
      <p:pic>
        <p:nvPicPr>
          <p:cNvPr id="11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651" y="4781309"/>
            <a:ext cx="847815" cy="237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9" name="그룹 118"/>
          <p:cNvGrpSpPr/>
          <p:nvPr/>
        </p:nvGrpSpPr>
        <p:grpSpPr>
          <a:xfrm>
            <a:off x="6714890" y="5880549"/>
            <a:ext cx="864120" cy="570078"/>
            <a:chOff x="6714890" y="5216478"/>
            <a:chExt cx="864120" cy="570078"/>
          </a:xfrm>
        </p:grpSpPr>
        <p:pic>
          <p:nvPicPr>
            <p:cNvPr id="120" name="Picture 13" descr="D:\19.전지수\1. 제안서\1. 표준제안\★2017_인사이드정보 표준제안템플릿,요약서겸(세로형)\아이콘\완료\png\DB\DB(블루).png"/>
            <p:cNvPicPr preferRelativeResize="0"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4890" y="5216478"/>
              <a:ext cx="864120" cy="570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2" name="TextBox 121"/>
            <p:cNvSpPr txBox="1"/>
            <p:nvPr/>
          </p:nvSpPr>
          <p:spPr>
            <a:xfrm>
              <a:off x="6714890" y="5370475"/>
              <a:ext cx="8641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  <a:t>E-BANK</a:t>
              </a:r>
              <a:br>
                <a:rPr lang="en-US" altLang="ko-KR" sz="100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</a:br>
              <a:r>
                <a:rPr lang="en-US" altLang="ko-KR" sz="100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  <a:t>DB</a:t>
              </a:r>
              <a:endParaRPr lang="ko-KR" altLang="en-US" sz="1000" dirty="0">
                <a:gradFill>
                  <a:gsLst>
                    <a:gs pos="87500">
                      <a:prstClr val="black">
                        <a:lumMod val="85000"/>
                        <a:lumOff val="15000"/>
                      </a:prstClr>
                    </a:gs>
                    <a:gs pos="687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  <a:latin typeface="+mn-ea"/>
              </a:endParaRPr>
            </a:p>
          </p:txBody>
        </p:sp>
      </p:grpSp>
      <p:grpSp>
        <p:nvGrpSpPr>
          <p:cNvPr id="126" name="그룹 125"/>
          <p:cNvGrpSpPr/>
          <p:nvPr/>
        </p:nvGrpSpPr>
        <p:grpSpPr>
          <a:xfrm>
            <a:off x="8208399" y="5292014"/>
            <a:ext cx="1557141" cy="1386269"/>
            <a:chOff x="8208399" y="5257510"/>
            <a:chExt cx="1557141" cy="1386269"/>
          </a:xfrm>
        </p:grpSpPr>
        <p:sp>
          <p:nvSpPr>
            <p:cNvPr id="127" name="원통 254">
              <a:extLst>
                <a:ext uri="{FF2B5EF4-FFF2-40B4-BE49-F238E27FC236}">
                  <a16:creationId xmlns:a16="http://schemas.microsoft.com/office/drawing/2014/main" id="{A8FF378F-D6CA-4CDA-A956-4D0A1FB12185}"/>
                </a:ext>
              </a:extLst>
            </p:cNvPr>
            <p:cNvSpPr/>
            <p:nvPr/>
          </p:nvSpPr>
          <p:spPr>
            <a:xfrm>
              <a:off x="8208439" y="5262701"/>
              <a:ext cx="1557101" cy="1381078"/>
            </a:xfrm>
            <a:prstGeom prst="can">
              <a:avLst>
                <a:gd name="adj" fmla="val 19544"/>
              </a:avLst>
            </a:prstGeom>
            <a:solidFill>
              <a:schemeClr val="bg1">
                <a:lumMod val="85000"/>
              </a:schemeClr>
            </a:solidFill>
            <a:ln w="57150">
              <a:solidFill>
                <a:sysClr val="window" lastClr="FFFFFF"/>
              </a:solidFill>
            </a:ln>
          </p:spPr>
          <p:txBody>
            <a:bodyPr rot="0" spcFirstLastPara="0" vertOverflow="overflow" horzOverflow="overflow" vert="horz" wrap="square" lIns="36000" tIns="48984" rIns="36000" bIns="489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79488" fontAlgn="auto" latinLnBrk="0">
                <a:spcBef>
                  <a:spcPct val="50000"/>
                </a:spcBef>
                <a:spcAft>
                  <a:spcPts val="0"/>
                </a:spcAft>
              </a:pPr>
              <a:endParaRPr kumimoji="0" lang="ko-KR" altLang="en-US" sz="1100" kern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11A56C89-9F92-4FF5-9CDA-BAD52AD09CFB}"/>
                </a:ext>
              </a:extLst>
            </p:cNvPr>
            <p:cNvSpPr/>
            <p:nvPr/>
          </p:nvSpPr>
          <p:spPr>
            <a:xfrm>
              <a:off x="8224308" y="6341443"/>
              <a:ext cx="1524489" cy="293797"/>
            </a:xfrm>
            <a:prstGeom prst="ellipse">
              <a:avLst/>
            </a:prstGeom>
            <a:solidFill>
              <a:schemeClr val="bg1">
                <a:lumMod val="65000"/>
                <a:alpha val="52941"/>
              </a:schemeClr>
            </a:solidFill>
            <a:ln w="9525">
              <a:noFill/>
            </a:ln>
          </p:spPr>
          <p:txBody>
            <a:bodyPr rot="0" spcFirstLastPara="0" vertOverflow="overflow" horzOverflow="overflow" vert="horz" wrap="square" lIns="36000" tIns="48984" rIns="36000" bIns="489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79488">
                <a:spcBef>
                  <a:spcPct val="50000"/>
                </a:spcBef>
              </a:pPr>
              <a:endParaRPr lang="ko-KR" altLang="en-US" sz="11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32" name="원통 517">
              <a:extLst>
                <a:ext uri="{FF2B5EF4-FFF2-40B4-BE49-F238E27FC236}">
                  <a16:creationId xmlns:a16="http://schemas.microsoft.com/office/drawing/2014/main" id="{2BE01D1D-4E23-4FEE-90D3-F7B258EEAF54}"/>
                </a:ext>
              </a:extLst>
            </p:cNvPr>
            <p:cNvSpPr/>
            <p:nvPr/>
          </p:nvSpPr>
          <p:spPr>
            <a:xfrm>
              <a:off x="8471501" y="5519024"/>
              <a:ext cx="1033242" cy="1013284"/>
            </a:xfrm>
            <a:prstGeom prst="can">
              <a:avLst>
                <a:gd name="adj" fmla="val 15055"/>
              </a:avLst>
            </a:prstGeom>
            <a:solidFill>
              <a:srgbClr val="FF6A05"/>
            </a:solidFill>
            <a:ln>
              <a:noFill/>
            </a:ln>
            <a:effectLst/>
          </p:spPr>
          <p:txBody>
            <a:bodyPr wrap="none" lIns="36000" tIns="36000" rIns="72000" bIns="36000" rtlCol="0" anchor="ctr"/>
            <a:lstStyle/>
            <a:p>
              <a:pPr algn="r"/>
              <a:endParaRPr lang="ko-KR" altLang="en-US" sz="1300" dirty="0">
                <a:ln>
                  <a:solidFill>
                    <a:srgbClr val="DA1000">
                      <a:alpha val="0"/>
                    </a:srgbClr>
                  </a:solidFill>
                </a:ln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552A606A-564F-475F-9D34-E1B31632A571}"/>
                </a:ext>
              </a:extLst>
            </p:cNvPr>
            <p:cNvSpPr/>
            <p:nvPr/>
          </p:nvSpPr>
          <p:spPr>
            <a:xfrm>
              <a:off x="8373522" y="5830608"/>
              <a:ext cx="1229524" cy="420759"/>
            </a:xfrm>
            <a:prstGeom prst="rect">
              <a:avLst/>
            </a:prstGeom>
            <a:solidFill>
              <a:srgbClr val="FFFFFF">
                <a:alpha val="30196"/>
              </a:srgbClr>
            </a:solidFill>
            <a:ln w="9525">
              <a:noFill/>
            </a:ln>
          </p:spPr>
          <p:txBody>
            <a:bodyPr rot="0" spcFirstLastPara="0" vertOverflow="overflow" horzOverflow="overflow" vert="horz" wrap="square" lIns="36000" tIns="48984" rIns="36000" bIns="489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79488">
                <a:spcBef>
                  <a:spcPct val="50000"/>
                </a:spcBef>
              </a:pPr>
              <a:endParaRPr lang="ko-KR" altLang="en-US" sz="11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218F3083-90C1-49BE-92A9-F43335D022AB}"/>
                </a:ext>
              </a:extLst>
            </p:cNvPr>
            <p:cNvSpPr/>
            <p:nvPr/>
          </p:nvSpPr>
          <p:spPr>
            <a:xfrm>
              <a:off x="8373522" y="6047845"/>
              <a:ext cx="1229524" cy="261735"/>
            </a:xfrm>
            <a:prstGeom prst="ellipse">
              <a:avLst/>
            </a:prstGeom>
            <a:solidFill>
              <a:schemeClr val="bg1">
                <a:alpha val="50196"/>
              </a:schemeClr>
            </a:solidFill>
            <a:ln w="9525">
              <a:noFill/>
            </a:ln>
          </p:spPr>
          <p:txBody>
            <a:bodyPr rot="0" spcFirstLastPara="0" vertOverflow="overflow" horzOverflow="overflow" vert="horz" wrap="square" lIns="36000" tIns="48984" rIns="36000" bIns="489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79488">
                <a:spcBef>
                  <a:spcPct val="50000"/>
                </a:spcBef>
              </a:pPr>
              <a:endParaRPr lang="ko-KR" altLang="en-US" sz="11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0D9A5DF8-EBD9-4C5D-A88A-E2351F09DADE}"/>
                </a:ext>
              </a:extLst>
            </p:cNvPr>
            <p:cNvSpPr/>
            <p:nvPr/>
          </p:nvSpPr>
          <p:spPr>
            <a:xfrm>
              <a:off x="8373522" y="5545729"/>
              <a:ext cx="1229524" cy="26173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49804"/>
              </a:schemeClr>
            </a:solidFill>
            <a:ln w="9525">
              <a:noFill/>
            </a:ln>
          </p:spPr>
          <p:txBody>
            <a:bodyPr rot="0" spcFirstLastPara="0" vertOverflow="overflow" horzOverflow="overflow" vert="horz" wrap="square" lIns="36000" tIns="48984" rIns="36000" bIns="489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79488">
                <a:spcBef>
                  <a:spcPct val="50000"/>
                </a:spcBef>
              </a:pPr>
              <a:endParaRPr lang="ko-KR" altLang="en-US" sz="11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36" name="원통 517">
              <a:extLst>
                <a:ext uri="{FF2B5EF4-FFF2-40B4-BE49-F238E27FC236}">
                  <a16:creationId xmlns:a16="http://schemas.microsoft.com/office/drawing/2014/main" id="{7EDBA9B2-2B7F-4EC1-A2FA-9E47FF8F9051}"/>
                </a:ext>
              </a:extLst>
            </p:cNvPr>
            <p:cNvSpPr/>
            <p:nvPr/>
          </p:nvSpPr>
          <p:spPr>
            <a:xfrm>
              <a:off x="8470965" y="5451944"/>
              <a:ext cx="1033242" cy="303744"/>
            </a:xfrm>
            <a:prstGeom prst="can">
              <a:avLst>
                <a:gd name="adj" fmla="val 50000"/>
              </a:avLst>
            </a:prstGeom>
            <a:solidFill>
              <a:srgbClr val="FF8F43"/>
            </a:solidFill>
            <a:ln>
              <a:noFill/>
            </a:ln>
            <a:effectLst/>
          </p:spPr>
          <p:txBody>
            <a:bodyPr wrap="none" lIns="36000" tIns="36000" rIns="72000" bIns="36000" rtlCol="0" anchor="ctr"/>
            <a:lstStyle/>
            <a:p>
              <a:pPr algn="r"/>
              <a:endParaRPr lang="ko-KR" altLang="en-US" sz="1300" dirty="0">
                <a:ln>
                  <a:solidFill>
                    <a:srgbClr val="DA1000">
                      <a:alpha val="0"/>
                    </a:srgbClr>
                  </a:solidFill>
                </a:ln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A55745B1-C1CA-4BFB-B128-5925206C04A9}"/>
                </a:ext>
              </a:extLst>
            </p:cNvPr>
            <p:cNvSpPr/>
            <p:nvPr/>
          </p:nvSpPr>
          <p:spPr>
            <a:xfrm>
              <a:off x="8208399" y="5257510"/>
              <a:ext cx="1556308" cy="288000"/>
            </a:xfrm>
            <a:prstGeom prst="ellipse">
              <a:avLst/>
            </a:prstGeom>
            <a:noFill/>
            <a:ln w="28575">
              <a:solidFill>
                <a:sysClr val="window" lastClr="FFFFFF"/>
              </a:solidFill>
            </a:ln>
          </p:spPr>
          <p:txBody>
            <a:bodyPr rot="0" spcFirstLastPara="0" vertOverflow="overflow" horzOverflow="overflow" vert="horz" wrap="square" lIns="36000" tIns="48984" rIns="36000" bIns="489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79488" fontAlgn="auto" latinLnBrk="0">
                <a:spcBef>
                  <a:spcPct val="50000"/>
                </a:spcBef>
                <a:spcAft>
                  <a:spcPts val="0"/>
                </a:spcAft>
              </a:pPr>
              <a:endParaRPr kumimoji="0" lang="ko-KR" altLang="en-US" sz="1100" kern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4E10F07-AA19-4074-80D5-290A175CA06A}"/>
                </a:ext>
              </a:extLst>
            </p:cNvPr>
            <p:cNvSpPr txBox="1"/>
            <p:nvPr/>
          </p:nvSpPr>
          <p:spPr bwMode="auto">
            <a:xfrm>
              <a:off x="8351829" y="5287262"/>
              <a:ext cx="1323026" cy="151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spcFirstLastPara="1" wrap="none" lIns="0" tIns="0" rIns="0" bIns="0" numCol="1" anchor="ctr" anchorCtr="0">
              <a:prstTxWarp prst="textArchDown">
                <a:avLst>
                  <a:gd name="adj" fmla="val 17556810"/>
                </a:avLst>
              </a:prstTxWarp>
              <a:spAutoFit/>
            </a:bodyPr>
            <a:lstStyle/>
            <a:p>
              <a:pPr algn="ctr" latinLnBrk="0">
                <a:defRPr/>
              </a:pPr>
              <a:r>
                <a:rPr lang="ko-KR" altLang="en-US" sz="1200" b="1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rgbClr val="DA1000"/>
                  </a:solidFill>
                  <a:ea typeface="Rix모던고딕 B" pitchFamily="18" charset="-127"/>
                </a:rPr>
                <a:t>문제은행 </a:t>
              </a:r>
              <a:r>
                <a:rPr lang="en-US" altLang="ko-KR" sz="12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rgbClr val="DA1000"/>
                  </a:solidFill>
                  <a:ea typeface="Rix모던고딕 B" pitchFamily="18" charset="-127"/>
                </a:rPr>
                <a:t>DB</a:t>
              </a:r>
              <a:endParaRPr lang="ko-KR" altLang="en-US" sz="12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DA1000"/>
                </a:solidFill>
                <a:ea typeface="Rix모던고딕 B" pitchFamily="18" charset="-127"/>
              </a:endParaRPr>
            </a:p>
          </p:txBody>
        </p:sp>
        <p:sp>
          <p:nvSpPr>
            <p:cNvPr id="139" name="Rectangle 84">
              <a:extLst>
                <a:ext uri="{FF2B5EF4-FFF2-40B4-BE49-F238E27FC236}">
                  <a16:creationId xmlns:a16="http://schemas.microsoft.com/office/drawing/2014/main" id="{930F6842-A0E9-4453-AF3B-7ACED488D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6517" y="6339923"/>
              <a:ext cx="75982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lvl="1" algn="ctr" defTabSz="1043180" latinLnBrk="0">
                <a:buClr>
                  <a:srgbClr val="777777"/>
                </a:buClr>
                <a:buSzPct val="100000"/>
                <a:tabLst>
                  <a:tab pos="5780001" algn="l"/>
                </a:tabLst>
              </a:pP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sym typeface="Monotype Sorts"/>
                </a:rPr>
                <a:t>공동 활용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sym typeface="Monotype Sorts"/>
                </a:rPr>
                <a:t>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sym typeface="Monotype Sorts"/>
                </a:rPr>
                <a:t>정보</a:t>
              </a:r>
            </a:p>
          </p:txBody>
        </p:sp>
        <p:sp>
          <p:nvSpPr>
            <p:cNvPr id="140" name="Freeform 22">
              <a:extLst>
                <a:ext uri="{FF2B5EF4-FFF2-40B4-BE49-F238E27FC236}">
                  <a16:creationId xmlns:a16="http://schemas.microsoft.com/office/drawing/2014/main" id="{EB91BB9B-3046-40CE-A012-743720ECF5E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373522" y="5659442"/>
              <a:ext cx="1229323" cy="297791"/>
            </a:xfrm>
            <a:custGeom>
              <a:avLst/>
              <a:gdLst>
                <a:gd name="T0" fmla="*/ 134 w 134"/>
                <a:gd name="T1" fmla="*/ 8 h 59"/>
                <a:gd name="T2" fmla="*/ 134 w 134"/>
                <a:gd name="T3" fmla="*/ 39 h 59"/>
                <a:gd name="T4" fmla="*/ 68 w 134"/>
                <a:gd name="T5" fmla="*/ 59 h 59"/>
                <a:gd name="T6" fmla="*/ 0 w 134"/>
                <a:gd name="T7" fmla="*/ 31 h 59"/>
                <a:gd name="T8" fmla="*/ 0 w 134"/>
                <a:gd name="T9" fmla="*/ 0 h 59"/>
                <a:gd name="T10" fmla="*/ 68 w 134"/>
                <a:gd name="T11" fmla="*/ 29 h 59"/>
                <a:gd name="T12" fmla="*/ 134 w 134"/>
                <a:gd name="T13" fmla="*/ 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4" h="59">
                  <a:moveTo>
                    <a:pt x="134" y="8"/>
                  </a:moveTo>
                  <a:cubicBezTo>
                    <a:pt x="134" y="39"/>
                    <a:pt x="134" y="39"/>
                    <a:pt x="134" y="39"/>
                  </a:cubicBezTo>
                  <a:cubicBezTo>
                    <a:pt x="125" y="50"/>
                    <a:pt x="99" y="59"/>
                    <a:pt x="68" y="59"/>
                  </a:cubicBezTo>
                  <a:cubicBezTo>
                    <a:pt x="31" y="59"/>
                    <a:pt x="0" y="46"/>
                    <a:pt x="0" y="3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31" y="29"/>
                    <a:pt x="68" y="29"/>
                  </a:cubicBezTo>
                  <a:cubicBezTo>
                    <a:pt x="99" y="29"/>
                    <a:pt x="125" y="20"/>
                    <a:pt x="134" y="8"/>
                  </a:cubicBezTo>
                </a:path>
              </a:pathLst>
            </a:custGeom>
            <a:solidFill>
              <a:srgbClr val="4281D6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latinLnBrk="0"/>
              <a:endParaRPr lang="ko-KR" altLang="en-US" sz="16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41" name="Freeform 22">
              <a:extLst>
                <a:ext uri="{FF2B5EF4-FFF2-40B4-BE49-F238E27FC236}">
                  <a16:creationId xmlns:a16="http://schemas.microsoft.com/office/drawing/2014/main" id="{A157B711-E33E-4E91-A682-055BF571037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373522" y="6021862"/>
              <a:ext cx="1229323" cy="297791"/>
            </a:xfrm>
            <a:custGeom>
              <a:avLst/>
              <a:gdLst>
                <a:gd name="T0" fmla="*/ 134 w 134"/>
                <a:gd name="T1" fmla="*/ 8 h 59"/>
                <a:gd name="T2" fmla="*/ 134 w 134"/>
                <a:gd name="T3" fmla="*/ 39 h 59"/>
                <a:gd name="T4" fmla="*/ 68 w 134"/>
                <a:gd name="T5" fmla="*/ 59 h 59"/>
                <a:gd name="T6" fmla="*/ 0 w 134"/>
                <a:gd name="T7" fmla="*/ 31 h 59"/>
                <a:gd name="T8" fmla="*/ 0 w 134"/>
                <a:gd name="T9" fmla="*/ 0 h 59"/>
                <a:gd name="T10" fmla="*/ 68 w 134"/>
                <a:gd name="T11" fmla="*/ 29 h 59"/>
                <a:gd name="T12" fmla="*/ 134 w 134"/>
                <a:gd name="T13" fmla="*/ 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4" h="59">
                  <a:moveTo>
                    <a:pt x="134" y="8"/>
                  </a:moveTo>
                  <a:cubicBezTo>
                    <a:pt x="134" y="39"/>
                    <a:pt x="134" y="39"/>
                    <a:pt x="134" y="39"/>
                  </a:cubicBezTo>
                  <a:cubicBezTo>
                    <a:pt x="125" y="50"/>
                    <a:pt x="99" y="59"/>
                    <a:pt x="68" y="59"/>
                  </a:cubicBezTo>
                  <a:cubicBezTo>
                    <a:pt x="31" y="59"/>
                    <a:pt x="0" y="46"/>
                    <a:pt x="0" y="3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31" y="29"/>
                    <a:pt x="68" y="29"/>
                  </a:cubicBezTo>
                  <a:cubicBezTo>
                    <a:pt x="99" y="29"/>
                    <a:pt x="125" y="20"/>
                    <a:pt x="134" y="8"/>
                  </a:cubicBezTo>
                </a:path>
              </a:pathLst>
            </a:custGeom>
            <a:solidFill>
              <a:srgbClr val="2A6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latinLnBrk="0"/>
              <a:endParaRPr lang="ko-KR" altLang="en-US" sz="16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42" name="Freeform 22">
              <a:extLst>
                <a:ext uri="{FF2B5EF4-FFF2-40B4-BE49-F238E27FC236}">
                  <a16:creationId xmlns:a16="http://schemas.microsoft.com/office/drawing/2014/main" id="{2A0D8104-F410-4CBA-8D12-7123615BCE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373522" y="5842494"/>
              <a:ext cx="1229323" cy="297791"/>
            </a:xfrm>
            <a:custGeom>
              <a:avLst/>
              <a:gdLst>
                <a:gd name="T0" fmla="*/ 134 w 134"/>
                <a:gd name="T1" fmla="*/ 8 h 59"/>
                <a:gd name="T2" fmla="*/ 134 w 134"/>
                <a:gd name="T3" fmla="*/ 39 h 59"/>
                <a:gd name="T4" fmla="*/ 68 w 134"/>
                <a:gd name="T5" fmla="*/ 59 h 59"/>
                <a:gd name="T6" fmla="*/ 0 w 134"/>
                <a:gd name="T7" fmla="*/ 31 h 59"/>
                <a:gd name="T8" fmla="*/ 0 w 134"/>
                <a:gd name="T9" fmla="*/ 0 h 59"/>
                <a:gd name="T10" fmla="*/ 68 w 134"/>
                <a:gd name="T11" fmla="*/ 29 h 59"/>
                <a:gd name="T12" fmla="*/ 134 w 134"/>
                <a:gd name="T13" fmla="*/ 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4" h="59">
                  <a:moveTo>
                    <a:pt x="134" y="8"/>
                  </a:moveTo>
                  <a:cubicBezTo>
                    <a:pt x="134" y="39"/>
                    <a:pt x="134" y="39"/>
                    <a:pt x="134" y="39"/>
                  </a:cubicBezTo>
                  <a:cubicBezTo>
                    <a:pt x="125" y="50"/>
                    <a:pt x="99" y="59"/>
                    <a:pt x="68" y="59"/>
                  </a:cubicBezTo>
                  <a:cubicBezTo>
                    <a:pt x="31" y="59"/>
                    <a:pt x="0" y="46"/>
                    <a:pt x="0" y="3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31" y="29"/>
                    <a:pt x="68" y="29"/>
                  </a:cubicBezTo>
                  <a:cubicBezTo>
                    <a:pt x="99" y="29"/>
                    <a:pt x="125" y="20"/>
                    <a:pt x="134" y="8"/>
                  </a:cubicBezTo>
                </a:path>
              </a:pathLst>
            </a:custGeom>
            <a:solidFill>
              <a:srgbClr val="1D4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latinLnBrk="0"/>
              <a:endParaRPr lang="ko-KR" altLang="en-US" sz="16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43" name="Rectangle 84">
              <a:extLst>
                <a:ext uri="{FF2B5EF4-FFF2-40B4-BE49-F238E27FC236}">
                  <a16:creationId xmlns:a16="http://schemas.microsoft.com/office/drawing/2014/main" id="{85C0421C-8ADA-4737-AFE7-C22524222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1298" y="5801134"/>
              <a:ext cx="615553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lvl="1" algn="ctr" defTabSz="1043180" latinLnBrk="0">
                <a:buClr>
                  <a:srgbClr val="777777"/>
                </a:buClr>
                <a:buSzPct val="100000"/>
                <a:tabLst>
                  <a:tab pos="5780001" algn="l"/>
                </a:tabLst>
              </a:pPr>
              <a:r>
                <a: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Rix고딕 B (본문)"/>
                  <a:ea typeface="Rix모던고딕 B" panose="02020603020101020101" pitchFamily="18" charset="-127"/>
                  <a:sym typeface="Monotype Sorts"/>
                </a:rPr>
                <a:t>테스트 정보</a:t>
              </a:r>
            </a:p>
          </p:txBody>
        </p:sp>
        <p:sp>
          <p:nvSpPr>
            <p:cNvPr id="144" name="Rectangle 84">
              <a:extLst>
                <a:ext uri="{FF2B5EF4-FFF2-40B4-BE49-F238E27FC236}">
                  <a16:creationId xmlns:a16="http://schemas.microsoft.com/office/drawing/2014/main" id="{2B9478C3-5563-4DA9-BF1D-3EB1DC7A0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1589" y="6004433"/>
              <a:ext cx="500137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lvl="1" algn="ctr" defTabSz="1043180" latinLnBrk="0">
                <a:buClr>
                  <a:srgbClr val="777777"/>
                </a:buClr>
                <a:buSzPct val="100000"/>
                <a:tabLst>
                  <a:tab pos="5780001" algn="l"/>
                </a:tabLst>
              </a:pPr>
              <a:r>
                <a: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Rix고딕 B (본문)"/>
                  <a:ea typeface="Rix모던고딕 B" panose="02020603020101020101" pitchFamily="18" charset="-127"/>
                  <a:sym typeface="Monotype Sorts"/>
                </a:rPr>
                <a:t>관리 정보</a:t>
              </a:r>
            </a:p>
          </p:txBody>
        </p:sp>
        <p:sp>
          <p:nvSpPr>
            <p:cNvPr id="145" name="Rectangle 84">
              <a:extLst>
                <a:ext uri="{FF2B5EF4-FFF2-40B4-BE49-F238E27FC236}">
                  <a16:creationId xmlns:a16="http://schemas.microsoft.com/office/drawing/2014/main" id="{4D658305-FB93-4030-8F49-D7B99F9D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23592" y="6182117"/>
              <a:ext cx="730969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lvl="1" algn="ctr" defTabSz="1043180" latinLnBrk="0">
                <a:buClr>
                  <a:srgbClr val="777777"/>
                </a:buClr>
                <a:buSzPct val="100000"/>
                <a:tabLst>
                  <a:tab pos="5780001" algn="l"/>
                </a:tabLst>
              </a:pPr>
              <a:r>
                <a: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Rix고딕 B (본문)"/>
                  <a:ea typeface="Rix모던고딕 B" panose="02020603020101020101" pitchFamily="18" charset="-127"/>
                  <a:sym typeface="Monotype Sorts"/>
                </a:rPr>
                <a:t>통합 문제은행</a:t>
              </a:r>
            </a:p>
          </p:txBody>
        </p:sp>
      </p:grpSp>
      <p:pic>
        <p:nvPicPr>
          <p:cNvPr id="146" name="그림 14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902" y="4771519"/>
            <a:ext cx="552710" cy="508492"/>
          </a:xfrm>
          <a:prstGeom prst="rect">
            <a:avLst/>
          </a:prstGeom>
        </p:spPr>
      </p:pic>
      <p:grpSp>
        <p:nvGrpSpPr>
          <p:cNvPr id="147" name="그룹 146"/>
          <p:cNvGrpSpPr/>
          <p:nvPr/>
        </p:nvGrpSpPr>
        <p:grpSpPr>
          <a:xfrm>
            <a:off x="833606" y="3708621"/>
            <a:ext cx="3444572" cy="512634"/>
            <a:chOff x="6116941" y="1892192"/>
            <a:chExt cx="3444572" cy="522506"/>
          </a:xfrm>
        </p:grpSpPr>
        <p:grpSp>
          <p:nvGrpSpPr>
            <p:cNvPr id="148" name="그룹 147"/>
            <p:cNvGrpSpPr/>
            <p:nvPr/>
          </p:nvGrpSpPr>
          <p:grpSpPr>
            <a:xfrm>
              <a:off x="6116941" y="1892192"/>
              <a:ext cx="3444572" cy="233058"/>
              <a:chOff x="5203834" y="2043111"/>
              <a:chExt cx="3423632" cy="233058"/>
            </a:xfrm>
          </p:grpSpPr>
          <p:sp>
            <p:nvSpPr>
              <p:cNvPr id="150" name="직사각형 149"/>
              <p:cNvSpPr/>
              <p:nvPr/>
            </p:nvSpPr>
            <p:spPr>
              <a:xfrm>
                <a:off x="5495140" y="2048360"/>
                <a:ext cx="3132326" cy="22780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vert="horz" lIns="0" tIns="0" rIns="0" bIns="0" rtlCol="0" anchor="t"/>
              <a:lstStyle/>
              <a:p>
                <a:pPr marL="0" lvl="1" defTabSz="914127" fontAlgn="base" latinLnBrk="0">
                  <a:spcAft>
                    <a:spcPts val="150"/>
                  </a:spcAft>
                  <a:buClr>
                    <a:srgbClr val="8B8F9E"/>
                  </a:buClr>
                  <a:buSzPct val="100000"/>
                  <a:tabLst>
                    <a:tab pos="1079500" algn="l"/>
                  </a:tabLst>
                  <a:defRPr/>
                </a:pPr>
                <a:r>
                  <a:rPr lang="ko-KR" altLang="en-US" sz="135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화면 통합을 통한 사용자 편의 제공 </a:t>
                </a:r>
              </a:p>
            </p:txBody>
          </p:sp>
          <p:pic>
            <p:nvPicPr>
              <p:cNvPr id="151" name="Picture 2" descr="D:\19.전지수\1. 제안서\1. 표준제안\★2017_표준제안설명회\작업\버트3.png"/>
              <p:cNvPicPr>
                <a:picLocks noChangeAspect="1" noChangeArrowheads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3834" y="2043111"/>
                <a:ext cx="232560" cy="2204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9" name="텍스트 개체 틀 14"/>
            <p:cNvSpPr txBox="1">
              <a:spLocks/>
            </p:cNvSpPr>
            <p:nvPr/>
          </p:nvSpPr>
          <p:spPr>
            <a:xfrm>
              <a:off x="6362671" y="2116910"/>
              <a:ext cx="3070889" cy="297788"/>
            </a:xfrm>
            <a:prstGeom prst="rect">
              <a:avLst/>
            </a:prstGeom>
          </p:spPr>
          <p:txBody>
            <a:bodyPr lIns="36000" tIns="36000" rIns="36000" bIns="36000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latinLnBrk="0"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kumimoji="1" lang="ko-KR" altLang="en-US" sz="1200" dirty="0">
                  <a:gradFill>
                    <a:gsLst>
                      <a:gs pos="5833">
                        <a:prstClr val="black">
                          <a:lumMod val="75000"/>
                          <a:lumOff val="25000"/>
                        </a:prstClr>
                      </a:gs>
                      <a:gs pos="10833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1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각 업무 절차 별 필요 화면 통합 및 그룹화 제공</a:t>
              </a:r>
            </a:p>
          </p:txBody>
        </p:sp>
      </p:grpSp>
      <p:grpSp>
        <p:nvGrpSpPr>
          <p:cNvPr id="152" name="그룹 151"/>
          <p:cNvGrpSpPr/>
          <p:nvPr/>
        </p:nvGrpSpPr>
        <p:grpSpPr>
          <a:xfrm>
            <a:off x="833605" y="3060531"/>
            <a:ext cx="3937015" cy="470160"/>
            <a:chOff x="6116940" y="3744526"/>
            <a:chExt cx="3937015" cy="470160"/>
          </a:xfrm>
        </p:grpSpPr>
        <p:grpSp>
          <p:nvGrpSpPr>
            <p:cNvPr id="153" name="그룹 152"/>
            <p:cNvGrpSpPr/>
            <p:nvPr/>
          </p:nvGrpSpPr>
          <p:grpSpPr>
            <a:xfrm>
              <a:off x="6116940" y="3744526"/>
              <a:ext cx="2762126" cy="233058"/>
              <a:chOff x="5203834" y="2043111"/>
              <a:chExt cx="2745335" cy="233058"/>
            </a:xfrm>
          </p:grpSpPr>
          <p:sp>
            <p:nvSpPr>
              <p:cNvPr id="155" name="직사각형 154"/>
              <p:cNvSpPr/>
              <p:nvPr/>
            </p:nvSpPr>
            <p:spPr>
              <a:xfrm>
                <a:off x="5495140" y="2048360"/>
                <a:ext cx="2454029" cy="22780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vert="horz" lIns="0" tIns="0" rIns="0" bIns="0" rtlCol="0" anchor="t"/>
              <a:lstStyle/>
              <a:p>
                <a:pPr marL="0" lvl="1" defTabSz="914127" fontAlgn="base" latinLnBrk="0">
                  <a:spcAft>
                    <a:spcPts val="150"/>
                  </a:spcAft>
                  <a:buClr>
                    <a:srgbClr val="8B8F9E"/>
                  </a:buClr>
                  <a:buSzPct val="100000"/>
                  <a:tabLst>
                    <a:tab pos="1079500" algn="l"/>
                  </a:tabLst>
                  <a:defRPr/>
                </a:pPr>
                <a:r>
                  <a:rPr lang="ko-KR" altLang="en-US" sz="135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미사용 </a:t>
                </a:r>
                <a:r>
                  <a:rPr lang="ko-KR" altLang="en-US" sz="1350" kern="0" dirty="0" smtClean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기능 정리</a:t>
                </a:r>
                <a:endParaRPr lang="ko-KR" altLang="en-US" sz="135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endParaRPr>
              </a:p>
            </p:txBody>
          </p:sp>
          <p:pic>
            <p:nvPicPr>
              <p:cNvPr id="156" name="Picture 2" descr="D:\19.전지수\1. 제안서\1. 표준제안\★2017_표준제안설명회\작업\버트3.png"/>
              <p:cNvPicPr>
                <a:picLocks noChangeAspect="1" noChangeArrowheads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3834" y="2043111"/>
                <a:ext cx="232560" cy="2204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4" name="텍스트 개체 틀 14"/>
            <p:cNvSpPr txBox="1">
              <a:spLocks/>
            </p:cNvSpPr>
            <p:nvPr/>
          </p:nvSpPr>
          <p:spPr>
            <a:xfrm>
              <a:off x="6410377" y="3984854"/>
              <a:ext cx="3643578" cy="229832"/>
            </a:xfrm>
            <a:prstGeom prst="rect">
              <a:avLst/>
            </a:prstGeom>
          </p:spPr>
          <p:txBody>
            <a:bodyPr lIns="36000" tIns="36000" rIns="36000" bIns="36000"/>
            <a:lstStyle>
              <a:defPPr>
                <a:defRPr lang="ko-KR"/>
              </a:defPPr>
              <a:lvl1pPr indent="0" latinLnBrk="0">
                <a:spcBef>
                  <a:spcPts val="0"/>
                </a:spcBef>
                <a:buFont typeface="Arial" panose="020B0604020202020204" pitchFamily="34" charset="0"/>
                <a:buNone/>
                <a:defRPr kumimoji="1" sz="1200">
                  <a:gradFill>
                    <a:gsLst>
                      <a:gs pos="5833">
                        <a:prstClr val="black">
                          <a:lumMod val="75000"/>
                          <a:lumOff val="25000"/>
                        </a:prstClr>
                      </a:gs>
                      <a:gs pos="10833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1"/>
                  </a:gradFill>
                  <a:latin typeface="Rix고딕 B" pitchFamily="18" charset="-127"/>
                  <a:ea typeface="Rix고딕 B" pitchFamily="18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Rix고딕 EB" panose="02020603020101020101" pitchFamily="18" charset="-127"/>
                  <a:ea typeface="Rix고딕 EB" panose="02020603020101020101" pitchFamily="18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Rix고딕 EB" panose="02020603020101020101" pitchFamily="18" charset="-127"/>
                  <a:ea typeface="Rix고딕 EB" panose="02020603020101020101" pitchFamily="18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Rix고딕 EB" panose="02020603020101020101" pitchFamily="18" charset="-127"/>
                  <a:ea typeface="Rix고딕 EB" panose="02020603020101020101" pitchFamily="18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Rix고딕 EB" panose="02020603020101020101" pitchFamily="18" charset="-127"/>
                  <a:ea typeface="Rix고딕 EB" panose="02020603020101020101" pitchFamily="18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atinLnBrk="1">
                <a:spcAft>
                  <a:spcPts val="200"/>
                </a:spcAft>
              </a:pPr>
              <a:r>
                <a:rPr lang="ko-KR" altLang="en-US" dirty="0"/>
                <a:t>미사용 소스 분석 및 정리</a:t>
              </a:r>
              <a:endParaRPr lang="en-US" altLang="ko-KR" dirty="0"/>
            </a:p>
          </p:txBody>
        </p:sp>
      </p:grpSp>
      <p:grpSp>
        <p:nvGrpSpPr>
          <p:cNvPr id="157" name="그룹 156"/>
          <p:cNvGrpSpPr/>
          <p:nvPr/>
        </p:nvGrpSpPr>
        <p:grpSpPr>
          <a:xfrm>
            <a:off x="834055" y="2412441"/>
            <a:ext cx="4224604" cy="624800"/>
            <a:chOff x="6117390" y="2979918"/>
            <a:chExt cx="4224604" cy="624800"/>
          </a:xfrm>
        </p:grpSpPr>
        <p:grpSp>
          <p:nvGrpSpPr>
            <p:cNvPr id="158" name="그룹 157"/>
            <p:cNvGrpSpPr/>
            <p:nvPr/>
          </p:nvGrpSpPr>
          <p:grpSpPr>
            <a:xfrm>
              <a:off x="6117390" y="2979918"/>
              <a:ext cx="3133518" cy="233058"/>
              <a:chOff x="5203834" y="2043111"/>
              <a:chExt cx="3114469" cy="233058"/>
            </a:xfrm>
          </p:grpSpPr>
          <p:sp>
            <p:nvSpPr>
              <p:cNvPr id="160" name="직사각형 159"/>
              <p:cNvSpPr/>
              <p:nvPr/>
            </p:nvSpPr>
            <p:spPr>
              <a:xfrm>
                <a:off x="5495139" y="2048360"/>
                <a:ext cx="2823164" cy="22780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vert="horz" lIns="0" tIns="0" rIns="0" bIns="0" rtlCol="0" anchor="t"/>
              <a:lstStyle/>
              <a:p>
                <a:pPr marL="0" lvl="1" defTabSz="914127" fontAlgn="base" latinLnBrk="0">
                  <a:spcAft>
                    <a:spcPts val="150"/>
                  </a:spcAft>
                  <a:buClr>
                    <a:srgbClr val="8B8F9E"/>
                  </a:buClr>
                  <a:buSzPct val="100000"/>
                  <a:tabLst>
                    <a:tab pos="1079500" algn="l"/>
                  </a:tabLst>
                  <a:defRPr/>
                </a:pPr>
                <a:r>
                  <a:rPr lang="ko-KR" altLang="en-US" sz="135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업무절차 중심의 메뉴 및 기능 재구성</a:t>
                </a:r>
              </a:p>
            </p:txBody>
          </p:sp>
          <p:pic>
            <p:nvPicPr>
              <p:cNvPr id="161" name="Picture 2" descr="D:\19.전지수\1. 제안서\1. 표준제안\★2017_표준제안설명회\작업\버트3.png"/>
              <p:cNvPicPr>
                <a:picLocks noChangeAspect="1" noChangeArrowheads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3834" y="2043111"/>
                <a:ext cx="232560" cy="2204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9" name="텍스트 개체 틀 14"/>
            <p:cNvSpPr txBox="1">
              <a:spLocks/>
            </p:cNvSpPr>
            <p:nvPr/>
          </p:nvSpPr>
          <p:spPr>
            <a:xfrm>
              <a:off x="6378123" y="3212932"/>
              <a:ext cx="3963871" cy="391786"/>
            </a:xfrm>
            <a:prstGeom prst="rect">
              <a:avLst/>
            </a:prstGeom>
          </p:spPr>
          <p:txBody>
            <a:bodyPr lIns="36000" tIns="36000" rIns="36000" bIns="36000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latinLnBrk="0">
                <a:spcBef>
                  <a:spcPts val="0"/>
                </a:spcBef>
                <a:buFont typeface="Arial" panose="020B0604020202020204" pitchFamily="34" charset="0"/>
                <a:buNone/>
              </a:pPr>
              <a:r>
                <a:rPr kumimoji="1" lang="ko-KR" altLang="en-US" sz="1200" dirty="0">
                  <a:gradFill>
                    <a:gsLst>
                      <a:gs pos="5833">
                        <a:prstClr val="black">
                          <a:lumMod val="75000"/>
                          <a:lumOff val="25000"/>
                        </a:prstClr>
                      </a:gs>
                      <a:gs pos="10833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1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업무 흐름에 맞는 메뉴 및 기능 구조를 설계하여 업무 효율 증가</a:t>
              </a:r>
            </a:p>
          </p:txBody>
        </p:sp>
      </p:grpSp>
      <p:grpSp>
        <p:nvGrpSpPr>
          <p:cNvPr id="162" name="그룹 161"/>
          <p:cNvGrpSpPr/>
          <p:nvPr/>
        </p:nvGrpSpPr>
        <p:grpSpPr>
          <a:xfrm>
            <a:off x="828508" y="5501517"/>
            <a:ext cx="4230151" cy="1303534"/>
            <a:chOff x="6174482" y="4916291"/>
            <a:chExt cx="3213358" cy="1303534"/>
          </a:xfrm>
        </p:grpSpPr>
        <p:grpSp>
          <p:nvGrpSpPr>
            <p:cNvPr id="163" name="그룹 162"/>
            <p:cNvGrpSpPr/>
            <p:nvPr/>
          </p:nvGrpSpPr>
          <p:grpSpPr>
            <a:xfrm>
              <a:off x="6174482" y="4916291"/>
              <a:ext cx="3213358" cy="1303534"/>
              <a:chOff x="5221982" y="2180711"/>
              <a:chExt cx="4172184" cy="993810"/>
            </a:xfrm>
          </p:grpSpPr>
          <p:sp>
            <p:nvSpPr>
              <p:cNvPr id="169" name="직사각형 168"/>
              <p:cNvSpPr/>
              <p:nvPr/>
            </p:nvSpPr>
            <p:spPr>
              <a:xfrm>
                <a:off x="5221982" y="2180711"/>
                <a:ext cx="1713656" cy="99381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b="1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0" name="모서리가 둥근 직사각형 169"/>
              <p:cNvSpPr/>
              <p:nvPr/>
            </p:nvSpPr>
            <p:spPr>
              <a:xfrm>
                <a:off x="6930012" y="2180711"/>
                <a:ext cx="2464154" cy="993810"/>
              </a:xfrm>
              <a:prstGeom prst="roundRect">
                <a:avLst>
                  <a:gd name="adj" fmla="val 4515"/>
                </a:avLst>
              </a:prstGeom>
              <a:solidFill>
                <a:schemeClr val="bg1"/>
              </a:solidFill>
              <a:ln w="19050">
                <a:solidFill>
                  <a:schemeClr val="tx2">
                    <a:lumMod val="40000"/>
                    <a:lumOff val="6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b="1" dirty="0">
                  <a:solidFill>
                    <a:prstClr val="black"/>
                  </a:solidFill>
                </a:endParaRPr>
              </a:p>
            </p:txBody>
          </p:sp>
        </p:grpSp>
        <p:pic>
          <p:nvPicPr>
            <p:cNvPr id="164" name="Picture 2"/>
            <p:cNvPicPr>
              <a:picLocks noChangeArrowheads="1"/>
            </p:cNvPicPr>
            <p:nvPr/>
          </p:nvPicPr>
          <p:blipFill rotWithShape="1">
            <a:blip r:embed="rId6" cstate="screen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579941" y="4987907"/>
              <a:ext cx="447181" cy="2247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65" name="그룹 164"/>
            <p:cNvGrpSpPr/>
            <p:nvPr/>
          </p:nvGrpSpPr>
          <p:grpSpPr>
            <a:xfrm>
              <a:off x="6245677" y="5307496"/>
              <a:ext cx="3031220" cy="769441"/>
              <a:chOff x="582199" y="3109496"/>
              <a:chExt cx="4374606" cy="1110443"/>
            </a:xfrm>
          </p:grpSpPr>
          <p:sp>
            <p:nvSpPr>
              <p:cNvPr id="167" name="TextBox 166"/>
              <p:cNvSpPr txBox="1"/>
              <p:nvPr/>
            </p:nvSpPr>
            <p:spPr>
              <a:xfrm>
                <a:off x="582199" y="3109496"/>
                <a:ext cx="1687523" cy="1110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C/S </a:t>
                </a:r>
                <a:r>
                  <a:rPr lang="ko-KR" altLang="en-US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기반 </a:t>
                </a:r>
                <a:r>
                  <a:rPr lang="ko-KR" altLang="en-US" sz="1100" kern="0" dirty="0" smtClean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한글컨트롤을 </a:t>
                </a:r>
                <a:r>
                  <a:rPr lang="ko-KR" altLang="en-US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이용하여</a:t>
                </a:r>
                <a:r>
                  <a:rPr lang="en-US" altLang="ko-KR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/>
                </a:r>
                <a:br>
                  <a:rPr lang="en-US" altLang="ko-KR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</a:br>
                <a:r>
                  <a:rPr lang="ko-KR" altLang="en-US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데이터 처리량과</a:t>
                </a:r>
                <a:r>
                  <a:rPr lang="en-US" altLang="ko-KR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/>
                </a:r>
                <a:br>
                  <a:rPr lang="en-US" altLang="ko-KR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</a:br>
                <a:r>
                  <a:rPr lang="ko-KR" altLang="en-US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처리속도 양호</a:t>
                </a:r>
              </a:p>
            </p:txBody>
          </p:sp>
          <p:sp>
            <p:nvSpPr>
              <p:cNvPr id="168" name="TextBox 167"/>
              <p:cNvSpPr txBox="1"/>
              <p:nvPr/>
            </p:nvSpPr>
            <p:spPr>
              <a:xfrm>
                <a:off x="2482801" y="3282994"/>
                <a:ext cx="2474004" cy="932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WEB </a:t>
                </a:r>
                <a:r>
                  <a:rPr lang="ko-KR" altLang="en-US" sz="12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기반 구현 시</a:t>
                </a:r>
                <a:r>
                  <a:rPr lang="en-US" altLang="ko-KR" sz="12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/>
                </a:r>
                <a:br>
                  <a:rPr lang="en-US" altLang="ko-KR" sz="12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</a:br>
                <a:r>
                  <a:rPr lang="ko-KR" altLang="en-US" sz="12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품질</a:t>
                </a:r>
                <a:r>
                  <a:rPr lang="en-US" altLang="ko-KR" sz="12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, </a:t>
                </a:r>
                <a:r>
                  <a:rPr lang="ko-KR" altLang="en-US" sz="12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기능성</a:t>
                </a:r>
                <a:r>
                  <a:rPr lang="en-US" altLang="ko-KR" sz="12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, </a:t>
                </a:r>
                <a:r>
                  <a:rPr lang="ko-KR" altLang="en-US" sz="12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성능 </a:t>
                </a:r>
                <a:endParaRPr lang="en-US" altLang="ko-KR" sz="12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endParaRPr>
              </a:p>
              <a:p>
                <a:pPr algn="ctr"/>
                <a:r>
                  <a:rPr lang="ko-KR" altLang="en-US" sz="1200" kern="0" dirty="0" smtClean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검토 필요</a:t>
                </a:r>
                <a:endParaRPr lang="ko-KR" altLang="en-US" sz="12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endParaRPr>
              </a:p>
            </p:txBody>
          </p:sp>
        </p:grpSp>
        <p:sp>
          <p:nvSpPr>
            <p:cNvPr id="166" name="위쪽 화살표 165"/>
            <p:cNvSpPr/>
            <p:nvPr/>
          </p:nvSpPr>
          <p:spPr>
            <a:xfrm rot="5400000">
              <a:off x="7290224" y="5536612"/>
              <a:ext cx="296334" cy="332739"/>
            </a:xfrm>
            <a:prstGeom prst="upArrow">
              <a:avLst/>
            </a:prstGeom>
            <a:gradFill flip="none" rotWithShape="1">
              <a:gsLst>
                <a:gs pos="57000">
                  <a:schemeClr val="tx2"/>
                </a:gs>
                <a:gs pos="1000">
                  <a:schemeClr val="tx2">
                    <a:alpha val="0"/>
                  </a:schemeClr>
                </a:gs>
              </a:gsLst>
              <a:lin ang="16200000" scaled="1"/>
              <a:tileRect/>
            </a:gra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prstClr val="black"/>
                </a:solidFill>
              </a:endParaRPr>
            </a:p>
          </p:txBody>
        </p:sp>
      </p:grpSp>
      <p:pic>
        <p:nvPicPr>
          <p:cNvPr id="171" name="Picture 3"/>
          <p:cNvPicPr>
            <a:picLocks noChangeAspect="1" noChangeArrowheads="1"/>
          </p:cNvPicPr>
          <p:nvPr/>
        </p:nvPicPr>
        <p:blipFill rotWithShape="1">
          <a:blip r:embed="rId8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465591" y="5576717"/>
            <a:ext cx="800959" cy="263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2" name="그룹 171"/>
          <p:cNvGrpSpPr/>
          <p:nvPr/>
        </p:nvGrpSpPr>
        <p:grpSpPr>
          <a:xfrm>
            <a:off x="835697" y="4356711"/>
            <a:ext cx="3891793" cy="1054398"/>
            <a:chOff x="6116940" y="3744526"/>
            <a:chExt cx="3891793" cy="1054398"/>
          </a:xfrm>
        </p:grpSpPr>
        <p:grpSp>
          <p:nvGrpSpPr>
            <p:cNvPr id="173" name="그룹 172"/>
            <p:cNvGrpSpPr/>
            <p:nvPr/>
          </p:nvGrpSpPr>
          <p:grpSpPr>
            <a:xfrm>
              <a:off x="6116940" y="3744526"/>
              <a:ext cx="2762126" cy="1054398"/>
              <a:chOff x="5203834" y="2043111"/>
              <a:chExt cx="2745335" cy="1054398"/>
            </a:xfrm>
          </p:grpSpPr>
          <p:sp>
            <p:nvSpPr>
              <p:cNvPr id="175" name="직사각형 174"/>
              <p:cNvSpPr/>
              <p:nvPr/>
            </p:nvSpPr>
            <p:spPr>
              <a:xfrm>
                <a:off x="5495140" y="2048360"/>
                <a:ext cx="2454029" cy="22780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vert="horz" lIns="0" tIns="0" rIns="0" bIns="0" rtlCol="0" anchor="t"/>
              <a:lstStyle/>
              <a:p>
                <a:pPr marL="0" lvl="1" defTabSz="914127" fontAlgn="base" latinLnBrk="0">
                  <a:spcAft>
                    <a:spcPts val="150"/>
                  </a:spcAft>
                  <a:buClr>
                    <a:srgbClr val="8B8F9E"/>
                  </a:buClr>
                  <a:buSzPct val="100000"/>
                  <a:tabLst>
                    <a:tab pos="1079500" algn="l"/>
                  </a:tabLst>
                  <a:defRPr/>
                </a:pPr>
                <a:r>
                  <a:rPr lang="en-US" altLang="ko-KR" sz="135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UI </a:t>
                </a:r>
                <a:r>
                  <a:rPr lang="ko-KR" altLang="en-US" sz="135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개선</a:t>
                </a:r>
              </a:p>
            </p:txBody>
          </p:sp>
          <p:pic>
            <p:nvPicPr>
              <p:cNvPr id="176" name="Picture 2" descr="D:\19.전지수\1. 제안서\1. 표준제안\★2017_표준제안설명회\작업\버트3.png"/>
              <p:cNvPicPr>
                <a:picLocks noChangeAspect="1" noChangeArrowheads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3834" y="2043111"/>
                <a:ext cx="232560" cy="2204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7" name="직사각형 176"/>
              <p:cNvSpPr/>
              <p:nvPr/>
            </p:nvSpPr>
            <p:spPr>
              <a:xfrm>
                <a:off x="5495140" y="2869700"/>
                <a:ext cx="2454029" cy="22780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vert="horz" lIns="0" tIns="0" rIns="0" bIns="0" rtlCol="0" anchor="t"/>
              <a:lstStyle/>
              <a:p>
                <a:pPr marL="0" lvl="1" defTabSz="914127" fontAlgn="base" latinLnBrk="0">
                  <a:spcAft>
                    <a:spcPts val="150"/>
                  </a:spcAft>
                  <a:buClr>
                    <a:srgbClr val="8B8F9E"/>
                  </a:buClr>
                  <a:buSzPct val="100000"/>
                  <a:tabLst>
                    <a:tab pos="1079500" algn="l"/>
                  </a:tabLst>
                  <a:defRPr/>
                </a:pPr>
                <a:r>
                  <a:rPr lang="ko-KR" altLang="en-US" sz="135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rPr>
                  <a:t>웹 전환 구현 시 고려사항</a:t>
                </a:r>
              </a:p>
            </p:txBody>
          </p:sp>
          <p:pic>
            <p:nvPicPr>
              <p:cNvPr id="178" name="Picture 2" descr="D:\19.전지수\1. 제안서\1. 표준제안\★2017_표준제안설명회\작업\버트3.png"/>
              <p:cNvPicPr>
                <a:picLocks noChangeAspect="1" noChangeArrowheads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3834" y="2864451"/>
                <a:ext cx="232560" cy="2204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74" name="텍스트 개체 틀 14"/>
            <p:cNvSpPr txBox="1">
              <a:spLocks/>
            </p:cNvSpPr>
            <p:nvPr/>
          </p:nvSpPr>
          <p:spPr>
            <a:xfrm>
              <a:off x="6367247" y="3984853"/>
              <a:ext cx="3641486" cy="440444"/>
            </a:xfrm>
            <a:prstGeom prst="rect">
              <a:avLst/>
            </a:prstGeom>
          </p:spPr>
          <p:txBody>
            <a:bodyPr lIns="36000" tIns="36000" rIns="36000" bIns="36000"/>
            <a:lstStyle>
              <a:defPPr>
                <a:defRPr lang="ko-KR"/>
              </a:defPPr>
              <a:lvl1pPr indent="0" latinLnBrk="0">
                <a:spcBef>
                  <a:spcPts val="0"/>
                </a:spcBef>
                <a:buFont typeface="Arial" panose="020B0604020202020204" pitchFamily="34" charset="0"/>
                <a:buNone/>
                <a:defRPr kumimoji="1" sz="1200">
                  <a:gradFill>
                    <a:gsLst>
                      <a:gs pos="5833">
                        <a:prstClr val="black">
                          <a:lumMod val="75000"/>
                          <a:lumOff val="25000"/>
                        </a:prstClr>
                      </a:gs>
                      <a:gs pos="10833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0" scaled="1"/>
                  </a:gradFill>
                  <a:latin typeface="Rix고딕 B" pitchFamily="18" charset="-127"/>
                  <a:ea typeface="Rix고딕 B" pitchFamily="18" charset="-127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latin typeface="Rix고딕 EB" panose="02020603020101020101" pitchFamily="18" charset="-127"/>
                  <a:ea typeface="Rix고딕 EB" panose="02020603020101020101" pitchFamily="18" charset="-127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latin typeface="Rix고딕 EB" panose="02020603020101020101" pitchFamily="18" charset="-127"/>
                  <a:ea typeface="Rix고딕 EB" panose="02020603020101020101" pitchFamily="18" charset="-127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latin typeface="Rix고딕 EB" panose="02020603020101020101" pitchFamily="18" charset="-127"/>
                  <a:ea typeface="Rix고딕 EB" panose="02020603020101020101" pitchFamily="18" charset="-127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Rix고딕 EB" panose="02020603020101020101" pitchFamily="18" charset="-127"/>
                  <a:ea typeface="Rix고딕 EB" panose="02020603020101020101" pitchFamily="18" charset="-127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latinLnBrk="1"/>
              <a:r>
                <a:rPr lang="ko-KR" altLang="en-US" dirty="0" err="1"/>
                <a:t>팝업형</a:t>
              </a:r>
              <a:r>
                <a:rPr lang="ko-KR" altLang="en-US" dirty="0"/>
                <a:t> </a:t>
              </a:r>
              <a:r>
                <a:rPr lang="en-US" altLang="ko-KR" dirty="0"/>
                <a:t>C/S</a:t>
              </a:r>
              <a:r>
                <a:rPr lang="ko-KR" altLang="en-US" dirty="0"/>
                <a:t> </a:t>
              </a:r>
              <a:r>
                <a:rPr lang="en-US" altLang="ko-KR" dirty="0"/>
                <a:t>UI</a:t>
              </a:r>
              <a:r>
                <a:rPr lang="ko-KR" altLang="en-US" dirty="0"/>
                <a:t>를 업무처리 편의를 고려한 </a:t>
              </a:r>
              <a:r>
                <a:rPr lang="ko-KR" altLang="en-US" dirty="0" err="1"/>
                <a:t>웹기반</a:t>
              </a:r>
              <a:r>
                <a:rPr lang="ko-KR" altLang="en-US" dirty="0"/>
                <a:t> 설계에 </a:t>
              </a:r>
              <a:r>
                <a:rPr lang="ko-KR" altLang="en-US" dirty="0" err="1"/>
                <a:t>오픈소스</a:t>
              </a:r>
              <a:r>
                <a:rPr lang="ko-KR" altLang="en-US" dirty="0"/>
                <a:t> </a:t>
              </a:r>
              <a:r>
                <a:rPr lang="en-US" altLang="ko-KR" dirty="0"/>
                <a:t>UI</a:t>
              </a:r>
              <a:r>
                <a:rPr lang="ko-KR" altLang="en-US" dirty="0"/>
                <a:t>툴 적용하여 업무화면 개선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07940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3. </a:t>
            </a:r>
            <a:r>
              <a:rPr lang="ko-KR" altLang="en-US" sz="2000" dirty="0"/>
              <a:t>주요 개발 방안</a:t>
            </a:r>
            <a:r>
              <a:rPr lang="ko-KR" altLang="en-US" dirty="0"/>
              <a:t> </a:t>
            </a:r>
            <a:r>
              <a:rPr lang="en-US" altLang="ko-KR" dirty="0"/>
              <a:t>– ③ </a:t>
            </a:r>
            <a:r>
              <a:rPr lang="en-US" altLang="ko-KR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</a:rPr>
              <a:t>TMS Back-Office Application </a:t>
            </a:r>
            <a:r>
              <a:rPr lang="en-US" altLang="ko-KR" sz="160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</a:rPr>
              <a:t>(2/2)</a:t>
            </a:r>
            <a:endParaRPr lang="ko-KR" alt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1052327" y="1545767"/>
            <a:ext cx="62570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I-System CS</a:t>
            </a:r>
            <a:r>
              <a:rPr lang="ko-KR" altLang="en-US" dirty="0"/>
              <a:t>를 </a:t>
            </a:r>
            <a:r>
              <a:rPr lang="en-US" altLang="ko-KR" dirty="0"/>
              <a:t>Web</a:t>
            </a:r>
            <a:r>
              <a:rPr lang="ko-KR" altLang="en-US" dirty="0"/>
              <a:t>으로 </a:t>
            </a:r>
            <a:r>
              <a:rPr lang="ko-KR" altLang="en-US" dirty="0" err="1"/>
              <a:t>전환시</a:t>
            </a:r>
            <a:r>
              <a:rPr lang="ko-KR" altLang="en-US" dirty="0"/>
              <a:t> 장단점 비교 및 고려사항</a:t>
            </a:r>
          </a:p>
        </p:txBody>
      </p:sp>
      <p:pic>
        <p:nvPicPr>
          <p:cNvPr id="6" name="Picture 2" descr="D:\19.전지수\1. 제안서\1. 표준제안\★2017_표준제안설명회\작업\버트3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8608" y="1626781"/>
            <a:ext cx="293719" cy="25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972B48F-75AB-40F9-B100-028103654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73371"/>
              </p:ext>
            </p:extLst>
          </p:nvPr>
        </p:nvGraphicFramePr>
        <p:xfrm>
          <a:off x="782113" y="2085737"/>
          <a:ext cx="6527249" cy="4647303"/>
        </p:xfrm>
        <a:graphic>
          <a:graphicData uri="http://schemas.openxmlformats.org/drawingml/2006/table">
            <a:tbl>
              <a:tblPr/>
              <a:tblGrid>
                <a:gridCol w="857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5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5124">
                  <a:extLst>
                    <a:ext uri="{9D8B030D-6E8A-4147-A177-3AD203B41FA5}">
                      <a16:colId xmlns:a16="http://schemas.microsoft.com/office/drawing/2014/main" val="2407766462"/>
                    </a:ext>
                  </a:extLst>
                </a:gridCol>
              </a:tblGrid>
              <a:tr h="3418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대상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C/S </a:t>
                      </a:r>
                      <a:r>
                        <a:rPr lang="ko-KR" altLang="en-US" sz="1600" b="0" baseline="0" dirty="0">
                          <a:solidFill>
                            <a:schemeClr val="bg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Web </a:t>
                      </a:r>
                      <a:r>
                        <a:rPr lang="ko-KR" altLang="en-US" sz="1600" b="0" baseline="0" dirty="0">
                          <a:solidFill>
                            <a:schemeClr val="bg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890">
                <a:tc>
                  <a:txBody>
                    <a:bodyPr/>
                    <a:lstStyle/>
                    <a:p>
                      <a:pPr marL="0" lvl="1" indent="0" algn="ctr" defTabSz="839443" rtl="0" eaLnBrk="1" fontAlgn="base" latinLnBrk="0" hangingPunct="1">
                        <a:spcBef>
                          <a:spcPts val="459"/>
                        </a:spcBef>
                        <a:buClr>
                          <a:srgbClr val="0E69AA"/>
                        </a:buClr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대상</a:t>
                      </a:r>
                      <a:endParaRPr lang="en-US" altLang="ko-KR" sz="1400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ctr" defTabSz="839443" rtl="0" eaLnBrk="1" fontAlgn="base" latinLnBrk="0" hangingPunct="1">
                        <a:spcBef>
                          <a:spcPts val="459"/>
                        </a:spcBef>
                        <a:buClr>
                          <a:srgbClr val="0E69AA"/>
                        </a:buClr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서버 </a:t>
                      </a: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: IIS(ASP)</a:t>
                      </a: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클라이언트 </a:t>
                      </a: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: Visual Basic 6.0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서버 </a:t>
                      </a: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: Tomcat(JSP/Java)</a:t>
                      </a: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클라이언트 </a:t>
                      </a: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200" kern="0" dirty="0" err="1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웹브라우저</a:t>
                      </a:r>
                      <a:endParaRPr lang="en-US" altLang="ko-KR" sz="12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3868">
                <a:tc>
                  <a:txBody>
                    <a:bodyPr/>
                    <a:lstStyle/>
                    <a:p>
                      <a:pPr marL="0" lvl="1" indent="0" algn="ctr" defTabSz="839443" rtl="0" eaLnBrk="1" fontAlgn="base" latinLnBrk="0" hangingPunct="1">
                        <a:spcBef>
                          <a:spcPts val="459"/>
                        </a:spcBef>
                        <a:buClr>
                          <a:srgbClr val="0E69AA"/>
                        </a:buClr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장점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 err="1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단순구조</a:t>
                      </a: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기능 시스템에 적합</a:t>
                      </a: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적은 비용으로 고성능의 서버를 대신</a:t>
                      </a: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특정 컴포넌트 이용 시 폐쇄</a:t>
                      </a: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독점적 기술 확보 가능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사용자 </a:t>
                      </a: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PC 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환경의 제약사항이 적음</a:t>
                      </a:r>
                      <a:endParaRPr lang="en-US" altLang="ko-KR" sz="12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인터페이스 변경없이 </a:t>
                      </a:r>
                      <a:r>
                        <a:rPr lang="ko-KR" altLang="en-US" sz="1200" kern="0" dirty="0" err="1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로직변경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수월</a:t>
                      </a: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 err="1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프리젠터이션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0" dirty="0" err="1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로직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처리가 간편</a:t>
                      </a:r>
                      <a:endParaRPr lang="en-US" altLang="ko-KR" sz="12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Scale-Out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형 시스템 확장 용이</a:t>
                      </a: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개방성</a:t>
                      </a: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확장성</a:t>
                      </a: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범용성 확보</a:t>
                      </a:r>
                      <a:endParaRPr lang="en-US" altLang="ko-KR" sz="12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개발인력 확보 용이</a:t>
                      </a:r>
                      <a:endParaRPr lang="en-US" altLang="ko-KR" sz="12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유지보수</a:t>
                      </a: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업데이트 및 배포 용이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417807"/>
                  </a:ext>
                </a:extLst>
              </a:tr>
              <a:tr h="1952694">
                <a:tc>
                  <a:txBody>
                    <a:bodyPr/>
                    <a:lstStyle/>
                    <a:p>
                      <a:pPr marL="0" lvl="1" indent="0" algn="ctr" defTabSz="839443" rtl="0" eaLnBrk="1" fontAlgn="base" latinLnBrk="0" hangingPunct="1">
                        <a:spcBef>
                          <a:spcPts val="459"/>
                        </a:spcBef>
                        <a:buClr>
                          <a:srgbClr val="0E69AA"/>
                        </a:buClr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단점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사용자 </a:t>
                      </a: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PC 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성능과 설치 프로그램에 의존적</a:t>
                      </a:r>
                      <a:endParaRPr lang="en-US" altLang="ko-KR" sz="12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대형</a:t>
                      </a: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다수 이용 시스템으로 확대 부적합</a:t>
                      </a:r>
                      <a:endParaRPr lang="en-US" altLang="ko-KR" sz="12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 err="1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업무변화가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급속한 환경에 부적합</a:t>
                      </a:r>
                      <a:endParaRPr lang="en-US" altLang="ko-KR" sz="12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대량 데이터 </a:t>
                      </a:r>
                      <a:r>
                        <a:rPr lang="ko-KR" altLang="en-US" sz="1200" kern="0" dirty="0" err="1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로직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처리 부적합</a:t>
                      </a:r>
                      <a:endParaRPr lang="en-US" altLang="ko-KR" sz="12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유지보수 및 관리가 어려움</a:t>
                      </a:r>
                      <a:endParaRPr lang="en-US" altLang="ko-KR" sz="12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 err="1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프리젠테이션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0" dirty="0" err="1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로직에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고비용 수반</a:t>
                      </a:r>
                      <a:endParaRPr lang="en-US" altLang="ko-KR" sz="12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시스템의 확장성과 유연성 부족</a:t>
                      </a:r>
                      <a:endParaRPr lang="en-US" altLang="ko-KR" sz="12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설치</a:t>
                      </a: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배포 및 이용방법 복잡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웹 서버와 네트워크 부하에 부담</a:t>
                      </a: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dirty="0" err="1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보안성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확보문제로 클라이언트 자원 이용에 제약</a:t>
                      </a:r>
                      <a:endParaRPr lang="en-US" altLang="ko-KR" sz="12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Database </a:t>
                      </a:r>
                      <a:r>
                        <a:rPr lang="ko-KR" altLang="en-US" sz="12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기반</a:t>
                      </a:r>
                      <a:r>
                        <a:rPr lang="ko-KR" altLang="en-US" sz="1200" kern="0" baseline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업무가 아닌 문서 기반 업무 개발에 제약 존재</a:t>
                      </a:r>
                      <a:endParaRPr lang="ko-KR" altLang="en-US" sz="12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602480"/>
                  </a:ext>
                </a:extLst>
              </a:tr>
            </a:tbl>
          </a:graphicData>
        </a:graphic>
      </p:graphicFrame>
      <p:grpSp>
        <p:nvGrpSpPr>
          <p:cNvPr id="10" name="그룹 9"/>
          <p:cNvGrpSpPr/>
          <p:nvPr/>
        </p:nvGrpSpPr>
        <p:grpSpPr>
          <a:xfrm>
            <a:off x="7864091" y="2100899"/>
            <a:ext cx="2451299" cy="4632142"/>
            <a:chOff x="5922780" y="2078951"/>
            <a:chExt cx="4467579" cy="5318633"/>
          </a:xfrm>
        </p:grpSpPr>
        <p:sp>
          <p:nvSpPr>
            <p:cNvPr id="11" name="직사각형 10"/>
            <p:cNvSpPr/>
            <p:nvPr/>
          </p:nvSpPr>
          <p:spPr bwMode="auto">
            <a:xfrm>
              <a:off x="5922780" y="2078951"/>
              <a:ext cx="4467579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주요 고려사항</a:t>
              </a:r>
              <a:endParaRPr lang="en-US" altLang="ko-KR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endParaRPr>
            </a:p>
          </p:txBody>
        </p:sp>
        <p:sp>
          <p:nvSpPr>
            <p:cNvPr id="12" name="직사각형 11"/>
            <p:cNvSpPr/>
            <p:nvPr/>
          </p:nvSpPr>
          <p:spPr bwMode="auto">
            <a:xfrm>
              <a:off x="5922780" y="2665272"/>
              <a:ext cx="4467579" cy="473231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marL="174625" indent="-82550" defTabSz="1041607" latinLnBrk="0">
                <a:buFont typeface="Arial" panose="020B0604020202020204" pitchFamily="34" charset="0"/>
                <a:buChar char="•"/>
              </a:pPr>
              <a:r>
                <a:rPr lang="ko-KR" altLang="en-US" sz="1200" kern="0" dirty="0" err="1">
                  <a:latin typeface="+mn-ea"/>
                </a:rPr>
                <a:t>특정사</a:t>
              </a:r>
              <a:r>
                <a:rPr lang="ko-KR" altLang="en-US" sz="1200" kern="0" dirty="0">
                  <a:latin typeface="+mn-ea"/>
                </a:rPr>
                <a:t> </a:t>
              </a:r>
              <a:r>
                <a:rPr lang="ko-KR" altLang="en-US" sz="1200" kern="0" dirty="0" smtClean="0">
                  <a:latin typeface="+mn-ea"/>
                </a:rPr>
                <a:t>종속 기술</a:t>
              </a:r>
              <a:r>
                <a:rPr lang="en-US" altLang="ko-KR" sz="1200" kern="0" dirty="0">
                  <a:latin typeface="+mn-ea"/>
                </a:rPr>
                <a:t>/</a:t>
              </a:r>
              <a:r>
                <a:rPr lang="ko-KR" altLang="en-US" sz="1200" kern="0" dirty="0">
                  <a:latin typeface="+mn-ea"/>
                </a:rPr>
                <a:t>단종 기술인 </a:t>
              </a:r>
              <a:r>
                <a:rPr lang="en-US" altLang="ko-KR" sz="1200" kern="0" dirty="0">
                  <a:latin typeface="+mn-ea"/>
                </a:rPr>
                <a:t>VB </a:t>
              </a:r>
              <a:r>
                <a:rPr lang="ko-KR" altLang="en-US" sz="1200" kern="0" dirty="0">
                  <a:latin typeface="+mn-ea"/>
                </a:rPr>
                <a:t>기술은 제거가 </a:t>
              </a:r>
              <a:r>
                <a:rPr lang="ko-KR" altLang="en-US" sz="1200" kern="0" dirty="0" err="1">
                  <a:latin typeface="+mn-ea"/>
                </a:rPr>
                <a:t>바람직</a:t>
              </a:r>
              <a:endParaRPr lang="en-US" altLang="ko-KR" sz="1200" kern="0" dirty="0">
                <a:latin typeface="+mn-ea"/>
              </a:endParaRPr>
            </a:p>
            <a:p>
              <a:pPr marL="174625" indent="-82550" defTabSz="1041607" latinLnBrk="0">
                <a:buFont typeface="Arial" panose="020B0604020202020204" pitchFamily="34" charset="0"/>
                <a:buChar char="•"/>
              </a:pPr>
              <a:endParaRPr lang="en-US" altLang="ko-KR" sz="1200" kern="0" dirty="0">
                <a:latin typeface="+mn-ea"/>
              </a:endParaRPr>
            </a:p>
            <a:p>
              <a:pPr marL="174625" indent="-82550" defTabSz="1041607" latinLnBrk="0">
                <a:buFont typeface="Arial" panose="020B0604020202020204" pitchFamily="34" charset="0"/>
                <a:buChar char="•"/>
              </a:pPr>
              <a:r>
                <a:rPr lang="ko-KR" altLang="en-US" sz="1200" kern="0" dirty="0">
                  <a:latin typeface="+mn-ea"/>
                </a:rPr>
                <a:t>향후 지속적인 확대 개편을 위해서는 개방성</a:t>
              </a:r>
              <a:r>
                <a:rPr lang="en-US" altLang="ko-KR" sz="1200" kern="0" dirty="0">
                  <a:latin typeface="+mn-ea"/>
                </a:rPr>
                <a:t>, </a:t>
              </a:r>
              <a:r>
                <a:rPr lang="ko-KR" altLang="en-US" sz="1200" kern="0" dirty="0">
                  <a:latin typeface="+mn-ea"/>
                </a:rPr>
                <a:t>확장성</a:t>
              </a:r>
              <a:r>
                <a:rPr lang="en-US" altLang="ko-KR" sz="1200" kern="0" dirty="0">
                  <a:latin typeface="+mn-ea"/>
                </a:rPr>
                <a:t>, </a:t>
              </a:r>
              <a:r>
                <a:rPr lang="ko-KR" altLang="en-US" sz="1200" kern="0" dirty="0">
                  <a:latin typeface="+mn-ea"/>
                </a:rPr>
                <a:t>범용성을 확보할 수 있도록 </a:t>
              </a:r>
              <a:r>
                <a:rPr lang="en-US" altLang="ko-KR" sz="1200" kern="0" dirty="0">
                  <a:latin typeface="+mn-ea"/>
                </a:rPr>
                <a:t>WEB </a:t>
              </a:r>
              <a:r>
                <a:rPr lang="ko-KR" altLang="en-US" sz="1200" kern="0" dirty="0">
                  <a:latin typeface="+mn-ea"/>
                </a:rPr>
                <a:t>전환 필요</a:t>
              </a:r>
              <a:endParaRPr lang="en-US" altLang="ko-KR" sz="1200" kern="0" dirty="0">
                <a:latin typeface="+mn-ea"/>
              </a:endParaRPr>
            </a:p>
            <a:p>
              <a:pPr marL="174625" indent="-82550" defTabSz="1041607" latinLnBrk="0">
                <a:buFont typeface="Arial" panose="020B0604020202020204" pitchFamily="34" charset="0"/>
                <a:buChar char="•"/>
              </a:pPr>
              <a:endParaRPr lang="en-US" altLang="ko-KR" sz="1200" kern="0" dirty="0">
                <a:latin typeface="+mn-ea"/>
              </a:endParaRPr>
            </a:p>
            <a:p>
              <a:pPr marL="174625" indent="-82550" defTabSz="1041607" latinLnBrk="0">
                <a:buFont typeface="Arial" panose="020B0604020202020204" pitchFamily="34" charset="0"/>
                <a:buChar char="•"/>
              </a:pPr>
              <a:r>
                <a:rPr lang="en-US" altLang="ko-KR" sz="1200" kern="0" dirty="0">
                  <a:latin typeface="+mn-ea"/>
                </a:rPr>
                <a:t>WEB</a:t>
              </a:r>
              <a:r>
                <a:rPr lang="ko-KR" altLang="en-US" sz="1200" kern="0" dirty="0" smtClean="0">
                  <a:latin typeface="+mn-ea"/>
                </a:rPr>
                <a:t>전환 시 </a:t>
              </a:r>
              <a:r>
                <a:rPr lang="ko-KR" altLang="en-US" sz="1200" kern="0" dirty="0">
                  <a:latin typeface="+mn-ea"/>
                </a:rPr>
                <a:t>클라이언트에서 담당했던 기능의 서버 전환</a:t>
              </a:r>
              <a:r>
                <a:rPr lang="en-US" altLang="ko-KR" sz="1200" kern="0" dirty="0">
                  <a:latin typeface="+mn-ea"/>
                </a:rPr>
                <a:t> </a:t>
              </a:r>
              <a:r>
                <a:rPr lang="ko-KR" altLang="en-US" sz="1200" kern="0" dirty="0">
                  <a:latin typeface="+mn-ea"/>
                </a:rPr>
                <a:t>등 성능 부분의 배치 처리 고려</a:t>
              </a:r>
              <a:endParaRPr lang="en-US" altLang="ko-KR" sz="1200" kern="0" dirty="0">
                <a:latin typeface="+mn-ea"/>
              </a:endParaRPr>
            </a:p>
            <a:p>
              <a:pPr marL="174625" indent="-82550" defTabSz="1041607" latinLnBrk="0">
                <a:buFont typeface="Arial" panose="020B0604020202020204" pitchFamily="34" charset="0"/>
                <a:buChar char="•"/>
              </a:pPr>
              <a:endParaRPr lang="en-US" altLang="ko-KR" sz="1200" kern="0" dirty="0">
                <a:latin typeface="+mn-ea"/>
              </a:endParaRPr>
            </a:p>
            <a:p>
              <a:pPr marL="174625" indent="-82550" defTabSz="1041607" latinLnBrk="0">
                <a:buFont typeface="Arial" panose="020B0604020202020204" pitchFamily="34" charset="0"/>
                <a:buChar char="•"/>
              </a:pPr>
              <a:r>
                <a:rPr lang="en-US" altLang="ko-KR" sz="1200" kern="0" dirty="0">
                  <a:latin typeface="+mn-ea"/>
                </a:rPr>
                <a:t>CS</a:t>
              </a:r>
              <a:r>
                <a:rPr lang="ko-KR" altLang="en-US" sz="1200" kern="0" dirty="0">
                  <a:latin typeface="+mn-ea"/>
                </a:rPr>
                <a:t>에 익숙한 인터페이스를 </a:t>
              </a:r>
              <a:r>
                <a:rPr lang="en-US" altLang="ko-KR" sz="1200" kern="0" dirty="0">
                  <a:latin typeface="+mn-ea"/>
                </a:rPr>
                <a:t>WEB </a:t>
              </a:r>
              <a:r>
                <a:rPr lang="ko-KR" altLang="en-US" sz="1200" kern="0" dirty="0">
                  <a:latin typeface="+mn-ea"/>
                </a:rPr>
                <a:t>형식으로 전환하는데 따른 </a:t>
              </a:r>
              <a:r>
                <a:rPr lang="en-US" altLang="ko-KR" sz="1200" kern="0" dirty="0">
                  <a:latin typeface="+mn-ea"/>
                </a:rPr>
                <a:t>UX</a:t>
              </a:r>
              <a:r>
                <a:rPr lang="ko-KR" altLang="en-US" sz="1200" kern="0" dirty="0">
                  <a:latin typeface="+mn-ea"/>
                </a:rPr>
                <a:t>측면의 고려 필요</a:t>
              </a:r>
            </a:p>
          </p:txBody>
        </p:sp>
      </p:grpSp>
      <p:sp>
        <p:nvSpPr>
          <p:cNvPr id="13" name="이등변 삼각형 12"/>
          <p:cNvSpPr/>
          <p:nvPr/>
        </p:nvSpPr>
        <p:spPr>
          <a:xfrm rot="5400000">
            <a:off x="6256021" y="4284701"/>
            <a:ext cx="2736380" cy="288040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9565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3. </a:t>
            </a:r>
            <a:r>
              <a:rPr lang="ko-KR" altLang="en-US" sz="2000" dirty="0"/>
              <a:t>주요 개발 방안</a:t>
            </a:r>
            <a:r>
              <a:rPr lang="ko-KR" altLang="en-US" dirty="0"/>
              <a:t> </a:t>
            </a:r>
            <a:r>
              <a:rPr lang="en-US" altLang="ko-KR" dirty="0"/>
              <a:t>– ④ TMS DB </a:t>
            </a:r>
            <a:r>
              <a:rPr lang="ko-KR" altLang="en-US" dirty="0"/>
              <a:t>구축 방안 </a:t>
            </a:r>
            <a:r>
              <a:rPr lang="en-US" altLang="ko-KR" sz="1600" dirty="0"/>
              <a:t>(1/2)</a:t>
            </a:r>
          </a:p>
        </p:txBody>
      </p:sp>
      <p:grpSp>
        <p:nvGrpSpPr>
          <p:cNvPr id="204" name="그룹 203"/>
          <p:cNvGrpSpPr/>
          <p:nvPr/>
        </p:nvGrpSpPr>
        <p:grpSpPr>
          <a:xfrm>
            <a:off x="738188" y="1636487"/>
            <a:ext cx="9217025" cy="5338127"/>
            <a:chOff x="3847798" y="1913923"/>
            <a:chExt cx="6107415" cy="5338127"/>
          </a:xfrm>
        </p:grpSpPr>
        <p:sp>
          <p:nvSpPr>
            <p:cNvPr id="217" name="직사각형 216"/>
            <p:cNvSpPr/>
            <p:nvPr/>
          </p:nvSpPr>
          <p:spPr bwMode="auto">
            <a:xfrm>
              <a:off x="3847798" y="1913923"/>
              <a:ext cx="2960322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en-US" altLang="ko-KR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I-SYSTEM DB</a:t>
              </a: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 현황</a:t>
              </a:r>
            </a:p>
          </p:txBody>
        </p:sp>
        <p:sp>
          <p:nvSpPr>
            <p:cNvPr id="231" name="직사각형 230"/>
            <p:cNvSpPr/>
            <p:nvPr/>
          </p:nvSpPr>
          <p:spPr bwMode="auto">
            <a:xfrm>
              <a:off x="3847798" y="2500242"/>
              <a:ext cx="2960322" cy="4751808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233" name="직사각형 232"/>
            <p:cNvSpPr/>
            <p:nvPr/>
          </p:nvSpPr>
          <p:spPr bwMode="auto">
            <a:xfrm>
              <a:off x="6994891" y="1913923"/>
              <a:ext cx="2960322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표준화 범위</a:t>
              </a:r>
            </a:p>
          </p:txBody>
        </p:sp>
        <p:sp>
          <p:nvSpPr>
            <p:cNvPr id="234" name="직사각형 233"/>
            <p:cNvSpPr/>
            <p:nvPr/>
          </p:nvSpPr>
          <p:spPr bwMode="auto">
            <a:xfrm>
              <a:off x="6994891" y="2500242"/>
              <a:ext cx="2960322" cy="4751808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235" name="대각선 방향의 모서리가 둥근 사각형 159">
            <a:extLst>
              <a:ext uri="{FF2B5EF4-FFF2-40B4-BE49-F238E27FC236}">
                <a16:creationId xmlns:a16="http://schemas.microsoft.com/office/drawing/2014/main" id="{21AD87A8-6C06-4CA0-85F4-E2ED852BA1DD}"/>
              </a:ext>
            </a:extLst>
          </p:cNvPr>
          <p:cNvSpPr/>
          <p:nvPr/>
        </p:nvSpPr>
        <p:spPr>
          <a:xfrm flipH="1">
            <a:off x="5420742" y="1567106"/>
            <a:ext cx="4553839" cy="420990"/>
          </a:xfrm>
          <a:prstGeom prst="round2DiagRect">
            <a:avLst/>
          </a:prstGeom>
          <a:noFill/>
          <a:ln w="63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600" spc="-65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0B1B41D7-2C0B-480F-A8A3-DC6EF69957BB}"/>
              </a:ext>
            </a:extLst>
          </p:cNvPr>
          <p:cNvSpPr txBox="1"/>
          <p:nvPr/>
        </p:nvSpPr>
        <p:spPr>
          <a:xfrm>
            <a:off x="5634740" y="2294547"/>
            <a:ext cx="4140545" cy="32676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ko-KR"/>
            </a:defPPr>
            <a:lvl1pPr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algn="ctr"/>
            <a:r>
              <a:rPr lang="ko-KR" altLang="en-US" sz="1200" kern="0" dirty="0">
                <a:gradFill>
                  <a:gsLst>
                    <a:gs pos="70833">
                      <a:prstClr val="black">
                        <a:lumMod val="65000"/>
                        <a:lumOff val="35000"/>
                      </a:prstClr>
                    </a:gs>
                    <a:gs pos="50833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사용 테이블 기준으로 용어</a:t>
            </a:r>
            <a:r>
              <a:rPr lang="en-US" altLang="ko-KR" sz="1200" kern="0" dirty="0">
                <a:gradFill>
                  <a:gsLst>
                    <a:gs pos="70833">
                      <a:prstClr val="black">
                        <a:lumMod val="65000"/>
                        <a:lumOff val="35000"/>
                      </a:prstClr>
                    </a:gs>
                    <a:gs pos="50833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, </a:t>
            </a:r>
            <a:r>
              <a:rPr lang="ko-KR" altLang="en-US" sz="1200" kern="0" dirty="0">
                <a:gradFill>
                  <a:gsLst>
                    <a:gs pos="70833">
                      <a:prstClr val="black">
                        <a:lumMod val="65000"/>
                        <a:lumOff val="35000"/>
                      </a:prstClr>
                    </a:gs>
                    <a:gs pos="50833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단어</a:t>
            </a:r>
            <a:r>
              <a:rPr lang="en-US" altLang="ko-KR" sz="1200" kern="0" dirty="0">
                <a:gradFill>
                  <a:gsLst>
                    <a:gs pos="70833">
                      <a:prstClr val="black">
                        <a:lumMod val="65000"/>
                        <a:lumOff val="35000"/>
                      </a:prstClr>
                    </a:gs>
                    <a:gs pos="50833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, </a:t>
            </a:r>
            <a:r>
              <a:rPr lang="ko-KR" altLang="en-US" sz="1200" kern="0" dirty="0">
                <a:gradFill>
                  <a:gsLst>
                    <a:gs pos="70833">
                      <a:prstClr val="black">
                        <a:lumMod val="65000"/>
                        <a:lumOff val="35000"/>
                      </a:prstClr>
                    </a:gs>
                    <a:gs pos="50833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도메인 표준화 작업 진행</a:t>
            </a:r>
            <a:endParaRPr lang="en-US" altLang="ko-KR" sz="1200" kern="0" dirty="0">
              <a:gradFill>
                <a:gsLst>
                  <a:gs pos="70833">
                    <a:prstClr val="black">
                      <a:lumMod val="65000"/>
                      <a:lumOff val="35000"/>
                    </a:prstClr>
                  </a:gs>
                  <a:gs pos="50833">
                    <a:prstClr val="black">
                      <a:lumMod val="65000"/>
                      <a:lumOff val="35000"/>
                    </a:prstClr>
                  </a:gs>
                </a:gsLst>
                <a:lin ang="5400000" scaled="1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EB3FF46A-8294-463D-AC0F-52E14B328D4C}"/>
              </a:ext>
            </a:extLst>
          </p:cNvPr>
          <p:cNvSpPr txBox="1"/>
          <p:nvPr/>
        </p:nvSpPr>
        <p:spPr>
          <a:xfrm>
            <a:off x="843170" y="2379496"/>
            <a:ext cx="687000" cy="204083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ko-KR"/>
            </a:defPPr>
            <a:lvl1pPr algn="ctr" defTabSz="914400" latinLnBrk="0">
              <a:defRPr sz="16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현황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1201517B-88BA-42B7-91C0-826F38E96AD1}"/>
              </a:ext>
            </a:extLst>
          </p:cNvPr>
          <p:cNvSpPr txBox="1"/>
          <p:nvPr/>
        </p:nvSpPr>
        <p:spPr>
          <a:xfrm>
            <a:off x="843170" y="4526857"/>
            <a:ext cx="687000" cy="62642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ko-KR"/>
            </a:defPPr>
            <a:lvl1pPr algn="ctr" defTabSz="914400" latinLnBrk="0">
              <a:defRPr sz="16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용어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0A961896-5A45-4004-80A5-3E25492715B6}"/>
              </a:ext>
            </a:extLst>
          </p:cNvPr>
          <p:cNvSpPr/>
          <p:nvPr/>
        </p:nvSpPr>
        <p:spPr>
          <a:xfrm>
            <a:off x="1602179" y="4539378"/>
            <a:ext cx="2809264" cy="6139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numCol="1" rtlCol="0" anchor="ctr"/>
          <a:lstStyle/>
          <a:p>
            <a:pPr marL="228600" indent="-228600">
              <a:lnSpc>
                <a:spcPts val="1400"/>
              </a:lnSpc>
              <a:spcBef>
                <a:spcPts val="200"/>
              </a:spcBef>
              <a:buFont typeface="Wingdings" panose="05000000000000000000" pitchFamily="2" charset="2"/>
              <a:buChar char="ü"/>
              <a:tabLst>
                <a:tab pos="2338835" algn="l"/>
              </a:tabLst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I-SYSTEM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테이블에서 용어 추출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228600" indent="-228600">
              <a:lnSpc>
                <a:spcPts val="1400"/>
              </a:lnSpc>
              <a:spcBef>
                <a:spcPts val="200"/>
              </a:spcBef>
              <a:buFont typeface="Wingdings" panose="05000000000000000000" pitchFamily="2" charset="2"/>
              <a:buChar char="ü"/>
              <a:tabLst>
                <a:tab pos="2338835" algn="l"/>
              </a:tabLst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전체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: 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1,406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개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228600" indent="-228600">
              <a:lnSpc>
                <a:spcPts val="1400"/>
              </a:lnSpc>
              <a:spcBef>
                <a:spcPts val="200"/>
              </a:spcBef>
              <a:buFont typeface="Wingdings" panose="05000000000000000000" pitchFamily="2" charset="2"/>
              <a:buChar char="ü"/>
              <a:tabLst>
                <a:tab pos="2338835" algn="l"/>
              </a:tabLst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중복제거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: 323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개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graphicFrame>
        <p:nvGraphicFramePr>
          <p:cNvPr id="241" name="표 240">
            <a:extLst>
              <a:ext uri="{FF2B5EF4-FFF2-40B4-BE49-F238E27FC236}">
                <a16:creationId xmlns:a16="http://schemas.microsoft.com/office/drawing/2014/main" id="{3972B48F-75AB-40F9-B100-028103654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935030"/>
              </p:ext>
            </p:extLst>
          </p:nvPr>
        </p:nvGraphicFramePr>
        <p:xfrm>
          <a:off x="5634740" y="2706066"/>
          <a:ext cx="4140545" cy="2600941"/>
        </p:xfrm>
        <a:graphic>
          <a:graphicData uri="http://schemas.openxmlformats.org/drawingml/2006/table">
            <a:tbl>
              <a:tblPr/>
              <a:tblGrid>
                <a:gridCol w="96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9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5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대상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baseline="0" dirty="0">
                          <a:solidFill>
                            <a:schemeClr val="bg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내  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405">
                <a:tc>
                  <a:txBody>
                    <a:bodyPr/>
                    <a:lstStyle/>
                    <a:p>
                      <a:pPr marL="0" lvl="1" indent="0" algn="ctr" defTabSz="839443" rtl="0" eaLnBrk="1" fontAlgn="base" latinLnBrk="0" hangingPunct="1">
                        <a:spcBef>
                          <a:spcPts val="459"/>
                        </a:spcBef>
                        <a:buClr>
                          <a:srgbClr val="0E69AA"/>
                        </a:buClr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용어</a:t>
                      </a:r>
                      <a:r>
                        <a:rPr lang="en-US" altLang="ko-KR" sz="11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1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표준화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프로젝트 대상 테이블에서 용어 추출 및 중복제거</a:t>
                      </a:r>
                      <a:endParaRPr lang="en-US" altLang="ko-KR" sz="10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marR="0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용어 표준화 </a:t>
                      </a:r>
                      <a:r>
                        <a:rPr lang="en-US" altLang="ko-KR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RULE </a:t>
                      </a: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정의</a:t>
                      </a:r>
                      <a:endParaRPr lang="en-US" altLang="ko-KR" sz="10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용어 표준화 정의 작업</a:t>
                      </a:r>
                      <a:endParaRPr lang="en-US" altLang="ko-KR" sz="10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0234">
                <a:tc>
                  <a:txBody>
                    <a:bodyPr/>
                    <a:lstStyle/>
                    <a:p>
                      <a:pPr marL="0" lvl="1" indent="0" algn="ctr" defTabSz="839443" rtl="0" eaLnBrk="1" fontAlgn="base" latinLnBrk="0" hangingPunct="1">
                        <a:spcBef>
                          <a:spcPts val="459"/>
                        </a:spcBef>
                        <a:buClr>
                          <a:srgbClr val="0E69AA"/>
                        </a:buClr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단어</a:t>
                      </a:r>
                      <a:r>
                        <a:rPr lang="en-US" altLang="ko-KR" sz="11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1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표준화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표준화된 용어에서 단어 추출</a:t>
                      </a:r>
                      <a:endParaRPr lang="en-US" altLang="ko-KR" sz="10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단어 표준화 </a:t>
                      </a:r>
                      <a:r>
                        <a:rPr lang="en-US" altLang="ko-KR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RULE </a:t>
                      </a: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정의</a:t>
                      </a:r>
                      <a:endParaRPr lang="en-US" altLang="ko-KR" sz="10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표준 영문명</a:t>
                      </a:r>
                      <a:r>
                        <a:rPr lang="en-US" altLang="ko-KR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영문 </a:t>
                      </a:r>
                      <a:r>
                        <a:rPr lang="ko-KR" altLang="en-US" sz="1000" kern="0" dirty="0" err="1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약어명</a:t>
                      </a: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정의</a:t>
                      </a:r>
                      <a:endParaRPr lang="en-US" altLang="ko-KR" sz="10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단일항목</a:t>
                      </a:r>
                      <a:r>
                        <a:rPr lang="en-US" altLang="ko-KR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복합항목 정의</a:t>
                      </a:r>
                      <a:endParaRPr lang="en-US" altLang="ko-KR" sz="10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dirty="0" err="1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이음동의어</a:t>
                      </a:r>
                      <a:r>
                        <a:rPr lang="en-US" altLang="ko-KR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kern="0" dirty="0" err="1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금칙어</a:t>
                      </a: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정의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417807"/>
                  </a:ext>
                </a:extLst>
              </a:tr>
              <a:tr h="506502">
                <a:tc>
                  <a:txBody>
                    <a:bodyPr/>
                    <a:lstStyle/>
                    <a:p>
                      <a:pPr marL="0" lvl="1" indent="0" algn="ctr" defTabSz="839443" rtl="0" eaLnBrk="1" fontAlgn="base" latinLnBrk="0" hangingPunct="1">
                        <a:spcBef>
                          <a:spcPts val="459"/>
                        </a:spcBef>
                        <a:buClr>
                          <a:srgbClr val="0E69AA"/>
                        </a:buClr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1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도메인</a:t>
                      </a:r>
                      <a:r>
                        <a:rPr lang="en-US" altLang="ko-KR" sz="11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1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표준화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표준용어에서 도메인 도출</a:t>
                      </a:r>
                      <a:endParaRPr lang="en-US" altLang="ko-KR" sz="1000" kern="0" dirty="0">
                        <a:gradFill>
                          <a:gsLst>
                            <a:gs pos="70833">
                              <a:prstClr val="black">
                                <a:lumMod val="65000"/>
                                <a:lumOff val="35000"/>
                              </a:prstClr>
                            </a:gs>
                            <a:gs pos="50833">
                              <a:prstClr val="black">
                                <a:lumMod val="65000"/>
                                <a:lumOff val="35000"/>
                              </a:prstClr>
                            </a:gs>
                          </a:gsLst>
                          <a:lin ang="5400000" scaled="1"/>
                        </a:gra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57443" lvl="1" indent="-157443" algn="l" defTabSz="839443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도메인 그룹 </a:t>
                      </a:r>
                      <a:r>
                        <a:rPr lang="en-US" altLang="ko-KR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0" dirty="0">
                          <a:gradFill>
                            <a:gsLst>
                              <a:gs pos="7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  <a:gs pos="50833">
                                <a:prstClr val="black">
                                  <a:lumMod val="65000"/>
                                  <a:lumOff val="35000"/>
                                </a:prstClr>
                              </a:gs>
                            </a:gsLst>
                            <a:lin ang="5400000" scaled="1"/>
                          </a:gradFill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도메인 정의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180444"/>
                  </a:ext>
                </a:extLst>
              </a:tr>
            </a:tbl>
          </a:graphicData>
        </a:graphic>
      </p:graphicFrame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6966B8A1-4CAC-4B32-B6BD-E8CE11CD0C95}"/>
              </a:ext>
            </a:extLst>
          </p:cNvPr>
          <p:cNvSpPr/>
          <p:nvPr/>
        </p:nvSpPr>
        <p:spPr>
          <a:xfrm>
            <a:off x="742760" y="5537667"/>
            <a:ext cx="4463007" cy="14369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86398"/>
            <a:endParaRPr lang="en-US" altLang="ko-KR" sz="2200" dirty="0">
              <a:solidFill>
                <a:srgbClr val="FFFFFF"/>
              </a:solidFill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E37AB573-3717-4E45-A962-04BF9F08842B}"/>
              </a:ext>
            </a:extLst>
          </p:cNvPr>
          <p:cNvSpPr txBox="1"/>
          <p:nvPr/>
        </p:nvSpPr>
        <p:spPr>
          <a:xfrm>
            <a:off x="910800" y="5967057"/>
            <a:ext cx="4171920" cy="864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fontAlgn="auto" latinLnBrk="1">
              <a:spcBef>
                <a:spcPts val="0"/>
              </a:spcBef>
              <a:spcAft>
                <a:spcPts val="0"/>
              </a:spcAft>
              <a:defRPr sz="1200" b="1" spc="-60">
                <a:gradFill>
                  <a:gsLst>
                    <a:gs pos="36250">
                      <a:prstClr val="black">
                        <a:lumMod val="95000"/>
                        <a:lumOff val="5000"/>
                      </a:prstClr>
                    </a:gs>
                    <a:gs pos="20000">
                      <a:prstClr val="black">
                        <a:lumMod val="95000"/>
                        <a:lumOff val="5000"/>
                      </a:prstClr>
                    </a:gs>
                  </a:gsLst>
                  <a:lin ang="2280000" scaled="0"/>
                </a:gradFill>
                <a:latin typeface="맑은 고딕" panose="020B0503020000020004" pitchFamily="50" charset="-127"/>
              </a:defRPr>
            </a:lvl1pPr>
            <a:lvl2pPr marL="638617" fontAlgn="base">
              <a:spcBef>
                <a:spcPct val="0"/>
              </a:spcBef>
              <a:spcAft>
                <a:spcPct val="0"/>
              </a:spcAft>
              <a:defRPr sz="3352">
                <a:latin typeface="Arial" charset="0"/>
              </a:defRPr>
            </a:lvl2pPr>
            <a:lvl3pPr marL="1277234" fontAlgn="base">
              <a:spcBef>
                <a:spcPct val="0"/>
              </a:spcBef>
              <a:spcAft>
                <a:spcPct val="0"/>
              </a:spcAft>
              <a:defRPr sz="3352">
                <a:latin typeface="Arial" charset="0"/>
              </a:defRPr>
            </a:lvl3pPr>
            <a:lvl4pPr marL="1915851" fontAlgn="base">
              <a:spcBef>
                <a:spcPct val="0"/>
              </a:spcBef>
              <a:spcAft>
                <a:spcPct val="0"/>
              </a:spcAft>
              <a:defRPr sz="3352">
                <a:latin typeface="Arial" charset="0"/>
              </a:defRPr>
            </a:lvl4pPr>
            <a:lvl5pPr marL="2554468" fontAlgn="base">
              <a:spcBef>
                <a:spcPct val="0"/>
              </a:spcBef>
              <a:spcAft>
                <a:spcPct val="0"/>
              </a:spcAft>
              <a:defRPr sz="3352">
                <a:latin typeface="Arial" charset="0"/>
              </a:defRPr>
            </a:lvl5pPr>
            <a:lvl6pPr marL="3193085" defTabSz="1277234">
              <a:defRPr sz="3352">
                <a:latin typeface="Arial" charset="0"/>
              </a:defRPr>
            </a:lvl6pPr>
            <a:lvl7pPr marL="3831702" defTabSz="1277234">
              <a:defRPr sz="3352">
                <a:latin typeface="Arial" charset="0"/>
              </a:defRPr>
            </a:lvl7pPr>
            <a:lvl8pPr marL="4470319" defTabSz="1277234">
              <a:defRPr sz="3352">
                <a:latin typeface="Arial" charset="0"/>
              </a:defRPr>
            </a:lvl8pPr>
            <a:lvl9pPr marL="5108936" defTabSz="1277234">
              <a:defRPr sz="3352">
                <a:latin typeface="Arial" charset="0"/>
              </a:defRPr>
            </a:lvl9pPr>
          </a:lstStyle>
          <a:p>
            <a:pPr marL="180975" indent="-108000" algn="l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2338835" algn="l"/>
              </a:tabLst>
            </a:pPr>
            <a:r>
              <a:rPr lang="ko-KR" altLang="en-US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이관대상 테이블 선별을 위한 고객 검토작업 실시</a:t>
            </a:r>
            <a:endParaRPr lang="en-US" altLang="ko-KR" b="0" spc="0" dirty="0">
              <a:gradFill>
                <a:gsLst>
                  <a:gs pos="2917">
                    <a:schemeClr val="tx1">
                      <a:lumMod val="90000"/>
                      <a:lumOff val="10000"/>
                    </a:schemeClr>
                  </a:gs>
                  <a:gs pos="22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180975" indent="-108000" algn="l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2338835" algn="l"/>
              </a:tabLst>
            </a:pPr>
            <a:r>
              <a:rPr lang="ko-KR" altLang="en-US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오브젝트 한글 </a:t>
            </a:r>
            <a:r>
              <a:rPr lang="ko-KR" altLang="en-US" b="0" spc="0" dirty="0" err="1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속성명에</a:t>
            </a:r>
            <a:r>
              <a:rPr lang="ko-KR" altLang="en-US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 대한 보강작업 실시</a:t>
            </a:r>
            <a:endParaRPr lang="en-US" altLang="ko-KR" b="0" spc="0" dirty="0">
              <a:gradFill>
                <a:gsLst>
                  <a:gs pos="2917">
                    <a:schemeClr val="tx1">
                      <a:lumMod val="90000"/>
                      <a:lumOff val="10000"/>
                    </a:schemeClr>
                  </a:gs>
                  <a:gs pos="22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180975" indent="-108000" algn="l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2338835" algn="l"/>
              </a:tabLst>
            </a:pPr>
            <a:r>
              <a:rPr lang="ko-KR" altLang="en-US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표준용어 및 표준도메인 확정을 위한 단계별 고객 미팅 실시</a:t>
            </a:r>
            <a:endParaRPr lang="en-US" altLang="ko-KR" b="0" spc="0" dirty="0">
              <a:gradFill>
                <a:gsLst>
                  <a:gs pos="2917">
                    <a:schemeClr val="tx1">
                      <a:lumMod val="90000"/>
                      <a:lumOff val="10000"/>
                    </a:schemeClr>
                  </a:gs>
                  <a:gs pos="22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1FB02DF5-748E-4C0A-A59B-D6BD49E94491}"/>
              </a:ext>
            </a:extLst>
          </p:cNvPr>
          <p:cNvSpPr/>
          <p:nvPr/>
        </p:nvSpPr>
        <p:spPr>
          <a:xfrm>
            <a:off x="5487635" y="5537664"/>
            <a:ext cx="4467578" cy="14369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86398"/>
            <a:endParaRPr lang="en-US" altLang="ko-KR" sz="2200" dirty="0">
              <a:solidFill>
                <a:srgbClr val="FFFFFF"/>
              </a:solidFill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9C0157C6-EBA6-49EF-B78B-DE0494298BB2}"/>
              </a:ext>
            </a:extLst>
          </p:cNvPr>
          <p:cNvSpPr txBox="1"/>
          <p:nvPr/>
        </p:nvSpPr>
        <p:spPr>
          <a:xfrm>
            <a:off x="5634740" y="5607007"/>
            <a:ext cx="1583857" cy="2926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ko-KR"/>
            </a:defPPr>
            <a:lvl1pPr marL="171450" indent="-171450" defTabSz="914400">
              <a:lnSpc>
                <a:spcPct val="90000"/>
              </a:lnSpc>
              <a:spcBef>
                <a:spcPts val="488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defRPr sz="12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8333">
                      <a:schemeClr val="accent2"/>
                    </a:gs>
                    <a:gs pos="20000">
                      <a:schemeClr val="accent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ko-KR" altLang="en-US" dirty="0"/>
              <a:t>표준화 원칙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EE62692A-FEEB-4D0D-9256-66DEB254D70D}"/>
              </a:ext>
            </a:extLst>
          </p:cNvPr>
          <p:cNvSpPr txBox="1"/>
          <p:nvPr/>
        </p:nvSpPr>
        <p:spPr>
          <a:xfrm>
            <a:off x="5706750" y="5967057"/>
            <a:ext cx="4140545" cy="864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fontAlgn="auto" latinLnBrk="1">
              <a:spcBef>
                <a:spcPts val="0"/>
              </a:spcBef>
              <a:spcAft>
                <a:spcPts val="0"/>
              </a:spcAft>
              <a:defRPr sz="1200" b="1" spc="-60">
                <a:gradFill>
                  <a:gsLst>
                    <a:gs pos="36250">
                      <a:prstClr val="black">
                        <a:lumMod val="95000"/>
                        <a:lumOff val="5000"/>
                      </a:prstClr>
                    </a:gs>
                    <a:gs pos="20000">
                      <a:prstClr val="black">
                        <a:lumMod val="95000"/>
                        <a:lumOff val="5000"/>
                      </a:prstClr>
                    </a:gs>
                  </a:gsLst>
                  <a:lin ang="2280000" scaled="0"/>
                </a:gradFill>
                <a:latin typeface="맑은 고딕" panose="020B0503020000020004" pitchFamily="50" charset="-127"/>
              </a:defRPr>
            </a:lvl1pPr>
            <a:lvl2pPr marL="638617" fontAlgn="base">
              <a:spcBef>
                <a:spcPct val="0"/>
              </a:spcBef>
              <a:spcAft>
                <a:spcPct val="0"/>
              </a:spcAft>
              <a:defRPr sz="3352">
                <a:latin typeface="Arial" charset="0"/>
              </a:defRPr>
            </a:lvl2pPr>
            <a:lvl3pPr marL="1277234" fontAlgn="base">
              <a:spcBef>
                <a:spcPct val="0"/>
              </a:spcBef>
              <a:spcAft>
                <a:spcPct val="0"/>
              </a:spcAft>
              <a:defRPr sz="3352">
                <a:latin typeface="Arial" charset="0"/>
              </a:defRPr>
            </a:lvl3pPr>
            <a:lvl4pPr marL="1915851" fontAlgn="base">
              <a:spcBef>
                <a:spcPct val="0"/>
              </a:spcBef>
              <a:spcAft>
                <a:spcPct val="0"/>
              </a:spcAft>
              <a:defRPr sz="3352">
                <a:latin typeface="Arial" charset="0"/>
              </a:defRPr>
            </a:lvl4pPr>
            <a:lvl5pPr marL="2554468" fontAlgn="base">
              <a:spcBef>
                <a:spcPct val="0"/>
              </a:spcBef>
              <a:spcAft>
                <a:spcPct val="0"/>
              </a:spcAft>
              <a:defRPr sz="3352">
                <a:latin typeface="Arial" charset="0"/>
              </a:defRPr>
            </a:lvl5pPr>
            <a:lvl6pPr marL="3193085" defTabSz="1277234">
              <a:defRPr sz="3352">
                <a:latin typeface="Arial" charset="0"/>
              </a:defRPr>
            </a:lvl6pPr>
            <a:lvl7pPr marL="3831702" defTabSz="1277234">
              <a:defRPr sz="3352">
                <a:latin typeface="Arial" charset="0"/>
              </a:defRPr>
            </a:lvl7pPr>
            <a:lvl8pPr marL="4470319" defTabSz="1277234">
              <a:defRPr sz="3352">
                <a:latin typeface="Arial" charset="0"/>
              </a:defRPr>
            </a:lvl8pPr>
            <a:lvl9pPr marL="5108936" defTabSz="1277234">
              <a:defRPr sz="3352">
                <a:latin typeface="Arial" charset="0"/>
              </a:defRPr>
            </a:lvl9pPr>
          </a:lstStyle>
          <a:p>
            <a:pPr marL="180975" lvl="0" indent="-108000" algn="l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2338835" algn="l"/>
              </a:tabLst>
            </a:pPr>
            <a:r>
              <a:rPr lang="ko-KR" altLang="en-US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테이블명</a:t>
            </a:r>
            <a:r>
              <a:rPr lang="en-US" altLang="ko-KR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b="0" spc="0" dirty="0" err="1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뷰명</a:t>
            </a:r>
            <a:r>
              <a:rPr lang="en-US" altLang="ko-KR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b="0" spc="0" dirty="0" err="1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프로시져명</a:t>
            </a:r>
            <a:r>
              <a:rPr lang="en-US" altLang="ko-KR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b="0" spc="0" dirty="0" err="1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함수명</a:t>
            </a:r>
            <a:r>
              <a:rPr lang="ko-KR" altLang="en-US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 신규 명명규칙 가이드 준수</a:t>
            </a:r>
            <a:endParaRPr lang="en-US" altLang="ko-KR" b="0" spc="0" dirty="0">
              <a:gradFill>
                <a:gsLst>
                  <a:gs pos="2917">
                    <a:schemeClr val="tx1">
                      <a:lumMod val="90000"/>
                      <a:lumOff val="10000"/>
                    </a:schemeClr>
                  </a:gs>
                  <a:gs pos="22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180975" lvl="0" indent="-108000" algn="l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2338835" algn="l"/>
              </a:tabLst>
            </a:pPr>
            <a:r>
              <a:rPr lang="en-US" altLang="ko-KR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INDEX, PK,FK, CONSTRAINT</a:t>
            </a:r>
            <a:r>
              <a:rPr lang="ko-KR" altLang="en-US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 등은 기존 생성 </a:t>
            </a:r>
            <a:r>
              <a:rPr lang="en-US" altLang="ko-KR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RULE</a:t>
            </a:r>
            <a:r>
              <a:rPr lang="ko-KR" altLang="en-US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 준수</a:t>
            </a:r>
            <a:endParaRPr lang="en-US" altLang="ko-KR" b="0" spc="0" dirty="0">
              <a:gradFill>
                <a:gsLst>
                  <a:gs pos="2917">
                    <a:schemeClr val="tx1">
                      <a:lumMod val="90000"/>
                      <a:lumOff val="10000"/>
                    </a:schemeClr>
                  </a:gs>
                  <a:gs pos="22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180975" lvl="0" indent="-108000" algn="l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2338835" algn="l"/>
              </a:tabLst>
            </a:pPr>
            <a:r>
              <a:rPr lang="ko-KR" altLang="en-US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예외적으로 </a:t>
            </a:r>
            <a:r>
              <a:rPr lang="en-US" altLang="ko-KR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RULE</a:t>
            </a:r>
            <a:r>
              <a:rPr lang="ko-KR" altLang="en-US" b="0" spc="0" dirty="0">
                <a:gradFill>
                  <a:gsLst>
                    <a:gs pos="2917">
                      <a:schemeClr val="tx1">
                        <a:lumMod val="90000"/>
                        <a:lumOff val="10000"/>
                      </a:schemeClr>
                    </a:gs>
                    <a:gs pos="22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</a:rPr>
              <a:t>에 위배되는 명칭은 협의하여 재정의 </a:t>
            </a:r>
            <a:endParaRPr lang="en-US" altLang="ko-KR" b="0" spc="0" dirty="0">
              <a:gradFill>
                <a:gsLst>
                  <a:gs pos="2917">
                    <a:schemeClr val="tx1">
                      <a:lumMod val="90000"/>
                      <a:lumOff val="10000"/>
                    </a:schemeClr>
                  </a:gs>
                  <a:gs pos="22000">
                    <a:schemeClr val="tx1">
                      <a:lumMod val="90000"/>
                      <a:lumOff val="10000"/>
                    </a:schemeClr>
                  </a:gs>
                </a:gsLst>
                <a:lin ang="5400000" scaled="0"/>
              </a:gra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47" name="BodyText">
            <a:extLst>
              <a:ext uri="{FF2B5EF4-FFF2-40B4-BE49-F238E27FC236}">
                <a16:creationId xmlns:a16="http://schemas.microsoft.com/office/drawing/2014/main" id="{D1D166A3-7770-4AFD-BB5F-EF20F66BF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60" y="5216766"/>
            <a:ext cx="424393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ko-KR" sz="1000" dirty="0">
                <a:solidFill>
                  <a:srgbClr val="C00000"/>
                </a:solidFill>
                <a:latin typeface="+mn-ea"/>
              </a:rPr>
              <a:t>※ </a:t>
            </a:r>
            <a:r>
              <a:rPr lang="ko-KR" altLang="en-US" sz="1000" dirty="0">
                <a:solidFill>
                  <a:srgbClr val="C00000"/>
                </a:solidFill>
                <a:latin typeface="+mn-ea"/>
              </a:rPr>
              <a:t>오브젝트 수</a:t>
            </a:r>
            <a:r>
              <a:rPr lang="en-US" altLang="ko-KR" sz="1000" dirty="0">
                <a:solidFill>
                  <a:srgbClr val="C00000"/>
                </a:solidFill>
                <a:latin typeface="+mn-ea"/>
              </a:rPr>
              <a:t>:</a:t>
            </a:r>
            <a:r>
              <a:rPr lang="ko-KR" altLang="en-US" sz="1000" dirty="0">
                <a:solidFill>
                  <a:srgbClr val="C00000"/>
                </a:solidFill>
                <a:latin typeface="+mn-ea"/>
              </a:rPr>
              <a:t> 교육지대 개발 </a:t>
            </a:r>
            <a:r>
              <a:rPr lang="en-US" altLang="ko-KR" sz="1000" dirty="0">
                <a:solidFill>
                  <a:srgbClr val="C00000"/>
                </a:solidFill>
                <a:latin typeface="+mn-ea"/>
              </a:rPr>
              <a:t>DB </a:t>
            </a:r>
            <a:r>
              <a:rPr lang="ko-KR" altLang="en-US" sz="1000" dirty="0">
                <a:solidFill>
                  <a:srgbClr val="C00000"/>
                </a:solidFill>
                <a:latin typeface="+mn-ea"/>
              </a:rPr>
              <a:t>참조 </a:t>
            </a:r>
            <a:r>
              <a:rPr lang="en-US" altLang="ko-KR" sz="1000" dirty="0">
                <a:solidFill>
                  <a:srgbClr val="C00000"/>
                </a:solidFill>
                <a:latin typeface="+mn-ea"/>
              </a:rPr>
              <a:t>(2019.05.17 </a:t>
            </a:r>
            <a:r>
              <a:rPr lang="ko-KR" altLang="en-US" sz="1000" dirty="0">
                <a:solidFill>
                  <a:srgbClr val="C00000"/>
                </a:solidFill>
                <a:latin typeface="+mn-ea"/>
              </a:rPr>
              <a:t>운영백업 기준</a:t>
            </a:r>
            <a:r>
              <a:rPr lang="en-US" altLang="ko-KR" sz="1000" dirty="0">
                <a:solidFill>
                  <a:srgbClr val="C00000"/>
                </a:solidFill>
                <a:latin typeface="+mn-ea"/>
              </a:rPr>
              <a:t>)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9C0157C6-EBA6-49EF-B78B-DE0494298BB2}"/>
              </a:ext>
            </a:extLst>
          </p:cNvPr>
          <p:cNvSpPr txBox="1"/>
          <p:nvPr/>
        </p:nvSpPr>
        <p:spPr>
          <a:xfrm>
            <a:off x="801242" y="5607007"/>
            <a:ext cx="2529178" cy="29262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171450" indent="-171450" defTabSz="914400">
              <a:lnSpc>
                <a:spcPct val="90000"/>
              </a:lnSpc>
              <a:spcBef>
                <a:spcPts val="488"/>
              </a:spcBef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gradFill>
                  <a:gsLst>
                    <a:gs pos="8333">
                      <a:schemeClr val="accent2"/>
                    </a:gs>
                    <a:gs pos="20000">
                      <a:schemeClr val="accent2"/>
                    </a:gs>
                  </a:gsLst>
                  <a:lin ang="5400000" scaled="0"/>
                </a:gradFill>
              </a:rPr>
              <a:t>표준화를 위한 선행 작업</a:t>
            </a:r>
          </a:p>
        </p:txBody>
      </p:sp>
      <p:graphicFrame>
        <p:nvGraphicFramePr>
          <p:cNvPr id="250" name="표 2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87335"/>
              </p:ext>
            </p:extLst>
          </p:nvPr>
        </p:nvGraphicFramePr>
        <p:xfrm>
          <a:off x="1569674" y="2396658"/>
          <a:ext cx="3412316" cy="2023669"/>
        </p:xfrm>
        <a:graphic>
          <a:graphicData uri="http://schemas.openxmlformats.org/drawingml/2006/table">
            <a:tbl>
              <a:tblPr firstRow="1">
                <a:effectLst/>
              </a:tblPr>
              <a:tblGrid>
                <a:gridCol w="2641793">
                  <a:extLst>
                    <a:ext uri="{9D8B030D-6E8A-4147-A177-3AD203B41FA5}">
                      <a16:colId xmlns:a16="http://schemas.microsoft.com/office/drawing/2014/main" val="707382593"/>
                    </a:ext>
                  </a:extLst>
                </a:gridCol>
                <a:gridCol w="770523">
                  <a:extLst>
                    <a:ext uri="{9D8B030D-6E8A-4147-A177-3AD203B41FA5}">
                      <a16:colId xmlns:a16="http://schemas.microsoft.com/office/drawing/2014/main" val="299573206"/>
                    </a:ext>
                  </a:extLst>
                </a:gridCol>
              </a:tblGrid>
              <a:tr h="247415"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오브젝트 종류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개수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416390"/>
                  </a:ext>
                </a:extLst>
              </a:tr>
              <a:tr h="215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테이블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(TABLE)</a:t>
                      </a:r>
                      <a:endParaRPr kumimoji="0" lang="ko-KR" altLang="en-US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88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227870"/>
                  </a:ext>
                </a:extLst>
              </a:tr>
              <a:tr h="2290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뷰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(VIEW)</a:t>
                      </a:r>
                      <a:endParaRPr kumimoji="0" lang="ko-KR" altLang="en-US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20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602140"/>
                  </a:ext>
                </a:extLst>
              </a:tr>
              <a:tr h="2290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사용자정의함수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(FUNCTION)</a:t>
                      </a:r>
                      <a:endParaRPr kumimoji="0" lang="ko-KR" altLang="en-US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6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687098"/>
                  </a:ext>
                </a:extLst>
              </a:tr>
              <a:tr h="215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프로시저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(PROCEDURE)</a:t>
                      </a:r>
                      <a:endParaRPr kumimoji="0" lang="ko-KR" altLang="en-US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346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119024"/>
                  </a:ext>
                </a:extLst>
              </a:tr>
              <a:tr h="215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인덱스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INDEX)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263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63442"/>
                  </a:ext>
                </a:extLst>
              </a:tr>
              <a:tr h="215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기본제약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DEFAULT_CONSTRAINT)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68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외래키제약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FOREIGN_KEY_CONSTRAINT)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주키제약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PRIMARY_KEY_CONSTRAINT)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69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2584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3. </a:t>
            </a:r>
            <a:r>
              <a:rPr lang="ko-KR" altLang="en-US" sz="2000" dirty="0"/>
              <a:t>주요 개발 방안</a:t>
            </a:r>
            <a:r>
              <a:rPr lang="ko-KR" altLang="en-US" dirty="0"/>
              <a:t> </a:t>
            </a:r>
            <a:r>
              <a:rPr lang="en-US" altLang="ko-KR" dirty="0"/>
              <a:t>– ④ TMS DB </a:t>
            </a:r>
            <a:r>
              <a:rPr lang="ko-KR" altLang="en-US" dirty="0"/>
              <a:t>구축 방안 </a:t>
            </a:r>
            <a:r>
              <a:rPr lang="en-US" altLang="ko-KR" sz="1600" dirty="0"/>
              <a:t>(2/2)</a:t>
            </a:r>
          </a:p>
        </p:txBody>
      </p:sp>
      <p:grpSp>
        <p:nvGrpSpPr>
          <p:cNvPr id="175" name="그룹 174"/>
          <p:cNvGrpSpPr/>
          <p:nvPr/>
        </p:nvGrpSpPr>
        <p:grpSpPr>
          <a:xfrm>
            <a:off x="738188" y="1629856"/>
            <a:ext cx="9217025" cy="5318633"/>
            <a:chOff x="3847798" y="1572785"/>
            <a:chExt cx="6107415" cy="5318633"/>
          </a:xfrm>
        </p:grpSpPr>
        <p:sp>
          <p:nvSpPr>
            <p:cNvPr id="176" name="직사각형 175"/>
            <p:cNvSpPr/>
            <p:nvPr/>
          </p:nvSpPr>
          <p:spPr bwMode="auto">
            <a:xfrm>
              <a:off x="3847798" y="1572785"/>
              <a:ext cx="2960322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</a:rPr>
                <a:t>문제은행 데이터 표준화</a:t>
              </a:r>
              <a:endParaRPr lang="en-US" altLang="ko-KR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</a:endParaRPr>
            </a:p>
          </p:txBody>
        </p:sp>
        <p:sp>
          <p:nvSpPr>
            <p:cNvPr id="177" name="직사각형 176"/>
            <p:cNvSpPr/>
            <p:nvPr/>
          </p:nvSpPr>
          <p:spPr bwMode="auto">
            <a:xfrm>
              <a:off x="3847798" y="2159106"/>
              <a:ext cx="2960322" cy="473231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178" name="직사각형 177"/>
            <p:cNvSpPr/>
            <p:nvPr/>
          </p:nvSpPr>
          <p:spPr bwMode="auto">
            <a:xfrm>
              <a:off x="6994891" y="1572785"/>
              <a:ext cx="2960322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</a:rPr>
                <a:t>데이터 이관</a:t>
              </a:r>
              <a:endParaRPr lang="en-US" altLang="ko-KR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</a:endParaRPr>
            </a:p>
          </p:txBody>
        </p:sp>
        <p:sp>
          <p:nvSpPr>
            <p:cNvPr id="179" name="직사각형 178"/>
            <p:cNvSpPr/>
            <p:nvPr/>
          </p:nvSpPr>
          <p:spPr bwMode="auto">
            <a:xfrm>
              <a:off x="6994891" y="2159106"/>
              <a:ext cx="2960322" cy="473231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332F4C17-A82A-49D3-8FD2-D250D0AEED4F}"/>
              </a:ext>
            </a:extLst>
          </p:cNvPr>
          <p:cNvGrpSpPr/>
          <p:nvPr/>
        </p:nvGrpSpPr>
        <p:grpSpPr>
          <a:xfrm>
            <a:off x="5538503" y="2338586"/>
            <a:ext cx="2981680" cy="256957"/>
            <a:chOff x="5203834" y="2043111"/>
            <a:chExt cx="2745335" cy="233058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89EA45F0-8352-459F-BF02-0CDC5E98E0D4}"/>
                </a:ext>
              </a:extLst>
            </p:cNvPr>
            <p:cNvSpPr/>
            <p:nvPr/>
          </p:nvSpPr>
          <p:spPr>
            <a:xfrm>
              <a:off x="5495140" y="2048360"/>
              <a:ext cx="2454029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/>
            <a:p>
              <a:pPr marL="0" lvl="1" defTabSz="995393" fontAlgn="base" latinLnBrk="0">
                <a:spcAft>
                  <a:spcPts val="163"/>
                </a:spcAft>
                <a:buClr>
                  <a:srgbClr val="8B8F9E"/>
                </a:buClr>
                <a:buSzPct val="100000"/>
                <a:tabLst>
                  <a:tab pos="1175468" algn="l"/>
                </a:tabLst>
                <a:defRPr/>
              </a:pPr>
              <a:r>
                <a:rPr lang="ko-KR" altLang="en-US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데이터 이행 전문 도구 활용</a:t>
              </a:r>
            </a:p>
          </p:txBody>
        </p:sp>
        <p:pic>
          <p:nvPicPr>
            <p:cNvPr id="269" name="Picture 2" descr="D:\19.전지수\1. 제안서\1. 표준제안\★2017_표준제안설명회\작업\버트3.png">
              <a:extLst>
                <a:ext uri="{FF2B5EF4-FFF2-40B4-BE49-F238E27FC236}">
                  <a16:creationId xmlns:a16="http://schemas.microsoft.com/office/drawing/2014/main" id="{3E072C7A-F00F-431B-A9C8-0E1646627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3834" y="2043111"/>
              <a:ext cx="232560" cy="220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0" name="그룹 269"/>
          <p:cNvGrpSpPr/>
          <p:nvPr/>
        </p:nvGrpSpPr>
        <p:grpSpPr>
          <a:xfrm>
            <a:off x="5556946" y="2691327"/>
            <a:ext cx="4277885" cy="1405418"/>
            <a:chOff x="5599645" y="2703007"/>
            <a:chExt cx="4277885" cy="1405418"/>
          </a:xfrm>
        </p:grpSpPr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48DFBB1B-F519-4840-8E59-47B31DDD65F2}"/>
                </a:ext>
              </a:extLst>
            </p:cNvPr>
            <p:cNvGrpSpPr/>
            <p:nvPr/>
          </p:nvGrpSpPr>
          <p:grpSpPr>
            <a:xfrm>
              <a:off x="6337808" y="3926037"/>
              <a:ext cx="3124320" cy="0"/>
              <a:chOff x="5871130" y="4888017"/>
              <a:chExt cx="2894264" cy="0"/>
            </a:xfrm>
          </p:grpSpPr>
          <p:cxnSp>
            <p:nvCxnSpPr>
              <p:cNvPr id="288" name="직선 화살표 연결선 287">
                <a:extLst>
                  <a:ext uri="{FF2B5EF4-FFF2-40B4-BE49-F238E27FC236}">
                    <a16:creationId xmlns:a16="http://schemas.microsoft.com/office/drawing/2014/main" id="{56AC4E5A-6E73-40EA-9516-24838D3D38E4}"/>
                  </a:ext>
                </a:extLst>
              </p:cNvPr>
              <p:cNvCxnSpPr/>
              <p:nvPr/>
            </p:nvCxnSpPr>
            <p:spPr>
              <a:xfrm>
                <a:off x="5871130" y="4888017"/>
                <a:ext cx="227714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직선 화살표 연결선 288">
                <a:extLst>
                  <a:ext uri="{FF2B5EF4-FFF2-40B4-BE49-F238E27FC236}">
                    <a16:creationId xmlns:a16="http://schemas.microsoft.com/office/drawing/2014/main" id="{4C76804B-6F67-4529-87C1-A3CBA3614235}"/>
                  </a:ext>
                </a:extLst>
              </p:cNvPr>
              <p:cNvCxnSpPr/>
              <p:nvPr/>
            </p:nvCxnSpPr>
            <p:spPr>
              <a:xfrm>
                <a:off x="6759980" y="4888017"/>
                <a:ext cx="227714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직선 화살표 연결선 289">
                <a:extLst>
                  <a:ext uri="{FF2B5EF4-FFF2-40B4-BE49-F238E27FC236}">
                    <a16:creationId xmlns:a16="http://schemas.microsoft.com/office/drawing/2014/main" id="{55832432-8563-40FC-8858-3A0945EF1958}"/>
                  </a:ext>
                </a:extLst>
              </p:cNvPr>
              <p:cNvCxnSpPr/>
              <p:nvPr/>
            </p:nvCxnSpPr>
            <p:spPr>
              <a:xfrm>
                <a:off x="7648830" y="4888017"/>
                <a:ext cx="227714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직선 화살표 연결선 290">
                <a:extLst>
                  <a:ext uri="{FF2B5EF4-FFF2-40B4-BE49-F238E27FC236}">
                    <a16:creationId xmlns:a16="http://schemas.microsoft.com/office/drawing/2014/main" id="{77E2C0AF-01CD-4D4D-8E0B-3B57A01A90FA}"/>
                  </a:ext>
                </a:extLst>
              </p:cNvPr>
              <p:cNvCxnSpPr/>
              <p:nvPr/>
            </p:nvCxnSpPr>
            <p:spPr>
              <a:xfrm>
                <a:off x="8537680" y="4888017"/>
                <a:ext cx="227714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2" name="그룹 271"/>
            <p:cNvGrpSpPr/>
            <p:nvPr/>
          </p:nvGrpSpPr>
          <p:grpSpPr>
            <a:xfrm>
              <a:off x="5599645" y="2703007"/>
              <a:ext cx="4277885" cy="1405418"/>
              <a:chOff x="5599645" y="2703007"/>
              <a:chExt cx="4277885" cy="1405418"/>
            </a:xfrm>
          </p:grpSpPr>
          <p:grpSp>
            <p:nvGrpSpPr>
              <p:cNvPr id="281" name="그룹 280"/>
              <p:cNvGrpSpPr/>
              <p:nvPr/>
            </p:nvGrpSpPr>
            <p:grpSpPr>
              <a:xfrm>
                <a:off x="5599645" y="2703007"/>
                <a:ext cx="4277885" cy="1405418"/>
                <a:chOff x="713970" y="2487669"/>
                <a:chExt cx="8544490" cy="1511520"/>
              </a:xfrm>
            </p:grpSpPr>
            <p:sp>
              <p:nvSpPr>
                <p:cNvPr id="284" name="직사각형 283"/>
                <p:cNvSpPr/>
                <p:nvPr/>
              </p:nvSpPr>
              <p:spPr>
                <a:xfrm>
                  <a:off x="713970" y="2526505"/>
                  <a:ext cx="8544490" cy="1472684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571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b="1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85" name="직사각형 284"/>
                <p:cNvSpPr/>
                <p:nvPr/>
              </p:nvSpPr>
              <p:spPr>
                <a:xfrm>
                  <a:off x="3622786" y="2487669"/>
                  <a:ext cx="5324414" cy="133409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</a:ln>
                <a:effectLst/>
              </p:spPr>
              <p:txBody>
                <a:bodyPr vert="horz" lIns="0" tIns="0" rIns="0" bIns="0" rtlCol="0" anchor="t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defTabSz="914127" fontAlgn="base" latinLnBrk="0">
                    <a:spcAft>
                      <a:spcPts val="150"/>
                    </a:spcAft>
                    <a:buClr>
                      <a:srgbClr val="8B8F9E"/>
                    </a:buClr>
                    <a:buSzPct val="100000"/>
                    <a:tabLst>
                      <a:tab pos="1079500" algn="l"/>
                    </a:tabLst>
                    <a:defRPr/>
                  </a:pPr>
                  <a:endParaRPr lang="ko-KR" altLang="en-US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EB"/>
                    <a:ea typeface="Rix고딕 EB"/>
                  </a:endParaRPr>
                </a:p>
              </p:txBody>
            </p:sp>
            <p:pic>
              <p:nvPicPr>
                <p:cNvPr id="286" name="그림 285"/>
                <p:cNvPicPr>
                  <a:picLocks noChangeAspect="1"/>
                </p:cNvPicPr>
                <p:nvPr/>
              </p:nvPicPr>
              <p:blipFill>
                <a:blip r:embed="rId4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4479984" y="2897013"/>
                  <a:ext cx="991669" cy="504184"/>
                </a:xfrm>
                <a:prstGeom prst="rect">
                  <a:avLst/>
                </a:prstGeom>
              </p:spPr>
            </p:pic>
            <p:sp>
              <p:nvSpPr>
                <p:cNvPr id="287" name="AutoShape 78"/>
                <p:cNvSpPr>
                  <a:spLocks noChangeArrowheads="1"/>
                </p:cNvSpPr>
                <p:nvPr/>
              </p:nvSpPr>
              <p:spPr bwMode="auto">
                <a:xfrm>
                  <a:off x="7465932" y="3696729"/>
                  <a:ext cx="1265238" cy="18217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3"/>
                </a:solidFill>
                <a:ln w="1270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65000"/>
                    </a:spcBef>
                    <a:buClr>
                      <a:schemeClr val="hlink"/>
                    </a:buClr>
                    <a:buChar char="•"/>
                    <a:defRPr sz="2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95000"/>
                    </a:lnSpc>
                    <a:spcBef>
                      <a:spcPct val="30000"/>
                    </a:spcBef>
                    <a:buClr>
                      <a:schemeClr val="hlink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95000"/>
                    </a:lnSpc>
                    <a:spcBef>
                      <a:spcPct val="30000"/>
                    </a:spcBef>
                    <a:buClr>
                      <a:schemeClr val="hlink"/>
                    </a:buClr>
                    <a:buChar char="•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95000"/>
                    </a:lnSpc>
                    <a:spcBef>
                      <a:spcPct val="30000"/>
                    </a:spcBef>
                    <a:buClr>
                      <a:schemeClr val="hlink"/>
                    </a:buClr>
                    <a:buChar char="•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5000"/>
                    </a:lnSpc>
                    <a:spcBef>
                      <a:spcPct val="3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rgbClr val="5F5F5F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5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rgbClr val="5F5F5F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5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rgbClr val="5F5F5F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5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rgbClr val="5F5F5F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5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•"/>
                    <a:defRPr sz="2000">
                      <a:solidFill>
                        <a:srgbClr val="5F5F5F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lvl="0" algn="ctr" defTabSz="91440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buNone/>
                    <a:defRPr/>
                  </a:pPr>
                  <a:r>
                    <a:rPr lang="en-US" altLang="ko-KR" sz="1200" b="0" kern="0" dirty="0">
                      <a:solidFill>
                        <a:srgbClr val="FFFFFF"/>
                      </a:solidFill>
                      <a:latin typeface="+mn-ea"/>
                    </a:rPr>
                    <a:t>Load</a:t>
                  </a:r>
                </a:p>
              </p:txBody>
            </p:sp>
          </p:grpSp>
          <p:sp>
            <p:nvSpPr>
              <p:cNvPr id="282" name="Text Box 80"/>
              <p:cNvSpPr txBox="1">
                <a:spLocks noChangeArrowheads="1"/>
              </p:cNvSpPr>
              <p:nvPr/>
            </p:nvSpPr>
            <p:spPr bwMode="auto">
              <a:xfrm>
                <a:off x="5965115" y="3827287"/>
                <a:ext cx="771482" cy="1692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 w="12700">
                <a:solidFill>
                  <a:schemeClr val="bg1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>
                <a:defPPr>
                  <a:defRPr lang="ko-KR"/>
                </a:defPPr>
                <a:lvl1pPr lvl="0" algn="ctr" defTabSz="91440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  <a:defRPr sz="1200" b="0" kern="0">
                    <a:solidFill>
                      <a:srgbClr val="FFFFFF"/>
                    </a:solidFill>
                    <a:latin typeface="+mn-ea"/>
                  </a:defRPr>
                </a:lvl1pPr>
                <a:lvl2pPr marL="742950" indent="-285750">
                  <a:lnSpc>
                    <a:spcPct val="95000"/>
                  </a:lnSpc>
                  <a:spcBef>
                    <a:spcPct val="30000"/>
                  </a:spcBef>
                  <a:buClr>
                    <a:schemeClr val="hlink"/>
                  </a:buClr>
                  <a:buChar char="•"/>
                  <a:defRPr sz="2200"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5000"/>
                  </a:lnSpc>
                  <a:spcBef>
                    <a:spcPct val="30000"/>
                  </a:spcBef>
                  <a:buClr>
                    <a:schemeClr val="hlink"/>
                  </a:buClr>
                  <a:buChar char="•"/>
                  <a:defRPr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5000"/>
                  </a:lnSpc>
                  <a:spcBef>
                    <a:spcPct val="30000"/>
                  </a:spcBef>
                  <a:buClr>
                    <a:schemeClr val="hlink"/>
                  </a:buClr>
                  <a:buChar char="•"/>
                  <a:defRPr sz="1600"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5000"/>
                  </a:lnSpc>
                  <a:spcBef>
                    <a:spcPct val="30000"/>
                  </a:spcBef>
                  <a:buClr>
                    <a:schemeClr val="hlink"/>
                  </a:buClr>
                  <a:buChar char="•"/>
                  <a:defRPr>
                    <a:solidFill>
                      <a:srgbClr val="5F5F5F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>
                    <a:solidFill>
                      <a:srgbClr val="5F5F5F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>
                    <a:solidFill>
                      <a:srgbClr val="5F5F5F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>
                    <a:solidFill>
                      <a:srgbClr val="5F5F5F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>
                    <a:solidFill>
                      <a:srgbClr val="5F5F5F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ko-KR" dirty="0"/>
                  <a:t>Extract</a:t>
                </a:r>
              </a:p>
            </p:txBody>
          </p:sp>
          <p:sp>
            <p:nvSpPr>
              <p:cNvPr id="283" name="Text Box 76"/>
              <p:cNvSpPr txBox="1">
                <a:spLocks noChangeArrowheads="1"/>
              </p:cNvSpPr>
              <p:nvPr/>
            </p:nvSpPr>
            <p:spPr bwMode="auto">
              <a:xfrm>
                <a:off x="7298644" y="3827287"/>
                <a:ext cx="946453" cy="1692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 w="12700">
                <a:solidFill>
                  <a:schemeClr val="bg1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>
                <a:defPPr>
                  <a:defRPr lang="ko-KR"/>
                </a:defPPr>
                <a:lvl1pPr lvl="0" algn="ctr" defTabSz="91440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None/>
                  <a:defRPr sz="1200" b="0" kern="0">
                    <a:solidFill>
                      <a:srgbClr val="FFFFFF"/>
                    </a:solidFill>
                    <a:latin typeface="+mn-ea"/>
                  </a:defRPr>
                </a:lvl1pPr>
                <a:lvl2pPr marL="742950" indent="-285750">
                  <a:lnSpc>
                    <a:spcPct val="95000"/>
                  </a:lnSpc>
                  <a:spcBef>
                    <a:spcPct val="30000"/>
                  </a:spcBef>
                  <a:buClr>
                    <a:schemeClr val="hlink"/>
                  </a:buClr>
                  <a:buChar char="•"/>
                  <a:defRPr sz="2200"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5000"/>
                  </a:lnSpc>
                  <a:spcBef>
                    <a:spcPct val="30000"/>
                  </a:spcBef>
                  <a:buClr>
                    <a:schemeClr val="hlink"/>
                  </a:buClr>
                  <a:buChar char="•"/>
                  <a:defRPr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5000"/>
                  </a:lnSpc>
                  <a:spcBef>
                    <a:spcPct val="30000"/>
                  </a:spcBef>
                  <a:buClr>
                    <a:schemeClr val="hlink"/>
                  </a:buClr>
                  <a:buChar char="•"/>
                  <a:defRPr sz="1600"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5000"/>
                  </a:lnSpc>
                  <a:spcBef>
                    <a:spcPct val="30000"/>
                  </a:spcBef>
                  <a:buClr>
                    <a:schemeClr val="hlink"/>
                  </a:buClr>
                  <a:buChar char="•"/>
                  <a:defRPr>
                    <a:solidFill>
                      <a:srgbClr val="5F5F5F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>
                    <a:solidFill>
                      <a:srgbClr val="5F5F5F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>
                    <a:solidFill>
                      <a:srgbClr val="5F5F5F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>
                    <a:solidFill>
                      <a:srgbClr val="5F5F5F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Char char="•"/>
                  <a:defRPr>
                    <a:solidFill>
                      <a:srgbClr val="5F5F5F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ko-KR" dirty="0"/>
                  <a:t>Transform</a:t>
                </a:r>
              </a:p>
            </p:txBody>
          </p:sp>
        </p:grpSp>
        <p:cxnSp>
          <p:nvCxnSpPr>
            <p:cNvPr id="273" name="직선 화살표 연결선 272"/>
            <p:cNvCxnSpPr>
              <a:stCxn id="282" idx="3"/>
            </p:cNvCxnSpPr>
            <p:nvPr/>
          </p:nvCxnSpPr>
          <p:spPr>
            <a:xfrm>
              <a:off x="6736597" y="3911887"/>
              <a:ext cx="539059" cy="0"/>
            </a:xfrm>
            <a:prstGeom prst="straightConnector1">
              <a:avLst/>
            </a:prstGeom>
            <a:ln w="12700">
              <a:solidFill>
                <a:schemeClr val="accent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직선 화살표 연결선 273"/>
            <p:cNvCxnSpPr>
              <a:endCxn id="287" idx="1"/>
            </p:cNvCxnSpPr>
            <p:nvPr/>
          </p:nvCxnSpPr>
          <p:spPr>
            <a:xfrm>
              <a:off x="8245099" y="3911887"/>
              <a:ext cx="734984" cy="1"/>
            </a:xfrm>
            <a:prstGeom prst="straightConnector1">
              <a:avLst/>
            </a:prstGeom>
            <a:ln w="12700">
              <a:solidFill>
                <a:schemeClr val="accent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화살표 연결선 274"/>
            <p:cNvCxnSpPr/>
            <p:nvPr/>
          </p:nvCxnSpPr>
          <p:spPr>
            <a:xfrm>
              <a:off x="6642880" y="3584046"/>
              <a:ext cx="0" cy="258974"/>
            </a:xfrm>
            <a:prstGeom prst="straightConnector1">
              <a:avLst/>
            </a:prstGeom>
            <a:ln w="12700">
              <a:solidFill>
                <a:schemeClr val="accent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직선 화살표 연결선 275"/>
            <p:cNvCxnSpPr/>
            <p:nvPr/>
          </p:nvCxnSpPr>
          <p:spPr>
            <a:xfrm>
              <a:off x="7765544" y="3456125"/>
              <a:ext cx="0" cy="379163"/>
            </a:xfrm>
            <a:prstGeom prst="straightConnector1">
              <a:avLst/>
            </a:prstGeom>
            <a:ln w="12700">
              <a:solidFill>
                <a:schemeClr val="accent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화살표 연결선 276"/>
            <p:cNvCxnSpPr/>
            <p:nvPr/>
          </p:nvCxnSpPr>
          <p:spPr>
            <a:xfrm flipV="1">
              <a:off x="9294710" y="3574476"/>
              <a:ext cx="0" cy="288000"/>
            </a:xfrm>
            <a:prstGeom prst="straightConnector1">
              <a:avLst/>
            </a:prstGeom>
            <a:ln w="12700">
              <a:solidFill>
                <a:schemeClr val="accent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TextBox 277"/>
            <p:cNvSpPr txBox="1"/>
            <p:nvPr/>
          </p:nvSpPr>
          <p:spPr>
            <a:xfrm>
              <a:off x="8916094" y="2832459"/>
              <a:ext cx="80021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9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PostgreSQL</a:t>
              </a:r>
              <a:endParaRPr lang="ko-KR" altLang="en-US" sz="9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Rix고딕 EB"/>
                <a:ea typeface="Rix고딕 EB"/>
              </a:endParaRPr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5936179" y="2832459"/>
              <a:ext cx="856514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9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SQL Server</a:t>
              </a:r>
              <a:endParaRPr lang="ko-KR" altLang="en-US" sz="9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Rix고딕 EB"/>
                <a:ea typeface="Rix고딕 EB"/>
              </a:endParaRP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7353598" y="2763209"/>
              <a:ext cx="88357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900" b="1" kern="0" dirty="0" err="1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Informatica</a:t>
              </a:r>
              <a:endParaRPr lang="en-US" altLang="ko-KR" sz="900" b="1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Rix고딕 EB"/>
                <a:ea typeface="Rix고딕 EB"/>
              </a:endParaRPr>
            </a:p>
            <a:p>
              <a:pPr algn="ctr"/>
              <a:r>
                <a:rPr lang="en-US" altLang="ko-KR" sz="9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Power Center</a:t>
              </a:r>
              <a:endParaRPr lang="ko-KR" altLang="en-US" sz="9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Rix고딕 EB"/>
                <a:ea typeface="Rix고딕 EB"/>
              </a:endParaRPr>
            </a:p>
          </p:txBody>
        </p:sp>
      </p:grp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29874B04-BFB3-403D-8E40-9A4D45201D48}"/>
              </a:ext>
            </a:extLst>
          </p:cNvPr>
          <p:cNvSpPr/>
          <p:nvPr/>
        </p:nvSpPr>
        <p:spPr>
          <a:xfrm>
            <a:off x="7783293" y="4697273"/>
            <a:ext cx="2129221" cy="1280353"/>
          </a:xfrm>
          <a:prstGeom prst="rect">
            <a:avLst/>
          </a:prstGeom>
          <a:noFill/>
        </p:spPr>
        <p:txBody>
          <a:bodyPr wrap="square" lIns="99569" tIns="49785" rIns="99569" bIns="49785" rtlCol="0">
            <a:spAutoFit/>
          </a:bodyPr>
          <a:lstStyle/>
          <a:p>
            <a:pPr marL="87313" indent="-87313" defTabSz="1040296" latinLnBrk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ko-KR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Rix고딕 M" panose="02020603020101020101" pitchFamily="18" charset="-127"/>
                <a:ea typeface="Rix고딕 M" panose="02020603020101020101" pitchFamily="18" charset="-127"/>
                <a:sym typeface="Wingdings" pitchFamily="2" charset="2"/>
              </a:rPr>
              <a:t>E-BANK </a:t>
            </a:r>
            <a:r>
              <a:rPr lang="ko-KR" altLang="en-US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Rix고딕 M" panose="02020603020101020101" pitchFamily="18" charset="-127"/>
                <a:ea typeface="Rix고딕 M" panose="02020603020101020101" pitchFamily="18" charset="-127"/>
                <a:sym typeface="Wingdings" pitchFamily="2" charset="2"/>
              </a:rPr>
              <a:t>데이터 사전 이관작업 진행</a:t>
            </a:r>
            <a:endParaRPr lang="en-US" altLang="ko-KR" sz="10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16200000" scaled="1"/>
              </a:gradFill>
              <a:latin typeface="Rix고딕 M" panose="02020603020101020101" pitchFamily="18" charset="-127"/>
              <a:ea typeface="Rix고딕 M" panose="02020603020101020101" pitchFamily="18" charset="-127"/>
              <a:sym typeface="Wingdings" pitchFamily="2" charset="2"/>
            </a:endParaRPr>
          </a:p>
          <a:p>
            <a:pPr marL="87313" indent="-87313" defTabSz="1040296" latinLnBrk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ko-KR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Rix고딕 M" panose="02020603020101020101" pitchFamily="18" charset="-127"/>
                <a:ea typeface="Rix고딕 M" panose="02020603020101020101" pitchFamily="18" charset="-127"/>
                <a:sym typeface="Wingdings" pitchFamily="2" charset="2"/>
              </a:rPr>
              <a:t>E-BANK </a:t>
            </a:r>
            <a:r>
              <a:rPr lang="ko-KR" altLang="en-US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Rix고딕 M" panose="02020603020101020101" pitchFamily="18" charset="-127"/>
                <a:ea typeface="Rix고딕 M" panose="02020603020101020101" pitchFamily="18" charset="-127"/>
                <a:sym typeface="Wingdings" pitchFamily="2" charset="2"/>
              </a:rPr>
              <a:t>데이터 정합성 검증 작업 </a:t>
            </a:r>
            <a:endParaRPr lang="en-US" altLang="ko-KR" sz="10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16200000" scaled="1"/>
              </a:gradFill>
              <a:latin typeface="Rix고딕 M" panose="02020603020101020101" pitchFamily="18" charset="-127"/>
              <a:ea typeface="Rix고딕 M" panose="02020603020101020101" pitchFamily="18" charset="-127"/>
              <a:sym typeface="Wingdings" pitchFamily="2" charset="2"/>
            </a:endParaRPr>
          </a:p>
          <a:p>
            <a:pPr marL="87313" indent="-87313" defTabSz="1040296" latinLnBrk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Rix고딕 M" panose="02020603020101020101" pitchFamily="18" charset="-127"/>
                <a:ea typeface="Rix고딕 M" panose="02020603020101020101" pitchFamily="18" charset="-127"/>
                <a:sym typeface="Wingdings" pitchFamily="2" charset="2"/>
              </a:rPr>
              <a:t>데이터 변경이 없는 불변데이터를 사전 작업 이행으로 데이터 추출 및 적재 </a:t>
            </a:r>
            <a:endParaRPr lang="en-US" altLang="ko-KR" sz="10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16200000" scaled="1"/>
              </a:gradFill>
              <a:latin typeface="Rix고딕 M" panose="02020603020101020101" pitchFamily="18" charset="-127"/>
              <a:ea typeface="Rix고딕 M" panose="02020603020101020101" pitchFamily="18" charset="-127"/>
              <a:sym typeface="Wingdings" pitchFamily="2" charset="2"/>
            </a:endParaRPr>
          </a:p>
        </p:txBody>
      </p:sp>
      <p:grpSp>
        <p:nvGrpSpPr>
          <p:cNvPr id="293" name="그룹 292"/>
          <p:cNvGrpSpPr/>
          <p:nvPr/>
        </p:nvGrpSpPr>
        <p:grpSpPr>
          <a:xfrm>
            <a:off x="5585861" y="4736270"/>
            <a:ext cx="2110027" cy="1969568"/>
            <a:chOff x="5628560" y="4607898"/>
            <a:chExt cx="2110027" cy="2169419"/>
          </a:xfrm>
        </p:grpSpPr>
        <p:grpSp>
          <p:nvGrpSpPr>
            <p:cNvPr id="294" name="그룹 293"/>
            <p:cNvGrpSpPr/>
            <p:nvPr/>
          </p:nvGrpSpPr>
          <p:grpSpPr>
            <a:xfrm>
              <a:off x="5628560" y="4607898"/>
              <a:ext cx="2110027" cy="2169419"/>
              <a:chOff x="5641600" y="4811997"/>
              <a:chExt cx="670377" cy="4305174"/>
            </a:xfrm>
          </p:grpSpPr>
          <p:sp>
            <p:nvSpPr>
              <p:cNvPr id="297" name="Rectangle 42" descr="강-4단">
                <a:extLst>
                  <a:ext uri="{FF2B5EF4-FFF2-40B4-BE49-F238E27FC236}">
                    <a16:creationId xmlns:a16="http://schemas.microsoft.com/office/drawing/2014/main" id="{AC04199C-C38A-44B4-83EA-D04256F9C0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1600" y="5752507"/>
                <a:ext cx="670377" cy="5431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lIns="35996" tIns="49780" rIns="35996" bIns="49780" anchor="ctr"/>
              <a:lstStyle/>
              <a:p>
                <a:pPr algn="ctr" fontAlgn="base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868219" algn="l"/>
                  </a:tabLst>
                </a:pPr>
                <a:r>
                  <a:rPr kumimoji="1" lang="ko-KR" altLang="en-US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sym typeface="Monotype Sorts"/>
                  </a:rPr>
                  <a:t>정합성 검증</a:t>
                </a:r>
              </a:p>
            </p:txBody>
          </p:sp>
          <p:sp>
            <p:nvSpPr>
              <p:cNvPr id="298" name="Rectangle 42" descr="강-4단">
                <a:extLst>
                  <a:ext uri="{FF2B5EF4-FFF2-40B4-BE49-F238E27FC236}">
                    <a16:creationId xmlns:a16="http://schemas.microsoft.com/office/drawing/2014/main" id="{E73C8FAC-C4B2-4291-AE1D-DA2D1BFF3E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1600" y="6693016"/>
                <a:ext cx="670377" cy="5431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lIns="35996" tIns="49780" rIns="35996" bIns="49780" anchor="ctr"/>
              <a:lstStyle/>
              <a:p>
                <a:pPr algn="ctr" fontAlgn="base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868219" algn="l"/>
                  </a:tabLst>
                </a:pPr>
                <a:r>
                  <a:rPr kumimoji="1" lang="ko-KR" altLang="en-US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sym typeface="Monotype Sorts"/>
                  </a:rPr>
                  <a:t>사전이행</a:t>
                </a:r>
                <a:r>
                  <a:rPr kumimoji="1" lang="en-US" altLang="ko-KR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sym typeface="Monotype Sorts"/>
                  </a:rPr>
                  <a:t> (</a:t>
                </a:r>
                <a:r>
                  <a:rPr kumimoji="1" lang="ko-KR" altLang="en-US" sz="1100" kern="0" dirty="0" err="1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sym typeface="Monotype Sorts"/>
                  </a:rPr>
                  <a:t>초기분</a:t>
                </a:r>
                <a:r>
                  <a:rPr kumimoji="1" lang="ko-KR" altLang="en-US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sym typeface="Monotype Sorts"/>
                  </a:rPr>
                  <a:t> 적재 실시</a:t>
                </a:r>
                <a:r>
                  <a:rPr kumimoji="1" lang="en-US" altLang="ko-KR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sym typeface="Monotype Sorts"/>
                  </a:rPr>
                  <a:t>)</a:t>
                </a:r>
              </a:p>
            </p:txBody>
          </p:sp>
          <p:sp>
            <p:nvSpPr>
              <p:cNvPr id="299" name="Rectangle 42" descr="강-4단">
                <a:extLst>
                  <a:ext uri="{FF2B5EF4-FFF2-40B4-BE49-F238E27FC236}">
                    <a16:creationId xmlns:a16="http://schemas.microsoft.com/office/drawing/2014/main" id="{01AE28E8-3884-40DD-B1FF-B65BBE8E6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1600" y="8574040"/>
                <a:ext cx="670377" cy="543131"/>
              </a:xfrm>
              <a:prstGeom prst="rect">
                <a:avLst/>
              </a:prstGeom>
              <a:solidFill>
                <a:srgbClr val="92D050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lIns="35996" tIns="49780" rIns="35996" bIns="49780" anchor="ctr"/>
              <a:lstStyle/>
              <a:p>
                <a:pPr algn="ctr" fontAlgn="base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868219" algn="l"/>
                  </a:tabLst>
                </a:pPr>
                <a:r>
                  <a:rPr kumimoji="1" lang="ko-KR" altLang="en-US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sym typeface="Monotype Sorts"/>
                  </a:rPr>
                  <a:t>정합성검증</a:t>
                </a:r>
              </a:p>
            </p:txBody>
          </p:sp>
          <p:sp>
            <p:nvSpPr>
              <p:cNvPr id="300" name="Rectangle 42" descr="강-4단">
                <a:extLst>
                  <a:ext uri="{FF2B5EF4-FFF2-40B4-BE49-F238E27FC236}">
                    <a16:creationId xmlns:a16="http://schemas.microsoft.com/office/drawing/2014/main" id="{144D1FF4-81D6-4705-B4E6-647903577C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1600" y="7633526"/>
                <a:ext cx="670377" cy="543131"/>
              </a:xfrm>
              <a:prstGeom prst="rect">
                <a:avLst/>
              </a:prstGeom>
              <a:solidFill>
                <a:srgbClr val="92D050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lIns="35996" tIns="49780" rIns="35996" bIns="49780" anchor="ctr"/>
              <a:lstStyle/>
              <a:p>
                <a:pPr algn="ctr" fontAlgn="base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868219" algn="l"/>
                  </a:tabLst>
                </a:pPr>
                <a:r>
                  <a:rPr kumimoji="1" lang="ko-KR" altLang="en-US" sz="1100" kern="0" dirty="0" smtClean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sym typeface="Monotype Sorts"/>
                  </a:rPr>
                  <a:t>본 이행 </a:t>
                </a:r>
                <a:r>
                  <a:rPr kumimoji="1" lang="en-US" altLang="ko-KR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sym typeface="Monotype Sorts"/>
                  </a:rPr>
                  <a:t>(</a:t>
                </a:r>
                <a:r>
                  <a:rPr kumimoji="1" lang="ko-KR" altLang="en-US" sz="1100" kern="0" dirty="0" err="1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sym typeface="Monotype Sorts"/>
                  </a:rPr>
                  <a:t>변경분</a:t>
                </a:r>
                <a:r>
                  <a:rPr kumimoji="1" lang="ko-KR" altLang="en-US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sym typeface="Monotype Sorts"/>
                  </a:rPr>
                  <a:t> 적재 실시</a:t>
                </a:r>
                <a:r>
                  <a:rPr kumimoji="1" lang="en-US" altLang="ko-KR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sym typeface="Monotype Sorts"/>
                  </a:rPr>
                  <a:t>)</a:t>
                </a:r>
                <a:endParaRPr kumimoji="1" lang="ko-KR" altLang="en-US" sz="11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sym typeface="Monotype Sorts"/>
                </a:endParaRPr>
              </a:p>
            </p:txBody>
          </p:sp>
          <p:sp>
            <p:nvSpPr>
              <p:cNvPr id="301" name="Rectangle 42" descr="강-4단">
                <a:extLst>
                  <a:ext uri="{FF2B5EF4-FFF2-40B4-BE49-F238E27FC236}">
                    <a16:creationId xmlns:a16="http://schemas.microsoft.com/office/drawing/2014/main" id="{78699B6D-5D04-43A8-97DF-B5D35C48B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1600" y="4811997"/>
                <a:ext cx="670377" cy="5431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lIns="35996" tIns="49780" rIns="35996" bIns="49780" anchor="ctr"/>
              <a:lstStyle/>
              <a:p>
                <a:pPr algn="ctr" fontAlgn="base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868219" algn="l"/>
                  </a:tabLst>
                </a:pPr>
                <a:r>
                  <a:rPr kumimoji="1" lang="en-US" altLang="ko-KR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sym typeface="Monotype Sorts"/>
                  </a:rPr>
                  <a:t>E-BANK to I-SYS DB </a:t>
                </a:r>
                <a:r>
                  <a:rPr kumimoji="1" lang="ko-KR" altLang="en-US" sz="110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sym typeface="Monotype Sorts"/>
                  </a:rPr>
                  <a:t>데이터 이관</a:t>
                </a:r>
              </a:p>
            </p:txBody>
          </p:sp>
        </p:grpSp>
        <p:cxnSp>
          <p:nvCxnSpPr>
            <p:cNvPr id="295" name="직선 화살표 연결선 294"/>
            <p:cNvCxnSpPr/>
            <p:nvPr/>
          </p:nvCxnSpPr>
          <p:spPr>
            <a:xfrm>
              <a:off x="6663816" y="5826816"/>
              <a:ext cx="0" cy="252000"/>
            </a:xfrm>
            <a:prstGeom prst="straightConnector1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직선 화살표 연결선 295"/>
            <p:cNvCxnSpPr/>
            <p:nvPr/>
          </p:nvCxnSpPr>
          <p:spPr>
            <a:xfrm>
              <a:off x="6663816" y="6297463"/>
              <a:ext cx="0" cy="252000"/>
            </a:xfrm>
            <a:prstGeom prst="straightConnector1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2" name="직선 화살표 연결선 301"/>
          <p:cNvCxnSpPr/>
          <p:nvPr/>
        </p:nvCxnSpPr>
        <p:spPr>
          <a:xfrm>
            <a:off x="6621117" y="4976110"/>
            <a:ext cx="0" cy="228785"/>
          </a:xfrm>
          <a:prstGeom prst="straightConnector1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직선 화살표 연결선 302"/>
          <p:cNvCxnSpPr/>
          <p:nvPr/>
        </p:nvCxnSpPr>
        <p:spPr>
          <a:xfrm>
            <a:off x="6621117" y="5403400"/>
            <a:ext cx="0" cy="228785"/>
          </a:xfrm>
          <a:prstGeom prst="straightConnector1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/>
          <p:cNvCxnSpPr/>
          <p:nvPr/>
        </p:nvCxnSpPr>
        <p:spPr>
          <a:xfrm>
            <a:off x="5538503" y="5957292"/>
            <a:ext cx="4230118" cy="0"/>
          </a:xfrm>
          <a:prstGeom prst="line">
            <a:avLst/>
          </a:prstGeom>
          <a:ln w="12700">
            <a:solidFill>
              <a:schemeClr val="accent3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직사각형 304">
            <a:extLst>
              <a:ext uri="{FF2B5EF4-FFF2-40B4-BE49-F238E27FC236}">
                <a16:creationId xmlns:a16="http://schemas.microsoft.com/office/drawing/2014/main" id="{29874B04-BFB3-403D-8E40-9A4D45201D48}"/>
              </a:ext>
            </a:extLst>
          </p:cNvPr>
          <p:cNvSpPr/>
          <p:nvPr/>
        </p:nvSpPr>
        <p:spPr>
          <a:xfrm>
            <a:off x="7783293" y="6011096"/>
            <a:ext cx="2050873" cy="869984"/>
          </a:xfrm>
          <a:prstGeom prst="rect">
            <a:avLst/>
          </a:prstGeom>
          <a:noFill/>
        </p:spPr>
        <p:txBody>
          <a:bodyPr wrap="square" lIns="99569" tIns="49785" rIns="99569" bIns="49785" rtlCol="0">
            <a:spAutoFit/>
          </a:bodyPr>
          <a:lstStyle/>
          <a:p>
            <a:pPr marL="87313" indent="-87313" defTabSz="1040296" latinLnBrk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시스템 전환</a:t>
            </a:r>
            <a:r>
              <a:rPr lang="en-US" altLang="ko-KR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(</a:t>
            </a:r>
            <a:r>
              <a:rPr lang="ko-KR" altLang="en-US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오픈</a:t>
            </a:r>
            <a:r>
              <a:rPr lang="en-US" altLang="ko-KR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) </a:t>
            </a:r>
            <a:r>
              <a:rPr lang="ko-KR" altLang="en-US" sz="1000" kern="0" dirty="0" smtClean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작업 전 </a:t>
            </a:r>
            <a:r>
              <a:rPr lang="ko-KR" altLang="en-US" sz="1000" kern="0" dirty="0" err="1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초기분</a:t>
            </a:r>
            <a:r>
              <a:rPr lang="ko-KR" altLang="en-US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 이후 </a:t>
            </a:r>
            <a:r>
              <a:rPr lang="ko-KR" altLang="en-US" sz="1000" kern="0" dirty="0" err="1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변경분에</a:t>
            </a:r>
            <a:r>
              <a:rPr lang="ko-KR" altLang="en-US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 대한 본 이행 실시</a:t>
            </a:r>
            <a:r>
              <a:rPr lang="en-US" altLang="ko-KR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/>
            </a:r>
            <a:br>
              <a:rPr lang="en-US" altLang="ko-KR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</a:br>
            <a:r>
              <a:rPr lang="en-US" altLang="ko-KR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/>
            </a:r>
            <a:br>
              <a:rPr lang="en-US" altLang="ko-KR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</a:br>
            <a:r>
              <a:rPr lang="en-US" altLang="ko-KR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(* </a:t>
            </a:r>
            <a:r>
              <a:rPr lang="ko-KR" altLang="en-US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본 이행 </a:t>
            </a:r>
            <a:r>
              <a:rPr lang="en-US" altLang="ko-KR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8</a:t>
            </a:r>
            <a:r>
              <a:rPr lang="ko-KR" altLang="en-US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시간 내에 완료</a:t>
            </a:r>
            <a:r>
              <a:rPr lang="en-US" altLang="ko-KR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. </a:t>
            </a:r>
            <a:r>
              <a:rPr lang="ko-KR" altLang="en-US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전환테스트 수행 후 최종 시간협의</a:t>
            </a:r>
            <a:r>
              <a:rPr lang="en-US" altLang="ko-KR" sz="1000" kern="0" dirty="0">
                <a:gradFill>
                  <a:gsLst>
                    <a:gs pos="0">
                      <a:prstClr val="black">
                        <a:lumMod val="65000"/>
                        <a:lumOff val="35000"/>
                      </a:prstClr>
                    </a:gs>
                    <a:gs pos="100000">
                      <a:prstClr val="black">
                        <a:lumMod val="65000"/>
                        <a:lumOff val="35000"/>
                      </a:prstClr>
                    </a:gs>
                  </a:gsLst>
                  <a:lin ang="16200000" scaled="1"/>
                </a:gradFill>
                <a:latin typeface="+mn-ea"/>
                <a:sym typeface="Wingdings" pitchFamily="2" charset="2"/>
              </a:rPr>
              <a:t>)</a:t>
            </a:r>
            <a:endParaRPr lang="ko-KR" altLang="en-US" sz="1000" kern="0" dirty="0">
              <a:gradFill>
                <a:gsLst>
                  <a:gs pos="0">
                    <a:prstClr val="black">
                      <a:lumMod val="65000"/>
                      <a:lumOff val="35000"/>
                    </a:prstClr>
                  </a:gs>
                  <a:gs pos="100000">
                    <a:prstClr val="black">
                      <a:lumMod val="65000"/>
                      <a:lumOff val="35000"/>
                    </a:prstClr>
                  </a:gs>
                </a:gsLst>
                <a:lin ang="16200000" scaled="1"/>
              </a:gradFill>
              <a:latin typeface="+mn-ea"/>
              <a:sym typeface="Wingdings" pitchFamily="2" charset="2"/>
            </a:endParaRPr>
          </a:p>
        </p:txBody>
      </p:sp>
      <p:grpSp>
        <p:nvGrpSpPr>
          <p:cNvPr id="306" name="그룹 305">
            <a:extLst>
              <a:ext uri="{FF2B5EF4-FFF2-40B4-BE49-F238E27FC236}">
                <a16:creationId xmlns:a16="http://schemas.microsoft.com/office/drawing/2014/main" id="{2765C44C-1C65-428B-976D-F03E8C4F0022}"/>
              </a:ext>
            </a:extLst>
          </p:cNvPr>
          <p:cNvGrpSpPr/>
          <p:nvPr/>
        </p:nvGrpSpPr>
        <p:grpSpPr>
          <a:xfrm>
            <a:off x="5531817" y="4385949"/>
            <a:ext cx="4303015" cy="256957"/>
            <a:chOff x="5203834" y="2043111"/>
            <a:chExt cx="4655739" cy="233058"/>
          </a:xfrm>
        </p:grpSpPr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E6749464-2608-43AF-A590-0D79C55430CF}"/>
                </a:ext>
              </a:extLst>
            </p:cNvPr>
            <p:cNvSpPr/>
            <p:nvPr/>
          </p:nvSpPr>
          <p:spPr>
            <a:xfrm>
              <a:off x="5495139" y="2048360"/>
              <a:ext cx="4364434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/>
            <a:p>
              <a:pPr marL="0" lvl="1" defTabSz="995393" fontAlgn="base" latinLnBrk="0">
                <a:spcAft>
                  <a:spcPts val="163"/>
                </a:spcAft>
                <a:buClr>
                  <a:srgbClr val="8B8F9E"/>
                </a:buClr>
                <a:buSzPct val="100000"/>
                <a:tabLst>
                  <a:tab pos="1175468" algn="l"/>
                </a:tabLst>
                <a:defRPr/>
              </a:pPr>
              <a:r>
                <a:rPr lang="en-US" altLang="ko-KR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AS-IS DB </a:t>
              </a:r>
              <a:r>
                <a:rPr lang="ko-KR" altLang="en-US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에서 </a:t>
              </a:r>
              <a:r>
                <a:rPr lang="en-US" altLang="ko-KR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TO-BE</a:t>
              </a:r>
              <a:r>
                <a:rPr lang="ko-KR" altLang="en-US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 </a:t>
              </a:r>
              <a:r>
                <a:rPr lang="en-US" altLang="ko-KR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DB</a:t>
              </a:r>
              <a:r>
                <a:rPr lang="ko-KR" altLang="en-US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로 데이터 이행 방안</a:t>
              </a:r>
            </a:p>
          </p:txBody>
        </p:sp>
        <p:pic>
          <p:nvPicPr>
            <p:cNvPr id="308" name="Picture 2" descr="D:\19.전지수\1. 제안서\1. 표준제안\★2017_표준제안설명회\작업\버트3.png">
              <a:extLst>
                <a:ext uri="{FF2B5EF4-FFF2-40B4-BE49-F238E27FC236}">
                  <a16:creationId xmlns:a16="http://schemas.microsoft.com/office/drawing/2014/main" id="{8F3296DF-FB59-4CBC-B880-95721E3898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3834" y="2043111"/>
              <a:ext cx="232560" cy="220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9" name="그룹 308"/>
          <p:cNvGrpSpPr/>
          <p:nvPr/>
        </p:nvGrpSpPr>
        <p:grpSpPr>
          <a:xfrm>
            <a:off x="6198280" y="3058686"/>
            <a:ext cx="856514" cy="543570"/>
            <a:chOff x="6240979" y="3453091"/>
            <a:chExt cx="856514" cy="543570"/>
          </a:xfrm>
        </p:grpSpPr>
        <p:pic>
          <p:nvPicPr>
            <p:cNvPr id="310" name="그림 309"/>
            <p:cNvPicPr>
              <a:picLocks noChangeAspect="1"/>
            </p:cNvPicPr>
            <p:nvPr/>
          </p:nvPicPr>
          <p:blipFill rotWithShape="1"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6935" b="81208"/>
            <a:stretch/>
          </p:blipFill>
          <p:spPr>
            <a:xfrm>
              <a:off x="6435199" y="3453091"/>
              <a:ext cx="468074" cy="399550"/>
            </a:xfrm>
            <a:prstGeom prst="rect">
              <a:avLst/>
            </a:prstGeom>
          </p:spPr>
        </p:pic>
        <p:sp>
          <p:nvSpPr>
            <p:cNvPr id="311" name="TextBox 310"/>
            <p:cNvSpPr txBox="1"/>
            <p:nvPr/>
          </p:nvSpPr>
          <p:spPr>
            <a:xfrm>
              <a:off x="6240979" y="3765829"/>
              <a:ext cx="856514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9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I-SYS</a:t>
              </a:r>
              <a:endParaRPr lang="ko-KR" altLang="en-US" sz="9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Rix고딕 EB"/>
                <a:ea typeface="Rix고딕 EB"/>
              </a:endParaRPr>
            </a:p>
          </p:txBody>
        </p:sp>
      </p:grpSp>
      <p:grpSp>
        <p:nvGrpSpPr>
          <p:cNvPr id="312" name="그룹 311"/>
          <p:cNvGrpSpPr/>
          <p:nvPr/>
        </p:nvGrpSpPr>
        <p:grpSpPr>
          <a:xfrm>
            <a:off x="5520031" y="3058686"/>
            <a:ext cx="856514" cy="543570"/>
            <a:chOff x="6240979" y="3453091"/>
            <a:chExt cx="856514" cy="543570"/>
          </a:xfrm>
        </p:grpSpPr>
        <p:pic>
          <p:nvPicPr>
            <p:cNvPr id="313" name="그림 312"/>
            <p:cNvPicPr>
              <a:picLocks noChangeAspect="1"/>
            </p:cNvPicPr>
            <p:nvPr/>
          </p:nvPicPr>
          <p:blipFill rotWithShape="1"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6935" b="81208"/>
            <a:stretch/>
          </p:blipFill>
          <p:spPr>
            <a:xfrm>
              <a:off x="6435199" y="3453091"/>
              <a:ext cx="468074" cy="399550"/>
            </a:xfrm>
            <a:prstGeom prst="rect">
              <a:avLst/>
            </a:prstGeom>
          </p:spPr>
        </p:pic>
        <p:sp>
          <p:nvSpPr>
            <p:cNvPr id="314" name="TextBox 313"/>
            <p:cNvSpPr txBox="1"/>
            <p:nvPr/>
          </p:nvSpPr>
          <p:spPr>
            <a:xfrm>
              <a:off x="6240979" y="3765829"/>
              <a:ext cx="856514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9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E-BANK</a:t>
              </a:r>
              <a:endParaRPr lang="ko-KR" altLang="en-US" sz="9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Rix고딕 EB"/>
                <a:ea typeface="Rix고딕 EB"/>
              </a:endParaRPr>
            </a:p>
          </p:txBody>
        </p:sp>
      </p:grpSp>
      <p:pic>
        <p:nvPicPr>
          <p:cNvPr id="315" name="그림 314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067266" y="3004662"/>
            <a:ext cx="402176" cy="499649"/>
          </a:xfrm>
          <a:prstGeom prst="rect">
            <a:avLst/>
          </a:prstGeom>
        </p:spPr>
      </p:pic>
      <p:cxnSp>
        <p:nvCxnSpPr>
          <p:cNvPr id="316" name="직선 화살표 연결선 315"/>
          <p:cNvCxnSpPr/>
          <p:nvPr/>
        </p:nvCxnSpPr>
        <p:spPr>
          <a:xfrm>
            <a:off x="6187577" y="3298086"/>
            <a:ext cx="202909" cy="0"/>
          </a:xfrm>
          <a:prstGeom prst="straightConnector1">
            <a:avLst/>
          </a:prstGeom>
          <a:ln w="12700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8840097" y="3403934"/>
            <a:ext cx="856514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9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Rix고딕 EB"/>
                <a:ea typeface="Rix고딕 EB"/>
              </a:rPr>
              <a:t>TMS DB</a:t>
            </a:r>
            <a:endParaRPr lang="ko-KR" altLang="en-US" sz="900" kern="0" dirty="0">
              <a:ln>
                <a:solidFill>
                  <a:srgbClr val="87A884">
                    <a:lumMod val="75000"/>
                    <a:alpha val="0"/>
                  </a:srgbClr>
                </a:solidFill>
              </a:ln>
              <a:gradFill>
                <a:gsLst>
                  <a:gs pos="38333">
                    <a:prstClr val="black">
                      <a:lumMod val="85000"/>
                      <a:lumOff val="15000"/>
                    </a:prstClr>
                  </a:gs>
                  <a:gs pos="51667">
                    <a:prstClr val="black">
                      <a:lumMod val="85000"/>
                      <a:lumOff val="15000"/>
                    </a:prstClr>
                  </a:gs>
                </a:gsLst>
                <a:lin ang="5400000" scaled="0"/>
              </a:gradFill>
              <a:latin typeface="Rix고딕 EB"/>
              <a:ea typeface="Rix고딕 EB"/>
            </a:endParaRPr>
          </a:p>
        </p:txBody>
      </p:sp>
      <p:grpSp>
        <p:nvGrpSpPr>
          <p:cNvPr id="318" name="그룹 317">
            <a:extLst>
              <a:ext uri="{FF2B5EF4-FFF2-40B4-BE49-F238E27FC236}">
                <a16:creationId xmlns:a16="http://schemas.microsoft.com/office/drawing/2014/main" id="{332F4C17-A82A-49D3-8FD2-D250D0AEED4F}"/>
              </a:ext>
            </a:extLst>
          </p:cNvPr>
          <p:cNvGrpSpPr/>
          <p:nvPr/>
        </p:nvGrpSpPr>
        <p:grpSpPr>
          <a:xfrm>
            <a:off x="782839" y="4529969"/>
            <a:ext cx="2981680" cy="256957"/>
            <a:chOff x="5203834" y="2043111"/>
            <a:chExt cx="2745335" cy="233058"/>
          </a:xfrm>
        </p:grpSpPr>
        <p:sp>
          <p:nvSpPr>
            <p:cNvPr id="319" name="직사각형 318">
              <a:extLst>
                <a:ext uri="{FF2B5EF4-FFF2-40B4-BE49-F238E27FC236}">
                  <a16:creationId xmlns:a16="http://schemas.microsoft.com/office/drawing/2014/main" id="{89EA45F0-8352-459F-BF02-0CDC5E98E0D4}"/>
                </a:ext>
              </a:extLst>
            </p:cNvPr>
            <p:cNvSpPr/>
            <p:nvPr/>
          </p:nvSpPr>
          <p:spPr>
            <a:xfrm>
              <a:off x="5495140" y="2048360"/>
              <a:ext cx="2454029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/>
            <a:p>
              <a:pPr marL="0" lvl="1" defTabSz="995393" fontAlgn="base" latinLnBrk="0">
                <a:spcAft>
                  <a:spcPts val="163"/>
                </a:spcAft>
                <a:buClr>
                  <a:srgbClr val="8B8F9E"/>
                </a:buClr>
                <a:buSzPct val="100000"/>
                <a:tabLst>
                  <a:tab pos="1175468" algn="l"/>
                </a:tabLst>
                <a:defRPr/>
              </a:pPr>
              <a:r>
                <a:rPr lang="ko-KR" altLang="en-US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표준사전 개발 상세절차</a:t>
              </a:r>
            </a:p>
          </p:txBody>
        </p:sp>
        <p:pic>
          <p:nvPicPr>
            <p:cNvPr id="320" name="Picture 2" descr="D:\19.전지수\1. 제안서\1. 표준제안\★2017_표준제안설명회\작업\버트3.png">
              <a:extLst>
                <a:ext uri="{FF2B5EF4-FFF2-40B4-BE49-F238E27FC236}">
                  <a16:creationId xmlns:a16="http://schemas.microsoft.com/office/drawing/2014/main" id="{3E072C7A-F00F-431B-A9C8-0E1646627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3834" y="2043111"/>
              <a:ext cx="232560" cy="220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1" name="그룹 320"/>
          <p:cNvGrpSpPr/>
          <p:nvPr/>
        </p:nvGrpSpPr>
        <p:grpSpPr>
          <a:xfrm>
            <a:off x="782839" y="4871373"/>
            <a:ext cx="4281317" cy="1931833"/>
            <a:chOff x="825538" y="4945228"/>
            <a:chExt cx="4281317" cy="1931833"/>
          </a:xfrm>
        </p:grpSpPr>
        <p:grpSp>
          <p:nvGrpSpPr>
            <p:cNvPr id="322" name="그룹 321"/>
            <p:cNvGrpSpPr/>
            <p:nvPr/>
          </p:nvGrpSpPr>
          <p:grpSpPr>
            <a:xfrm>
              <a:off x="3469525" y="4945228"/>
              <a:ext cx="756000" cy="1931831"/>
              <a:chOff x="3469525" y="4945228"/>
              <a:chExt cx="756000" cy="1931831"/>
            </a:xfrm>
          </p:grpSpPr>
          <p:grpSp>
            <p:nvGrpSpPr>
              <p:cNvPr id="371" name="그룹 370"/>
              <p:cNvGrpSpPr/>
              <p:nvPr/>
            </p:nvGrpSpPr>
            <p:grpSpPr>
              <a:xfrm>
                <a:off x="3469525" y="4945228"/>
                <a:ext cx="756000" cy="1931831"/>
                <a:chOff x="4958211" y="3618082"/>
                <a:chExt cx="1266205" cy="1636972"/>
              </a:xfrm>
            </p:grpSpPr>
            <p:sp>
              <p:nvSpPr>
                <p:cNvPr id="375" name="직사각형 374"/>
                <p:cNvSpPr/>
                <p:nvPr/>
              </p:nvSpPr>
              <p:spPr>
                <a:xfrm>
                  <a:off x="4958211" y="3618082"/>
                  <a:ext cx="1266205" cy="1636972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0" rtlCol="0" anchor="t"/>
                <a:lstStyle/>
                <a:p>
                  <a:pPr marL="90488" indent="-90488" latinLnBrk="0">
                    <a:spcBef>
                      <a:spcPts val="600"/>
                    </a:spcBef>
                    <a:buClr>
                      <a:srgbClr val="7D7C7F"/>
                    </a:buClr>
                    <a:buSzPct val="90000"/>
                    <a:buFont typeface="Arial" pitchFamily="34" charset="0"/>
                    <a:buChar char="•"/>
                  </a:pPr>
                  <a:endParaRPr lang="ko-KR" altLang="en-US" sz="1000" dirty="0">
                    <a:ln>
                      <a:solidFill>
                        <a:schemeClr val="bg1">
                          <a:lumMod val="85000"/>
                          <a:alpha val="0"/>
                        </a:schemeClr>
                      </a:solidFill>
                    </a:ln>
                    <a:gradFill>
                      <a:gsLst>
                        <a:gs pos="38750">
                          <a:schemeClr val="tx1">
                            <a:lumMod val="85000"/>
                            <a:lumOff val="15000"/>
                          </a:schemeClr>
                        </a:gs>
                        <a:gs pos="59583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6200000" scaled="1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endParaRPr>
                </a:p>
              </p:txBody>
            </p:sp>
            <p:sp>
              <p:nvSpPr>
                <p:cNvPr id="376" name="직사각형 375"/>
                <p:cNvSpPr/>
                <p:nvPr/>
              </p:nvSpPr>
              <p:spPr>
                <a:xfrm>
                  <a:off x="4958211" y="3618085"/>
                  <a:ext cx="1266205" cy="216318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>
                      <a:ln>
                        <a:solidFill>
                          <a:schemeClr val="bg1">
                            <a:lumMod val="85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Rix고딕 EB" panose="02020603020101020101" pitchFamily="18" charset="-127"/>
                      <a:ea typeface="Rix고딕 EB" panose="02020603020101020101" pitchFamily="18" charset="-127"/>
                    </a:rPr>
                    <a:t>표준 도메인 </a:t>
                  </a:r>
                </a:p>
              </p:txBody>
            </p:sp>
          </p:grpSp>
          <p:sp>
            <p:nvSpPr>
              <p:cNvPr id="372" name="Rectangle 40"/>
              <p:cNvSpPr>
                <a:spLocks noChangeArrowheads="1"/>
              </p:cNvSpPr>
              <p:nvPr/>
            </p:nvSpPr>
            <p:spPr bwMode="auto">
              <a:xfrm>
                <a:off x="3523528" y="5275014"/>
                <a:ext cx="648000" cy="288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도메인 표준</a:t>
                </a:r>
                <a:endParaRPr lang="en-US" altLang="ko-KR" sz="800" dirty="0">
                  <a:solidFill>
                    <a:prstClr val="black"/>
                  </a:solidFill>
                </a:endParaRPr>
              </a:p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정의</a:t>
                </a:r>
              </a:p>
            </p:txBody>
          </p:sp>
          <p:sp>
            <p:nvSpPr>
              <p:cNvPr id="373" name="Rectangle 41"/>
              <p:cNvSpPr>
                <a:spLocks noChangeArrowheads="1"/>
              </p:cNvSpPr>
              <p:nvPr/>
            </p:nvSpPr>
            <p:spPr bwMode="auto">
              <a:xfrm>
                <a:off x="3523528" y="5680997"/>
                <a:ext cx="648000" cy="288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속성 정의</a:t>
                </a:r>
              </a:p>
            </p:txBody>
          </p:sp>
          <p:cxnSp>
            <p:nvCxnSpPr>
              <p:cNvPr id="374" name="AutoShape 42"/>
              <p:cNvCxnSpPr>
                <a:cxnSpLocks noChangeShapeType="1"/>
                <a:stCxn id="372" idx="2"/>
                <a:endCxn id="373" idx="0"/>
              </p:cNvCxnSpPr>
              <p:nvPr/>
            </p:nvCxnSpPr>
            <p:spPr bwMode="auto">
              <a:xfrm>
                <a:off x="3847528" y="5563014"/>
                <a:ext cx="0" cy="117983"/>
              </a:xfrm>
              <a:prstGeom prst="straightConnector1">
                <a:avLst/>
              </a:prstGeom>
              <a:noFill/>
              <a:ln w="12700">
                <a:solidFill>
                  <a:schemeClr val="accent3"/>
                </a:solidFill>
                <a:round/>
                <a:headEnd/>
                <a:tailEnd type="triangle" w="med" len="sm"/>
              </a:ln>
            </p:spPr>
          </p:cxnSp>
        </p:grpSp>
        <p:grpSp>
          <p:nvGrpSpPr>
            <p:cNvPr id="323" name="그룹 322"/>
            <p:cNvGrpSpPr/>
            <p:nvPr/>
          </p:nvGrpSpPr>
          <p:grpSpPr>
            <a:xfrm>
              <a:off x="4350855" y="4945228"/>
              <a:ext cx="756000" cy="1931833"/>
              <a:chOff x="4350855" y="4945228"/>
              <a:chExt cx="756000" cy="1931833"/>
            </a:xfrm>
          </p:grpSpPr>
          <p:grpSp>
            <p:nvGrpSpPr>
              <p:cNvPr id="365" name="그룹 364"/>
              <p:cNvGrpSpPr/>
              <p:nvPr/>
            </p:nvGrpSpPr>
            <p:grpSpPr>
              <a:xfrm>
                <a:off x="4350855" y="4945228"/>
                <a:ext cx="756000" cy="1931833"/>
                <a:chOff x="4958211" y="3618083"/>
                <a:chExt cx="1266205" cy="1636972"/>
              </a:xfrm>
            </p:grpSpPr>
            <p:sp>
              <p:nvSpPr>
                <p:cNvPr id="369" name="직사각형 368"/>
                <p:cNvSpPr/>
                <p:nvPr/>
              </p:nvSpPr>
              <p:spPr>
                <a:xfrm>
                  <a:off x="4958211" y="3618083"/>
                  <a:ext cx="1266205" cy="1636972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0" rtlCol="0" anchor="t"/>
                <a:lstStyle/>
                <a:p>
                  <a:pPr marL="90488" indent="-90488" latinLnBrk="0">
                    <a:spcBef>
                      <a:spcPts val="600"/>
                    </a:spcBef>
                    <a:buClr>
                      <a:srgbClr val="7D7C7F"/>
                    </a:buClr>
                    <a:buSzPct val="90000"/>
                    <a:buFont typeface="Arial" pitchFamily="34" charset="0"/>
                    <a:buChar char="•"/>
                  </a:pPr>
                  <a:endParaRPr lang="ko-KR" altLang="en-US" sz="1000" dirty="0">
                    <a:ln>
                      <a:solidFill>
                        <a:schemeClr val="bg1">
                          <a:lumMod val="85000"/>
                          <a:alpha val="0"/>
                        </a:schemeClr>
                      </a:solidFill>
                    </a:ln>
                    <a:gradFill>
                      <a:gsLst>
                        <a:gs pos="38750">
                          <a:schemeClr val="tx1">
                            <a:lumMod val="85000"/>
                            <a:lumOff val="15000"/>
                          </a:schemeClr>
                        </a:gs>
                        <a:gs pos="59583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6200000" scaled="1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endParaRPr>
                </a:p>
              </p:txBody>
            </p:sp>
            <p:sp>
              <p:nvSpPr>
                <p:cNvPr id="370" name="직사각형 369"/>
                <p:cNvSpPr/>
                <p:nvPr/>
              </p:nvSpPr>
              <p:spPr>
                <a:xfrm>
                  <a:off x="4958211" y="3618085"/>
                  <a:ext cx="1266205" cy="216318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>
                      <a:ln>
                        <a:solidFill>
                          <a:schemeClr val="bg1">
                            <a:lumMod val="85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Rix고딕 EB" panose="02020603020101020101" pitchFamily="18" charset="-127"/>
                      <a:ea typeface="Rix고딕 EB" panose="02020603020101020101" pitchFamily="18" charset="-127"/>
                    </a:rPr>
                    <a:t>적용 </a:t>
                  </a:r>
                </a:p>
              </p:txBody>
            </p:sp>
          </p:grpSp>
          <p:sp>
            <p:nvSpPr>
              <p:cNvPr id="366" name="Rectangle 45"/>
              <p:cNvSpPr>
                <a:spLocks noChangeArrowheads="1"/>
              </p:cNvSpPr>
              <p:nvPr/>
            </p:nvSpPr>
            <p:spPr bwMode="gray">
              <a:xfrm>
                <a:off x="4404855" y="5275014"/>
                <a:ext cx="648000" cy="288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모델 적용</a:t>
                </a:r>
              </a:p>
            </p:txBody>
          </p:sp>
          <p:sp>
            <p:nvSpPr>
              <p:cNvPr id="367" name="Rectangle 46"/>
              <p:cNvSpPr>
                <a:spLocks noChangeArrowheads="1"/>
              </p:cNvSpPr>
              <p:nvPr/>
            </p:nvSpPr>
            <p:spPr bwMode="gray">
              <a:xfrm>
                <a:off x="4404855" y="5680997"/>
                <a:ext cx="648000" cy="288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84000"/>
                  </a:lnSpc>
                </a:pPr>
                <a:r>
                  <a:rPr lang="ko-KR" altLang="en-US" sz="800" dirty="0" err="1">
                    <a:solidFill>
                      <a:prstClr val="black"/>
                    </a:solidFill>
                  </a:rPr>
                  <a:t>비표준</a:t>
                </a:r>
                <a:r>
                  <a:rPr lang="ko-KR" altLang="en-US" sz="800" dirty="0">
                    <a:solidFill>
                      <a:prstClr val="black"/>
                    </a:solidFill>
                  </a:rPr>
                  <a:t> 체크</a:t>
                </a:r>
              </a:p>
            </p:txBody>
          </p:sp>
          <p:cxnSp>
            <p:nvCxnSpPr>
              <p:cNvPr id="368" name="AutoShape 47"/>
              <p:cNvCxnSpPr>
                <a:cxnSpLocks noChangeShapeType="1"/>
                <a:stCxn id="366" idx="2"/>
                <a:endCxn id="367" idx="0"/>
              </p:cNvCxnSpPr>
              <p:nvPr/>
            </p:nvCxnSpPr>
            <p:spPr bwMode="auto">
              <a:xfrm>
                <a:off x="4728855" y="5563014"/>
                <a:ext cx="0" cy="117983"/>
              </a:xfrm>
              <a:prstGeom prst="straightConnector1">
                <a:avLst/>
              </a:prstGeom>
              <a:noFill/>
              <a:ln w="12700">
                <a:solidFill>
                  <a:schemeClr val="accent3"/>
                </a:solidFill>
                <a:round/>
                <a:headEnd/>
                <a:tailEnd type="triangle" w="med" len="sm"/>
              </a:ln>
            </p:spPr>
          </p:cxnSp>
        </p:grpSp>
        <p:grpSp>
          <p:nvGrpSpPr>
            <p:cNvPr id="324" name="그룹 323"/>
            <p:cNvGrpSpPr/>
            <p:nvPr/>
          </p:nvGrpSpPr>
          <p:grpSpPr>
            <a:xfrm>
              <a:off x="2588196" y="4945228"/>
              <a:ext cx="756000" cy="1931833"/>
              <a:chOff x="2588196" y="4945228"/>
              <a:chExt cx="756000" cy="1931833"/>
            </a:xfrm>
          </p:grpSpPr>
          <p:grpSp>
            <p:nvGrpSpPr>
              <p:cNvPr id="355" name="그룹 354"/>
              <p:cNvGrpSpPr/>
              <p:nvPr/>
            </p:nvGrpSpPr>
            <p:grpSpPr>
              <a:xfrm>
                <a:off x="2588196" y="4945228"/>
                <a:ext cx="756000" cy="1931833"/>
                <a:chOff x="4958211" y="3618083"/>
                <a:chExt cx="1266205" cy="1636972"/>
              </a:xfrm>
            </p:grpSpPr>
            <p:sp>
              <p:nvSpPr>
                <p:cNvPr id="363" name="직사각형 362"/>
                <p:cNvSpPr/>
                <p:nvPr/>
              </p:nvSpPr>
              <p:spPr>
                <a:xfrm>
                  <a:off x="4958211" y="3618083"/>
                  <a:ext cx="1266205" cy="1636972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0" rtlCol="0" anchor="t"/>
                <a:lstStyle/>
                <a:p>
                  <a:pPr marL="90488" indent="-90488" latinLnBrk="0">
                    <a:spcBef>
                      <a:spcPts val="600"/>
                    </a:spcBef>
                    <a:buClr>
                      <a:srgbClr val="7D7C7F"/>
                    </a:buClr>
                    <a:buSzPct val="90000"/>
                    <a:buFont typeface="Arial" pitchFamily="34" charset="0"/>
                    <a:buChar char="•"/>
                  </a:pPr>
                  <a:endParaRPr lang="ko-KR" altLang="en-US" sz="1000" dirty="0">
                    <a:ln>
                      <a:solidFill>
                        <a:schemeClr val="bg1">
                          <a:lumMod val="85000"/>
                          <a:alpha val="0"/>
                        </a:schemeClr>
                      </a:solidFill>
                    </a:ln>
                    <a:gradFill>
                      <a:gsLst>
                        <a:gs pos="38750">
                          <a:schemeClr val="tx1">
                            <a:lumMod val="85000"/>
                            <a:lumOff val="15000"/>
                          </a:schemeClr>
                        </a:gs>
                        <a:gs pos="59583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6200000" scaled="1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endParaRPr>
                </a:p>
              </p:txBody>
            </p:sp>
            <p:sp>
              <p:nvSpPr>
                <p:cNvPr id="364" name="직사각형 363"/>
                <p:cNvSpPr/>
                <p:nvPr/>
              </p:nvSpPr>
              <p:spPr>
                <a:xfrm>
                  <a:off x="4958211" y="3618085"/>
                  <a:ext cx="1266205" cy="216318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>
                      <a:ln>
                        <a:solidFill>
                          <a:schemeClr val="bg1">
                            <a:lumMod val="85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Rix고딕 EB" panose="02020603020101020101" pitchFamily="18" charset="-127"/>
                      <a:ea typeface="Rix고딕 EB" panose="02020603020101020101" pitchFamily="18" charset="-127"/>
                    </a:rPr>
                    <a:t>표준 용어 </a:t>
                  </a:r>
                </a:p>
              </p:txBody>
            </p:sp>
          </p:grpSp>
          <p:sp>
            <p:nvSpPr>
              <p:cNvPr id="356" name="Rectangle 53"/>
              <p:cNvSpPr>
                <a:spLocks noChangeArrowheads="1"/>
              </p:cNvSpPr>
              <p:nvPr/>
            </p:nvSpPr>
            <p:spPr bwMode="auto">
              <a:xfrm>
                <a:off x="2642198" y="5275014"/>
                <a:ext cx="648000" cy="288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업무용어</a:t>
                </a:r>
                <a:endParaRPr lang="en-US" altLang="ko-KR" sz="800" dirty="0">
                  <a:solidFill>
                    <a:prstClr val="black"/>
                  </a:solidFill>
                </a:endParaRPr>
              </a:p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추출</a:t>
                </a:r>
              </a:p>
            </p:txBody>
          </p:sp>
          <p:sp>
            <p:nvSpPr>
              <p:cNvPr id="357" name="Rectangle 54"/>
              <p:cNvSpPr>
                <a:spLocks noChangeArrowheads="1"/>
              </p:cNvSpPr>
              <p:nvPr/>
            </p:nvSpPr>
            <p:spPr bwMode="auto">
              <a:xfrm>
                <a:off x="2642198" y="5680997"/>
                <a:ext cx="648000" cy="288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업무용어</a:t>
                </a:r>
                <a:endParaRPr lang="en-US" altLang="ko-KR" sz="800" dirty="0">
                  <a:solidFill>
                    <a:prstClr val="black"/>
                  </a:solidFill>
                </a:endParaRPr>
              </a:p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표준정의</a:t>
                </a:r>
              </a:p>
            </p:txBody>
          </p:sp>
          <p:sp>
            <p:nvSpPr>
              <p:cNvPr id="358" name="Rectangle 55"/>
              <p:cNvSpPr>
                <a:spLocks noChangeArrowheads="1"/>
              </p:cNvSpPr>
              <p:nvPr/>
            </p:nvSpPr>
            <p:spPr bwMode="auto">
              <a:xfrm>
                <a:off x="2642198" y="6086980"/>
                <a:ext cx="648000" cy="288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동음이의어</a:t>
                </a:r>
                <a:endParaRPr lang="en-US" altLang="ko-KR" sz="800" dirty="0">
                  <a:solidFill>
                    <a:prstClr val="black"/>
                  </a:solidFill>
                </a:endParaRPr>
              </a:p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정리</a:t>
                </a:r>
              </a:p>
            </p:txBody>
          </p:sp>
          <p:sp>
            <p:nvSpPr>
              <p:cNvPr id="359" name="Rectangle 56"/>
              <p:cNvSpPr>
                <a:spLocks noChangeArrowheads="1"/>
              </p:cNvSpPr>
              <p:nvPr/>
            </p:nvSpPr>
            <p:spPr bwMode="auto">
              <a:xfrm>
                <a:off x="2642198" y="6492964"/>
                <a:ext cx="648000" cy="288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이음동의어</a:t>
                </a:r>
                <a:endParaRPr lang="en-US" altLang="ko-KR" sz="800" dirty="0">
                  <a:solidFill>
                    <a:prstClr val="black"/>
                  </a:solidFill>
                </a:endParaRPr>
              </a:p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정리</a:t>
                </a:r>
              </a:p>
            </p:txBody>
          </p:sp>
          <p:cxnSp>
            <p:nvCxnSpPr>
              <p:cNvPr id="360" name="AutoShape 58"/>
              <p:cNvCxnSpPr>
                <a:cxnSpLocks noChangeShapeType="1"/>
                <a:stCxn id="356" idx="2"/>
                <a:endCxn id="357" idx="0"/>
              </p:cNvCxnSpPr>
              <p:nvPr/>
            </p:nvCxnSpPr>
            <p:spPr bwMode="auto">
              <a:xfrm>
                <a:off x="2966198" y="5563014"/>
                <a:ext cx="0" cy="117983"/>
              </a:xfrm>
              <a:prstGeom prst="straightConnector1">
                <a:avLst/>
              </a:prstGeom>
              <a:noFill/>
              <a:ln w="12700">
                <a:solidFill>
                  <a:schemeClr val="accent3"/>
                </a:solidFill>
                <a:round/>
                <a:headEnd/>
                <a:tailEnd type="triangle" w="med" len="sm"/>
              </a:ln>
            </p:spPr>
          </p:cxnSp>
          <p:cxnSp>
            <p:nvCxnSpPr>
              <p:cNvPr id="361" name="AutoShape 59"/>
              <p:cNvCxnSpPr>
                <a:cxnSpLocks noChangeShapeType="1"/>
                <a:stCxn id="357" idx="2"/>
                <a:endCxn id="358" idx="0"/>
              </p:cNvCxnSpPr>
              <p:nvPr/>
            </p:nvCxnSpPr>
            <p:spPr bwMode="auto">
              <a:xfrm>
                <a:off x="2966198" y="5968997"/>
                <a:ext cx="0" cy="117983"/>
              </a:xfrm>
              <a:prstGeom prst="straightConnector1">
                <a:avLst/>
              </a:prstGeom>
              <a:noFill/>
              <a:ln w="12700">
                <a:solidFill>
                  <a:schemeClr val="accent3"/>
                </a:solidFill>
                <a:round/>
                <a:headEnd/>
                <a:tailEnd type="triangle" w="med" len="sm"/>
              </a:ln>
            </p:spPr>
          </p:cxnSp>
          <p:cxnSp>
            <p:nvCxnSpPr>
              <p:cNvPr id="362" name="AutoShape 60"/>
              <p:cNvCxnSpPr>
                <a:cxnSpLocks noChangeShapeType="1"/>
                <a:stCxn id="358" idx="2"/>
                <a:endCxn id="359" idx="0"/>
              </p:cNvCxnSpPr>
              <p:nvPr/>
            </p:nvCxnSpPr>
            <p:spPr bwMode="auto">
              <a:xfrm>
                <a:off x="2966198" y="6374980"/>
                <a:ext cx="0" cy="117984"/>
              </a:xfrm>
              <a:prstGeom prst="straightConnector1">
                <a:avLst/>
              </a:prstGeom>
              <a:noFill/>
              <a:ln w="12700">
                <a:solidFill>
                  <a:schemeClr val="accent3"/>
                </a:solidFill>
                <a:round/>
                <a:headEnd/>
                <a:tailEnd type="triangle" w="med" len="sm"/>
              </a:ln>
            </p:spPr>
          </p:cxnSp>
        </p:grpSp>
        <p:grpSp>
          <p:nvGrpSpPr>
            <p:cNvPr id="325" name="그룹 324"/>
            <p:cNvGrpSpPr/>
            <p:nvPr/>
          </p:nvGrpSpPr>
          <p:grpSpPr>
            <a:xfrm>
              <a:off x="1706867" y="4945228"/>
              <a:ext cx="756000" cy="1931833"/>
              <a:chOff x="1706867" y="4945228"/>
              <a:chExt cx="756000" cy="1931833"/>
            </a:xfrm>
          </p:grpSpPr>
          <p:grpSp>
            <p:nvGrpSpPr>
              <p:cNvPr id="347" name="그룹 346"/>
              <p:cNvGrpSpPr/>
              <p:nvPr/>
            </p:nvGrpSpPr>
            <p:grpSpPr>
              <a:xfrm>
                <a:off x="1706867" y="4945228"/>
                <a:ext cx="756000" cy="1931833"/>
                <a:chOff x="4958211" y="3618083"/>
                <a:chExt cx="1266205" cy="1636972"/>
              </a:xfrm>
            </p:grpSpPr>
            <p:sp>
              <p:nvSpPr>
                <p:cNvPr id="353" name="직사각형 352"/>
                <p:cNvSpPr/>
                <p:nvPr/>
              </p:nvSpPr>
              <p:spPr>
                <a:xfrm>
                  <a:off x="4958211" y="3618083"/>
                  <a:ext cx="1266205" cy="1636972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0" rtlCol="0" anchor="t"/>
                <a:lstStyle/>
                <a:p>
                  <a:pPr marL="90488" indent="-90488" latinLnBrk="0">
                    <a:spcBef>
                      <a:spcPts val="600"/>
                    </a:spcBef>
                    <a:buClr>
                      <a:srgbClr val="7D7C7F"/>
                    </a:buClr>
                    <a:buSzPct val="90000"/>
                    <a:buFont typeface="Arial" pitchFamily="34" charset="0"/>
                    <a:buChar char="•"/>
                  </a:pPr>
                  <a:endParaRPr lang="ko-KR" altLang="en-US" sz="1000" dirty="0">
                    <a:ln>
                      <a:solidFill>
                        <a:schemeClr val="bg1">
                          <a:lumMod val="85000"/>
                          <a:alpha val="0"/>
                        </a:schemeClr>
                      </a:solidFill>
                    </a:ln>
                    <a:gradFill>
                      <a:gsLst>
                        <a:gs pos="38750">
                          <a:schemeClr val="tx1">
                            <a:lumMod val="85000"/>
                            <a:lumOff val="15000"/>
                          </a:schemeClr>
                        </a:gs>
                        <a:gs pos="59583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6200000" scaled="1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endParaRPr>
                </a:p>
              </p:txBody>
            </p:sp>
            <p:sp>
              <p:nvSpPr>
                <p:cNvPr id="354" name="직사각형 353"/>
                <p:cNvSpPr/>
                <p:nvPr/>
              </p:nvSpPr>
              <p:spPr>
                <a:xfrm>
                  <a:off x="4958211" y="3618085"/>
                  <a:ext cx="1266205" cy="216318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>
                      <a:ln>
                        <a:solidFill>
                          <a:schemeClr val="bg1">
                            <a:lumMod val="85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Rix고딕 EB" panose="02020603020101020101" pitchFamily="18" charset="-127"/>
                      <a:ea typeface="Rix고딕 EB" panose="02020603020101020101" pitchFamily="18" charset="-127"/>
                    </a:rPr>
                    <a:t>표준 단어 </a:t>
                  </a:r>
                </a:p>
              </p:txBody>
            </p:sp>
          </p:grpSp>
          <p:sp>
            <p:nvSpPr>
              <p:cNvPr id="348" name="Rectangle 64"/>
              <p:cNvSpPr>
                <a:spLocks noChangeArrowheads="1"/>
              </p:cNvSpPr>
              <p:nvPr/>
            </p:nvSpPr>
            <p:spPr bwMode="auto">
              <a:xfrm>
                <a:off x="1760868" y="5275014"/>
                <a:ext cx="648000" cy="288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단어 표준</a:t>
                </a:r>
                <a:endParaRPr lang="en-US" altLang="ko-KR" sz="800" dirty="0">
                  <a:solidFill>
                    <a:prstClr val="black"/>
                  </a:solidFill>
                </a:endParaRPr>
              </a:p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정의</a:t>
                </a:r>
              </a:p>
            </p:txBody>
          </p:sp>
          <p:sp>
            <p:nvSpPr>
              <p:cNvPr id="349" name="Rectangle 65"/>
              <p:cNvSpPr>
                <a:spLocks noChangeArrowheads="1"/>
              </p:cNvSpPr>
              <p:nvPr/>
            </p:nvSpPr>
            <p:spPr bwMode="auto">
              <a:xfrm>
                <a:off x="1760868" y="5680997"/>
                <a:ext cx="648000" cy="288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동음이의어</a:t>
                </a:r>
                <a:endParaRPr lang="en-US" altLang="ko-KR" sz="800" dirty="0">
                  <a:solidFill>
                    <a:prstClr val="black"/>
                  </a:solidFill>
                </a:endParaRPr>
              </a:p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정리</a:t>
                </a:r>
              </a:p>
            </p:txBody>
          </p:sp>
          <p:sp>
            <p:nvSpPr>
              <p:cNvPr id="350" name="Rectangle 66"/>
              <p:cNvSpPr>
                <a:spLocks noChangeArrowheads="1"/>
              </p:cNvSpPr>
              <p:nvPr/>
            </p:nvSpPr>
            <p:spPr bwMode="auto">
              <a:xfrm>
                <a:off x="1760868" y="6086980"/>
                <a:ext cx="648000" cy="288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이음동의어</a:t>
                </a:r>
                <a:endParaRPr lang="en-US" altLang="ko-KR" sz="800" dirty="0">
                  <a:solidFill>
                    <a:prstClr val="black"/>
                  </a:solidFill>
                </a:endParaRPr>
              </a:p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정리</a:t>
                </a:r>
              </a:p>
            </p:txBody>
          </p:sp>
          <p:cxnSp>
            <p:nvCxnSpPr>
              <p:cNvPr id="351" name="AutoShape 68"/>
              <p:cNvCxnSpPr>
                <a:cxnSpLocks noChangeShapeType="1"/>
                <a:stCxn id="348" idx="2"/>
                <a:endCxn id="349" idx="0"/>
              </p:cNvCxnSpPr>
              <p:nvPr/>
            </p:nvCxnSpPr>
            <p:spPr bwMode="auto">
              <a:xfrm>
                <a:off x="2084868" y="5563014"/>
                <a:ext cx="0" cy="117983"/>
              </a:xfrm>
              <a:prstGeom prst="straightConnector1">
                <a:avLst/>
              </a:prstGeom>
              <a:noFill/>
              <a:ln w="12700">
                <a:solidFill>
                  <a:schemeClr val="accent3"/>
                </a:solidFill>
                <a:round/>
                <a:headEnd/>
                <a:tailEnd type="triangle" w="med" len="sm"/>
              </a:ln>
            </p:spPr>
          </p:cxnSp>
          <p:cxnSp>
            <p:nvCxnSpPr>
              <p:cNvPr id="352" name="직선 화살표 연결선 351"/>
              <p:cNvCxnSpPr>
                <a:stCxn id="349" idx="2"/>
                <a:endCxn id="350" idx="0"/>
              </p:cNvCxnSpPr>
              <p:nvPr/>
            </p:nvCxnSpPr>
            <p:spPr>
              <a:xfrm>
                <a:off x="2084868" y="5968997"/>
                <a:ext cx="0" cy="117983"/>
              </a:xfrm>
              <a:prstGeom prst="straightConnector1">
                <a:avLst/>
              </a:prstGeom>
              <a:noFill/>
              <a:ln w="12700">
                <a:solidFill>
                  <a:schemeClr val="accent3"/>
                </a:solidFill>
                <a:round/>
                <a:headEnd/>
                <a:tailEnd type="triangle" w="med" len="sm"/>
              </a:ln>
            </p:spPr>
          </p:cxnSp>
        </p:grpSp>
        <p:grpSp>
          <p:nvGrpSpPr>
            <p:cNvPr id="326" name="그룹 325"/>
            <p:cNvGrpSpPr/>
            <p:nvPr/>
          </p:nvGrpSpPr>
          <p:grpSpPr>
            <a:xfrm>
              <a:off x="1601982" y="5780558"/>
              <a:ext cx="125168" cy="217535"/>
              <a:chOff x="1601982" y="5780558"/>
              <a:chExt cx="125168" cy="217535"/>
            </a:xfrm>
          </p:grpSpPr>
          <p:sp>
            <p:nvSpPr>
              <p:cNvPr id="345" name="이등변 삼각형 344"/>
              <p:cNvSpPr/>
              <p:nvPr/>
            </p:nvSpPr>
            <p:spPr>
              <a:xfrm rot="5400000">
                <a:off x="1586363" y="5852550"/>
                <a:ext cx="147687" cy="73551"/>
              </a:xfrm>
              <a:prstGeom prst="triangle">
                <a:avLst/>
              </a:prstGeom>
              <a:solidFill>
                <a:schemeClr val="bg1"/>
              </a:solidFill>
              <a:ln w="28575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pic>
            <p:nvPicPr>
              <p:cNvPr id="346" name="Picture 8"/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362" r="44362" b="54019"/>
              <a:stretch/>
            </p:blipFill>
            <p:spPr bwMode="auto">
              <a:xfrm rot="5400000">
                <a:off x="1555798" y="5826742"/>
                <a:ext cx="217535" cy="1251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27" name="그룹 326"/>
            <p:cNvGrpSpPr/>
            <p:nvPr/>
          </p:nvGrpSpPr>
          <p:grpSpPr>
            <a:xfrm>
              <a:off x="2485152" y="5780558"/>
              <a:ext cx="125168" cy="217535"/>
              <a:chOff x="2485152" y="5780558"/>
              <a:chExt cx="125168" cy="217535"/>
            </a:xfrm>
          </p:grpSpPr>
          <p:sp>
            <p:nvSpPr>
              <p:cNvPr id="343" name="이등변 삼각형 342"/>
              <p:cNvSpPr/>
              <p:nvPr/>
            </p:nvSpPr>
            <p:spPr>
              <a:xfrm rot="5400000">
                <a:off x="2469533" y="5852550"/>
                <a:ext cx="147687" cy="73551"/>
              </a:xfrm>
              <a:prstGeom prst="triangle">
                <a:avLst/>
              </a:prstGeom>
              <a:solidFill>
                <a:schemeClr val="bg1"/>
              </a:solidFill>
              <a:ln w="28575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pic>
            <p:nvPicPr>
              <p:cNvPr id="344" name="Picture 8"/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362" r="44362" b="54019"/>
              <a:stretch/>
            </p:blipFill>
            <p:spPr bwMode="auto">
              <a:xfrm rot="5400000">
                <a:off x="2438968" y="5826742"/>
                <a:ext cx="217535" cy="1251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28" name="그룹 327"/>
            <p:cNvGrpSpPr/>
            <p:nvPr/>
          </p:nvGrpSpPr>
          <p:grpSpPr>
            <a:xfrm>
              <a:off x="3363329" y="5780558"/>
              <a:ext cx="125168" cy="217535"/>
              <a:chOff x="3363329" y="5780558"/>
              <a:chExt cx="125168" cy="217535"/>
            </a:xfrm>
          </p:grpSpPr>
          <p:sp>
            <p:nvSpPr>
              <p:cNvPr id="341" name="이등변 삼각형 340"/>
              <p:cNvSpPr/>
              <p:nvPr/>
            </p:nvSpPr>
            <p:spPr>
              <a:xfrm rot="5400000">
                <a:off x="3347710" y="5852550"/>
                <a:ext cx="147687" cy="73551"/>
              </a:xfrm>
              <a:prstGeom prst="triangle">
                <a:avLst/>
              </a:prstGeom>
              <a:solidFill>
                <a:schemeClr val="bg1"/>
              </a:solidFill>
              <a:ln w="28575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pic>
            <p:nvPicPr>
              <p:cNvPr id="342" name="Picture 8"/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362" r="44362" b="54019"/>
              <a:stretch/>
            </p:blipFill>
            <p:spPr bwMode="auto">
              <a:xfrm rot="5400000">
                <a:off x="3317145" y="5826742"/>
                <a:ext cx="217535" cy="1251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29" name="그룹 328"/>
            <p:cNvGrpSpPr/>
            <p:nvPr/>
          </p:nvGrpSpPr>
          <p:grpSpPr>
            <a:xfrm>
              <a:off x="4244659" y="5780558"/>
              <a:ext cx="125168" cy="217535"/>
              <a:chOff x="4244659" y="5780558"/>
              <a:chExt cx="125168" cy="217535"/>
            </a:xfrm>
          </p:grpSpPr>
          <p:sp>
            <p:nvSpPr>
              <p:cNvPr id="339" name="이등변 삼각형 338"/>
              <p:cNvSpPr/>
              <p:nvPr/>
            </p:nvSpPr>
            <p:spPr>
              <a:xfrm rot="5400000">
                <a:off x="4229040" y="5852550"/>
                <a:ext cx="147687" cy="73551"/>
              </a:xfrm>
              <a:prstGeom prst="triangle">
                <a:avLst/>
              </a:prstGeom>
              <a:solidFill>
                <a:schemeClr val="bg1"/>
              </a:solidFill>
              <a:ln w="28575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pic>
            <p:nvPicPr>
              <p:cNvPr id="340" name="Picture 8"/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362" r="44362" b="54019"/>
              <a:stretch/>
            </p:blipFill>
            <p:spPr bwMode="auto">
              <a:xfrm rot="5400000">
                <a:off x="4198475" y="5826742"/>
                <a:ext cx="217535" cy="1251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30" name="그룹 329"/>
            <p:cNvGrpSpPr/>
            <p:nvPr/>
          </p:nvGrpSpPr>
          <p:grpSpPr>
            <a:xfrm>
              <a:off x="825538" y="4945228"/>
              <a:ext cx="756000" cy="1931833"/>
              <a:chOff x="825538" y="4945228"/>
              <a:chExt cx="756000" cy="1931833"/>
            </a:xfrm>
          </p:grpSpPr>
          <p:grpSp>
            <p:nvGrpSpPr>
              <p:cNvPr id="331" name="그룹 330"/>
              <p:cNvGrpSpPr/>
              <p:nvPr/>
            </p:nvGrpSpPr>
            <p:grpSpPr>
              <a:xfrm>
                <a:off x="825538" y="4945228"/>
                <a:ext cx="756000" cy="1931833"/>
                <a:chOff x="4958211" y="3618083"/>
                <a:chExt cx="1266205" cy="1636972"/>
              </a:xfrm>
            </p:grpSpPr>
            <p:sp>
              <p:nvSpPr>
                <p:cNvPr id="337" name="직사각형 336"/>
                <p:cNvSpPr/>
                <p:nvPr/>
              </p:nvSpPr>
              <p:spPr>
                <a:xfrm>
                  <a:off x="4958211" y="3618083"/>
                  <a:ext cx="1266205" cy="1636972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0" rtlCol="0" anchor="t"/>
                <a:lstStyle/>
                <a:p>
                  <a:pPr marL="90488" indent="-90488" latinLnBrk="0">
                    <a:spcBef>
                      <a:spcPts val="600"/>
                    </a:spcBef>
                    <a:buClr>
                      <a:srgbClr val="7D7C7F"/>
                    </a:buClr>
                    <a:buSzPct val="90000"/>
                    <a:buFont typeface="Arial" pitchFamily="34" charset="0"/>
                    <a:buChar char="•"/>
                  </a:pPr>
                  <a:endParaRPr lang="ko-KR" altLang="en-US" sz="1000" dirty="0">
                    <a:ln>
                      <a:solidFill>
                        <a:schemeClr val="bg1">
                          <a:lumMod val="85000"/>
                          <a:alpha val="0"/>
                        </a:schemeClr>
                      </a:solidFill>
                    </a:ln>
                    <a:gradFill>
                      <a:gsLst>
                        <a:gs pos="38750">
                          <a:schemeClr val="tx1">
                            <a:lumMod val="85000"/>
                            <a:lumOff val="15000"/>
                          </a:schemeClr>
                        </a:gs>
                        <a:gs pos="59583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6200000" scaled="1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endParaRPr>
                </a:p>
              </p:txBody>
            </p:sp>
            <p:sp>
              <p:nvSpPr>
                <p:cNvPr id="338" name="직사각형 337"/>
                <p:cNvSpPr/>
                <p:nvPr/>
              </p:nvSpPr>
              <p:spPr>
                <a:xfrm>
                  <a:off x="4958211" y="3618085"/>
                  <a:ext cx="1266205" cy="216318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>
                      <a:ln>
                        <a:solidFill>
                          <a:schemeClr val="bg1">
                            <a:lumMod val="85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Rix고딕 EB" panose="02020603020101020101" pitchFamily="18" charset="-127"/>
                      <a:ea typeface="Rix고딕 EB" panose="02020603020101020101" pitchFamily="18" charset="-127"/>
                    </a:rPr>
                    <a:t>착수 </a:t>
                  </a:r>
                </a:p>
              </p:txBody>
            </p:sp>
          </p:grpSp>
          <p:sp>
            <p:nvSpPr>
              <p:cNvPr id="332" name="Rectangle 91"/>
              <p:cNvSpPr>
                <a:spLocks noChangeArrowheads="1"/>
              </p:cNvSpPr>
              <p:nvPr/>
            </p:nvSpPr>
            <p:spPr bwMode="auto">
              <a:xfrm>
                <a:off x="879538" y="5275014"/>
                <a:ext cx="648000" cy="288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데이터 속성</a:t>
                </a:r>
                <a:endParaRPr lang="en-US" altLang="ko-KR" sz="800" dirty="0">
                  <a:solidFill>
                    <a:prstClr val="black"/>
                  </a:solidFill>
                </a:endParaRPr>
              </a:p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추출</a:t>
                </a:r>
              </a:p>
            </p:txBody>
          </p:sp>
          <p:sp>
            <p:nvSpPr>
              <p:cNvPr id="333" name="Rectangle 92"/>
              <p:cNvSpPr>
                <a:spLocks noChangeArrowheads="1"/>
              </p:cNvSpPr>
              <p:nvPr/>
            </p:nvSpPr>
            <p:spPr bwMode="auto">
              <a:xfrm>
                <a:off x="879538" y="5680997"/>
                <a:ext cx="648000" cy="288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속성 정련</a:t>
                </a:r>
              </a:p>
            </p:txBody>
          </p:sp>
          <p:sp>
            <p:nvSpPr>
              <p:cNvPr id="334" name="Rectangle 93"/>
              <p:cNvSpPr>
                <a:spLocks noChangeArrowheads="1"/>
              </p:cNvSpPr>
              <p:nvPr/>
            </p:nvSpPr>
            <p:spPr bwMode="auto">
              <a:xfrm>
                <a:off x="879538" y="6086980"/>
                <a:ext cx="648000" cy="2880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84000"/>
                  </a:lnSpc>
                </a:pPr>
                <a:r>
                  <a:rPr lang="ko-KR" altLang="en-US" sz="800" dirty="0" err="1">
                    <a:solidFill>
                      <a:prstClr val="black"/>
                    </a:solidFill>
                  </a:rPr>
                  <a:t>표준화지침</a:t>
                </a:r>
                <a:endParaRPr lang="en-US" altLang="ko-KR" sz="800" dirty="0">
                  <a:solidFill>
                    <a:prstClr val="black"/>
                  </a:solidFill>
                </a:endParaRPr>
              </a:p>
              <a:p>
                <a:pPr algn="ctr">
                  <a:lnSpc>
                    <a:spcPct val="84000"/>
                  </a:lnSpc>
                </a:pPr>
                <a:r>
                  <a:rPr lang="ko-KR" altLang="en-US" sz="800" dirty="0">
                    <a:solidFill>
                      <a:prstClr val="black"/>
                    </a:solidFill>
                  </a:rPr>
                  <a:t>수립</a:t>
                </a:r>
              </a:p>
            </p:txBody>
          </p:sp>
          <p:cxnSp>
            <p:nvCxnSpPr>
              <p:cNvPr id="335" name="AutoShape 95"/>
              <p:cNvCxnSpPr>
                <a:cxnSpLocks noChangeShapeType="1"/>
                <a:stCxn id="332" idx="2"/>
                <a:endCxn id="333" idx="0"/>
              </p:cNvCxnSpPr>
              <p:nvPr/>
            </p:nvCxnSpPr>
            <p:spPr bwMode="auto">
              <a:xfrm>
                <a:off x="1203538" y="5563014"/>
                <a:ext cx="0" cy="117983"/>
              </a:xfrm>
              <a:prstGeom prst="straightConnector1">
                <a:avLst/>
              </a:prstGeom>
              <a:noFill/>
              <a:ln w="12700">
                <a:solidFill>
                  <a:schemeClr val="accent3"/>
                </a:solidFill>
                <a:round/>
                <a:headEnd/>
                <a:tailEnd type="triangle" w="med" len="sm"/>
              </a:ln>
            </p:spPr>
          </p:cxnSp>
          <p:cxnSp>
            <p:nvCxnSpPr>
              <p:cNvPr id="336" name="AutoShape 96"/>
              <p:cNvCxnSpPr>
                <a:cxnSpLocks noChangeShapeType="1"/>
                <a:stCxn id="333" idx="2"/>
                <a:endCxn id="334" idx="0"/>
              </p:cNvCxnSpPr>
              <p:nvPr/>
            </p:nvCxnSpPr>
            <p:spPr bwMode="auto">
              <a:xfrm>
                <a:off x="1203538" y="5968997"/>
                <a:ext cx="0" cy="117983"/>
              </a:xfrm>
              <a:prstGeom prst="straightConnector1">
                <a:avLst/>
              </a:prstGeom>
              <a:noFill/>
              <a:ln w="12700">
                <a:solidFill>
                  <a:schemeClr val="accent3"/>
                </a:solidFill>
                <a:round/>
                <a:headEnd/>
                <a:tailEnd type="triangle" w="med" len="sm"/>
              </a:ln>
            </p:spPr>
          </p:cxnSp>
        </p:grpSp>
      </p:grpSp>
      <p:grpSp>
        <p:nvGrpSpPr>
          <p:cNvPr id="377" name="그룹 376">
            <a:extLst>
              <a:ext uri="{FF2B5EF4-FFF2-40B4-BE49-F238E27FC236}">
                <a16:creationId xmlns:a16="http://schemas.microsoft.com/office/drawing/2014/main" id="{332F4C17-A82A-49D3-8FD2-D250D0AEED4F}"/>
              </a:ext>
            </a:extLst>
          </p:cNvPr>
          <p:cNvGrpSpPr/>
          <p:nvPr/>
        </p:nvGrpSpPr>
        <p:grpSpPr>
          <a:xfrm>
            <a:off x="767371" y="2338586"/>
            <a:ext cx="2981680" cy="256957"/>
            <a:chOff x="5203834" y="2043111"/>
            <a:chExt cx="2745335" cy="233058"/>
          </a:xfrm>
        </p:grpSpPr>
        <p:sp>
          <p:nvSpPr>
            <p:cNvPr id="378" name="직사각형 377">
              <a:extLst>
                <a:ext uri="{FF2B5EF4-FFF2-40B4-BE49-F238E27FC236}">
                  <a16:creationId xmlns:a16="http://schemas.microsoft.com/office/drawing/2014/main" id="{89EA45F0-8352-459F-BF02-0CDC5E98E0D4}"/>
                </a:ext>
              </a:extLst>
            </p:cNvPr>
            <p:cNvSpPr/>
            <p:nvPr/>
          </p:nvSpPr>
          <p:spPr>
            <a:xfrm>
              <a:off x="5495140" y="2048360"/>
              <a:ext cx="2454029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/>
            <a:p>
              <a:pPr marL="0" lvl="1" defTabSz="995393" fontAlgn="base" latinLnBrk="0">
                <a:spcAft>
                  <a:spcPts val="163"/>
                </a:spcAft>
                <a:buClr>
                  <a:srgbClr val="8B8F9E"/>
                </a:buClr>
                <a:buSzPct val="100000"/>
                <a:tabLst>
                  <a:tab pos="1175468" algn="l"/>
                </a:tabLst>
                <a:defRPr/>
              </a:pPr>
              <a:r>
                <a:rPr lang="ko-KR" altLang="en-US" sz="1500" kern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표준화 적용 방안</a:t>
              </a:r>
              <a:endParaRPr lang="ko-KR" altLang="en-US" sz="15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</p:txBody>
        </p:sp>
        <p:pic>
          <p:nvPicPr>
            <p:cNvPr id="379" name="Picture 2" descr="D:\19.전지수\1. 제안서\1. 표준제안\★2017_표준제안설명회\작업\버트3.png">
              <a:extLst>
                <a:ext uri="{FF2B5EF4-FFF2-40B4-BE49-F238E27FC236}">
                  <a16:creationId xmlns:a16="http://schemas.microsoft.com/office/drawing/2014/main" id="{3E072C7A-F00F-431B-A9C8-0E1646627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3834" y="2043111"/>
              <a:ext cx="232560" cy="220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0" name="그룹 379"/>
          <p:cNvGrpSpPr/>
          <p:nvPr/>
        </p:nvGrpSpPr>
        <p:grpSpPr>
          <a:xfrm>
            <a:off x="782839" y="2695923"/>
            <a:ext cx="4281317" cy="1630365"/>
            <a:chOff x="825538" y="2769778"/>
            <a:chExt cx="4281317" cy="1630365"/>
          </a:xfrm>
        </p:grpSpPr>
        <p:sp>
          <p:nvSpPr>
            <p:cNvPr id="381" name="AutoShape 149"/>
            <p:cNvSpPr>
              <a:spLocks noChangeArrowheads="1"/>
            </p:cNvSpPr>
            <p:nvPr/>
          </p:nvSpPr>
          <p:spPr bwMode="auto">
            <a:xfrm>
              <a:off x="2555876" y="3118255"/>
              <a:ext cx="2535238" cy="1166446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prstDash val="sysDot"/>
              <a:round/>
              <a:headEnd/>
              <a:tailEnd type="none" w="sm" len="sm"/>
            </a:ln>
            <a:effectLst/>
          </p:spPr>
          <p:txBody>
            <a:bodyPr lIns="0" tIns="35995" rIns="0" bIns="45714" anchor="ctr"/>
            <a:lstStyle/>
            <a:p>
              <a:pPr>
                <a:spcAft>
                  <a:spcPct val="0"/>
                </a:spcAft>
              </a:pPr>
              <a:endParaRPr lang="ko-KR" altLang="en-US" sz="800">
                <a:solidFill>
                  <a:prstClr val="black"/>
                </a:solidFill>
              </a:endParaRPr>
            </a:p>
          </p:txBody>
        </p:sp>
        <p:cxnSp>
          <p:nvCxnSpPr>
            <p:cNvPr id="382" name="AutoShape 160"/>
            <p:cNvCxnSpPr>
              <a:cxnSpLocks noChangeShapeType="1"/>
              <a:stCxn id="387" idx="3"/>
              <a:endCxn id="389" idx="1"/>
            </p:cNvCxnSpPr>
            <p:nvPr/>
          </p:nvCxnSpPr>
          <p:spPr bwMode="auto">
            <a:xfrm>
              <a:off x="3296797" y="3648816"/>
              <a:ext cx="160927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AutoShape 161"/>
            <p:cNvCxnSpPr>
              <a:cxnSpLocks noChangeShapeType="1"/>
              <a:stCxn id="388" idx="3"/>
              <a:endCxn id="390" idx="1"/>
            </p:cNvCxnSpPr>
            <p:nvPr/>
          </p:nvCxnSpPr>
          <p:spPr bwMode="auto">
            <a:xfrm>
              <a:off x="3296797" y="3960671"/>
              <a:ext cx="160927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AutoShape 162"/>
            <p:cNvCxnSpPr>
              <a:cxnSpLocks noChangeShapeType="1"/>
              <a:stCxn id="389" idx="3"/>
              <a:endCxn id="391" idx="1"/>
            </p:cNvCxnSpPr>
            <p:nvPr/>
          </p:nvCxnSpPr>
          <p:spPr bwMode="auto">
            <a:xfrm>
              <a:off x="4141724" y="3648816"/>
              <a:ext cx="160926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AutoShape 163"/>
            <p:cNvCxnSpPr>
              <a:cxnSpLocks noChangeShapeType="1"/>
              <a:stCxn id="390" idx="3"/>
              <a:endCxn id="392" idx="1"/>
            </p:cNvCxnSpPr>
            <p:nvPr/>
          </p:nvCxnSpPr>
          <p:spPr bwMode="auto">
            <a:xfrm>
              <a:off x="4141724" y="3960671"/>
              <a:ext cx="160926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6" name="AutoShape 172"/>
            <p:cNvSpPr>
              <a:spLocks noChangeArrowheads="1"/>
            </p:cNvSpPr>
            <p:nvPr/>
          </p:nvSpPr>
          <p:spPr bwMode="auto">
            <a:xfrm>
              <a:off x="2612797" y="3226948"/>
              <a:ext cx="684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</p:spPr>
          <p:txBody>
            <a:bodyPr lIns="54000" tIns="35995" rIns="54000" bIns="45714" anchor="ctr"/>
            <a:lstStyle/>
            <a:p>
              <a:pPr algn="ctr">
                <a:spcAft>
                  <a:spcPct val="0"/>
                </a:spcAft>
              </a:pPr>
              <a:r>
                <a:rPr lang="ko-KR" altLang="en-US" sz="800" dirty="0">
                  <a:solidFill>
                    <a:prstClr val="black"/>
                  </a:solidFill>
                </a:rPr>
                <a:t>주제 영역</a:t>
              </a:r>
            </a:p>
          </p:txBody>
        </p:sp>
        <p:sp>
          <p:nvSpPr>
            <p:cNvPr id="387" name="AutoShape 173"/>
            <p:cNvSpPr>
              <a:spLocks noChangeArrowheads="1"/>
            </p:cNvSpPr>
            <p:nvPr/>
          </p:nvSpPr>
          <p:spPr bwMode="auto">
            <a:xfrm>
              <a:off x="2612797" y="3540816"/>
              <a:ext cx="684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</p:spPr>
          <p:txBody>
            <a:bodyPr lIns="54000" tIns="35995" rIns="54000" bIns="45714" anchor="ctr"/>
            <a:lstStyle/>
            <a:p>
              <a:pPr algn="ctr">
                <a:spcAft>
                  <a:spcPct val="0"/>
                </a:spcAft>
              </a:pPr>
              <a:r>
                <a:rPr lang="ko-KR" altLang="en-US" sz="800" dirty="0" err="1">
                  <a:solidFill>
                    <a:prstClr val="black"/>
                  </a:solidFill>
                </a:rPr>
                <a:t>엔티티타입</a:t>
              </a:r>
              <a:endParaRPr lang="ko-KR" altLang="en-US" sz="800" dirty="0">
                <a:solidFill>
                  <a:prstClr val="black"/>
                </a:solidFill>
              </a:endParaRPr>
            </a:p>
          </p:txBody>
        </p:sp>
        <p:sp>
          <p:nvSpPr>
            <p:cNvPr id="388" name="AutoShape 174"/>
            <p:cNvSpPr>
              <a:spLocks noChangeArrowheads="1"/>
            </p:cNvSpPr>
            <p:nvPr/>
          </p:nvSpPr>
          <p:spPr bwMode="auto">
            <a:xfrm>
              <a:off x="2612797" y="3852671"/>
              <a:ext cx="684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</p:spPr>
          <p:txBody>
            <a:bodyPr lIns="54000" tIns="35995" rIns="54000" bIns="45714" anchor="ctr"/>
            <a:lstStyle/>
            <a:p>
              <a:pPr algn="ctr">
                <a:spcAft>
                  <a:spcPct val="0"/>
                </a:spcAft>
              </a:pPr>
              <a:r>
                <a:rPr lang="ko-KR" altLang="en-US" sz="800" dirty="0" err="1">
                  <a:solidFill>
                    <a:prstClr val="black"/>
                  </a:solidFill>
                </a:rPr>
                <a:t>어트리뷰트</a:t>
              </a:r>
              <a:endParaRPr lang="ko-KR" altLang="en-US" sz="800" dirty="0">
                <a:solidFill>
                  <a:prstClr val="black"/>
                </a:solidFill>
              </a:endParaRPr>
            </a:p>
          </p:txBody>
        </p:sp>
        <p:sp>
          <p:nvSpPr>
            <p:cNvPr id="389" name="AutoShape 175"/>
            <p:cNvSpPr>
              <a:spLocks noChangeArrowheads="1"/>
            </p:cNvSpPr>
            <p:nvPr/>
          </p:nvSpPr>
          <p:spPr bwMode="auto">
            <a:xfrm>
              <a:off x="3457724" y="3540816"/>
              <a:ext cx="684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</p:spPr>
          <p:txBody>
            <a:bodyPr lIns="54000" tIns="35995" rIns="54000" bIns="45714" anchor="ctr"/>
            <a:lstStyle/>
            <a:p>
              <a:pPr algn="ctr">
                <a:spcAft>
                  <a:spcPct val="0"/>
                </a:spcAft>
              </a:pPr>
              <a:r>
                <a:rPr lang="ko-KR" altLang="en-US" sz="800" dirty="0">
                  <a:solidFill>
                    <a:prstClr val="black"/>
                  </a:solidFill>
                </a:rPr>
                <a:t>테이블</a:t>
              </a:r>
            </a:p>
          </p:txBody>
        </p:sp>
        <p:sp>
          <p:nvSpPr>
            <p:cNvPr id="390" name="AutoShape 176"/>
            <p:cNvSpPr>
              <a:spLocks noChangeArrowheads="1"/>
            </p:cNvSpPr>
            <p:nvPr/>
          </p:nvSpPr>
          <p:spPr bwMode="auto">
            <a:xfrm>
              <a:off x="3457724" y="3852671"/>
              <a:ext cx="684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</p:spPr>
          <p:txBody>
            <a:bodyPr lIns="54000" tIns="35995" rIns="54000" bIns="45714" anchor="ctr"/>
            <a:lstStyle/>
            <a:p>
              <a:pPr algn="ctr">
                <a:spcAft>
                  <a:spcPct val="0"/>
                </a:spcAft>
              </a:pPr>
              <a:r>
                <a:rPr lang="ko-KR" altLang="en-US" sz="800" dirty="0" err="1">
                  <a:solidFill>
                    <a:prstClr val="black"/>
                  </a:solidFill>
                </a:rPr>
                <a:t>컬럼</a:t>
              </a:r>
              <a:endParaRPr lang="ko-KR" altLang="en-US" sz="800" dirty="0">
                <a:solidFill>
                  <a:prstClr val="black"/>
                </a:solidFill>
              </a:endParaRPr>
            </a:p>
          </p:txBody>
        </p:sp>
        <p:sp>
          <p:nvSpPr>
            <p:cNvPr id="391" name="AutoShape 177"/>
            <p:cNvSpPr>
              <a:spLocks noChangeArrowheads="1"/>
            </p:cNvSpPr>
            <p:nvPr/>
          </p:nvSpPr>
          <p:spPr bwMode="auto">
            <a:xfrm>
              <a:off x="4302650" y="3540816"/>
              <a:ext cx="684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</p:spPr>
          <p:txBody>
            <a:bodyPr lIns="54000" tIns="35995" rIns="54000" bIns="45714" anchor="ctr"/>
            <a:lstStyle/>
            <a:p>
              <a:pPr algn="ctr">
                <a:spcAft>
                  <a:spcPct val="0"/>
                </a:spcAft>
              </a:pPr>
              <a:r>
                <a:rPr lang="ko-KR" altLang="en-US" sz="800" dirty="0">
                  <a:solidFill>
                    <a:prstClr val="black"/>
                  </a:solidFill>
                </a:rPr>
                <a:t>테이블</a:t>
              </a:r>
            </a:p>
          </p:txBody>
        </p:sp>
        <p:sp>
          <p:nvSpPr>
            <p:cNvPr id="392" name="AutoShape 178"/>
            <p:cNvSpPr>
              <a:spLocks noChangeArrowheads="1"/>
            </p:cNvSpPr>
            <p:nvPr/>
          </p:nvSpPr>
          <p:spPr bwMode="auto">
            <a:xfrm>
              <a:off x="4302650" y="3852671"/>
              <a:ext cx="684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</p:spPr>
          <p:txBody>
            <a:bodyPr lIns="54000" tIns="35995" rIns="54000" bIns="45714" anchor="ctr"/>
            <a:lstStyle/>
            <a:p>
              <a:pPr algn="ctr">
                <a:spcAft>
                  <a:spcPct val="0"/>
                </a:spcAft>
              </a:pPr>
              <a:r>
                <a:rPr lang="ko-KR" altLang="en-US" sz="800" dirty="0" err="1">
                  <a:solidFill>
                    <a:prstClr val="black"/>
                  </a:solidFill>
                </a:rPr>
                <a:t>컬럼</a:t>
              </a:r>
              <a:endParaRPr lang="ko-KR" altLang="en-US" sz="800" dirty="0">
                <a:solidFill>
                  <a:prstClr val="black"/>
                </a:solidFill>
              </a:endParaRPr>
            </a:p>
          </p:txBody>
        </p:sp>
        <p:sp>
          <p:nvSpPr>
            <p:cNvPr id="393" name="AutoShape 148"/>
            <p:cNvSpPr>
              <a:spLocks noChangeArrowheads="1"/>
            </p:cNvSpPr>
            <p:nvPr/>
          </p:nvSpPr>
          <p:spPr bwMode="auto">
            <a:xfrm>
              <a:off x="838200" y="3118255"/>
              <a:ext cx="1659500" cy="1166446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prstDash val="sysDot"/>
              <a:round/>
              <a:headEnd/>
              <a:tailEnd type="none" w="sm" len="sm"/>
            </a:ln>
            <a:effectLst/>
          </p:spPr>
          <p:txBody>
            <a:bodyPr lIns="0" tIns="35995" rIns="0" bIns="45714" anchor="ctr"/>
            <a:lstStyle/>
            <a:p>
              <a:pPr>
                <a:spcAft>
                  <a:spcPct val="0"/>
                </a:spcAft>
              </a:pPr>
              <a:endParaRPr lang="ko-KR" altLang="en-US" sz="800">
                <a:solidFill>
                  <a:prstClr val="black"/>
                </a:solidFill>
              </a:endParaRPr>
            </a:p>
          </p:txBody>
        </p:sp>
        <p:sp>
          <p:nvSpPr>
            <p:cNvPr id="394" name="Text Box 150"/>
            <p:cNvSpPr txBox="1">
              <a:spLocks noChangeArrowheads="1"/>
            </p:cNvSpPr>
            <p:nvPr/>
          </p:nvSpPr>
          <p:spPr bwMode="auto">
            <a:xfrm>
              <a:off x="1191578" y="4184143"/>
              <a:ext cx="986082" cy="216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81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</a:rPr>
                <a:t>표준사전 개발</a:t>
              </a:r>
              <a:r>
                <a:rPr lang="en-US" altLang="ko-KR" sz="800" dirty="0">
                  <a:solidFill>
                    <a:prstClr val="black"/>
                  </a:solidFill>
                </a:rPr>
                <a:t>/</a:t>
              </a:r>
              <a:r>
                <a:rPr lang="ko-KR" altLang="en-US" sz="800" dirty="0">
                  <a:solidFill>
                    <a:prstClr val="black"/>
                  </a:solidFill>
                </a:rPr>
                <a:t>적용</a:t>
              </a:r>
            </a:p>
          </p:txBody>
        </p:sp>
        <p:cxnSp>
          <p:nvCxnSpPr>
            <p:cNvPr id="395" name="AutoShape 164"/>
            <p:cNvCxnSpPr>
              <a:cxnSpLocks noChangeShapeType="1"/>
              <a:stCxn id="396" idx="3"/>
              <a:endCxn id="397" idx="1"/>
            </p:cNvCxnSpPr>
            <p:nvPr/>
          </p:nvCxnSpPr>
          <p:spPr bwMode="auto">
            <a:xfrm>
              <a:off x="1606943" y="3647614"/>
              <a:ext cx="160927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6" name="AutoShape 167"/>
            <p:cNvSpPr>
              <a:spLocks noChangeArrowheads="1"/>
            </p:cNvSpPr>
            <p:nvPr/>
          </p:nvSpPr>
          <p:spPr bwMode="auto">
            <a:xfrm>
              <a:off x="922943" y="3539614"/>
              <a:ext cx="684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</p:spPr>
          <p:txBody>
            <a:bodyPr lIns="54000" tIns="35995" rIns="54000" bIns="45714" anchor="ctr"/>
            <a:lstStyle/>
            <a:p>
              <a:pPr algn="ctr">
                <a:spcAft>
                  <a:spcPct val="0"/>
                </a:spcAft>
              </a:pPr>
              <a:r>
                <a:rPr lang="ko-KR" altLang="en-US" sz="800" dirty="0">
                  <a:solidFill>
                    <a:prstClr val="black"/>
                  </a:solidFill>
                </a:rPr>
                <a:t>명명규칙</a:t>
              </a:r>
            </a:p>
          </p:txBody>
        </p:sp>
        <p:sp>
          <p:nvSpPr>
            <p:cNvPr id="397" name="AutoShape 169"/>
            <p:cNvSpPr>
              <a:spLocks noChangeArrowheads="1"/>
            </p:cNvSpPr>
            <p:nvPr/>
          </p:nvSpPr>
          <p:spPr bwMode="auto">
            <a:xfrm>
              <a:off x="1767870" y="3539614"/>
              <a:ext cx="684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</p:spPr>
          <p:txBody>
            <a:bodyPr lIns="54000" tIns="35995" rIns="54000" bIns="45714" anchor="ctr"/>
            <a:lstStyle/>
            <a:p>
              <a:pPr algn="ctr">
                <a:spcAft>
                  <a:spcPct val="0"/>
                </a:spcAft>
              </a:pPr>
              <a:r>
                <a:rPr lang="ko-KR" altLang="en-US" sz="800" dirty="0">
                  <a:solidFill>
                    <a:prstClr val="black"/>
                  </a:solidFill>
                </a:rPr>
                <a:t>표준용어</a:t>
              </a:r>
            </a:p>
          </p:txBody>
        </p:sp>
        <p:sp>
          <p:nvSpPr>
            <p:cNvPr id="398" name="AutoShape 171"/>
            <p:cNvSpPr>
              <a:spLocks noChangeArrowheads="1"/>
            </p:cNvSpPr>
            <p:nvPr/>
          </p:nvSpPr>
          <p:spPr bwMode="auto">
            <a:xfrm>
              <a:off x="922943" y="3852671"/>
              <a:ext cx="684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</p:spPr>
          <p:txBody>
            <a:bodyPr lIns="54000" tIns="35995" rIns="54000" bIns="45714" anchor="ctr"/>
            <a:lstStyle/>
            <a:p>
              <a:pPr algn="ctr">
                <a:spcAft>
                  <a:spcPct val="0"/>
                </a:spcAft>
              </a:pPr>
              <a:r>
                <a:rPr lang="ko-KR" altLang="en-US" sz="800" dirty="0">
                  <a:solidFill>
                    <a:prstClr val="black"/>
                  </a:solidFill>
                </a:rPr>
                <a:t>도메인 표준</a:t>
              </a:r>
            </a:p>
          </p:txBody>
        </p:sp>
        <p:cxnSp>
          <p:nvCxnSpPr>
            <p:cNvPr id="399" name="AutoShape 155"/>
            <p:cNvCxnSpPr>
              <a:cxnSpLocks noChangeShapeType="1"/>
              <a:stCxn id="397" idx="3"/>
              <a:endCxn id="386" idx="1"/>
            </p:cNvCxnSpPr>
            <p:nvPr/>
          </p:nvCxnSpPr>
          <p:spPr bwMode="auto">
            <a:xfrm flipV="1">
              <a:off x="2451870" y="3334948"/>
              <a:ext cx="160927" cy="31266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AutoShape 156"/>
            <p:cNvCxnSpPr>
              <a:cxnSpLocks noChangeShapeType="1"/>
              <a:stCxn id="397" idx="3"/>
              <a:endCxn id="387" idx="1"/>
            </p:cNvCxnSpPr>
            <p:nvPr/>
          </p:nvCxnSpPr>
          <p:spPr bwMode="auto">
            <a:xfrm>
              <a:off x="2451870" y="3647614"/>
              <a:ext cx="160927" cy="1202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AutoShape 157"/>
            <p:cNvCxnSpPr>
              <a:cxnSpLocks noChangeShapeType="1"/>
              <a:stCxn id="397" idx="3"/>
              <a:endCxn id="388" idx="1"/>
            </p:cNvCxnSpPr>
            <p:nvPr/>
          </p:nvCxnSpPr>
          <p:spPr bwMode="auto">
            <a:xfrm>
              <a:off x="2451870" y="3647614"/>
              <a:ext cx="160927" cy="313057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AutoShape 159"/>
            <p:cNvCxnSpPr>
              <a:cxnSpLocks noChangeShapeType="1"/>
              <a:stCxn id="398" idx="3"/>
              <a:endCxn id="388" idx="1"/>
            </p:cNvCxnSpPr>
            <p:nvPr/>
          </p:nvCxnSpPr>
          <p:spPr bwMode="auto">
            <a:xfrm>
              <a:off x="1606943" y="3960671"/>
              <a:ext cx="1005854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3" name="AutoShape 149"/>
            <p:cNvSpPr>
              <a:spLocks noChangeArrowheads="1"/>
            </p:cNvSpPr>
            <p:nvPr/>
          </p:nvSpPr>
          <p:spPr bwMode="auto">
            <a:xfrm>
              <a:off x="3386138" y="3060530"/>
              <a:ext cx="823912" cy="1153513"/>
            </a:xfrm>
            <a:prstGeom prst="rect">
              <a:avLst/>
            </a:prstGeom>
            <a:noFill/>
            <a:ln w="12700" algn="ctr">
              <a:solidFill>
                <a:schemeClr val="bg1">
                  <a:lumMod val="75000"/>
                </a:schemeClr>
              </a:solidFill>
              <a:prstDash val="sysDot"/>
              <a:round/>
              <a:headEnd/>
              <a:tailEnd type="none" w="sm" len="sm"/>
            </a:ln>
            <a:effectLst/>
          </p:spPr>
          <p:txBody>
            <a:bodyPr lIns="0" tIns="35995" rIns="0" bIns="45714" anchor="ctr"/>
            <a:lstStyle/>
            <a:p>
              <a:pPr>
                <a:spcAft>
                  <a:spcPct val="0"/>
                </a:spcAft>
              </a:pPr>
              <a:endParaRPr lang="ko-KR" altLang="en-US" sz="800">
                <a:solidFill>
                  <a:prstClr val="black"/>
                </a:solidFill>
              </a:endParaRPr>
            </a:p>
          </p:txBody>
        </p:sp>
        <p:sp>
          <p:nvSpPr>
            <p:cNvPr id="404" name="Text Box 151"/>
            <p:cNvSpPr txBox="1">
              <a:spLocks noChangeArrowheads="1"/>
            </p:cNvSpPr>
            <p:nvPr/>
          </p:nvSpPr>
          <p:spPr bwMode="auto">
            <a:xfrm>
              <a:off x="3323380" y="4184143"/>
              <a:ext cx="943170" cy="216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381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algn="ctr">
                <a:defRPr sz="700">
                  <a:solidFill>
                    <a:prstClr val="white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cs typeface="Arial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800" dirty="0"/>
                <a:t>표준 적용 및 활용</a:t>
              </a:r>
            </a:p>
          </p:txBody>
        </p:sp>
        <p:grpSp>
          <p:nvGrpSpPr>
            <p:cNvPr id="405" name="그룹 126"/>
            <p:cNvGrpSpPr/>
            <p:nvPr/>
          </p:nvGrpSpPr>
          <p:grpSpPr>
            <a:xfrm>
              <a:off x="825538" y="2769778"/>
              <a:ext cx="4281317" cy="356228"/>
              <a:chOff x="511266" y="4347934"/>
              <a:chExt cx="8835934" cy="394971"/>
            </a:xfrm>
          </p:grpSpPr>
          <p:sp>
            <p:nvSpPr>
              <p:cNvPr id="409" name="직사각형 408"/>
              <p:cNvSpPr/>
              <p:nvPr/>
            </p:nvSpPr>
            <p:spPr>
              <a:xfrm>
                <a:off x="7428934" y="4347934"/>
                <a:ext cx="1918266" cy="39496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22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08000" rIns="72000" bIns="108000"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  <a:cs typeface="Arial" charset="0"/>
                  </a:rPr>
                  <a:t>데이터베이스</a:t>
                </a:r>
                <a:endPara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cs typeface="Arial" charset="0"/>
                </a:endParaRPr>
              </a:p>
              <a:p>
                <a:pPr algn="ctr"/>
                <a:r>
                  <a:rPr lang="ko-KR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  <a:cs typeface="Arial" charset="0"/>
                  </a:rPr>
                  <a:t>생성</a:t>
                </a:r>
              </a:p>
            </p:txBody>
          </p:sp>
          <p:sp>
            <p:nvSpPr>
              <p:cNvPr id="410" name="오각형 409"/>
              <p:cNvSpPr/>
              <p:nvPr/>
            </p:nvSpPr>
            <p:spPr>
              <a:xfrm>
                <a:off x="511266" y="4347939"/>
                <a:ext cx="2022115" cy="394966"/>
              </a:xfrm>
              <a:prstGeom prst="homePlate">
                <a:avLst>
                  <a:gd name="adj" fmla="val 29895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222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tIns="36000" bIns="36000"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규칙</a:t>
                </a:r>
                <a:r>
                  <a:rPr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/</a:t>
                </a:r>
                <a:r>
                  <a:rPr lang="ko-KR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정책</a:t>
                </a:r>
                <a:endPara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endParaRPr>
              </a:p>
              <a:p>
                <a:pPr algn="ctr"/>
                <a:r>
                  <a:rPr lang="ko-KR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제정</a:t>
                </a:r>
              </a:p>
            </p:txBody>
          </p:sp>
          <p:sp>
            <p:nvSpPr>
              <p:cNvPr id="411" name="갈매기형 수장 410"/>
              <p:cNvSpPr/>
              <p:nvPr/>
            </p:nvSpPr>
            <p:spPr>
              <a:xfrm>
                <a:off x="2272503" y="4347938"/>
                <a:ext cx="1977554" cy="394967"/>
              </a:xfrm>
              <a:prstGeom prst="chevron">
                <a:avLst>
                  <a:gd name="adj" fmla="val 32517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22225">
                <a:solidFill>
                  <a:schemeClr val="bg1"/>
                </a:solidFill>
              </a:ln>
            </p:spPr>
            <p:txBody>
              <a:bodyPr vert="horz" lIns="0" rIns="0"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표준항목</a:t>
                </a:r>
                <a:endPara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endParaRPr>
              </a:p>
              <a:p>
                <a:pPr algn="ctr"/>
                <a:r>
                  <a:rPr lang="ko-KR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개발</a:t>
                </a:r>
              </a:p>
            </p:txBody>
          </p:sp>
          <p:sp>
            <p:nvSpPr>
              <p:cNvPr id="412" name="갈매기형 수장 411"/>
              <p:cNvSpPr/>
              <p:nvPr/>
            </p:nvSpPr>
            <p:spPr>
              <a:xfrm>
                <a:off x="3989179" y="4347938"/>
                <a:ext cx="1975667" cy="394967"/>
              </a:xfrm>
              <a:prstGeom prst="chevron">
                <a:avLst>
                  <a:gd name="adj" fmla="val 31643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22225">
                <a:solidFill>
                  <a:schemeClr val="bg1"/>
                </a:solidFill>
              </a:ln>
            </p:spPr>
            <p:txBody>
              <a:bodyPr vert="horz" lIns="0" rIns="0" rtlCol="0" anchor="ctr"/>
              <a:lstStyle/>
              <a:p>
                <a:pPr algn="ctr">
                  <a:tabLst>
                    <a:tab pos="266700" algn="l"/>
                  </a:tabLst>
                </a:pPr>
                <a:r>
                  <a:rPr lang="ko-KR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논리모델링</a:t>
                </a:r>
                <a:endPara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endParaRPr>
              </a:p>
              <a:p>
                <a:pPr algn="ctr">
                  <a:tabLst>
                    <a:tab pos="266700" algn="l"/>
                  </a:tabLst>
                </a:pPr>
                <a:r>
                  <a:rPr lang="ko-KR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적용</a:t>
                </a:r>
              </a:p>
            </p:txBody>
          </p:sp>
          <p:sp>
            <p:nvSpPr>
              <p:cNvPr id="413" name="갈매기형 수장 412"/>
              <p:cNvSpPr/>
              <p:nvPr/>
            </p:nvSpPr>
            <p:spPr>
              <a:xfrm>
                <a:off x="5703967" y="4347938"/>
                <a:ext cx="1985843" cy="394967"/>
              </a:xfrm>
              <a:prstGeom prst="chevron">
                <a:avLst>
                  <a:gd name="adj" fmla="val 31643"/>
                </a:avLst>
              </a:prstGeom>
              <a:solidFill>
                <a:schemeClr val="accent3">
                  <a:lumMod val="75000"/>
                </a:schemeClr>
              </a:solidFill>
              <a:ln w="22225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900" dirty="0">
                    <a:solidFill>
                      <a:prstClr val="white"/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  <a:cs typeface="Arial" charset="0"/>
                  </a:rPr>
                  <a:t>물리모델링</a:t>
                </a:r>
                <a:endParaRPr lang="en-US" altLang="ko-KR" sz="900" dirty="0">
                  <a:solidFill>
                    <a:prstClr val="white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cs typeface="Arial" charset="0"/>
                </a:endParaRPr>
              </a:p>
              <a:p>
                <a:pPr algn="ctr"/>
                <a:r>
                  <a:rPr lang="ko-KR" altLang="en-US" sz="900" dirty="0">
                    <a:solidFill>
                      <a:prstClr val="white"/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  <a:cs typeface="Arial" charset="0"/>
                  </a:rPr>
                  <a:t>적용</a:t>
                </a:r>
              </a:p>
            </p:txBody>
          </p:sp>
        </p:grpSp>
        <p:grpSp>
          <p:nvGrpSpPr>
            <p:cNvPr id="406" name="그룹 405"/>
            <p:cNvGrpSpPr/>
            <p:nvPr/>
          </p:nvGrpSpPr>
          <p:grpSpPr>
            <a:xfrm>
              <a:off x="2021725" y="3964911"/>
              <a:ext cx="420898" cy="384998"/>
              <a:chOff x="5398983" y="3194457"/>
              <a:chExt cx="483386" cy="442154"/>
            </a:xfrm>
          </p:grpSpPr>
          <p:pic>
            <p:nvPicPr>
              <p:cNvPr id="407" name="그림 406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8710" y="3194457"/>
                <a:ext cx="463659" cy="442154"/>
              </a:xfrm>
              <a:prstGeom prst="rect">
                <a:avLst/>
              </a:prstGeom>
            </p:spPr>
          </p:pic>
          <p:sp>
            <p:nvSpPr>
              <p:cNvPr id="408" name="TextBox 407"/>
              <p:cNvSpPr txBox="1"/>
              <p:nvPr/>
            </p:nvSpPr>
            <p:spPr>
              <a:xfrm>
                <a:off x="5398983" y="3275630"/>
                <a:ext cx="477185" cy="26547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ko-KR" altLang="en-US" sz="1000" dirty="0">
                    <a:gradFill>
                      <a:gsLst>
                        <a:gs pos="5833">
                          <a:prstClr val="white"/>
                        </a:gs>
                        <a:gs pos="12917">
                          <a:prstClr val="white"/>
                        </a:gs>
                      </a:gsLst>
                      <a:lin ang="5400000" scaled="0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ea"/>
                    <a:ea typeface="+mj-ea"/>
                  </a:rPr>
                  <a:t>신규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3700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모서리가 둥근 직사각형 85"/>
          <p:cNvSpPr/>
          <p:nvPr/>
        </p:nvSpPr>
        <p:spPr>
          <a:xfrm>
            <a:off x="735261" y="1610362"/>
            <a:ext cx="9219952" cy="5315539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tIns="792000" rtlCol="0" anchor="t"/>
          <a:lstStyle/>
          <a:p>
            <a:pPr marL="0" marR="0" lvl="0" indent="0" algn="ctr" defTabSz="9577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800" b="0" i="0" u="none" strike="noStrike" kern="0" cap="none" spc="-3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ix고딕 B"/>
              <a:ea typeface="Rix고딕 B"/>
              <a:cs typeface="+mn-cs"/>
              <a:sym typeface="Wingdings" pitchFamily="2" charset="2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969457" y="2574059"/>
            <a:ext cx="4555961" cy="3992200"/>
            <a:chOff x="746035" y="3091882"/>
            <a:chExt cx="3793480" cy="1682033"/>
          </a:xfrm>
        </p:grpSpPr>
        <p:sp>
          <p:nvSpPr>
            <p:cNvPr id="99" name="Rectangle 55"/>
            <p:cNvSpPr>
              <a:spLocks noChangeArrowheads="1"/>
            </p:cNvSpPr>
            <p:nvPr/>
          </p:nvSpPr>
          <p:spPr bwMode="auto">
            <a:xfrm>
              <a:off x="746035" y="3091882"/>
              <a:ext cx="3793480" cy="16820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rnd" algn="ctr">
                  <a:solidFill>
                    <a:srgbClr val="FF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000">
                <a:latin typeface="Rix모던고딕 L" pitchFamily="18" charset="-127"/>
                <a:ea typeface="Rix모던고딕 L" pitchFamily="18" charset="-127"/>
              </a:endParaRPr>
            </a:p>
          </p:txBody>
        </p:sp>
        <p:sp>
          <p:nvSpPr>
            <p:cNvPr id="101" name="Rectangle 72"/>
            <p:cNvSpPr>
              <a:spLocks noChangeArrowheads="1"/>
            </p:cNvSpPr>
            <p:nvPr/>
          </p:nvSpPr>
          <p:spPr bwMode="auto">
            <a:xfrm>
              <a:off x="1947467" y="3121902"/>
              <a:ext cx="2544011" cy="16219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rnd" algn="ctr">
                  <a:solidFill>
                    <a:srgbClr val="FF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71450" indent="-171450" fontAlgn="auto" latinLnBrk="0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969696"/>
                </a:buClr>
                <a:buSzPts val="800"/>
                <a:buFont typeface="Wingdings" panose="05000000000000000000" pitchFamily="2" charset="2"/>
                <a:buChar char="§"/>
                <a:defRPr/>
              </a:pPr>
              <a:endParaRPr lang="ko-KR" altLang="en-US" sz="10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굴림" pitchFamily="50" charset="-127"/>
              </a:endParaRPr>
            </a:p>
          </p:txBody>
        </p:sp>
      </p:grpSp>
      <p:sp>
        <p:nvSpPr>
          <p:cNvPr id="87" name="직사각형 228"/>
          <p:cNvSpPr/>
          <p:nvPr/>
        </p:nvSpPr>
        <p:spPr bwMode="auto">
          <a:xfrm>
            <a:off x="735261" y="1610362"/>
            <a:ext cx="2331789" cy="332619"/>
          </a:xfrm>
          <a:custGeom>
            <a:avLst/>
            <a:gdLst>
              <a:gd name="connsiteX0" fmla="*/ 0 w 3202842"/>
              <a:gd name="connsiteY0" fmla="*/ 0 h 332619"/>
              <a:gd name="connsiteX1" fmla="*/ 3202842 w 3202842"/>
              <a:gd name="connsiteY1" fmla="*/ 0 h 332619"/>
              <a:gd name="connsiteX2" fmla="*/ 3202842 w 3202842"/>
              <a:gd name="connsiteY2" fmla="*/ 332619 h 332619"/>
              <a:gd name="connsiteX3" fmla="*/ 0 w 3202842"/>
              <a:gd name="connsiteY3" fmla="*/ 332619 h 332619"/>
              <a:gd name="connsiteX4" fmla="*/ 0 w 3202842"/>
              <a:gd name="connsiteY4" fmla="*/ 0 h 332619"/>
              <a:gd name="connsiteX0" fmla="*/ 0 w 3461259"/>
              <a:gd name="connsiteY0" fmla="*/ 0 h 332619"/>
              <a:gd name="connsiteX1" fmla="*/ 3461259 w 3461259"/>
              <a:gd name="connsiteY1" fmla="*/ 0 h 332619"/>
              <a:gd name="connsiteX2" fmla="*/ 3202842 w 3461259"/>
              <a:gd name="connsiteY2" fmla="*/ 332619 h 332619"/>
              <a:gd name="connsiteX3" fmla="*/ 0 w 3461259"/>
              <a:gd name="connsiteY3" fmla="*/ 332619 h 332619"/>
              <a:gd name="connsiteX4" fmla="*/ 0 w 3461259"/>
              <a:gd name="connsiteY4" fmla="*/ 0 h 332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1259" h="332619">
                <a:moveTo>
                  <a:pt x="0" y="0"/>
                </a:moveTo>
                <a:lnTo>
                  <a:pt x="3461259" y="0"/>
                </a:lnTo>
                <a:lnTo>
                  <a:pt x="3202842" y="332619"/>
                </a:lnTo>
                <a:lnTo>
                  <a:pt x="0" y="3326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</a:ln>
          <a:effectLst>
            <a:outerShdw blurRad="63500" algn="ctr" rotWithShape="0">
              <a:prstClr val="black">
                <a:alpha val="47000"/>
              </a:prstClr>
            </a:outerShdw>
          </a:effectLst>
        </p:spPr>
        <p:txBody>
          <a:bodyPr wrap="square" lIns="0" tIns="0" rIns="0" bIns="0" rtlCol="0" anchor="ctr" anchorCtr="0">
            <a:noAutofit/>
          </a:bodyPr>
          <a:lstStyle/>
          <a:p>
            <a:pPr algn="ctr" defTabSz="1042990" latinLnBrk="0">
              <a:defRPr/>
            </a:pPr>
            <a:r>
              <a:rPr lang="en-US" altLang="ko-KR" sz="1600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SP </a:t>
            </a:r>
            <a:r>
              <a:rPr lang="ko-KR" altLang="en-US" sz="1600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전환 방안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3. </a:t>
            </a:r>
            <a:r>
              <a:rPr lang="ko-KR" altLang="en-US" sz="2000" dirty="0"/>
              <a:t>주요 개발 방안</a:t>
            </a:r>
            <a:r>
              <a:rPr lang="ko-KR" altLang="en-US" dirty="0"/>
              <a:t> </a:t>
            </a:r>
            <a:r>
              <a:rPr lang="en-US" altLang="ko-KR" dirty="0"/>
              <a:t>– SP </a:t>
            </a:r>
            <a:r>
              <a:rPr lang="ko-KR" altLang="en-US" dirty="0"/>
              <a:t>전환 방안</a:t>
            </a:r>
            <a:endParaRPr lang="en-US" altLang="ko-KR" dirty="0"/>
          </a:p>
        </p:txBody>
      </p:sp>
      <p:grpSp>
        <p:nvGrpSpPr>
          <p:cNvPr id="18" name="그룹 17"/>
          <p:cNvGrpSpPr/>
          <p:nvPr/>
        </p:nvGrpSpPr>
        <p:grpSpPr>
          <a:xfrm>
            <a:off x="5844857" y="2574059"/>
            <a:ext cx="3870186" cy="1566638"/>
            <a:chOff x="746035" y="3091882"/>
            <a:chExt cx="3793480" cy="1682033"/>
          </a:xfrm>
        </p:grpSpPr>
        <p:sp>
          <p:nvSpPr>
            <p:cNvPr id="231" name="Rectangle 55"/>
            <p:cNvSpPr>
              <a:spLocks noChangeArrowheads="1"/>
            </p:cNvSpPr>
            <p:nvPr/>
          </p:nvSpPr>
          <p:spPr bwMode="auto">
            <a:xfrm>
              <a:off x="746035" y="3091882"/>
              <a:ext cx="3793480" cy="1682033"/>
            </a:xfrm>
            <a:prstGeom prst="rect">
              <a:avLst/>
            </a:prstGeom>
            <a:solidFill>
              <a:srgbClr val="E2EC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rnd" algn="ctr">
                  <a:solidFill>
                    <a:srgbClr val="FF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000">
                <a:latin typeface="Rix모던고딕 L" pitchFamily="18" charset="-127"/>
                <a:ea typeface="Rix모던고딕 L" pitchFamily="18" charset="-127"/>
              </a:endParaRPr>
            </a:p>
          </p:txBody>
        </p:sp>
        <p:sp>
          <p:nvSpPr>
            <p:cNvPr id="233" name="Rectangle 72"/>
            <p:cNvSpPr>
              <a:spLocks noChangeArrowheads="1"/>
            </p:cNvSpPr>
            <p:nvPr/>
          </p:nvSpPr>
          <p:spPr bwMode="auto">
            <a:xfrm>
              <a:off x="800123" y="3153106"/>
              <a:ext cx="3685303" cy="15666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rnd" algn="ctr">
                  <a:solidFill>
                    <a:srgbClr val="FF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71450" indent="-171450" fontAlgn="auto" latinLnBrk="0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969696"/>
                </a:buClr>
                <a:buSzPts val="800"/>
                <a:buFont typeface="Wingdings" panose="05000000000000000000" pitchFamily="2" charset="2"/>
                <a:buChar char="§"/>
                <a:defRPr/>
              </a:pP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SP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를 대체하기 위해 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JAVA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로 개발되는 프로그램으로 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/>
              </a:r>
              <a:b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</a:b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아래와 같은 기반으로 구현</a:t>
              </a:r>
              <a:endParaRPr lang="en-US" altLang="ko-KR" sz="10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굴림" pitchFamily="50" charset="-127"/>
              </a:endParaRPr>
            </a:p>
            <a:p>
              <a:pPr marL="360363" indent="-92075" fontAlgn="auto" latinLnBrk="0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969696"/>
                </a:buClr>
                <a:buSzPts val="800"/>
                <a:defRPr/>
              </a:pP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  1. Spring framework MVC2 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모델 기반의 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JAVA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 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Controller</a:t>
              </a:r>
            </a:p>
            <a:p>
              <a:pPr marL="360363" indent="-92075" fontAlgn="auto" latinLnBrk="0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969696"/>
                </a:buClr>
                <a:buSzPts val="800"/>
                <a:defRPr/>
              </a:pP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  2. Query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는 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PostgreSQL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 종속성을 배제하여 표준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SQL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로 작성</a:t>
              </a:r>
              <a:endParaRPr lang="en-US" altLang="ko-KR" sz="10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굴림" pitchFamily="50" charset="-127"/>
              </a:endParaRPr>
            </a:p>
            <a:p>
              <a:pPr marL="360363" indent="-92075" fontAlgn="auto" latinLnBrk="0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969696"/>
                </a:buClr>
                <a:buSzPts val="800"/>
                <a:defRPr/>
              </a:pP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  3. 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검증을 위한 결과 비교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5844857" y="4982216"/>
            <a:ext cx="3870186" cy="1584044"/>
            <a:chOff x="746035" y="3248107"/>
            <a:chExt cx="2934426" cy="1682033"/>
          </a:xfrm>
        </p:grpSpPr>
        <p:sp>
          <p:nvSpPr>
            <p:cNvPr id="275" name="Rectangle 55"/>
            <p:cNvSpPr>
              <a:spLocks noChangeArrowheads="1"/>
            </p:cNvSpPr>
            <p:nvPr/>
          </p:nvSpPr>
          <p:spPr bwMode="auto">
            <a:xfrm>
              <a:off x="746035" y="3248107"/>
              <a:ext cx="2934426" cy="1682033"/>
            </a:xfrm>
            <a:prstGeom prst="rect">
              <a:avLst/>
            </a:prstGeom>
            <a:solidFill>
              <a:srgbClr val="E2EC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rnd" algn="ctr">
                  <a:solidFill>
                    <a:srgbClr val="FF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000">
                <a:latin typeface="Rix모던고딕 L" pitchFamily="18" charset="-127"/>
                <a:ea typeface="Rix모던고딕 L" pitchFamily="18" charset="-127"/>
              </a:endParaRPr>
            </a:p>
          </p:txBody>
        </p:sp>
        <p:sp>
          <p:nvSpPr>
            <p:cNvPr id="276" name="Rectangle 72"/>
            <p:cNvSpPr>
              <a:spLocks noChangeArrowheads="1"/>
            </p:cNvSpPr>
            <p:nvPr/>
          </p:nvSpPr>
          <p:spPr bwMode="auto">
            <a:xfrm>
              <a:off x="787875" y="3304440"/>
              <a:ext cx="2850746" cy="1571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rnd" algn="ctr">
                  <a:solidFill>
                    <a:srgbClr val="FF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000" dirty="0">
                <a:latin typeface="Rix모던고딕 L" pitchFamily="18" charset="-127"/>
                <a:ea typeface="Rix모던고딕 L" pitchFamily="18" charset="-127"/>
              </a:endParaRPr>
            </a:p>
          </p:txBody>
        </p:sp>
        <p:sp>
          <p:nvSpPr>
            <p:cNvPr id="323" name="Rectangle 58"/>
            <p:cNvSpPr>
              <a:spLocks noChangeArrowheads="1"/>
            </p:cNvSpPr>
            <p:nvPr/>
          </p:nvSpPr>
          <p:spPr bwMode="auto">
            <a:xfrm>
              <a:off x="862929" y="3414427"/>
              <a:ext cx="2721887" cy="133994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square" lIns="0" tIns="0" rIns="0" bIns="0">
              <a:spAutoFit/>
            </a:bodyPr>
            <a:lstStyle/>
            <a:p>
              <a:pPr marL="171450" indent="-171450" latinLnBrk="0">
                <a:lnSpc>
                  <a:spcPct val="120000"/>
                </a:lnSpc>
                <a:spcAft>
                  <a:spcPts val="300"/>
                </a:spcAft>
                <a:buClr>
                  <a:srgbClr val="969696"/>
                </a:buClr>
                <a:buSzPts val="800"/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소스 기반의 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2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단계 결과 검증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 </a:t>
              </a:r>
            </a:p>
            <a:p>
              <a:pPr marL="252000" lvl="1" latinLnBrk="0">
                <a:lnSpc>
                  <a:spcPct val="120000"/>
                </a:lnSpc>
                <a:spcAft>
                  <a:spcPts val="300"/>
                </a:spcAft>
                <a:buClr>
                  <a:srgbClr val="969696"/>
                </a:buClr>
                <a:buSzPts val="800"/>
                <a:defRPr/>
              </a:pP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① AS-IS DB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의 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SP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결과와 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TO-BE DB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의 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SP 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수행결과 비교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 </a:t>
              </a:r>
            </a:p>
            <a:p>
              <a:pPr marL="252000" lvl="1" latinLnBrk="0">
                <a:lnSpc>
                  <a:spcPct val="120000"/>
                </a:lnSpc>
                <a:spcAft>
                  <a:spcPts val="300"/>
                </a:spcAft>
                <a:buClr>
                  <a:srgbClr val="969696"/>
                </a:buClr>
                <a:buSzPts val="800"/>
                <a:defRPr/>
              </a:pP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② TO-BE DB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의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 SP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결과와 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JAVA 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결과 비교</a:t>
              </a:r>
              <a:endParaRPr lang="en-US" altLang="ko-KR" sz="10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4D4D4D"/>
                </a:solidFill>
                <a:latin typeface="+mn-ea"/>
                <a:cs typeface="굴림" pitchFamily="50" charset="-127"/>
              </a:endParaRPr>
            </a:p>
            <a:p>
              <a:pPr marL="171450" indent="-171450" latinLnBrk="0">
                <a:lnSpc>
                  <a:spcPct val="120000"/>
                </a:lnSpc>
                <a:spcAft>
                  <a:spcPts val="300"/>
                </a:spcAft>
                <a:buClr>
                  <a:srgbClr val="969696"/>
                </a:buClr>
                <a:buSzPts val="800"/>
                <a:buFont typeface="Wingdings" panose="05000000000000000000" pitchFamily="2" charset="2"/>
                <a:buChar char="§"/>
                <a:defRPr/>
              </a:pP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AS-IS 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와 </a:t>
              </a: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TO-BE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의 응용프로그램 기반의 결과 검증</a:t>
              </a:r>
              <a:endParaRPr lang="en-US" altLang="ko-KR" sz="10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4D4D4D"/>
                </a:solidFill>
                <a:latin typeface="+mn-ea"/>
                <a:cs typeface="굴림" pitchFamily="50" charset="-127"/>
              </a:endParaRPr>
            </a:p>
            <a:p>
              <a:pPr marL="432000" indent="-180000" latinLnBrk="0">
                <a:lnSpc>
                  <a:spcPct val="120000"/>
                </a:lnSpc>
                <a:spcAft>
                  <a:spcPts val="300"/>
                </a:spcAft>
                <a:buClr>
                  <a:srgbClr val="969696"/>
                </a:buClr>
                <a:buSzPts val="800"/>
                <a:defRPr/>
              </a:pPr>
              <a:r>
                <a:rPr lang="en-US" altLang="ko-KR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※ </a:t>
              </a:r>
              <a:r>
                <a:rPr lang="ko-KR" altLang="en-US" sz="100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+mn-ea"/>
                  <a:cs typeface="굴림" pitchFamily="50" charset="-127"/>
                </a:rPr>
                <a:t>응용프로그램 결과 검증은 동일한 데이터로 구성된 테스트 환경에서 검증</a:t>
              </a: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DC879B37-B38E-4949-9DA6-19CBF32E041E}"/>
              </a:ext>
            </a:extLst>
          </p:cNvPr>
          <p:cNvGrpSpPr/>
          <p:nvPr/>
        </p:nvGrpSpPr>
        <p:grpSpPr>
          <a:xfrm>
            <a:off x="954090" y="2206334"/>
            <a:ext cx="2979430" cy="266792"/>
            <a:chOff x="460373" y="2034191"/>
            <a:chExt cx="2760042" cy="241978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8F16B8A-8755-481D-8EC5-B0A556C564FA}"/>
                </a:ext>
              </a:extLst>
            </p:cNvPr>
            <p:cNvSpPr/>
            <p:nvPr/>
          </p:nvSpPr>
          <p:spPr>
            <a:xfrm>
              <a:off x="766386" y="2048360"/>
              <a:ext cx="2454029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defTabSz="995393" fontAlgn="base" latinLnBrk="0">
                <a:spcAft>
                  <a:spcPts val="163"/>
                </a:spcAft>
                <a:buClr>
                  <a:srgbClr val="8B8F9E"/>
                </a:buClr>
                <a:buSzPct val="100000"/>
                <a:tabLst>
                  <a:tab pos="1175468" algn="l"/>
                </a:tabLst>
                <a:defRPr/>
              </a:pPr>
              <a:r>
                <a:rPr lang="ko-KR" altLang="en-US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전환 절차</a:t>
              </a:r>
            </a:p>
          </p:txBody>
        </p:sp>
        <p:pic>
          <p:nvPicPr>
            <p:cNvPr id="90" name="Picture 3" descr="D:\19.전지수\1. 제안서\1. 표준제안\★2017_표준제안설명회\작업\버트2.png">
              <a:extLst>
                <a:ext uri="{FF2B5EF4-FFF2-40B4-BE49-F238E27FC236}">
                  <a16:creationId xmlns:a16="http://schemas.microsoft.com/office/drawing/2014/main" id="{ED7A0B1A-39B8-4AF8-8B73-0B71972853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373" y="2034191"/>
              <a:ext cx="255754" cy="2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DC879B37-B38E-4949-9DA6-19CBF32E041E}"/>
              </a:ext>
            </a:extLst>
          </p:cNvPr>
          <p:cNvGrpSpPr/>
          <p:nvPr/>
        </p:nvGrpSpPr>
        <p:grpSpPr>
          <a:xfrm>
            <a:off x="5844857" y="2206334"/>
            <a:ext cx="2979430" cy="266792"/>
            <a:chOff x="460373" y="2034191"/>
            <a:chExt cx="2760042" cy="241978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28F16B8A-8755-481D-8EC5-B0A556C564FA}"/>
                </a:ext>
              </a:extLst>
            </p:cNvPr>
            <p:cNvSpPr/>
            <p:nvPr/>
          </p:nvSpPr>
          <p:spPr>
            <a:xfrm>
              <a:off x="766386" y="2048360"/>
              <a:ext cx="2454029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defTabSz="995393" fontAlgn="base" latinLnBrk="0">
                <a:spcAft>
                  <a:spcPts val="163"/>
                </a:spcAft>
                <a:buClr>
                  <a:srgbClr val="8B8F9E"/>
                </a:buClr>
                <a:buSzPct val="100000"/>
                <a:tabLst>
                  <a:tab pos="1175468" algn="l"/>
                </a:tabLst>
                <a:defRPr/>
              </a:pPr>
              <a:r>
                <a:rPr lang="en-US" altLang="ko-KR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SP </a:t>
              </a:r>
              <a:r>
                <a:rPr lang="ko-KR" altLang="en-US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대체 프로그램 개발</a:t>
              </a:r>
            </a:p>
          </p:txBody>
        </p:sp>
        <p:pic>
          <p:nvPicPr>
            <p:cNvPr id="93" name="Picture 3" descr="D:\19.전지수\1. 제안서\1. 표준제안\★2017_표준제안설명회\작업\버트2.png">
              <a:extLst>
                <a:ext uri="{FF2B5EF4-FFF2-40B4-BE49-F238E27FC236}">
                  <a16:creationId xmlns:a16="http://schemas.microsoft.com/office/drawing/2014/main" id="{ED7A0B1A-39B8-4AF8-8B73-0B71972853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373" y="2034191"/>
              <a:ext cx="255754" cy="2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DC879B37-B38E-4949-9DA6-19CBF32E041E}"/>
              </a:ext>
            </a:extLst>
          </p:cNvPr>
          <p:cNvGrpSpPr/>
          <p:nvPr/>
        </p:nvGrpSpPr>
        <p:grpSpPr>
          <a:xfrm>
            <a:off x="5844857" y="4627045"/>
            <a:ext cx="2979430" cy="266792"/>
            <a:chOff x="460373" y="2034191"/>
            <a:chExt cx="2760042" cy="241978"/>
          </a:xfrm>
        </p:grpSpPr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28F16B8A-8755-481D-8EC5-B0A556C564FA}"/>
                </a:ext>
              </a:extLst>
            </p:cNvPr>
            <p:cNvSpPr/>
            <p:nvPr/>
          </p:nvSpPr>
          <p:spPr>
            <a:xfrm>
              <a:off x="766386" y="2048360"/>
              <a:ext cx="2454029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defTabSz="995393" fontAlgn="base" latinLnBrk="0">
                <a:spcAft>
                  <a:spcPts val="163"/>
                </a:spcAft>
                <a:buClr>
                  <a:srgbClr val="8B8F9E"/>
                </a:buClr>
                <a:buSzPct val="100000"/>
                <a:tabLst>
                  <a:tab pos="1175468" algn="l"/>
                </a:tabLst>
                <a:defRPr/>
              </a:pPr>
              <a:r>
                <a:rPr lang="en-US" altLang="ko-KR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SP </a:t>
              </a:r>
              <a:r>
                <a:rPr lang="ko-KR" altLang="en-US" sz="150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전환 결과 검증</a:t>
              </a:r>
            </a:p>
          </p:txBody>
        </p:sp>
        <p:pic>
          <p:nvPicPr>
            <p:cNvPr id="96" name="Picture 3" descr="D:\19.전지수\1. 제안서\1. 표준제안\★2017_표준제안설명회\작업\버트2.png">
              <a:extLst>
                <a:ext uri="{FF2B5EF4-FFF2-40B4-BE49-F238E27FC236}">
                  <a16:creationId xmlns:a16="http://schemas.microsoft.com/office/drawing/2014/main" id="{ED7A0B1A-39B8-4AF8-8B73-0B71972853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373" y="2034191"/>
              <a:ext cx="255754" cy="2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그룹 2"/>
          <p:cNvGrpSpPr/>
          <p:nvPr/>
        </p:nvGrpSpPr>
        <p:grpSpPr>
          <a:xfrm>
            <a:off x="2589654" y="2955035"/>
            <a:ext cx="2960338" cy="3129916"/>
            <a:chOff x="2461226" y="2924299"/>
            <a:chExt cx="2960338" cy="3129916"/>
          </a:xfrm>
        </p:grpSpPr>
        <p:grpSp>
          <p:nvGrpSpPr>
            <p:cNvPr id="22" name="그룹 21"/>
            <p:cNvGrpSpPr/>
            <p:nvPr/>
          </p:nvGrpSpPr>
          <p:grpSpPr>
            <a:xfrm>
              <a:off x="2461226" y="2924299"/>
              <a:ext cx="2826201" cy="3129916"/>
              <a:chOff x="2548280" y="3300817"/>
              <a:chExt cx="3136489" cy="3129916"/>
            </a:xfrm>
          </p:grpSpPr>
          <p:sp>
            <p:nvSpPr>
              <p:cNvPr id="102" name="Rectangle 58"/>
              <p:cNvSpPr>
                <a:spLocks noChangeArrowheads="1"/>
              </p:cNvSpPr>
              <p:nvPr/>
            </p:nvSpPr>
            <p:spPr bwMode="auto">
              <a:xfrm>
                <a:off x="2548281" y="6269150"/>
                <a:ext cx="3136486" cy="16158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 wrap="square" lIns="0" tIns="0" rIns="0" bIns="0">
                <a:spAutoFit/>
              </a:bodyPr>
              <a:lstStyle/>
              <a:p>
                <a:pPr marL="84138" indent="-84138" fontAlgn="auto" latinLnBrk="0">
                  <a:spcBef>
                    <a:spcPts val="0"/>
                  </a:spcBef>
                  <a:spcAft>
                    <a:spcPts val="300"/>
                  </a:spcAft>
                  <a:buClr>
                    <a:srgbClr val="969696"/>
                  </a:buClr>
                  <a:buSzPct val="70000"/>
                  <a:buFont typeface="Wingdings" pitchFamily="2" charset="2"/>
                  <a:buChar char="§"/>
                  <a:defRPr/>
                </a:pP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이행 이후 검증용 프로그램을</a:t>
                </a:r>
                <a:r>
                  <a:rPr lang="en-US" altLang="ko-KR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 </a:t>
                </a: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수행하여 검증확인</a:t>
                </a:r>
              </a:p>
            </p:txBody>
          </p:sp>
          <p:sp>
            <p:nvSpPr>
              <p:cNvPr id="147" name="Rectangle 58"/>
              <p:cNvSpPr>
                <a:spLocks noChangeArrowheads="1"/>
              </p:cNvSpPr>
              <p:nvPr/>
            </p:nvSpPr>
            <p:spPr bwMode="auto">
              <a:xfrm>
                <a:off x="2548280" y="3300817"/>
                <a:ext cx="2988105" cy="52322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 wrap="square" lIns="0" tIns="0" rIns="0" bIns="0">
                <a:spAutoFit/>
              </a:bodyPr>
              <a:lstStyle/>
              <a:p>
                <a:pPr marL="84138" indent="-84138" fontAlgn="auto" latinLnBrk="0">
                  <a:spcBef>
                    <a:spcPts val="0"/>
                  </a:spcBef>
                  <a:spcAft>
                    <a:spcPts val="300"/>
                  </a:spcAft>
                  <a:buClr>
                    <a:srgbClr val="969696"/>
                  </a:buClr>
                  <a:buSzPct val="70000"/>
                  <a:buFont typeface="Wingdings" pitchFamily="2" charset="2"/>
                  <a:buChar char="§"/>
                  <a:defRPr/>
                </a:pP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기본방침 </a:t>
                </a:r>
                <a:r>
                  <a:rPr lang="en-US" altLang="ko-KR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: SP</a:t>
                </a: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를 </a:t>
                </a:r>
                <a:r>
                  <a:rPr lang="en-US" altLang="ko-KR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JAVA</a:t>
                </a: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로 변환</a:t>
                </a:r>
              </a:p>
              <a:p>
                <a:pPr marL="84138" indent="-84138" fontAlgn="auto" latinLnBrk="0">
                  <a:spcBef>
                    <a:spcPts val="0"/>
                  </a:spcBef>
                  <a:spcAft>
                    <a:spcPts val="300"/>
                  </a:spcAft>
                  <a:buClr>
                    <a:srgbClr val="969696"/>
                  </a:buClr>
                  <a:buSzPct val="70000"/>
                  <a:buFont typeface="Wingdings" pitchFamily="2" charset="2"/>
                  <a:buChar char="§"/>
                  <a:defRPr/>
                </a:pPr>
                <a:r>
                  <a:rPr lang="en-US" altLang="ko-KR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SP </a:t>
                </a: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유지대상 결정 </a:t>
                </a:r>
                <a:r>
                  <a:rPr lang="en-US" altLang="ko-KR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: </a:t>
                </a: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복잡한 업무처리 </a:t>
                </a:r>
                <a:r>
                  <a:rPr lang="ko-KR" altLang="en-US" sz="1050" dirty="0" err="1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로직</a:t>
                </a:r>
                <a:r>
                  <a:rPr lang="en-US" altLang="ko-KR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 </a:t>
                </a: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또는 성능이슈 있는 </a:t>
                </a:r>
                <a:r>
                  <a:rPr lang="en-US" altLang="ko-KR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SP </a:t>
                </a: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유지</a:t>
                </a:r>
                <a:endParaRPr lang="en-US" altLang="ko-KR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endParaRPr>
              </a:p>
            </p:txBody>
          </p:sp>
          <p:sp>
            <p:nvSpPr>
              <p:cNvPr id="117" name="Rectangle 58"/>
              <p:cNvSpPr>
                <a:spLocks noChangeArrowheads="1"/>
              </p:cNvSpPr>
              <p:nvPr/>
            </p:nvSpPr>
            <p:spPr bwMode="auto">
              <a:xfrm>
                <a:off x="2548282" y="4197352"/>
                <a:ext cx="3136487" cy="561692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 wrap="square" lIns="0" tIns="0" rIns="0" bIns="0">
                <a:spAutoFit/>
              </a:bodyPr>
              <a:lstStyle/>
              <a:p>
                <a:pPr marL="84138" indent="-84138" fontAlgn="auto" latinLnBrk="0">
                  <a:spcBef>
                    <a:spcPts val="0"/>
                  </a:spcBef>
                  <a:spcAft>
                    <a:spcPts val="300"/>
                  </a:spcAft>
                  <a:buClr>
                    <a:srgbClr val="969696"/>
                  </a:buClr>
                  <a:buSzPct val="70000"/>
                  <a:buFont typeface="Wingdings" pitchFamily="2" charset="2"/>
                  <a:buChar char="§"/>
                  <a:defRPr/>
                </a:pPr>
                <a:r>
                  <a:rPr lang="en-US" altLang="ko-KR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SP</a:t>
                </a: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를 대체할 </a:t>
                </a:r>
                <a:r>
                  <a:rPr lang="en-US" altLang="ko-KR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JAVA controller </a:t>
                </a: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설계</a:t>
                </a:r>
                <a:endParaRPr lang="en-US" altLang="ko-KR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endParaRPr>
              </a:p>
              <a:p>
                <a:pPr marL="84138" indent="-84138" fontAlgn="auto" latinLnBrk="0">
                  <a:spcBef>
                    <a:spcPts val="0"/>
                  </a:spcBef>
                  <a:spcAft>
                    <a:spcPts val="300"/>
                  </a:spcAft>
                  <a:buClr>
                    <a:srgbClr val="969696"/>
                  </a:buClr>
                  <a:buSzPct val="70000"/>
                  <a:buFont typeface="Wingdings" pitchFamily="2" charset="2"/>
                  <a:buChar char="§"/>
                  <a:defRPr/>
                </a:pPr>
                <a:r>
                  <a:rPr lang="en-US" altLang="ko-KR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SP</a:t>
                </a: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를 </a:t>
                </a:r>
                <a:r>
                  <a:rPr lang="en-US" altLang="ko-KR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JAVA code</a:t>
                </a: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로 및 </a:t>
                </a:r>
                <a:r>
                  <a:rPr lang="en-US" altLang="ko-KR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SQL</a:t>
                </a: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로 수동 전환</a:t>
                </a:r>
                <a:endParaRPr lang="en-US" altLang="ko-KR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endParaRPr>
              </a:p>
              <a:p>
                <a:pPr marL="84138" indent="-84138" fontAlgn="auto" latinLnBrk="0">
                  <a:spcBef>
                    <a:spcPts val="0"/>
                  </a:spcBef>
                  <a:spcAft>
                    <a:spcPts val="300"/>
                  </a:spcAft>
                  <a:buClr>
                    <a:srgbClr val="969696"/>
                  </a:buClr>
                  <a:buSzPct val="70000"/>
                  <a:buFont typeface="Wingdings" pitchFamily="2" charset="2"/>
                  <a:buChar char="§"/>
                  <a:defRPr/>
                </a:pPr>
                <a:r>
                  <a:rPr lang="en-US" altLang="ko-KR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JAVA </a:t>
                </a:r>
                <a:r>
                  <a:rPr lang="ko-KR" altLang="en-US" sz="1050" dirty="0">
                    <a:ln>
                      <a:solidFill>
                        <a:srgbClr val="C00000">
                          <a:alpha val="0"/>
                        </a:srgbClr>
                      </a:solidFill>
                    </a:ln>
                    <a:solidFill>
                      <a:srgbClr val="4D4D4D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  <a:cs typeface="굴림" pitchFamily="50" charset="-127"/>
                  </a:rPr>
                  <a:t>전환은 개발표준 준수</a:t>
                </a:r>
                <a:endParaRPr lang="en-US" altLang="ko-KR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endParaRPr>
              </a:p>
            </p:txBody>
          </p:sp>
        </p:grpSp>
        <p:sp>
          <p:nvSpPr>
            <p:cNvPr id="204" name="Rectangle 58"/>
            <p:cNvSpPr>
              <a:spLocks noChangeArrowheads="1"/>
            </p:cNvSpPr>
            <p:nvPr/>
          </p:nvSpPr>
          <p:spPr bwMode="auto">
            <a:xfrm>
              <a:off x="2477256" y="4865113"/>
              <a:ext cx="2944308" cy="36163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square" lIns="0" tIns="0" rIns="0" bIns="0">
              <a:spAutoFit/>
            </a:bodyPr>
            <a:lstStyle/>
            <a:p>
              <a:pPr marL="84138" indent="-84138" latinLnBrk="0">
                <a:spcAft>
                  <a:spcPts val="300"/>
                </a:spcAft>
                <a:buClr>
                  <a:srgbClr val="969696"/>
                </a:buClr>
                <a:buSzPct val="70000"/>
                <a:buFont typeface="Wingdings" pitchFamily="2" charset="2"/>
                <a:buChar char="§"/>
                <a:defRPr/>
              </a:pPr>
              <a:r>
                <a:rPr lang="en-US" altLang="ko-KR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AS-IS </a:t>
              </a:r>
              <a:r>
                <a:rPr lang="ko-KR" altLang="en-US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기준의 </a:t>
              </a:r>
              <a:r>
                <a:rPr lang="ko-KR" altLang="en-US" sz="1050" dirty="0" err="1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파라미터</a:t>
              </a:r>
              <a:r>
                <a:rPr lang="ko-KR" altLang="en-US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 값 세팅</a:t>
              </a:r>
              <a:r>
                <a:rPr lang="en-US" altLang="ko-KR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 </a:t>
              </a:r>
              <a:r>
                <a:rPr lang="ko-KR" altLang="en-US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및 실행</a:t>
              </a:r>
              <a:endParaRPr lang="en-US" altLang="ko-KR" sz="105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4D4D4D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굴림" pitchFamily="50" charset="-127"/>
              </a:endParaRPr>
            </a:p>
            <a:p>
              <a:pPr marL="84138" indent="-84138" latinLnBrk="0">
                <a:spcAft>
                  <a:spcPts val="300"/>
                </a:spcAft>
                <a:buClr>
                  <a:srgbClr val="969696"/>
                </a:buClr>
                <a:buSzPct val="70000"/>
                <a:buFont typeface="Wingdings" pitchFamily="2" charset="2"/>
                <a:buChar char="§"/>
                <a:defRPr/>
              </a:pPr>
              <a:r>
                <a:rPr lang="en-US" altLang="ko-KR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AS-IS </a:t>
              </a:r>
              <a:r>
                <a:rPr lang="ko-KR" altLang="en-US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수행결과</a:t>
              </a:r>
              <a:r>
                <a:rPr lang="en-US" altLang="ko-KR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,</a:t>
              </a:r>
              <a:r>
                <a:rPr lang="ko-KR" altLang="en-US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 </a:t>
              </a:r>
              <a:r>
                <a:rPr lang="en-US" altLang="ko-KR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TO-BE </a:t>
              </a:r>
              <a:r>
                <a:rPr lang="ko-KR" altLang="en-US" sz="105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Rix고딕 M" panose="02020603020101020101" pitchFamily="18" charset="-127"/>
                  <a:ea typeface="Rix고딕 M" panose="02020603020101020101" pitchFamily="18" charset="-127"/>
                  <a:cs typeface="굴림" pitchFamily="50" charset="-127"/>
                </a:rPr>
                <a:t>수행결과 비교</a:t>
              </a: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2412375" y="3634500"/>
            <a:ext cx="3113043" cy="1951745"/>
            <a:chOff x="2394290" y="3634500"/>
            <a:chExt cx="2915377" cy="1951745"/>
          </a:xfrm>
        </p:grpSpPr>
        <p:cxnSp>
          <p:nvCxnSpPr>
            <p:cNvPr id="6" name="직선 연결선 5"/>
            <p:cNvCxnSpPr/>
            <p:nvPr/>
          </p:nvCxnSpPr>
          <p:spPr>
            <a:xfrm>
              <a:off x="2394290" y="3634500"/>
              <a:ext cx="2915377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123"/>
            <p:cNvCxnSpPr/>
            <p:nvPr/>
          </p:nvCxnSpPr>
          <p:spPr>
            <a:xfrm>
              <a:off x="2394290" y="4610373"/>
              <a:ext cx="2915377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/>
            <p:cNvCxnSpPr/>
            <p:nvPr/>
          </p:nvCxnSpPr>
          <p:spPr>
            <a:xfrm>
              <a:off x="2394290" y="5586245"/>
              <a:ext cx="2915377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그룹 41"/>
          <p:cNvGrpSpPr/>
          <p:nvPr/>
        </p:nvGrpSpPr>
        <p:grpSpPr>
          <a:xfrm>
            <a:off x="969457" y="3634500"/>
            <a:ext cx="1442917" cy="1951745"/>
            <a:chOff x="2394290" y="3634500"/>
            <a:chExt cx="2915377" cy="1951745"/>
          </a:xfrm>
        </p:grpSpPr>
        <p:cxnSp>
          <p:nvCxnSpPr>
            <p:cNvPr id="43" name="직선 연결선 42"/>
            <p:cNvCxnSpPr/>
            <p:nvPr/>
          </p:nvCxnSpPr>
          <p:spPr>
            <a:xfrm>
              <a:off x="2394290" y="3634500"/>
              <a:ext cx="2915377" cy="0"/>
            </a:xfrm>
            <a:prstGeom prst="line">
              <a:avLst/>
            </a:prstGeom>
            <a:ln w="9525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/>
          </p:nvCxnSpPr>
          <p:spPr>
            <a:xfrm>
              <a:off x="2394290" y="4610373"/>
              <a:ext cx="2915377" cy="0"/>
            </a:xfrm>
            <a:prstGeom prst="line">
              <a:avLst/>
            </a:prstGeom>
            <a:ln w="9525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>
              <a:off x="2394290" y="5586245"/>
              <a:ext cx="2915377" cy="0"/>
            </a:xfrm>
            <a:prstGeom prst="line">
              <a:avLst/>
            </a:prstGeom>
            <a:ln w="9525">
              <a:solidFill>
                <a:schemeClr val="bg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9" name="Picture 107" descr="211002-0b2"/>
          <p:cNvPicPr>
            <a:picLocks noChangeAspect="1" noChangeArrowheads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954" y="3576737"/>
            <a:ext cx="218412" cy="15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" name="Picture 107" descr="211002-0b2"/>
          <p:cNvPicPr>
            <a:picLocks noChangeAspect="1" noChangeArrowheads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954" y="4544128"/>
            <a:ext cx="218412" cy="15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7" name="Picture 107" descr="211002-0b2"/>
          <p:cNvPicPr>
            <a:picLocks noChangeAspect="1" noChangeArrowheads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954" y="5529025"/>
            <a:ext cx="218412" cy="15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그룹 4"/>
          <p:cNvGrpSpPr/>
          <p:nvPr/>
        </p:nvGrpSpPr>
        <p:grpSpPr>
          <a:xfrm>
            <a:off x="1116314" y="3116382"/>
            <a:ext cx="1115690" cy="3184599"/>
            <a:chOff x="1012459" y="3003381"/>
            <a:chExt cx="1115690" cy="3184599"/>
          </a:xfrm>
        </p:grpSpPr>
        <p:sp>
          <p:nvSpPr>
            <p:cNvPr id="46" name="AutoShape 69"/>
            <p:cNvSpPr>
              <a:spLocks noChangeArrowheads="1"/>
            </p:cNvSpPr>
            <p:nvPr/>
          </p:nvSpPr>
          <p:spPr bwMode="gray">
            <a:xfrm>
              <a:off x="1036509" y="3003381"/>
              <a:ext cx="1067600" cy="21544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400" kern="0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gradFill>
                    <a:gsLst>
                      <a:gs pos="53750">
                        <a:schemeClr val="bg1"/>
                      </a:gs>
                      <a:gs pos="42000">
                        <a:schemeClr val="bg1"/>
                      </a:gs>
                    </a:gsLst>
                    <a:lin ang="16200000" scaled="1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전환 방식 선정</a:t>
              </a:r>
              <a:endParaRPr kumimoji="0" lang="ko-KR" altLang="en-US" sz="1400" kern="0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53750">
                      <a:schemeClr val="bg1"/>
                    </a:gs>
                    <a:gs pos="42000">
                      <a:schemeClr val="bg1"/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</p:txBody>
        </p:sp>
        <p:sp>
          <p:nvSpPr>
            <p:cNvPr id="47" name="AutoShape 69"/>
            <p:cNvSpPr>
              <a:spLocks noChangeArrowheads="1"/>
            </p:cNvSpPr>
            <p:nvPr/>
          </p:nvSpPr>
          <p:spPr bwMode="gray">
            <a:xfrm>
              <a:off x="1012459" y="3993099"/>
              <a:ext cx="1115690" cy="21544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/>
            <a:p>
              <a:pPr marL="0" lvl="2" indent="-180975" algn="ctr" defTabSz="942975" fontAlgn="ctr" latinLnBrk="0">
                <a:spcBef>
                  <a:spcPts val="0"/>
                </a:spcBef>
                <a:spcAft>
                  <a:spcPts val="0"/>
                </a:spcAft>
                <a:buClr>
                  <a:prstClr val="white">
                    <a:lumMod val="65000"/>
                  </a:prstClr>
                </a:buClr>
                <a:buSzPct val="80000"/>
                <a:tabLst>
                  <a:tab pos="104204" algn="l"/>
                </a:tabLst>
                <a:defRPr/>
              </a:pPr>
              <a:r>
                <a:rPr kumimoji="0" lang="ko-KR" altLang="en-US" sz="1400" kern="0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gradFill>
                    <a:gsLst>
                      <a:gs pos="53750">
                        <a:schemeClr val="bg1"/>
                      </a:gs>
                      <a:gs pos="42000">
                        <a:schemeClr val="bg1"/>
                      </a:gs>
                    </a:gsLst>
                    <a:lin ang="16200000" scaled="1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 </a:t>
              </a:r>
              <a:r>
                <a:rPr lang="ko-KR" altLang="en-US" sz="14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53750">
                        <a:schemeClr val="bg1"/>
                      </a:gs>
                      <a:gs pos="42000">
                        <a:schemeClr val="bg1"/>
                      </a:gs>
                    </a:gsLst>
                    <a:lin ang="16200000" scaled="1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소스 수동 전환</a:t>
              </a:r>
            </a:p>
          </p:txBody>
        </p:sp>
        <p:sp>
          <p:nvSpPr>
            <p:cNvPr id="48" name="AutoShape 69"/>
            <p:cNvSpPr>
              <a:spLocks noChangeArrowheads="1"/>
            </p:cNvSpPr>
            <p:nvPr/>
          </p:nvSpPr>
          <p:spPr bwMode="gray">
            <a:xfrm>
              <a:off x="1036504" y="4982817"/>
              <a:ext cx="1067601" cy="21544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/>
            <a:p>
              <a:pPr marL="0" lvl="2" indent="-180975" algn="ctr" defTabSz="942975" fontAlgn="ctr" latinLnBrk="0">
                <a:spcBef>
                  <a:spcPts val="0"/>
                </a:spcBef>
                <a:spcAft>
                  <a:spcPts val="0"/>
                </a:spcAft>
                <a:buClr>
                  <a:prstClr val="white">
                    <a:lumMod val="65000"/>
                  </a:prstClr>
                </a:buClr>
                <a:buSzPct val="80000"/>
                <a:tabLst>
                  <a:tab pos="104204" algn="l"/>
                </a:tabLst>
                <a:defRPr/>
              </a:pPr>
              <a:r>
                <a:rPr lang="ko-KR" altLang="en-US" sz="1400" kern="0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gradFill>
                    <a:gsLst>
                      <a:gs pos="53750">
                        <a:schemeClr val="bg1"/>
                      </a:gs>
                      <a:gs pos="42000">
                        <a:schemeClr val="bg1"/>
                      </a:gs>
                    </a:gsLst>
                    <a:lin ang="16200000" scaled="1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테스트 및 검증</a:t>
              </a:r>
              <a:endParaRPr lang="ko-KR" altLang="en-US" sz="14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53750">
                      <a:schemeClr val="bg1"/>
                    </a:gs>
                    <a:gs pos="42000">
                      <a:schemeClr val="bg1"/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</p:txBody>
        </p:sp>
        <p:sp>
          <p:nvSpPr>
            <p:cNvPr id="49" name="AutoShape 69"/>
            <p:cNvSpPr>
              <a:spLocks noChangeArrowheads="1"/>
            </p:cNvSpPr>
            <p:nvPr/>
          </p:nvSpPr>
          <p:spPr bwMode="gray">
            <a:xfrm>
              <a:off x="1247299" y="5972536"/>
              <a:ext cx="646011" cy="21544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kern="0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gradFill>
                    <a:gsLst>
                      <a:gs pos="53750">
                        <a:schemeClr val="bg1"/>
                      </a:gs>
                      <a:gs pos="42000">
                        <a:schemeClr val="bg1"/>
                      </a:gs>
                    </a:gsLst>
                    <a:lin ang="16200000" scaled="1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API </a:t>
              </a:r>
              <a:r>
                <a:rPr kumimoji="0" lang="ko-KR" altLang="en-US" sz="1400" kern="0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gradFill>
                    <a:gsLst>
                      <a:gs pos="53750">
                        <a:schemeClr val="bg1"/>
                      </a:gs>
                      <a:gs pos="42000">
                        <a:schemeClr val="bg1"/>
                      </a:gs>
                    </a:gsLst>
                    <a:lin ang="16200000" scaled="1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검증</a:t>
              </a:r>
              <a:endParaRPr kumimoji="0" lang="en-US" altLang="ko-KR" sz="1400" kern="0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53750">
                      <a:schemeClr val="bg1"/>
                    </a:gs>
                    <a:gs pos="42000">
                      <a:schemeClr val="bg1"/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1592406" y="2857562"/>
            <a:ext cx="163506" cy="3130738"/>
            <a:chOff x="1488551" y="3030311"/>
            <a:chExt cx="163506" cy="3130738"/>
          </a:xfrm>
        </p:grpSpPr>
        <p:sp>
          <p:nvSpPr>
            <p:cNvPr id="52" name="AutoShape 69"/>
            <p:cNvSpPr>
              <a:spLocks noChangeArrowheads="1"/>
            </p:cNvSpPr>
            <p:nvPr/>
          </p:nvSpPr>
          <p:spPr bwMode="gray">
            <a:xfrm>
              <a:off x="1488551" y="3030311"/>
              <a:ext cx="163506" cy="1615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50" u="sng" kern="0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gradFill>
                    <a:gsLst>
                      <a:gs pos="53750">
                        <a:schemeClr val="bg1"/>
                      </a:gs>
                      <a:gs pos="42000">
                        <a:schemeClr val="bg1"/>
                      </a:gs>
                    </a:gsLst>
                    <a:lin ang="16200000" scaled="1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01</a:t>
              </a:r>
              <a:endParaRPr kumimoji="0" lang="ko-KR" altLang="en-US" sz="1050" u="sng" kern="0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53750">
                      <a:schemeClr val="bg1"/>
                    </a:gs>
                    <a:gs pos="42000">
                      <a:schemeClr val="bg1"/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</p:txBody>
        </p:sp>
        <p:sp>
          <p:nvSpPr>
            <p:cNvPr id="53" name="AutoShape 69"/>
            <p:cNvSpPr>
              <a:spLocks noChangeArrowheads="1"/>
            </p:cNvSpPr>
            <p:nvPr/>
          </p:nvSpPr>
          <p:spPr bwMode="gray">
            <a:xfrm>
              <a:off x="1488551" y="4020029"/>
              <a:ext cx="163506" cy="1615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/>
            <a:p>
              <a:pPr marL="0" lvl="2" indent="-180975" algn="ctr" defTabSz="942975" fontAlgn="ctr" latinLnBrk="0">
                <a:spcBef>
                  <a:spcPts val="0"/>
                </a:spcBef>
                <a:spcAft>
                  <a:spcPts val="0"/>
                </a:spcAft>
                <a:buClr>
                  <a:prstClr val="white">
                    <a:lumMod val="65000"/>
                  </a:prstClr>
                </a:buClr>
                <a:buSzPct val="80000"/>
                <a:tabLst>
                  <a:tab pos="104204" algn="l"/>
                </a:tabLst>
                <a:defRPr/>
              </a:pPr>
              <a:r>
                <a:rPr kumimoji="0" lang="en-US" altLang="ko-KR" sz="1050" u="sng" kern="0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gradFill>
                    <a:gsLst>
                      <a:gs pos="53750">
                        <a:schemeClr val="bg1"/>
                      </a:gs>
                      <a:gs pos="42000">
                        <a:schemeClr val="bg1"/>
                      </a:gs>
                    </a:gsLst>
                    <a:lin ang="16200000" scaled="1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02</a:t>
              </a:r>
              <a:endParaRPr lang="ko-KR" altLang="en-US" sz="1050" u="sng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53750">
                      <a:schemeClr val="bg1"/>
                    </a:gs>
                    <a:gs pos="42000">
                      <a:schemeClr val="bg1"/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</p:txBody>
        </p:sp>
        <p:sp>
          <p:nvSpPr>
            <p:cNvPr id="54" name="AutoShape 69"/>
            <p:cNvSpPr>
              <a:spLocks noChangeArrowheads="1"/>
            </p:cNvSpPr>
            <p:nvPr/>
          </p:nvSpPr>
          <p:spPr bwMode="gray">
            <a:xfrm>
              <a:off x="1488551" y="5009747"/>
              <a:ext cx="163506" cy="1615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/>
            <a:p>
              <a:pPr marL="0" lvl="2" indent="-180975" algn="ctr" defTabSz="942975" fontAlgn="ctr" latinLnBrk="0">
                <a:spcBef>
                  <a:spcPts val="0"/>
                </a:spcBef>
                <a:spcAft>
                  <a:spcPts val="0"/>
                </a:spcAft>
                <a:buClr>
                  <a:prstClr val="white">
                    <a:lumMod val="65000"/>
                  </a:prstClr>
                </a:buClr>
                <a:buSzPct val="80000"/>
                <a:tabLst>
                  <a:tab pos="104204" algn="l"/>
                </a:tabLst>
                <a:defRPr/>
              </a:pPr>
              <a:r>
                <a:rPr lang="en-US" altLang="ko-KR" sz="1050" u="sng" kern="0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gradFill>
                    <a:gsLst>
                      <a:gs pos="53750">
                        <a:schemeClr val="bg1"/>
                      </a:gs>
                      <a:gs pos="42000">
                        <a:schemeClr val="bg1"/>
                      </a:gs>
                    </a:gsLst>
                    <a:lin ang="16200000" scaled="1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03</a:t>
              </a:r>
              <a:endParaRPr lang="ko-KR" altLang="en-US" sz="1050" u="sng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53750">
                      <a:schemeClr val="bg1"/>
                    </a:gs>
                    <a:gs pos="42000">
                      <a:schemeClr val="bg1"/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</p:txBody>
        </p:sp>
        <p:sp>
          <p:nvSpPr>
            <p:cNvPr id="55" name="AutoShape 69"/>
            <p:cNvSpPr>
              <a:spLocks noChangeArrowheads="1"/>
            </p:cNvSpPr>
            <p:nvPr/>
          </p:nvSpPr>
          <p:spPr bwMode="gray">
            <a:xfrm>
              <a:off x="1488551" y="5999466"/>
              <a:ext cx="163506" cy="1615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50" u="sng" kern="0" dirty="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gradFill>
                    <a:gsLst>
                      <a:gs pos="53750">
                        <a:schemeClr val="bg1"/>
                      </a:gs>
                      <a:gs pos="42000">
                        <a:schemeClr val="bg1"/>
                      </a:gs>
                    </a:gsLst>
                    <a:lin ang="16200000" scaled="1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80483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그룹 175"/>
          <p:cNvGrpSpPr/>
          <p:nvPr/>
        </p:nvGrpSpPr>
        <p:grpSpPr>
          <a:xfrm>
            <a:off x="738188" y="1629856"/>
            <a:ext cx="9217025" cy="5318633"/>
            <a:chOff x="3847798" y="1572785"/>
            <a:chExt cx="6107415" cy="5318633"/>
          </a:xfrm>
        </p:grpSpPr>
        <p:sp>
          <p:nvSpPr>
            <p:cNvPr id="177" name="직사각형 176"/>
            <p:cNvSpPr/>
            <p:nvPr/>
          </p:nvSpPr>
          <p:spPr bwMode="auto">
            <a:xfrm>
              <a:off x="3847798" y="1572785"/>
              <a:ext cx="2960322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</a:rPr>
                <a:t>전사 </a:t>
              </a:r>
              <a:r>
                <a:rPr lang="ko-KR" altLang="en-US" kern="0" dirty="0" smtClean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</a:rPr>
                <a:t>아키텍처 </a:t>
              </a: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</a:rPr>
                <a:t>표준화 적용</a:t>
              </a:r>
            </a:p>
          </p:txBody>
        </p:sp>
        <p:sp>
          <p:nvSpPr>
            <p:cNvPr id="178" name="직사각형 177"/>
            <p:cNvSpPr/>
            <p:nvPr/>
          </p:nvSpPr>
          <p:spPr bwMode="auto">
            <a:xfrm>
              <a:off x="3847798" y="2159106"/>
              <a:ext cx="2960322" cy="473231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179" name="직사각형 178"/>
            <p:cNvSpPr/>
            <p:nvPr/>
          </p:nvSpPr>
          <p:spPr bwMode="auto">
            <a:xfrm>
              <a:off x="6994891" y="1572785"/>
              <a:ext cx="2960322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</a:rPr>
                <a:t>전사 소스코드 표준화 적용</a:t>
              </a:r>
            </a:p>
          </p:txBody>
        </p:sp>
        <p:sp>
          <p:nvSpPr>
            <p:cNvPr id="180" name="직사각형 179"/>
            <p:cNvSpPr/>
            <p:nvPr/>
          </p:nvSpPr>
          <p:spPr bwMode="auto">
            <a:xfrm>
              <a:off x="6994891" y="2159106"/>
              <a:ext cx="2960322" cy="473231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3. </a:t>
            </a:r>
            <a:r>
              <a:rPr lang="ko-KR" altLang="en-US" sz="2000" dirty="0"/>
              <a:t>주요 개발 방안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소프트웨어 아키텍처 구축 방안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137" name="그룹 136"/>
          <p:cNvGrpSpPr/>
          <p:nvPr/>
        </p:nvGrpSpPr>
        <p:grpSpPr>
          <a:xfrm>
            <a:off x="761405" y="2303553"/>
            <a:ext cx="4254679" cy="300435"/>
            <a:chOff x="5164041" y="1962785"/>
            <a:chExt cx="3389360" cy="233058"/>
          </a:xfrm>
        </p:grpSpPr>
        <p:sp>
          <p:nvSpPr>
            <p:cNvPr id="138" name="직사각형 137"/>
            <p:cNvSpPr/>
            <p:nvPr/>
          </p:nvSpPr>
          <p:spPr>
            <a:xfrm>
              <a:off x="5457129" y="1968034"/>
              <a:ext cx="3096272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/>
            <a:p>
              <a:pPr marL="0" lvl="1" defTabSz="914127" fontAlgn="base" latinLnBrk="0">
                <a:spcAft>
                  <a:spcPts val="150"/>
                </a:spcAft>
                <a:buClr>
                  <a:srgbClr val="8B8F9E"/>
                </a:buClr>
                <a:buSzPct val="100000"/>
                <a:tabLst>
                  <a:tab pos="1079500" algn="l"/>
                </a:tabLst>
                <a:defRPr/>
              </a:pPr>
              <a:r>
                <a:rPr lang="en-US" altLang="ko-KR" sz="135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Java</a:t>
              </a:r>
              <a:r>
                <a:rPr lang="ko-KR" altLang="en-US" sz="135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 </a:t>
              </a:r>
              <a:r>
                <a:rPr lang="en-US" altLang="ko-KR" sz="135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+</a:t>
              </a:r>
              <a:r>
                <a:rPr lang="ko-KR" altLang="en-US" sz="135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 </a:t>
              </a:r>
              <a:r>
                <a:rPr lang="en-US" altLang="ko-KR" sz="135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Spring </a:t>
              </a:r>
              <a:r>
                <a:rPr lang="ko-KR" altLang="en-US" sz="135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프레임워크 기반 </a:t>
              </a:r>
              <a:r>
                <a:rPr lang="ko-KR" altLang="en-US" sz="1350" kern="0" dirty="0" smtClean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전사 표준 </a:t>
              </a:r>
              <a:r>
                <a:rPr lang="ko-KR" altLang="en-US" sz="135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아키텍처</a:t>
              </a:r>
            </a:p>
          </p:txBody>
        </p:sp>
        <p:pic>
          <p:nvPicPr>
            <p:cNvPr id="139" name="Picture 2" descr="D:\19.전지수\1. 제안서\1. 표준제안\★2017_표준제안설명회\작업\버트3.png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4041" y="1962785"/>
              <a:ext cx="233982" cy="220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0" name="그룹 139"/>
          <p:cNvGrpSpPr/>
          <p:nvPr/>
        </p:nvGrpSpPr>
        <p:grpSpPr>
          <a:xfrm>
            <a:off x="854580" y="2660194"/>
            <a:ext cx="4161504" cy="1968751"/>
            <a:chOff x="5622040" y="2696264"/>
            <a:chExt cx="4184275" cy="2740597"/>
          </a:xfrm>
        </p:grpSpPr>
        <p:sp>
          <p:nvSpPr>
            <p:cNvPr id="141" name="Rectangle 303"/>
            <p:cNvSpPr>
              <a:spLocks noChangeArrowheads="1"/>
            </p:cNvSpPr>
            <p:nvPr/>
          </p:nvSpPr>
          <p:spPr bwMode="auto">
            <a:xfrm>
              <a:off x="5622040" y="2696264"/>
              <a:ext cx="4184275" cy="2740597"/>
            </a:xfrm>
            <a:prstGeom prst="rect">
              <a:avLst/>
            </a:prstGeom>
            <a:solidFill>
              <a:srgbClr val="255A7B">
                <a:lumMod val="20000"/>
                <a:lumOff val="80000"/>
              </a:srgbClr>
            </a:solidFill>
            <a:ln w="12700" cap="flat" cmpd="sng" algn="ctr">
              <a:solidFill>
                <a:srgbClr val="255A7B">
                  <a:lumMod val="20000"/>
                  <a:lumOff val="8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83969" tIns="41985" rIns="83969" bIns="4198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7416" latinLnBrk="0">
                <a:defRPr/>
              </a:pPr>
              <a:endParaRPr lang="ko-KR" altLang="ko-KR" sz="1200" kern="0" dirty="0">
                <a:solidFill>
                  <a:prstClr val="white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142" name="Rectangle 303"/>
            <p:cNvSpPr>
              <a:spLocks noChangeArrowheads="1"/>
            </p:cNvSpPr>
            <p:nvPr/>
          </p:nvSpPr>
          <p:spPr bwMode="auto">
            <a:xfrm>
              <a:off x="5719982" y="2785348"/>
              <a:ext cx="3987840" cy="252974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255A7B">
                  <a:lumMod val="20000"/>
                  <a:lumOff val="8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83969" tIns="41985" rIns="83969" bIns="4198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7416" latinLnBrk="0">
                <a:defRPr/>
              </a:pPr>
              <a:endParaRPr lang="ko-KR" altLang="ko-KR" sz="1200" kern="0" dirty="0">
                <a:solidFill>
                  <a:prstClr val="white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109721" y="2820980"/>
            <a:ext cx="3660899" cy="1616335"/>
            <a:chOff x="1257228" y="2820980"/>
            <a:chExt cx="3328557" cy="1616335"/>
          </a:xfrm>
        </p:grpSpPr>
        <p:sp>
          <p:nvSpPr>
            <p:cNvPr id="143" name="Rounded Rectangle 22"/>
            <p:cNvSpPr/>
            <p:nvPr/>
          </p:nvSpPr>
          <p:spPr>
            <a:xfrm>
              <a:off x="1265585" y="4219476"/>
              <a:ext cx="2885181" cy="21783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</a:rPr>
                <a:t>OpenJDK </a:t>
              </a:r>
              <a:r>
                <a:rPr lang="en-US" altLang="ko-KR" sz="1000" dirty="0">
                  <a:solidFill>
                    <a:schemeClr val="tx1"/>
                  </a:solidFill>
                </a:rPr>
                <a:t>(Java)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44" name="Rounded Rectangle 22"/>
            <p:cNvSpPr/>
            <p:nvPr/>
          </p:nvSpPr>
          <p:spPr>
            <a:xfrm>
              <a:off x="1265585" y="3948360"/>
              <a:ext cx="2885181" cy="20815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Spring Framework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45" name="Rounded Rectangle 22"/>
            <p:cNvSpPr/>
            <p:nvPr/>
          </p:nvSpPr>
          <p:spPr>
            <a:xfrm>
              <a:off x="1257229" y="3396686"/>
              <a:ext cx="2893537" cy="20059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Spring MVC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46" name="Rounded Rectangle 22"/>
            <p:cNvSpPr/>
            <p:nvPr/>
          </p:nvSpPr>
          <p:spPr>
            <a:xfrm>
              <a:off x="1265585" y="3119274"/>
              <a:ext cx="1405434" cy="22228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JSP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47" name="Rounded Rectangle 22"/>
            <p:cNvSpPr/>
            <p:nvPr/>
          </p:nvSpPr>
          <p:spPr>
            <a:xfrm>
              <a:off x="2743035" y="3119274"/>
              <a:ext cx="1407731" cy="21866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Servlet API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48" name="Rounded Rectangle 22"/>
            <p:cNvSpPr/>
            <p:nvPr/>
          </p:nvSpPr>
          <p:spPr>
            <a:xfrm>
              <a:off x="1267669" y="3656659"/>
              <a:ext cx="1411493" cy="23231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</a:rPr>
                <a:t>Logback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49" name="Rounded Rectangle 22"/>
            <p:cNvSpPr/>
            <p:nvPr/>
          </p:nvSpPr>
          <p:spPr>
            <a:xfrm>
              <a:off x="2763529" y="3660278"/>
              <a:ext cx="1397078" cy="2287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</a:rPr>
                <a:t>Mybatis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50" name="Rounded Rectangle 22"/>
            <p:cNvSpPr/>
            <p:nvPr/>
          </p:nvSpPr>
          <p:spPr>
            <a:xfrm>
              <a:off x="1257228" y="2833950"/>
              <a:ext cx="2893537" cy="22232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UI Framework (HTML, </a:t>
              </a:r>
              <a:r>
                <a:rPr lang="en-US" altLang="ko-KR" sz="1000" dirty="0" err="1">
                  <a:solidFill>
                    <a:schemeClr val="tx1"/>
                  </a:solidFill>
                </a:rPr>
                <a:t>Javascript</a:t>
              </a:r>
              <a:r>
                <a:rPr lang="en-US" altLang="ko-KR" sz="1000" dirty="0">
                  <a:solidFill>
                    <a:schemeClr val="tx1"/>
                  </a:solidFill>
                </a:rPr>
                <a:t>, CSS)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51" name="Rounded Rectangle 22"/>
            <p:cNvSpPr/>
            <p:nvPr/>
          </p:nvSpPr>
          <p:spPr>
            <a:xfrm rot="16200000">
              <a:off x="3630949" y="3469511"/>
              <a:ext cx="1603367" cy="306305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</a:rPr>
                <a:t>PostgreSQL</a:t>
              </a:r>
              <a:r>
                <a:rPr lang="en-US" altLang="ko-KR" sz="1000" dirty="0">
                  <a:solidFill>
                    <a:schemeClr val="tx1"/>
                  </a:solidFill>
                </a:rPr>
                <a:t> DB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2" name="그룹 151"/>
          <p:cNvGrpSpPr/>
          <p:nvPr/>
        </p:nvGrpSpPr>
        <p:grpSpPr>
          <a:xfrm>
            <a:off x="5551151" y="4823517"/>
            <a:ext cx="4254678" cy="269525"/>
            <a:chOff x="5164041" y="1962785"/>
            <a:chExt cx="3389360" cy="233562"/>
          </a:xfrm>
        </p:grpSpPr>
        <p:sp>
          <p:nvSpPr>
            <p:cNvPr id="153" name="직사각형 152"/>
            <p:cNvSpPr/>
            <p:nvPr/>
          </p:nvSpPr>
          <p:spPr>
            <a:xfrm>
              <a:off x="5457129" y="1968538"/>
              <a:ext cx="3096272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/>
            <a:p>
              <a:pPr marL="0" lvl="1" defTabSz="914127" fontAlgn="base" latinLnBrk="0">
                <a:spcAft>
                  <a:spcPts val="150"/>
                </a:spcAft>
                <a:buClr>
                  <a:srgbClr val="8B8F9E"/>
                </a:buClr>
                <a:buSzPct val="100000"/>
                <a:tabLst>
                  <a:tab pos="1079500" algn="l"/>
                </a:tabLst>
                <a:defRPr/>
              </a:pPr>
              <a:r>
                <a:rPr lang="ko-KR" altLang="en-US" sz="1350" kern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자동화 </a:t>
              </a:r>
              <a:r>
                <a:rPr lang="ko-KR" altLang="en-US" sz="135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된 개발 프레임워크를 </a:t>
              </a:r>
              <a:r>
                <a:rPr lang="ko-KR" altLang="en-US" sz="1350" kern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통한 지속적인 개발</a:t>
              </a:r>
              <a:r>
                <a:rPr lang="en-US" altLang="ko-KR" sz="1350" kern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/</a:t>
              </a:r>
              <a:r>
                <a:rPr lang="ko-KR" altLang="en-US" sz="1350" kern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검증</a:t>
              </a:r>
              <a:endParaRPr lang="ko-KR" altLang="en-US" sz="135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Rix고딕 EB"/>
                <a:ea typeface="Rix고딕 EB"/>
              </a:endParaRPr>
            </a:p>
          </p:txBody>
        </p:sp>
        <p:pic>
          <p:nvPicPr>
            <p:cNvPr id="154" name="Picture 2" descr="D:\19.전지수\1. 제안서\1. 표준제안\★2017_표준제안설명회\작업\버트3.png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4041" y="1962785"/>
              <a:ext cx="233982" cy="220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55" name="그림 1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325" y="5162960"/>
            <a:ext cx="1425824" cy="1354533"/>
          </a:xfrm>
          <a:prstGeom prst="rect">
            <a:avLst/>
          </a:prstGeom>
        </p:spPr>
      </p:pic>
      <p:sp>
        <p:nvSpPr>
          <p:cNvPr id="156" name="직사각형 155"/>
          <p:cNvSpPr/>
          <p:nvPr/>
        </p:nvSpPr>
        <p:spPr>
          <a:xfrm>
            <a:off x="5571407" y="6555497"/>
            <a:ext cx="1720176" cy="28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https://medium.com/@yannmjl/what-is-devops-in-simple-english-6550fbb129bd</a:t>
            </a:r>
            <a:endParaRPr lang="ko-KR" altLang="en-US" sz="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7336870" y="5186513"/>
            <a:ext cx="1037451" cy="1975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bIns="72000" rtlCol="0" anchor="ctr">
            <a:noAutofit/>
          </a:bodyPr>
          <a:lstStyle>
            <a:defPPr>
              <a:defRPr lang="ko-KR"/>
            </a:defPPr>
            <a:lvl1pPr algn="ctr">
              <a:defRPr sz="1100" kern="0">
                <a:gradFill>
                  <a:gsLst>
                    <a:gs pos="11250">
                      <a:schemeClr val="tx1">
                        <a:lumMod val="75000"/>
                        <a:lumOff val="25000"/>
                      </a:schemeClr>
                    </a:gs>
                    <a:gs pos="32000">
                      <a:schemeClr val="tx1">
                        <a:lumMod val="75000"/>
                        <a:lumOff val="25000"/>
                      </a:schemeClr>
                    </a:gs>
                  </a:gsLst>
                  <a:lin ang="10800000" scaled="1"/>
                </a:gradFill>
                <a:latin typeface="Rix고딕 B"/>
                <a:ea typeface="Rix고딕 EB"/>
              </a:defRPr>
            </a:lvl1pPr>
          </a:lstStyle>
          <a:p>
            <a:r>
              <a:rPr lang="ko-KR" altLang="en-US" sz="1000">
                <a:gradFill>
                  <a:gsLst>
                    <a:gs pos="11250">
                      <a:prstClr val="black">
                        <a:lumMod val="75000"/>
                        <a:lumOff val="25000"/>
                      </a:prstClr>
                    </a:gs>
                    <a:gs pos="32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로컬 환경</a:t>
            </a:r>
            <a:endParaRPr lang="ko-KR" altLang="en-US" sz="1000" dirty="0">
              <a:gradFill>
                <a:gsLst>
                  <a:gs pos="11250">
                    <a:prstClr val="black">
                      <a:lumMod val="75000"/>
                      <a:lumOff val="25000"/>
                    </a:prstClr>
                  </a:gs>
                  <a:gs pos="32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343683" y="5380972"/>
            <a:ext cx="2514247" cy="361946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wrap="square" bIns="72000" rtlCol="0" anchor="ctr">
            <a:noAutofit/>
          </a:bodyPr>
          <a:lstStyle>
            <a:defPPr>
              <a:defRPr lang="ko-KR"/>
            </a:defPPr>
            <a:lvl1pPr algn="ctr">
              <a:defRPr sz="1100" kern="0">
                <a:gradFill>
                  <a:gsLst>
                    <a:gs pos="11250">
                      <a:schemeClr val="tx1">
                        <a:lumMod val="75000"/>
                        <a:lumOff val="25000"/>
                      </a:schemeClr>
                    </a:gs>
                    <a:gs pos="32000">
                      <a:schemeClr val="tx1">
                        <a:lumMod val="75000"/>
                        <a:lumOff val="25000"/>
                      </a:schemeClr>
                    </a:gs>
                  </a:gsLst>
                  <a:lin ang="10800000" scaled="1"/>
                </a:gradFill>
                <a:latin typeface="Rix고딕 B"/>
                <a:ea typeface="Rix고딕 EB"/>
              </a:defRPr>
            </a:lvl1pPr>
          </a:lstStyle>
          <a:p>
            <a:endParaRPr lang="ko-KR" altLang="en-US" sz="800" dirty="0">
              <a:gradFill>
                <a:gsLst>
                  <a:gs pos="11250">
                    <a:prstClr val="black">
                      <a:lumMod val="75000"/>
                      <a:lumOff val="25000"/>
                    </a:prstClr>
                  </a:gs>
                  <a:gs pos="32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7391353" y="5453492"/>
            <a:ext cx="740837" cy="21690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>
            <a:solidFill>
              <a:sysClr val="window" lastClr="FFFFFF">
                <a:lumMod val="85000"/>
              </a:sysClr>
            </a:solidFill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1339" algn="ctr" defTabSz="955906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0"/>
                </a:gradFill>
              </a:rPr>
              <a:t>Eclipse</a:t>
            </a:r>
            <a:endParaRPr kumimoji="1" lang="ko-KR" altLang="en-US" sz="1000" kern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16200000" scaled="0"/>
              </a:gradFill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8179860" y="5453493"/>
            <a:ext cx="331396" cy="21690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>
            <a:solidFill>
              <a:sysClr val="window" lastClr="FFFFFF">
                <a:lumMod val="85000"/>
              </a:sysClr>
            </a:solidFill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1339" algn="ctr" defTabSz="955906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0"/>
                </a:gradFill>
              </a:rPr>
              <a:t>Git</a:t>
            </a:r>
            <a:endParaRPr kumimoji="1" lang="ko-KR" altLang="en-US" sz="1000" kern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16200000" scaled="0"/>
              </a:gra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8558926" y="5453492"/>
            <a:ext cx="557968" cy="21690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>
            <a:solidFill>
              <a:sysClr val="window" lastClr="FFFFFF">
                <a:lumMod val="85000"/>
              </a:sysClr>
            </a:solidFill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1339" algn="ctr" defTabSz="955906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0"/>
                </a:gradFill>
              </a:rPr>
              <a:t>Gradle</a:t>
            </a:r>
            <a:endParaRPr kumimoji="1" lang="ko-KR" altLang="en-US" sz="1000" kern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16200000" scaled="0"/>
              </a:gra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9164564" y="5453492"/>
            <a:ext cx="641265" cy="21690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>
            <a:solidFill>
              <a:sysClr val="window" lastClr="FFFFFF">
                <a:lumMod val="85000"/>
              </a:sysClr>
            </a:solidFill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1339" algn="ctr" defTabSz="955906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0"/>
                </a:gradFill>
              </a:rPr>
              <a:t>Tomcat</a:t>
            </a:r>
            <a:endParaRPr kumimoji="1" lang="ko-KR" altLang="en-US" sz="1000" kern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16200000" scaled="0"/>
              </a:gra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7336870" y="5821159"/>
            <a:ext cx="1037451" cy="1975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bIns="72000" rtlCol="0" anchor="ctr">
            <a:noAutofit/>
          </a:bodyPr>
          <a:lstStyle>
            <a:defPPr>
              <a:defRPr lang="ko-KR"/>
            </a:defPPr>
            <a:lvl1pPr algn="ctr">
              <a:defRPr sz="1100" kern="0">
                <a:gradFill>
                  <a:gsLst>
                    <a:gs pos="11250">
                      <a:schemeClr val="tx1">
                        <a:lumMod val="75000"/>
                        <a:lumOff val="25000"/>
                      </a:schemeClr>
                    </a:gs>
                    <a:gs pos="32000">
                      <a:schemeClr val="tx1">
                        <a:lumMod val="75000"/>
                        <a:lumOff val="25000"/>
                      </a:schemeClr>
                    </a:gs>
                  </a:gsLst>
                  <a:lin ang="10800000" scaled="1"/>
                </a:gradFill>
                <a:latin typeface="Rix고딕 B"/>
                <a:ea typeface="Rix고딕 EB"/>
              </a:defRPr>
            </a:lvl1pPr>
          </a:lstStyle>
          <a:p>
            <a:r>
              <a:rPr lang="en-US" altLang="ko-KR" sz="1000">
                <a:gradFill>
                  <a:gsLst>
                    <a:gs pos="11250">
                      <a:prstClr val="black">
                        <a:lumMod val="75000"/>
                        <a:lumOff val="25000"/>
                      </a:prstClr>
                    </a:gs>
                    <a:gs pos="32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CI</a:t>
            </a:r>
            <a:r>
              <a:rPr lang="ko-KR" altLang="en-US" sz="1000">
                <a:gradFill>
                  <a:gsLst>
                    <a:gs pos="11250">
                      <a:prstClr val="black">
                        <a:lumMod val="75000"/>
                        <a:lumOff val="25000"/>
                      </a:prstClr>
                    </a:gs>
                    <a:gs pos="32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 환경</a:t>
            </a:r>
            <a:endParaRPr lang="ko-KR" altLang="en-US" sz="1000" dirty="0">
              <a:gradFill>
                <a:gsLst>
                  <a:gs pos="11250">
                    <a:prstClr val="black">
                      <a:lumMod val="75000"/>
                      <a:lumOff val="25000"/>
                    </a:prstClr>
                  </a:gs>
                  <a:gs pos="32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7343683" y="6015618"/>
            <a:ext cx="2514247" cy="642425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wrap="square" bIns="72000" rtlCol="0" anchor="ctr">
            <a:noAutofit/>
          </a:bodyPr>
          <a:lstStyle>
            <a:defPPr>
              <a:defRPr lang="ko-KR"/>
            </a:defPPr>
            <a:lvl1pPr algn="ctr">
              <a:defRPr sz="1100" kern="0">
                <a:gradFill>
                  <a:gsLst>
                    <a:gs pos="11250">
                      <a:schemeClr val="tx1">
                        <a:lumMod val="75000"/>
                        <a:lumOff val="25000"/>
                      </a:schemeClr>
                    </a:gs>
                    <a:gs pos="32000">
                      <a:schemeClr val="tx1">
                        <a:lumMod val="75000"/>
                        <a:lumOff val="25000"/>
                      </a:schemeClr>
                    </a:gs>
                  </a:gsLst>
                  <a:lin ang="10800000" scaled="1"/>
                </a:gradFill>
                <a:latin typeface="Rix고딕 B"/>
                <a:ea typeface="Rix고딕 EB"/>
              </a:defRPr>
            </a:lvl1pPr>
          </a:lstStyle>
          <a:p>
            <a:endParaRPr lang="ko-KR" altLang="en-US" sz="800" dirty="0">
              <a:gradFill>
                <a:gsLst>
                  <a:gs pos="11250">
                    <a:prstClr val="black">
                      <a:lumMod val="75000"/>
                      <a:lumOff val="25000"/>
                    </a:prstClr>
                  </a:gs>
                  <a:gs pos="32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7391353" y="6088138"/>
            <a:ext cx="615833" cy="21690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>
            <a:solidFill>
              <a:sysClr val="window" lastClr="FFFFFF">
                <a:lumMod val="85000"/>
              </a:sysClr>
            </a:solidFill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1339" algn="ctr" defTabSz="955906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0"/>
                </a:gradFill>
              </a:rPr>
              <a:t>Jenkins</a:t>
            </a:r>
            <a:endParaRPr kumimoji="1" lang="ko-KR" altLang="en-US" sz="1000" kern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16200000" scaled="0"/>
              </a:gra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8057035" y="6088139"/>
            <a:ext cx="331396" cy="21690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>
            <a:solidFill>
              <a:sysClr val="window" lastClr="FFFFFF">
                <a:lumMod val="85000"/>
              </a:sysClr>
            </a:solidFill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1339" algn="ctr" defTabSz="955906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0"/>
                </a:gradFill>
              </a:rPr>
              <a:t>Git</a:t>
            </a:r>
            <a:endParaRPr kumimoji="1" lang="ko-KR" altLang="en-US" sz="1000" kern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16200000" scaled="0"/>
              </a:gra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8436101" y="6088138"/>
            <a:ext cx="510299" cy="21690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>
            <a:solidFill>
              <a:sysClr val="window" lastClr="FFFFFF">
                <a:lumMod val="85000"/>
              </a:sysClr>
            </a:solidFill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1339" algn="ctr" defTabSz="955906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0"/>
                </a:gradFill>
              </a:rPr>
              <a:t>Gradle</a:t>
            </a:r>
            <a:endParaRPr kumimoji="1" lang="ko-KR" altLang="en-US" sz="1000" kern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16200000" scaled="0"/>
              </a:gra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8994070" y="6088138"/>
            <a:ext cx="811759" cy="21690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>
            <a:solidFill>
              <a:sysClr val="window" lastClr="FFFFFF">
                <a:lumMod val="85000"/>
              </a:sysClr>
            </a:solidFill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1339" algn="ctr" defTabSz="955906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0"/>
                </a:gradFill>
              </a:rPr>
              <a:t>Sonarqube</a:t>
            </a:r>
            <a:endParaRPr kumimoji="1" lang="ko-KR" altLang="en-US" sz="1000" kern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16200000" scaled="0"/>
              </a:gradFill>
            </a:endParaRPr>
          </a:p>
        </p:txBody>
      </p:sp>
      <p:sp>
        <p:nvSpPr>
          <p:cNvPr id="169" name="직사각형 168"/>
          <p:cNvSpPr/>
          <p:nvPr/>
        </p:nvSpPr>
        <p:spPr>
          <a:xfrm>
            <a:off x="7387609" y="6360838"/>
            <a:ext cx="641265" cy="21690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>
            <a:solidFill>
              <a:sysClr val="window" lastClr="FFFFFF">
                <a:lumMod val="85000"/>
              </a:sysClr>
            </a:solidFill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1339" algn="ctr" defTabSz="955906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ker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0"/>
                </a:gradFill>
              </a:rPr>
              <a:t>Tomcat</a:t>
            </a:r>
            <a:endParaRPr kumimoji="1" lang="ko-KR" altLang="en-US" sz="1000" kern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16200000" scaled="0"/>
              </a:gradFill>
            </a:endParaRPr>
          </a:p>
        </p:txBody>
      </p:sp>
      <p:grpSp>
        <p:nvGrpSpPr>
          <p:cNvPr id="305" name="그룹 304"/>
          <p:cNvGrpSpPr/>
          <p:nvPr/>
        </p:nvGrpSpPr>
        <p:grpSpPr>
          <a:xfrm>
            <a:off x="5551151" y="2293235"/>
            <a:ext cx="4254678" cy="269525"/>
            <a:chOff x="5164041" y="1962785"/>
            <a:chExt cx="3389360" cy="233562"/>
          </a:xfrm>
        </p:grpSpPr>
        <p:sp>
          <p:nvSpPr>
            <p:cNvPr id="306" name="직사각형 305"/>
            <p:cNvSpPr/>
            <p:nvPr/>
          </p:nvSpPr>
          <p:spPr>
            <a:xfrm>
              <a:off x="5457129" y="1968538"/>
              <a:ext cx="3096272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/>
            <a:p>
              <a:pPr marL="0" lvl="1" defTabSz="914127" fontAlgn="base" latinLnBrk="0">
                <a:spcAft>
                  <a:spcPts val="150"/>
                </a:spcAft>
                <a:buClr>
                  <a:srgbClr val="8B8F9E"/>
                </a:buClr>
                <a:buSzPct val="100000"/>
                <a:tabLst>
                  <a:tab pos="1079500" algn="l"/>
                </a:tabLst>
                <a:defRPr/>
              </a:pPr>
              <a:r>
                <a:rPr lang="ko-KR" altLang="en-US" sz="1350" kern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소스 코드 품질 향상</a:t>
              </a:r>
              <a:endParaRPr lang="ko-KR" altLang="en-US" sz="135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Rix고딕 EB"/>
                <a:ea typeface="Rix고딕 EB"/>
              </a:endParaRPr>
            </a:p>
          </p:txBody>
        </p:sp>
        <p:pic>
          <p:nvPicPr>
            <p:cNvPr id="307" name="Picture 2" descr="D:\19.전지수\1. 제안서\1. 표준제안\★2017_표준제안설명회\작업\버트3.png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4041" y="1962785"/>
              <a:ext cx="233982" cy="220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0" name="그룹 79"/>
          <p:cNvGrpSpPr/>
          <p:nvPr/>
        </p:nvGrpSpPr>
        <p:grpSpPr>
          <a:xfrm>
            <a:off x="761406" y="4823517"/>
            <a:ext cx="4254678" cy="269525"/>
            <a:chOff x="5164041" y="1962785"/>
            <a:chExt cx="3389360" cy="233562"/>
          </a:xfrm>
        </p:grpSpPr>
        <p:sp>
          <p:nvSpPr>
            <p:cNvPr id="81" name="직사각형 80"/>
            <p:cNvSpPr/>
            <p:nvPr/>
          </p:nvSpPr>
          <p:spPr>
            <a:xfrm>
              <a:off x="5457129" y="1968538"/>
              <a:ext cx="3096272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/>
            <a:p>
              <a:pPr marL="0" lvl="1" defTabSz="914127" fontAlgn="base" latinLnBrk="0">
                <a:spcAft>
                  <a:spcPts val="150"/>
                </a:spcAft>
                <a:buClr>
                  <a:srgbClr val="8B8F9E"/>
                </a:buClr>
                <a:buSzPct val="100000"/>
                <a:tabLst>
                  <a:tab pos="1079500" algn="l"/>
                </a:tabLst>
                <a:defRPr/>
              </a:pPr>
              <a:r>
                <a:rPr lang="ko-KR" altLang="en-US" sz="1350" kern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오픈 소스 기반의 유연한 아키텍처</a:t>
              </a:r>
              <a:endParaRPr lang="ko-KR" altLang="en-US" sz="135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Rix고딕 EB"/>
                <a:ea typeface="Rix고딕 EB"/>
              </a:endParaRPr>
            </a:p>
          </p:txBody>
        </p:sp>
        <p:pic>
          <p:nvPicPr>
            <p:cNvPr id="82" name="Picture 2" descr="D:\19.전지수\1. 제안서\1. 표준제안\★2017_표준제안설명회\작업\버트3.png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4041" y="1962785"/>
              <a:ext cx="233982" cy="220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7247B788-2296-0743-B4E1-F13563436C0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44294023"/>
              </p:ext>
            </p:extLst>
          </p:nvPr>
        </p:nvGraphicFramePr>
        <p:xfrm>
          <a:off x="1007990" y="5695312"/>
          <a:ext cx="809768" cy="489000"/>
        </p:xfrm>
        <a:graphic>
          <a:graphicData uri="http://schemas.openxmlformats.org/drawingml/2006/table">
            <a:tbl>
              <a:tblPr firstRow="1" bandRow="1"/>
              <a:tblGrid>
                <a:gridCol w="809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6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077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98"/>
                        </a:spcAft>
                        <a:buClr>
                          <a:srgbClr val="A1A1A1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Web Server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3175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Nginx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3175" marR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158565"/>
                  </a:ext>
                </a:extLst>
              </a:tr>
            </a:tbl>
          </a:graphicData>
        </a:graphic>
      </p:graphicFrame>
      <p:graphicFrame>
        <p:nvGraphicFramePr>
          <p:cNvPr id="84" name="표 83">
            <a:extLst>
              <a:ext uri="{FF2B5EF4-FFF2-40B4-BE49-F238E27FC236}">
                <a16:creationId xmlns:a16="http://schemas.microsoft.com/office/drawing/2014/main" id="{7247B788-2296-0743-B4E1-F13563436C0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243695926"/>
              </p:ext>
            </p:extLst>
          </p:nvPr>
        </p:nvGraphicFramePr>
        <p:xfrm>
          <a:off x="2071780" y="5695312"/>
          <a:ext cx="809768" cy="646920"/>
        </p:xfrm>
        <a:graphic>
          <a:graphicData uri="http://schemas.openxmlformats.org/drawingml/2006/table">
            <a:tbl>
              <a:tblPr firstRow="1" bandRow="1"/>
              <a:tblGrid>
                <a:gridCol w="809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6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077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98"/>
                        </a:spcAft>
                        <a:buClr>
                          <a:srgbClr val="A1A1A1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WAS Server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3175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Tomcat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3175" marR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OpenJDK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3175" marR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158565"/>
                  </a:ext>
                </a:extLst>
              </a:tr>
            </a:tbl>
          </a:graphicData>
        </a:graphic>
      </p:graphicFrame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7247B788-2296-0743-B4E1-F13563436C0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349684249"/>
              </p:ext>
            </p:extLst>
          </p:nvPr>
        </p:nvGraphicFramePr>
        <p:xfrm>
          <a:off x="3153597" y="5698725"/>
          <a:ext cx="809768" cy="646920"/>
        </p:xfrm>
        <a:graphic>
          <a:graphicData uri="http://schemas.openxmlformats.org/drawingml/2006/table">
            <a:tbl>
              <a:tblPr firstRow="1" bandRow="1"/>
              <a:tblGrid>
                <a:gridCol w="809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6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077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98"/>
                        </a:spcAft>
                        <a:buClr>
                          <a:srgbClr val="A1A1A1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API Server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3175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Tomcat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3175" marR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OpenJDK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3175" marR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158565"/>
                  </a:ext>
                </a:extLst>
              </a:tr>
            </a:tbl>
          </a:graphicData>
        </a:graphic>
      </p:graphicFrame>
      <p:graphicFrame>
        <p:nvGraphicFramePr>
          <p:cNvPr id="86" name="표 85">
            <a:extLst>
              <a:ext uri="{FF2B5EF4-FFF2-40B4-BE49-F238E27FC236}">
                <a16:creationId xmlns:a16="http://schemas.microsoft.com/office/drawing/2014/main" id="{7247B788-2296-0743-B4E1-F13563436C0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364814203"/>
              </p:ext>
            </p:extLst>
          </p:nvPr>
        </p:nvGraphicFramePr>
        <p:xfrm>
          <a:off x="4124079" y="5695312"/>
          <a:ext cx="809768" cy="489000"/>
        </p:xfrm>
        <a:graphic>
          <a:graphicData uri="http://schemas.openxmlformats.org/drawingml/2006/table">
            <a:tbl>
              <a:tblPr firstRow="1" bandRow="1"/>
              <a:tblGrid>
                <a:gridCol w="809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6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077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98"/>
                        </a:spcAft>
                        <a:buClr>
                          <a:srgbClr val="A1A1A1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 Server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3175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PostgreSQL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3175" marR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158565"/>
                  </a:ext>
                </a:extLst>
              </a:tr>
            </a:tbl>
          </a:graphicData>
        </a:graphic>
      </p:graphicFrame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7247B788-2296-0743-B4E1-F13563436C0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545990165"/>
              </p:ext>
            </p:extLst>
          </p:nvPr>
        </p:nvGraphicFramePr>
        <p:xfrm>
          <a:off x="922212" y="5794004"/>
          <a:ext cx="809768" cy="489000"/>
        </p:xfrm>
        <a:graphic>
          <a:graphicData uri="http://schemas.openxmlformats.org/drawingml/2006/table">
            <a:tbl>
              <a:tblPr firstRow="1" bandRow="1"/>
              <a:tblGrid>
                <a:gridCol w="809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6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077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98"/>
                        </a:spcAft>
                        <a:buClr>
                          <a:srgbClr val="A1A1A1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Web Server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3175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Nginx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3175" marR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158565"/>
                  </a:ext>
                </a:extLst>
              </a:tr>
            </a:tbl>
          </a:graphicData>
        </a:graphic>
      </p:graphicFrame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7247B788-2296-0743-B4E1-F13563436C0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47264433"/>
              </p:ext>
            </p:extLst>
          </p:nvPr>
        </p:nvGraphicFramePr>
        <p:xfrm>
          <a:off x="1984049" y="5803096"/>
          <a:ext cx="809768" cy="646920"/>
        </p:xfrm>
        <a:graphic>
          <a:graphicData uri="http://schemas.openxmlformats.org/drawingml/2006/table">
            <a:tbl>
              <a:tblPr firstRow="1" bandRow="1"/>
              <a:tblGrid>
                <a:gridCol w="809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6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077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98"/>
                        </a:spcAft>
                        <a:buClr>
                          <a:srgbClr val="A1A1A1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WAS Server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3175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Tomcat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3175" marR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OpenJDK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3175" marR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158565"/>
                  </a:ext>
                </a:extLst>
              </a:tr>
            </a:tbl>
          </a:graphicData>
        </a:graphic>
      </p:graphicFrame>
      <p:graphicFrame>
        <p:nvGraphicFramePr>
          <p:cNvPr id="89" name="표 88">
            <a:extLst>
              <a:ext uri="{FF2B5EF4-FFF2-40B4-BE49-F238E27FC236}">
                <a16:creationId xmlns:a16="http://schemas.microsoft.com/office/drawing/2014/main" id="{7247B788-2296-0743-B4E1-F13563436C0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840799905"/>
              </p:ext>
            </p:extLst>
          </p:nvPr>
        </p:nvGraphicFramePr>
        <p:xfrm>
          <a:off x="3066225" y="5803096"/>
          <a:ext cx="809768" cy="646920"/>
        </p:xfrm>
        <a:graphic>
          <a:graphicData uri="http://schemas.openxmlformats.org/drawingml/2006/table">
            <a:tbl>
              <a:tblPr firstRow="1" bandRow="1"/>
              <a:tblGrid>
                <a:gridCol w="809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6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077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98"/>
                        </a:spcAft>
                        <a:buClr>
                          <a:srgbClr val="A1A1A1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API Server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3175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Tomcat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3175" marR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OpenJDK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65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Rix고딕 M"/>
                          <a:ea typeface="Rix고딕 M"/>
                        </a:defRPr>
                      </a:lvl9pPr>
                    </a:lstStyle>
                    <a:p>
                      <a:pPr marL="3175" marR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rgbClr val="8B8F9E"/>
                        </a:buClr>
                        <a:buSzPct val="100000"/>
                        <a:buFont typeface="Arial" pitchFamily="34" charset="0"/>
                        <a:buNone/>
                        <a:tabLst>
                          <a:tab pos="801688" algn="l"/>
                          <a:tab pos="1079500" algn="l"/>
                        </a:tabLst>
                      </a:pPr>
                      <a:r>
                        <a:rPr kumimoji="0" lang="en-US" altLang="ko-KR" sz="8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</a:t>
                      </a:r>
                      <a:endParaRPr kumimoji="0" lang="ko-KR" altLang="en-US" sz="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6800" marR="468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158565"/>
                  </a:ext>
                </a:extLst>
              </a:tr>
            </a:tbl>
          </a:graphicData>
        </a:graphic>
      </p:graphicFrame>
      <p:sp>
        <p:nvSpPr>
          <p:cNvPr id="97" name="Rectangle 43">
            <a:extLst>
              <a:ext uri="{FF2B5EF4-FFF2-40B4-BE49-F238E27FC236}">
                <a16:creationId xmlns:a16="http://schemas.microsoft.com/office/drawing/2014/main" id="{25B2706C-95D8-A94F-9EC8-6497FA7FB136}"/>
              </a:ext>
            </a:extLst>
          </p:cNvPr>
          <p:cNvSpPr/>
          <p:nvPr/>
        </p:nvSpPr>
        <p:spPr>
          <a:xfrm>
            <a:off x="882081" y="5508871"/>
            <a:ext cx="3144715" cy="1068873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D86613"/>
              </a:solidFill>
            </a:endParaRPr>
          </a:p>
          <a:p>
            <a:pPr algn="ctr"/>
            <a:endParaRPr lang="en-US" sz="1200" dirty="0">
              <a:solidFill>
                <a:srgbClr val="D86613"/>
              </a:solidFill>
            </a:endParaRPr>
          </a:p>
        </p:txBody>
      </p:sp>
      <p:sp>
        <p:nvSpPr>
          <p:cNvPr id="99" name="Rectangle 31">
            <a:extLst>
              <a:ext uri="{FF2B5EF4-FFF2-40B4-BE49-F238E27FC236}">
                <a16:creationId xmlns:a16="http://schemas.microsoft.com/office/drawing/2014/main" id="{0EB8B091-E866-5B45-9D39-DB380AE8EEA5}"/>
              </a:ext>
            </a:extLst>
          </p:cNvPr>
          <p:cNvSpPr/>
          <p:nvPr/>
        </p:nvSpPr>
        <p:spPr>
          <a:xfrm>
            <a:off x="840256" y="5145473"/>
            <a:ext cx="4175828" cy="163184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1827329" y="6085674"/>
            <a:ext cx="14402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>
            <a:off x="2897423" y="6082499"/>
            <a:ext cx="14402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/>
        </p:nvCxnSpPr>
        <p:spPr>
          <a:xfrm>
            <a:off x="3967359" y="6082499"/>
            <a:ext cx="14402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1085041" y="5270868"/>
            <a:ext cx="2617875" cy="244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00">
                <a:solidFill>
                  <a:srgbClr val="D8661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Scale-out zone</a:t>
            </a:r>
            <a:endParaRPr lang="en-US" altLang="ko-KR" sz="1000" dirty="0">
              <a:solidFill>
                <a:srgbClr val="D8661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8" name="Graphic 9">
            <a:extLst>
              <a:ext uri="{FF2B5EF4-FFF2-40B4-BE49-F238E27FC236}">
                <a16:creationId xmlns:a16="http://schemas.microsoft.com/office/drawing/2014/main" id="{500C2653-A06A-354F-97A7-93DD33AFA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692697" y="5147453"/>
            <a:ext cx="330200" cy="330200"/>
          </a:xfrm>
          <a:prstGeom prst="rect">
            <a:avLst/>
          </a:prstGeom>
        </p:spPr>
      </p:pic>
      <p:sp>
        <p:nvSpPr>
          <p:cNvPr id="119" name="직사각형 118"/>
          <p:cNvSpPr/>
          <p:nvPr/>
        </p:nvSpPr>
        <p:spPr>
          <a:xfrm>
            <a:off x="5698010" y="2705322"/>
            <a:ext cx="1412420" cy="35095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개발 표준 수립</a:t>
            </a:r>
            <a:endParaRPr lang="ko-KR" altLang="en-US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21" name="AutoShape 37">
            <a:extLst>
              <a:ext uri="{FF2B5EF4-FFF2-40B4-BE49-F238E27FC236}">
                <a16:creationId xmlns:a16="http://schemas.microsoft.com/office/drawing/2014/main" id="{C9034FAD-8B40-4A8C-B5B1-50F0C376D251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86036" y="3710156"/>
            <a:ext cx="1424394" cy="337031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</a:rPr>
              <a:t>구현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</a:endParaRPr>
          </a:p>
        </p:txBody>
      </p:sp>
      <p:sp>
        <p:nvSpPr>
          <p:cNvPr id="122" name="텍스트 개체 틀 14"/>
          <p:cNvSpPr txBox="1">
            <a:spLocks/>
          </p:cNvSpPr>
          <p:nvPr/>
        </p:nvSpPr>
        <p:spPr>
          <a:xfrm>
            <a:off x="7146746" y="2681295"/>
            <a:ext cx="2659083" cy="400042"/>
          </a:xfrm>
          <a:prstGeom prst="rect">
            <a:avLst/>
          </a:prstGeom>
        </p:spPr>
        <p:txBody>
          <a:bodyPr lIns="36000" tIns="36000" rIns="36000" bIns="36000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kumimoji="1" lang="ko-KR" altLang="en-US" sz="1000">
                <a:gradFill>
                  <a:gsLst>
                    <a:gs pos="5833">
                      <a:prstClr val="black">
                        <a:lumMod val="75000"/>
                        <a:lumOff val="25000"/>
                      </a:prstClr>
                    </a:gs>
                    <a:gs pos="10833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이투스 개발표준 및 </a:t>
            </a:r>
            <a:r>
              <a:rPr kumimoji="1" lang="en-US" altLang="ko-KR" sz="1000">
                <a:gradFill>
                  <a:gsLst>
                    <a:gs pos="5833">
                      <a:prstClr val="black">
                        <a:lumMod val="75000"/>
                        <a:lumOff val="25000"/>
                      </a:prstClr>
                    </a:gs>
                    <a:gs pos="10833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Google Java Style Guid </a:t>
            </a:r>
            <a:r>
              <a:rPr kumimoji="1" lang="ko-KR" altLang="en-US" sz="1000">
                <a:gradFill>
                  <a:gsLst>
                    <a:gs pos="5833">
                      <a:prstClr val="black">
                        <a:lumMod val="75000"/>
                        <a:lumOff val="25000"/>
                      </a:prstClr>
                    </a:gs>
                    <a:gs pos="10833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등 글로벌 표준 참고 </a:t>
            </a:r>
            <a:endParaRPr kumimoji="1" lang="ko-KR" altLang="en-US" sz="1000" dirty="0">
              <a:gradFill>
                <a:gsLst>
                  <a:gs pos="5833">
                    <a:prstClr val="black">
                      <a:lumMod val="75000"/>
                      <a:lumOff val="25000"/>
                    </a:prstClr>
                  </a:gs>
                  <a:gs pos="10833">
                    <a:prstClr val="black">
                      <a:lumMod val="75000"/>
                      <a:lumOff val="25000"/>
                    </a:prstClr>
                  </a:gs>
                </a:gsLst>
                <a:lin ang="0" scaled="1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5698010" y="3213650"/>
            <a:ext cx="1412420" cy="35095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개발 표준 가이드</a:t>
            </a:r>
            <a:endParaRPr lang="ko-KR" altLang="en-US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5692023" y="4194456"/>
            <a:ext cx="1412420" cy="35095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개발 검증</a:t>
            </a:r>
            <a:endParaRPr lang="ko-KR" altLang="en-US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25" name="텍스트 개체 틀 14"/>
          <p:cNvSpPr txBox="1">
            <a:spLocks/>
          </p:cNvSpPr>
          <p:nvPr/>
        </p:nvSpPr>
        <p:spPr>
          <a:xfrm>
            <a:off x="7146746" y="3213650"/>
            <a:ext cx="2622767" cy="276363"/>
          </a:xfrm>
          <a:prstGeom prst="rect">
            <a:avLst/>
          </a:prstGeom>
        </p:spPr>
        <p:txBody>
          <a:bodyPr lIns="36000" tIns="36000" rIns="36000" bIns="36000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kumimoji="1" lang="ko-KR" altLang="en-US" sz="1000">
                <a:gradFill>
                  <a:gsLst>
                    <a:gs pos="5833">
                      <a:prstClr val="black">
                        <a:lumMod val="75000"/>
                        <a:lumOff val="25000"/>
                      </a:prstClr>
                    </a:gs>
                    <a:gs pos="10833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개발 표준에 대한 가이드 배포 및 교육</a:t>
            </a:r>
            <a:endParaRPr kumimoji="1" lang="ko-KR" altLang="en-US" sz="1000" dirty="0">
              <a:gradFill>
                <a:gsLst>
                  <a:gs pos="5833">
                    <a:prstClr val="black">
                      <a:lumMod val="75000"/>
                      <a:lumOff val="25000"/>
                    </a:prstClr>
                  </a:gs>
                  <a:gs pos="10833">
                    <a:prstClr val="black">
                      <a:lumMod val="75000"/>
                      <a:lumOff val="25000"/>
                    </a:prstClr>
                  </a:gs>
                </a:gsLst>
                <a:lin ang="0" scaled="1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cxnSp>
        <p:nvCxnSpPr>
          <p:cNvPr id="14" name="직선 화살표 연결선 13"/>
          <p:cNvCxnSpPr>
            <a:stCxn id="119" idx="2"/>
            <a:endCxn id="123" idx="0"/>
          </p:cNvCxnSpPr>
          <p:nvPr/>
        </p:nvCxnSpPr>
        <p:spPr>
          <a:xfrm>
            <a:off x="6404220" y="3056273"/>
            <a:ext cx="0" cy="157377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123" idx="2"/>
            <a:endCxn id="121" idx="0"/>
          </p:cNvCxnSpPr>
          <p:nvPr/>
        </p:nvCxnSpPr>
        <p:spPr>
          <a:xfrm flipH="1">
            <a:off x="6398233" y="3564601"/>
            <a:ext cx="5987" cy="145555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텍스트 개체 틀 14"/>
          <p:cNvSpPr txBox="1">
            <a:spLocks/>
          </p:cNvSpPr>
          <p:nvPr/>
        </p:nvSpPr>
        <p:spPr>
          <a:xfrm>
            <a:off x="7146745" y="3688323"/>
            <a:ext cx="2659083" cy="283543"/>
          </a:xfrm>
          <a:prstGeom prst="rect">
            <a:avLst/>
          </a:prstGeom>
        </p:spPr>
        <p:txBody>
          <a:bodyPr lIns="36000" tIns="36000" rIns="36000" bIns="36000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kumimoji="1" lang="ko-KR" altLang="en-US" sz="1000">
                <a:gradFill>
                  <a:gsLst>
                    <a:gs pos="5833">
                      <a:prstClr val="black">
                        <a:lumMod val="75000"/>
                        <a:lumOff val="25000"/>
                      </a:prstClr>
                    </a:gs>
                    <a:gs pos="10833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개발 가이드 또는 </a:t>
            </a:r>
            <a:r>
              <a:rPr kumimoji="1" lang="en-US" altLang="ko-KR" sz="1000">
                <a:gradFill>
                  <a:gsLst>
                    <a:gs pos="5833">
                      <a:prstClr val="black">
                        <a:lumMod val="75000"/>
                        <a:lumOff val="25000"/>
                      </a:prstClr>
                    </a:gs>
                    <a:gs pos="10833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Inspection </a:t>
            </a:r>
            <a:r>
              <a:rPr kumimoji="1" lang="ko-KR" altLang="en-US" sz="1000">
                <a:gradFill>
                  <a:gsLst>
                    <a:gs pos="5833">
                      <a:prstClr val="black">
                        <a:lumMod val="75000"/>
                        <a:lumOff val="25000"/>
                      </a:prstClr>
                    </a:gs>
                    <a:gs pos="10833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결과를 참고하여 구현</a:t>
            </a:r>
            <a:endParaRPr kumimoji="1" lang="ko-KR" altLang="en-US" sz="1000" dirty="0">
              <a:gradFill>
                <a:gsLst>
                  <a:gs pos="5833">
                    <a:prstClr val="black">
                      <a:lumMod val="75000"/>
                      <a:lumOff val="25000"/>
                    </a:prstClr>
                  </a:gs>
                  <a:gs pos="10833">
                    <a:prstClr val="black">
                      <a:lumMod val="75000"/>
                      <a:lumOff val="25000"/>
                    </a:prstClr>
                  </a:gs>
                </a:gsLst>
                <a:lin ang="0" scaled="1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grpSp>
        <p:nvGrpSpPr>
          <p:cNvPr id="172" name="그룹 171"/>
          <p:cNvGrpSpPr/>
          <p:nvPr/>
        </p:nvGrpSpPr>
        <p:grpSpPr>
          <a:xfrm>
            <a:off x="6247233" y="3964494"/>
            <a:ext cx="301509" cy="315580"/>
            <a:chOff x="5040113" y="4077072"/>
            <a:chExt cx="775374" cy="818266"/>
          </a:xfrm>
        </p:grpSpPr>
        <p:pic>
          <p:nvPicPr>
            <p:cNvPr id="173" name="그림 172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40113" y="4549147"/>
              <a:ext cx="775374" cy="346191"/>
            </a:xfrm>
            <a:prstGeom prst="rect">
              <a:avLst/>
            </a:prstGeom>
          </p:spPr>
        </p:pic>
        <p:pic>
          <p:nvPicPr>
            <p:cNvPr id="174" name="그림 173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5040113" y="4077072"/>
              <a:ext cx="775374" cy="346191"/>
            </a:xfrm>
            <a:prstGeom prst="rect">
              <a:avLst/>
            </a:prstGeom>
          </p:spPr>
        </p:pic>
      </p:grpSp>
      <p:sp>
        <p:nvSpPr>
          <p:cNvPr id="175" name="텍스트 개체 틀 14"/>
          <p:cNvSpPr txBox="1">
            <a:spLocks/>
          </p:cNvSpPr>
          <p:nvPr/>
        </p:nvSpPr>
        <p:spPr>
          <a:xfrm>
            <a:off x="7110430" y="4164149"/>
            <a:ext cx="2659083" cy="283543"/>
          </a:xfrm>
          <a:prstGeom prst="rect">
            <a:avLst/>
          </a:prstGeom>
        </p:spPr>
        <p:txBody>
          <a:bodyPr lIns="36000" tIns="36000" rIns="36000" bIns="36000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Rix고딕 EB" panose="02020603020101020101" pitchFamily="18" charset="-127"/>
                <a:ea typeface="Rix고딕 EB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kumimoji="1" lang="ko-KR" altLang="en-US" sz="1000">
                <a:gradFill>
                  <a:gsLst>
                    <a:gs pos="5833">
                      <a:prstClr val="black">
                        <a:lumMod val="75000"/>
                        <a:lumOff val="25000"/>
                      </a:prstClr>
                    </a:gs>
                    <a:gs pos="10833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소스 코드 리뷰 또는 자동화 된 </a:t>
            </a:r>
            <a:r>
              <a:rPr kumimoji="1" lang="en-US" altLang="ko-KR" sz="1000">
                <a:gradFill>
                  <a:gsLst>
                    <a:gs pos="5833">
                      <a:prstClr val="black">
                        <a:lumMod val="75000"/>
                        <a:lumOff val="25000"/>
                      </a:prstClr>
                    </a:gs>
                    <a:gs pos="10833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Inspection </a:t>
            </a:r>
            <a:r>
              <a:rPr kumimoji="1" lang="ko-KR" altLang="en-US" sz="1000">
                <a:gradFill>
                  <a:gsLst>
                    <a:gs pos="5833">
                      <a:prstClr val="black">
                        <a:lumMod val="75000"/>
                        <a:lumOff val="25000"/>
                      </a:prstClr>
                    </a:gs>
                    <a:gs pos="10833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도구를 활용하여 개발자에게 피드백</a:t>
            </a:r>
            <a:endParaRPr kumimoji="1" lang="ko-KR" altLang="en-US" sz="1000" dirty="0">
              <a:gradFill>
                <a:gsLst>
                  <a:gs pos="5833">
                    <a:prstClr val="black">
                      <a:lumMod val="75000"/>
                      <a:lumOff val="25000"/>
                    </a:prstClr>
                  </a:gs>
                  <a:gs pos="10833">
                    <a:prstClr val="black">
                      <a:lumMod val="75000"/>
                      <a:lumOff val="25000"/>
                    </a:prstClr>
                  </a:gs>
                </a:gsLst>
                <a:lin ang="0" scaled="1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6047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0" y="2124401"/>
            <a:ext cx="8695616" cy="4333941"/>
            <a:chOff x="0" y="2124401"/>
            <a:chExt cx="8695616" cy="4333941"/>
          </a:xfrm>
        </p:grpSpPr>
        <p:sp>
          <p:nvSpPr>
            <p:cNvPr id="10" name="TextBox 9"/>
            <p:cNvSpPr txBox="1"/>
            <p:nvPr/>
          </p:nvSpPr>
          <p:spPr>
            <a:xfrm>
              <a:off x="2970370" y="3564601"/>
              <a:ext cx="4464620" cy="2893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400"/>
                </a:spcBef>
                <a:buAutoNum type="arabicPeriod"/>
              </a:pP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수행 조직도</a:t>
              </a:r>
            </a:p>
            <a:p>
              <a:pPr marL="342900" indent="-342900">
                <a:lnSpc>
                  <a:spcPct val="130000"/>
                </a:lnSpc>
                <a:spcBef>
                  <a:spcPts val="400"/>
                </a:spcBef>
                <a:buAutoNum type="arabicPeriod"/>
              </a:pP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수행 조직 역할</a:t>
              </a:r>
            </a:p>
            <a:p>
              <a:pPr marL="342900" indent="-342900">
                <a:lnSpc>
                  <a:spcPct val="130000"/>
                </a:lnSpc>
                <a:spcBef>
                  <a:spcPts val="400"/>
                </a:spcBef>
                <a:buAutoNum type="arabicPeriod"/>
              </a:pP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역할 및 의사소통 방안</a:t>
              </a:r>
            </a:p>
            <a:p>
              <a:pPr marL="342900" indent="-342900">
                <a:lnSpc>
                  <a:spcPct val="130000"/>
                </a:lnSpc>
                <a:spcBef>
                  <a:spcPts val="400"/>
                </a:spcBef>
                <a:buAutoNum type="arabicPeriod"/>
              </a:pP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사업추진 일정</a:t>
              </a:r>
            </a:p>
            <a:p>
              <a:pPr marL="342900" indent="-342900">
                <a:lnSpc>
                  <a:spcPct val="130000"/>
                </a:lnSpc>
                <a:spcBef>
                  <a:spcPts val="400"/>
                </a:spcBef>
                <a:buAutoNum type="arabicPeriod"/>
              </a:pP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인력 투입 계획</a:t>
              </a:r>
            </a:p>
            <a:p>
              <a:pPr marL="342900" indent="-342900">
                <a:lnSpc>
                  <a:spcPct val="130000"/>
                </a:lnSpc>
                <a:spcBef>
                  <a:spcPts val="400"/>
                </a:spcBef>
                <a:buAutoNum type="arabicPeriod"/>
              </a:pP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산출물 계획</a:t>
              </a:r>
            </a:p>
            <a:p>
              <a:pPr marL="342900" indent="-342900">
                <a:lnSpc>
                  <a:spcPct val="130000"/>
                </a:lnSpc>
                <a:spcBef>
                  <a:spcPts val="400"/>
                </a:spcBef>
                <a:buAutoNum type="arabicPeriod"/>
              </a:pP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테스트 계획</a:t>
              </a:r>
            </a:p>
          </p:txBody>
        </p:sp>
        <p:sp>
          <p:nvSpPr>
            <p:cNvPr id="11" name="TextBox 4"/>
            <p:cNvSpPr txBox="1"/>
            <p:nvPr/>
          </p:nvSpPr>
          <p:spPr>
            <a:xfrm>
              <a:off x="1530170" y="2124401"/>
              <a:ext cx="929742" cy="110799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defTabSz="457148" latinLnBrk="0">
                <a:defRPr sz="5400" spc="50">
                  <a:ln w="13500">
                    <a:solidFill>
                      <a:srgbClr val="002060">
                        <a:alpha val="6000"/>
                      </a:srgbClr>
                    </a:solidFill>
                    <a:prstDash val="solid"/>
                  </a:ln>
                  <a:solidFill>
                    <a:srgbClr val="FFFFFF"/>
                  </a:solidFill>
                  <a:effectLst/>
                  <a:latin typeface="HY견명조" panose="02030600000101010101" pitchFamily="18" charset="-127"/>
                  <a:ea typeface="HY견명조" panose="02030600000101010101" pitchFamily="18" charset="-127"/>
                </a:defRPr>
              </a:lvl1pPr>
              <a:lvl2pPr marL="457148" defTabSz="457148" latinLnBrk="0">
                <a:defRPr sz="1800"/>
              </a:lvl2pPr>
              <a:lvl3pPr marL="914296" defTabSz="457148" latinLnBrk="0">
                <a:defRPr sz="1800"/>
              </a:lvl3pPr>
              <a:lvl4pPr marL="1371444" defTabSz="457148" latinLnBrk="0">
                <a:defRPr sz="1800"/>
              </a:lvl4pPr>
              <a:lvl5pPr marL="1828592" defTabSz="457148" latinLnBrk="0">
                <a:defRPr sz="1800"/>
              </a:lvl5pPr>
              <a:lvl6pPr marL="2285740" defTabSz="457148" latinLnBrk="0">
                <a:defRPr sz="1800"/>
              </a:lvl6pPr>
              <a:lvl7pPr marL="2742888" defTabSz="457148" latinLnBrk="0">
                <a:defRPr sz="1800"/>
              </a:lvl7pPr>
              <a:lvl8pPr marL="3200036" defTabSz="457148" latinLnBrk="0">
                <a:defRPr sz="1800"/>
              </a:lvl8pPr>
              <a:lvl9pPr marL="3657184" defTabSz="457148" latinLnBrk="0">
                <a:defRPr sz="1800"/>
              </a:lvl9pPr>
            </a:lstStyle>
            <a:p>
              <a:r>
                <a:rPr lang="en-US" altLang="ko-KR" sz="7200" dirty="0">
                  <a:solidFill>
                    <a:schemeClr val="accent2"/>
                  </a:solidFill>
                </a:rPr>
                <a:t>Ⅲ</a:t>
              </a:r>
            </a:p>
          </p:txBody>
        </p:sp>
        <p:sp>
          <p:nvSpPr>
            <p:cNvPr id="13" name="TextBox 8"/>
            <p:cNvSpPr txBox="1"/>
            <p:nvPr/>
          </p:nvSpPr>
          <p:spPr>
            <a:xfrm>
              <a:off x="3015774" y="2650920"/>
              <a:ext cx="2657779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defTabSz="457148" latinLnBrk="0">
                <a:defRPr b="0" spc="50">
                  <a:ln w="0">
                    <a:solidFill>
                      <a:srgbClr val="002060">
                        <a:alpha val="6000"/>
                      </a:srgbClr>
                    </a:solidFill>
                    <a:prstDash val="solid"/>
                  </a:ln>
                  <a:gradFill>
                    <a:gsLst>
                      <a:gs pos="54583">
                        <a:schemeClr val="tx1">
                          <a:lumMod val="85000"/>
                          <a:lumOff val="15000"/>
                        </a:schemeClr>
                      </a:gs>
                      <a:gs pos="34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effectLst/>
                  <a:latin typeface="Rix고딕 M" panose="02020603020101020101" pitchFamily="18" charset="-127"/>
                  <a:ea typeface="Rix고딕 M" panose="02020603020101020101" pitchFamily="18" charset="-127"/>
                </a:defRPr>
              </a:lvl1pPr>
              <a:lvl2pPr marL="457148" defTabSz="457148" latinLnBrk="0">
                <a:defRPr sz="1800"/>
              </a:lvl2pPr>
              <a:lvl3pPr marL="914296" defTabSz="457148" latinLnBrk="0">
                <a:defRPr sz="1800"/>
              </a:lvl3pPr>
              <a:lvl4pPr marL="1371444" defTabSz="457148" latinLnBrk="0">
                <a:defRPr sz="1800"/>
              </a:lvl4pPr>
              <a:lvl5pPr marL="1828592" defTabSz="457148" latinLnBrk="0">
                <a:defRPr sz="1800"/>
              </a:lvl5pPr>
              <a:lvl6pPr marL="2285740" defTabSz="457148" latinLnBrk="0">
                <a:defRPr sz="1800"/>
              </a:lvl6pPr>
              <a:lvl7pPr marL="2742888" defTabSz="457148" latinLnBrk="0">
                <a:defRPr sz="1800"/>
              </a:lvl7pPr>
              <a:lvl8pPr marL="3200036" defTabSz="457148" latinLnBrk="0">
                <a:defRPr sz="1800"/>
              </a:lvl8pPr>
              <a:lvl9pPr marL="3657184" defTabSz="457148" latinLnBrk="0">
                <a:defRPr sz="1800"/>
              </a:lvl9pPr>
            </a:lstStyle>
            <a:p>
              <a:r>
                <a:rPr lang="ko-KR" altLang="en-US" sz="3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사업추진 방안</a:t>
              </a: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0" y="2772491"/>
              <a:ext cx="1386150" cy="0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제목 1"/>
            <p:cNvSpPr txBox="1">
              <a:spLocks/>
            </p:cNvSpPr>
            <p:nvPr/>
          </p:nvSpPr>
          <p:spPr>
            <a:xfrm>
              <a:off x="3015774" y="2377404"/>
              <a:ext cx="5679842" cy="203133"/>
            </a:xfrm>
            <a:prstGeom prst="rect">
              <a:avLst/>
            </a:prstGeom>
            <a:noFill/>
            <a:ln w="19050" algn="ctr">
              <a:noFill/>
              <a:round/>
              <a:headEnd/>
              <a:tailEnd/>
            </a:ln>
            <a:effectLst/>
          </p:spPr>
          <p:txBody>
            <a:bodyPr vert="horz"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 prstMaterial="softEdge">
                <a:bevelT w="0" h="0"/>
                <a:contourClr>
                  <a:schemeClr val="bg1"/>
                </a:contourClr>
              </a:sp3d>
            </a:bodyPr>
            <a:lstStyle>
              <a:lvl1pPr marL="0" indent="0" algn="l" defTabSz="914400" rtl="0" eaLnBrk="1" latinLnBrk="1" hangingPunct="1">
                <a:spcBef>
                  <a:spcPct val="0"/>
                </a:spcBef>
                <a:buFont typeface="Arial" pitchFamily="34" charset="0"/>
                <a:buNone/>
                <a:defRPr kumimoji="1" lang="ko-KR" altLang="en-US" sz="4400" b="0" i="0" u="none" strike="noStrike" kern="0" cap="none" spc="0" normalizeH="0" baseline="0">
                  <a:ln w="15875" cmpd="sng">
                    <a:noFill/>
                    <a:prstDash val="solid"/>
                  </a:ln>
                  <a:gradFill>
                    <a:gsLst>
                      <a:gs pos="0">
                        <a:schemeClr val="tx1">
                          <a:lumMod val="90000"/>
                          <a:lumOff val="10000"/>
                        </a:schemeClr>
                      </a:gs>
                      <a:gs pos="50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Rix고딕 EB" panose="02020603020101020101" pitchFamily="18" charset="-127"/>
                  <a:ea typeface="Rix고딕 EB" panose="02020603020101020101" pitchFamily="18" charset="-127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ko-KR" altLang="en-US" sz="1100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문제은행 </a:t>
              </a:r>
              <a:r>
                <a:rPr lang="en-US" altLang="ko-KR" sz="1100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DB</a:t>
              </a:r>
              <a:r>
                <a:rPr lang="ko-KR" altLang="en-US" sz="1100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통합 프로젝트 │ 착수보고</a:t>
              </a:r>
              <a:endParaRPr lang="en-US" altLang="ko-KR" sz="11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78685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수행 조직도</a:t>
            </a:r>
          </a:p>
        </p:txBody>
      </p:sp>
      <p:grpSp>
        <p:nvGrpSpPr>
          <p:cNvPr id="260" name="그룹 259"/>
          <p:cNvGrpSpPr/>
          <p:nvPr/>
        </p:nvGrpSpPr>
        <p:grpSpPr>
          <a:xfrm>
            <a:off x="450020" y="1865624"/>
            <a:ext cx="4752660" cy="5034564"/>
            <a:chOff x="732511" y="1709205"/>
            <a:chExt cx="6558459" cy="5034564"/>
          </a:xfrm>
        </p:grpSpPr>
        <p:sp>
          <p:nvSpPr>
            <p:cNvPr id="261" name="직사각형 260"/>
            <p:cNvSpPr/>
            <p:nvPr/>
          </p:nvSpPr>
          <p:spPr bwMode="auto">
            <a:xfrm>
              <a:off x="732511" y="1709205"/>
              <a:ext cx="6558459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sz="21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EB"/>
                  <a:ea typeface="Rix고딕 EB"/>
                </a:rPr>
                <a:t>주관 </a:t>
              </a:r>
              <a:r>
                <a:rPr lang="en-US" altLang="ko-KR" sz="21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EB"/>
                  <a:ea typeface="Rix고딕 EB"/>
                </a:rPr>
                <a:t>: </a:t>
              </a:r>
              <a:r>
                <a:rPr lang="ko-KR" altLang="en-US" sz="2100" kern="0" dirty="0" err="1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EB"/>
                  <a:ea typeface="Rix고딕 EB"/>
                </a:rPr>
                <a:t>교육지대</a:t>
              </a:r>
              <a:r>
                <a:rPr lang="ko-KR" altLang="en-US" sz="21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EB"/>
                  <a:ea typeface="Rix고딕 EB"/>
                </a:rPr>
                <a:t> </a:t>
              </a:r>
              <a:r>
                <a:rPr lang="en-US" altLang="ko-KR" sz="21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EB"/>
                  <a:ea typeface="Rix고딕 EB"/>
                </a:rPr>
                <a:t>+ </a:t>
              </a:r>
              <a:r>
                <a:rPr lang="ko-KR" altLang="en-US" sz="21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EB"/>
                  <a:ea typeface="Rix고딕 EB"/>
                </a:rPr>
                <a:t>전문 </a:t>
              </a:r>
              <a:r>
                <a:rPr lang="en-US" altLang="ko-KR" sz="21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EB"/>
                  <a:ea typeface="Rix고딕 EB"/>
                </a:rPr>
                <a:t>: </a:t>
              </a:r>
              <a:r>
                <a:rPr lang="ko-KR" altLang="en-US" sz="2100" kern="0" dirty="0" err="1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EB"/>
                  <a:ea typeface="Rix고딕 EB"/>
                </a:rPr>
                <a:t>이투스교육</a:t>
              </a:r>
              <a:endParaRPr lang="ko-KR" altLang="en-US" sz="2100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Rix고딕 EB"/>
                <a:ea typeface="Rix고딕 EB"/>
              </a:endParaRPr>
            </a:p>
          </p:txBody>
        </p:sp>
        <p:sp>
          <p:nvSpPr>
            <p:cNvPr id="262" name="직사각형 261"/>
            <p:cNvSpPr/>
            <p:nvPr/>
          </p:nvSpPr>
          <p:spPr bwMode="auto">
            <a:xfrm>
              <a:off x="732511" y="2295524"/>
              <a:ext cx="6558459" cy="444824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grpSp>
        <p:nvGrpSpPr>
          <p:cNvPr id="316" name="그룹 315"/>
          <p:cNvGrpSpPr/>
          <p:nvPr/>
        </p:nvGrpSpPr>
        <p:grpSpPr>
          <a:xfrm>
            <a:off x="5571110" y="1836361"/>
            <a:ext cx="4752660" cy="5063820"/>
            <a:chOff x="732511" y="1679949"/>
            <a:chExt cx="6558459" cy="5063820"/>
          </a:xfrm>
        </p:grpSpPr>
        <p:sp>
          <p:nvSpPr>
            <p:cNvPr id="317" name="직사각형 316"/>
            <p:cNvSpPr/>
            <p:nvPr/>
          </p:nvSpPr>
          <p:spPr bwMode="auto">
            <a:xfrm>
              <a:off x="732511" y="1679949"/>
              <a:ext cx="6558459" cy="58632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sz="2100" kern="0" dirty="0" err="1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EB"/>
                  <a:ea typeface="Rix고딕 EB"/>
                </a:rPr>
                <a:t>개발용역</a:t>
              </a:r>
              <a:r>
                <a:rPr lang="ko-KR" altLang="en-US" sz="21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EB"/>
                  <a:ea typeface="Rix고딕 EB"/>
                </a:rPr>
                <a:t> </a:t>
              </a:r>
              <a:r>
                <a:rPr lang="ko-KR" altLang="en-US" sz="2100" kern="0" dirty="0" err="1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EB"/>
                  <a:ea typeface="Rix고딕 EB"/>
                </a:rPr>
                <a:t>수행사</a:t>
              </a:r>
              <a:r>
                <a:rPr lang="ko-KR" altLang="en-US" sz="21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EB"/>
                  <a:ea typeface="Rix고딕 EB"/>
                </a:rPr>
                <a:t> </a:t>
              </a:r>
              <a:r>
                <a:rPr lang="en-US" altLang="ko-KR" sz="21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EB"/>
                  <a:ea typeface="Rix고딕 EB"/>
                </a:rPr>
                <a:t>: </a:t>
              </a:r>
              <a:r>
                <a:rPr lang="ko-KR" altLang="en-US" sz="21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Rix고딕 EB"/>
                  <a:ea typeface="Rix고딕 EB"/>
                </a:rPr>
                <a:t>데이타솔루션</a:t>
              </a:r>
            </a:p>
          </p:txBody>
        </p:sp>
        <p:sp>
          <p:nvSpPr>
            <p:cNvPr id="318" name="직사각형 317"/>
            <p:cNvSpPr/>
            <p:nvPr/>
          </p:nvSpPr>
          <p:spPr bwMode="auto">
            <a:xfrm>
              <a:off x="732511" y="2295524"/>
              <a:ext cx="6558459" cy="444824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322" name="직사각형 321"/>
          <p:cNvSpPr/>
          <p:nvPr/>
        </p:nvSpPr>
        <p:spPr>
          <a:xfrm>
            <a:off x="726920" y="2863233"/>
            <a:ext cx="1811390" cy="252000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36000" tIns="72000" rIns="36000" bIns="72000" rtlCol="0" anchor="ctr" anchorCtr="0"/>
          <a:lstStyle/>
          <a:p>
            <a:pPr algn="ctr" defTabSz="914400" latinLnBrk="0">
              <a:lnSpc>
                <a:spcPct val="110000"/>
              </a:lnSpc>
              <a:spcBef>
                <a:spcPct val="20000"/>
              </a:spcBef>
              <a:buClr>
                <a:srgbClr val="7D7C7F"/>
              </a:buClr>
              <a:buSzPct val="90000"/>
              <a:defRPr/>
            </a:pP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이투스교육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 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/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기술본부</a:t>
            </a:r>
          </a:p>
        </p:txBody>
      </p:sp>
      <p:sp>
        <p:nvSpPr>
          <p:cNvPr id="324" name="직사각형 323"/>
          <p:cNvSpPr/>
          <p:nvPr/>
        </p:nvSpPr>
        <p:spPr>
          <a:xfrm>
            <a:off x="3114390" y="2863233"/>
            <a:ext cx="1811390" cy="252000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36000" tIns="72000" rIns="36000" bIns="72000" rtlCol="0" anchor="ctr" anchorCtr="0"/>
          <a:lstStyle/>
          <a:p>
            <a:pPr algn="ctr" defTabSz="914400" latinLnBrk="0">
              <a:lnSpc>
                <a:spcPct val="110000"/>
              </a:lnSpc>
              <a:spcBef>
                <a:spcPct val="20000"/>
              </a:spcBef>
              <a:buClr>
                <a:srgbClr val="7D7C7F"/>
              </a:buClr>
              <a:buSzPct val="90000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교육지대 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/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사업본부</a:t>
            </a: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2562060" y="3013306"/>
            <a:ext cx="50400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양쪽 모서리가 둥근 사각형 337"/>
          <p:cNvSpPr/>
          <p:nvPr/>
        </p:nvSpPr>
        <p:spPr>
          <a:xfrm>
            <a:off x="557655" y="2785578"/>
            <a:ext cx="4536630" cy="396000"/>
          </a:xfrm>
          <a:prstGeom prst="round2SameRect">
            <a:avLst>
              <a:gd name="adj1" fmla="val 0"/>
              <a:gd name="adj2" fmla="val 0"/>
            </a:avLst>
          </a:prstGeom>
          <a:noFill/>
          <a:ln w="1270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400" latinLnBrk="0"/>
            <a:endParaRPr lang="en-US" altLang="ko-KR" sz="1600" kern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</a:endParaRPr>
          </a:p>
        </p:txBody>
      </p:sp>
      <p:sp>
        <p:nvSpPr>
          <p:cNvPr id="339" name="양쪽 모서리가 둥근 사각형 338"/>
          <p:cNvSpPr/>
          <p:nvPr/>
        </p:nvSpPr>
        <p:spPr>
          <a:xfrm>
            <a:off x="555304" y="2507149"/>
            <a:ext cx="4546800" cy="288000"/>
          </a:xfrm>
          <a:prstGeom prst="round2SameRect">
            <a:avLst/>
          </a:prstGeom>
          <a:solidFill>
            <a:schemeClr val="accent3"/>
          </a:solidFill>
          <a:ln w="127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400" latinLnBrk="0"/>
            <a:r>
              <a:rPr lang="ko-KR" altLang="en-US" sz="13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</a:rPr>
              <a:t>의사결정지원</a:t>
            </a:r>
            <a:endParaRPr lang="en-US" altLang="ko-KR" sz="13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57" name="양쪽 모서리가 둥근 사각형 356"/>
          <p:cNvSpPr/>
          <p:nvPr/>
        </p:nvSpPr>
        <p:spPr>
          <a:xfrm>
            <a:off x="567003" y="5424326"/>
            <a:ext cx="4536630" cy="1428355"/>
          </a:xfrm>
          <a:prstGeom prst="round2SameRect">
            <a:avLst>
              <a:gd name="adj1" fmla="val 0"/>
              <a:gd name="adj2" fmla="val 0"/>
            </a:avLst>
          </a:prstGeom>
          <a:noFill/>
          <a:ln w="1270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400" latinLnBrk="0"/>
            <a:endParaRPr lang="en-US" altLang="ko-KR" sz="1600" kern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</a:endParaRPr>
          </a:p>
        </p:txBody>
      </p:sp>
      <p:sp>
        <p:nvSpPr>
          <p:cNvPr id="358" name="양쪽 모서리가 둥근 사각형 357"/>
          <p:cNvSpPr/>
          <p:nvPr/>
        </p:nvSpPr>
        <p:spPr>
          <a:xfrm>
            <a:off x="560413" y="5145553"/>
            <a:ext cx="4548506" cy="288000"/>
          </a:xfrm>
          <a:prstGeom prst="round2SameRect">
            <a:avLst/>
          </a:prstGeom>
          <a:solidFill>
            <a:schemeClr val="accent3"/>
          </a:solidFill>
          <a:ln w="127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400" latinLnBrk="0"/>
            <a:r>
              <a:rPr lang="ko-KR" altLang="en-US" sz="13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</a:rPr>
              <a:t>기능요구사항 지원</a:t>
            </a:r>
            <a:endParaRPr lang="en-US" altLang="ko-KR" sz="13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64" name="양쪽 모서리가 둥근 사각형 363"/>
          <p:cNvSpPr/>
          <p:nvPr/>
        </p:nvSpPr>
        <p:spPr>
          <a:xfrm>
            <a:off x="628699" y="5469969"/>
            <a:ext cx="4392000" cy="325836"/>
          </a:xfrm>
          <a:prstGeom prst="round2SameRect">
            <a:avLst>
              <a:gd name="adj1" fmla="val 26869"/>
              <a:gd name="adj2" fmla="val 0"/>
            </a:avLst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txBody>
          <a:bodyPr tIns="0" rtlCol="0" anchor="t"/>
          <a:lstStyle/>
          <a:p>
            <a:pPr algn="ctr" defTabSz="914400" latinLnBrk="0">
              <a:defRPr/>
            </a:pPr>
            <a:r>
              <a:rPr lang="ko-KR" altLang="en-US" sz="11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기술지원</a:t>
            </a:r>
          </a:p>
        </p:txBody>
      </p:sp>
      <p:grpSp>
        <p:nvGrpSpPr>
          <p:cNvPr id="365" name="그룹 364"/>
          <p:cNvGrpSpPr/>
          <p:nvPr/>
        </p:nvGrpSpPr>
        <p:grpSpPr>
          <a:xfrm>
            <a:off x="738060" y="5720039"/>
            <a:ext cx="4216242" cy="409182"/>
            <a:chOff x="637287" y="5724901"/>
            <a:chExt cx="4351335" cy="495110"/>
          </a:xfrm>
        </p:grpSpPr>
        <p:grpSp>
          <p:nvGrpSpPr>
            <p:cNvPr id="366" name="그룹 365"/>
            <p:cNvGrpSpPr/>
            <p:nvPr/>
          </p:nvGrpSpPr>
          <p:grpSpPr>
            <a:xfrm>
              <a:off x="637287" y="5734629"/>
              <a:ext cx="1381277" cy="485382"/>
              <a:chOff x="581199" y="4489640"/>
              <a:chExt cx="1381277" cy="485382"/>
            </a:xfrm>
          </p:grpSpPr>
          <p:sp>
            <p:nvSpPr>
              <p:cNvPr id="370" name="직사각형 369"/>
              <p:cNvSpPr/>
              <p:nvPr/>
            </p:nvSpPr>
            <p:spPr>
              <a:xfrm>
                <a:off x="581199" y="4766129"/>
                <a:ext cx="1381277" cy="208893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  <p:txBody>
              <a:bodyPr lIns="36000" tIns="72000" rIns="36000" bIns="72000" rtlCol="0" anchor="ctr" anchorCtr="0"/>
              <a:lstStyle/>
              <a:p>
                <a:pPr algn="ctr" defTabSz="914400" latinLnBrk="0">
                  <a:lnSpc>
                    <a:spcPct val="110000"/>
                  </a:lnSpc>
                  <a:spcBef>
                    <a:spcPct val="20000"/>
                  </a:spcBef>
                  <a:buClr>
                    <a:srgbClr val="7D7C7F"/>
                  </a:buClr>
                  <a:buSzPct val="90000"/>
                  <a:defRPr/>
                </a:pPr>
                <a:r>
                  <a:rPr lang="ko-KR" altLang="en-US" sz="1000" kern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>
                        <a:lumMod val="50000"/>
                      </a:prst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이지환 팀장</a:t>
                </a:r>
                <a:endParaRPr lang="ko-KR" altLang="en-US" sz="1000" kern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>
                      <a:lumMod val="50000"/>
                    </a:prst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endParaRPr>
              </a:p>
            </p:txBody>
          </p:sp>
          <p:sp>
            <p:nvSpPr>
              <p:cNvPr id="371" name="양쪽 모서리가 둥근 사각형 370"/>
              <p:cNvSpPr/>
              <p:nvPr/>
            </p:nvSpPr>
            <p:spPr>
              <a:xfrm>
                <a:off x="581199" y="4489640"/>
                <a:ext cx="1381277" cy="276489"/>
              </a:xfrm>
              <a:prstGeom prst="round2Same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  <p:txBody>
              <a:bodyPr lIns="0" rIns="0" rtlCol="0" anchor="ctr"/>
              <a:lstStyle/>
              <a:p>
                <a:pPr algn="ctr" defTabSz="914400" latinLnBrk="0">
                  <a:defRPr/>
                </a:pPr>
                <a:r>
                  <a:rPr lang="en-US" altLang="ko-KR" sz="1100" kern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gradFill>
                      <a:gsLst>
                        <a:gs pos="417">
                          <a:prstClr val="black">
                            <a:lumMod val="85000"/>
                            <a:lumOff val="15000"/>
                          </a:prstClr>
                        </a:gs>
                        <a:gs pos="100000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path path="shape">
                        <a:fillToRect l="50000" t="50000" r="50000" b="50000"/>
                      </a:path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E-Bank</a:t>
                </a:r>
              </a:p>
            </p:txBody>
          </p:sp>
        </p:grpSp>
        <p:grpSp>
          <p:nvGrpSpPr>
            <p:cNvPr id="367" name="그룹 366"/>
            <p:cNvGrpSpPr/>
            <p:nvPr/>
          </p:nvGrpSpPr>
          <p:grpSpPr>
            <a:xfrm>
              <a:off x="2126610" y="5724901"/>
              <a:ext cx="2862012" cy="495110"/>
              <a:chOff x="2165173" y="4500731"/>
              <a:chExt cx="1381277" cy="495110"/>
            </a:xfrm>
          </p:grpSpPr>
          <p:sp>
            <p:nvSpPr>
              <p:cNvPr id="368" name="직사각형 367"/>
              <p:cNvSpPr/>
              <p:nvPr/>
            </p:nvSpPr>
            <p:spPr>
              <a:xfrm>
                <a:off x="2165173" y="4777220"/>
                <a:ext cx="1381277" cy="218621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  <p:txBody>
              <a:bodyPr lIns="36000" tIns="72000" rIns="36000" bIns="72000" rtlCol="0" anchor="ctr" anchorCtr="0"/>
              <a:lstStyle/>
              <a:p>
                <a:pPr algn="ctr" defTabSz="914400" latinLnBrk="0">
                  <a:lnSpc>
                    <a:spcPct val="110000"/>
                  </a:lnSpc>
                  <a:spcBef>
                    <a:spcPct val="20000"/>
                  </a:spcBef>
                  <a:buClr>
                    <a:srgbClr val="7D7C7F"/>
                  </a:buClr>
                  <a:buSzPct val="90000"/>
                  <a:defRPr/>
                </a:pPr>
                <a:r>
                  <a:rPr lang="ko-KR" altLang="en-US" sz="1000" kern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>
                        <a:lumMod val="50000"/>
                      </a:prst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교육지대 </a:t>
                </a:r>
                <a:r>
                  <a:rPr lang="en-US" altLang="ko-KR" sz="1000" kern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>
                        <a:lumMod val="50000"/>
                      </a:prst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/ </a:t>
                </a:r>
                <a:r>
                  <a:rPr lang="ko-KR" altLang="en-US" sz="1000" kern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>
                        <a:lumMod val="50000"/>
                      </a:prst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서건우 실장</a:t>
                </a:r>
                <a:r>
                  <a:rPr lang="en-US" altLang="ko-KR" sz="1000" kern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>
                        <a:lumMod val="50000"/>
                      </a:prst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, </a:t>
                </a:r>
                <a:r>
                  <a:rPr lang="ko-KR" altLang="en-US" sz="1000" kern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>
                        <a:lumMod val="50000"/>
                      </a:prstClr>
                    </a:soli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정상진 대리</a:t>
                </a:r>
              </a:p>
            </p:txBody>
          </p:sp>
          <p:sp>
            <p:nvSpPr>
              <p:cNvPr id="369" name="양쪽 모서리가 둥근 사각형 368"/>
              <p:cNvSpPr/>
              <p:nvPr/>
            </p:nvSpPr>
            <p:spPr>
              <a:xfrm>
                <a:off x="2165173" y="4500731"/>
                <a:ext cx="1381277" cy="276489"/>
              </a:xfrm>
              <a:prstGeom prst="round2Same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  <p:txBody>
              <a:bodyPr lIns="0" rIns="0" rtlCol="0" anchor="ctr"/>
              <a:lstStyle/>
              <a:p>
                <a:pPr algn="ctr" defTabSz="914400" latinLnBrk="0">
                  <a:defRPr/>
                </a:pPr>
                <a:r>
                  <a:rPr lang="ko-KR" altLang="en-US" sz="1100" kern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gradFill>
                      <a:gsLst>
                        <a:gs pos="417">
                          <a:prstClr val="black">
                            <a:lumMod val="85000"/>
                            <a:lumOff val="15000"/>
                          </a:prstClr>
                        </a:gs>
                        <a:gs pos="100000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path path="shape">
                        <a:fillToRect l="50000" t="50000" r="50000" b="50000"/>
                      </a:path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미니테스트 </a:t>
                </a:r>
                <a:r>
                  <a:rPr lang="en-US" altLang="ko-KR" sz="1100" kern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gradFill>
                      <a:gsLst>
                        <a:gs pos="417">
                          <a:prstClr val="black">
                            <a:lumMod val="85000"/>
                            <a:lumOff val="15000"/>
                          </a:prstClr>
                        </a:gs>
                        <a:gs pos="100000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path path="shape">
                        <a:fillToRect l="50000" t="50000" r="50000" b="50000"/>
                      </a:path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/ </a:t>
                </a:r>
                <a:r>
                  <a:rPr lang="ko-KR" altLang="en-US" sz="1100" kern="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gradFill>
                      <a:gsLst>
                        <a:gs pos="417">
                          <a:prstClr val="black">
                            <a:lumMod val="85000"/>
                            <a:lumOff val="15000"/>
                          </a:prstClr>
                        </a:gs>
                        <a:gs pos="100000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path path="shape">
                        <a:fillToRect l="50000" t="50000" r="50000" b="50000"/>
                      </a:path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바로테스트</a:t>
                </a:r>
                <a:r>
                  <a:rPr lang="ko-KR" altLang="en-US" sz="1100" kern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gradFill>
                      <a:gsLst>
                        <a:gs pos="417">
                          <a:prstClr val="black">
                            <a:lumMod val="85000"/>
                            <a:lumOff val="15000"/>
                          </a:prstClr>
                        </a:gs>
                        <a:gs pos="100000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path path="shape">
                        <a:fillToRect l="50000" t="50000" r="50000" b="50000"/>
                      </a:path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 </a:t>
                </a:r>
                <a:r>
                  <a:rPr lang="en-US" altLang="ko-KR" sz="1100" kern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gradFill>
                      <a:gsLst>
                        <a:gs pos="417">
                          <a:prstClr val="black">
                            <a:lumMod val="85000"/>
                            <a:lumOff val="15000"/>
                          </a:prstClr>
                        </a:gs>
                        <a:gs pos="100000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path path="shape">
                        <a:fillToRect l="50000" t="50000" r="50000" b="50000"/>
                      </a:path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/ I-System</a:t>
                </a:r>
              </a:p>
            </p:txBody>
          </p:sp>
        </p:grpSp>
      </p:grpSp>
      <p:sp>
        <p:nvSpPr>
          <p:cNvPr id="372" name="양쪽 모서리가 둥근 사각형 371"/>
          <p:cNvSpPr/>
          <p:nvPr/>
        </p:nvSpPr>
        <p:spPr>
          <a:xfrm>
            <a:off x="636866" y="6477119"/>
            <a:ext cx="4392000" cy="325836"/>
          </a:xfrm>
          <a:prstGeom prst="round2SameRect">
            <a:avLst>
              <a:gd name="adj1" fmla="val 0"/>
              <a:gd name="adj2" fmla="val 14927"/>
            </a:avLst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txBody>
          <a:bodyPr tIns="0" bIns="0" rtlCol="0" anchor="b"/>
          <a:lstStyle/>
          <a:p>
            <a:pPr algn="ctr" defTabSz="914400" latinLnBrk="0"/>
            <a:r>
              <a:rPr lang="ko-KR" altLang="en-US" sz="11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콘텐츠</a:t>
            </a:r>
            <a:r>
              <a:rPr lang="ko-KR" altLang="en-US" sz="11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 관리</a:t>
            </a:r>
          </a:p>
        </p:txBody>
      </p:sp>
      <p:sp>
        <p:nvSpPr>
          <p:cNvPr id="374" name="양쪽 모서리가 둥근 사각형 373"/>
          <p:cNvSpPr/>
          <p:nvPr/>
        </p:nvSpPr>
        <p:spPr>
          <a:xfrm>
            <a:off x="738060" y="6241606"/>
            <a:ext cx="1338393" cy="331298"/>
          </a:xfrm>
          <a:prstGeom prst="round2SameRect">
            <a:avLst>
              <a:gd name="adj1" fmla="val 0"/>
              <a:gd name="adj2" fmla="val 17923"/>
            </a:avLst>
          </a:prstGeom>
          <a:solidFill>
            <a:sysClr val="window" lastClr="FFFFFF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36000" tIns="72000" rIns="36000" bIns="36000" rtlCol="0" anchor="ctr" anchorCtr="0"/>
          <a:lstStyle/>
          <a:p>
            <a:pPr algn="ctr" defTabSz="914400" latinLnBrk="0">
              <a:lnSpc>
                <a:spcPct val="80000"/>
              </a:lnSpc>
              <a:spcBef>
                <a:spcPct val="20000"/>
              </a:spcBef>
              <a:buClr>
                <a:srgbClr val="7D7C7F"/>
              </a:buClr>
              <a:buSzPct val="90000"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          천성오 과장</a:t>
            </a:r>
            <a:endParaRPr lang="en-US" altLang="ko-KR" sz="10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  <a:p>
            <a:pPr algn="ctr" defTabSz="914400" latinLnBrk="0">
              <a:lnSpc>
                <a:spcPct val="80000"/>
              </a:lnSpc>
              <a:spcBef>
                <a:spcPct val="20000"/>
              </a:spcBef>
              <a:buClr>
                <a:srgbClr val="7D7C7F"/>
              </a:buClr>
              <a:buSzPct val="90000"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          임현준 대리</a:t>
            </a:r>
            <a:endParaRPr lang="en-US" altLang="ko-KR" sz="10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375" name="양쪽 모서리가 둥근 사각형 374"/>
          <p:cNvSpPr/>
          <p:nvPr/>
        </p:nvSpPr>
        <p:spPr>
          <a:xfrm>
            <a:off x="2208625" y="6250775"/>
            <a:ext cx="1338393" cy="331298"/>
          </a:xfrm>
          <a:prstGeom prst="round2SameRect">
            <a:avLst>
              <a:gd name="adj1" fmla="val 0"/>
              <a:gd name="adj2" fmla="val 17923"/>
            </a:avLst>
          </a:prstGeom>
          <a:solidFill>
            <a:sysClr val="window" lastClr="FFFFFF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36000" tIns="72000" rIns="36000" bIns="72000" rtlCol="0" anchor="ctr" anchorCtr="0"/>
          <a:lstStyle/>
          <a:p>
            <a:pPr algn="ctr" defTabSz="914400" latinLnBrk="0">
              <a:lnSpc>
                <a:spcPct val="110000"/>
              </a:lnSpc>
              <a:spcBef>
                <a:spcPct val="20000"/>
              </a:spcBef>
              <a:buClr>
                <a:srgbClr val="7D7C7F"/>
              </a:buClr>
              <a:buSzPct val="90000"/>
            </a:pP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이투스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 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/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이민경 팀장</a:t>
            </a:r>
            <a:endParaRPr lang="en-US" altLang="ko-KR" sz="10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376" name="양쪽 모서리가 둥근 사각형 375"/>
          <p:cNvSpPr/>
          <p:nvPr/>
        </p:nvSpPr>
        <p:spPr>
          <a:xfrm>
            <a:off x="3618460" y="6263260"/>
            <a:ext cx="1338393" cy="331298"/>
          </a:xfrm>
          <a:prstGeom prst="round2SameRect">
            <a:avLst>
              <a:gd name="adj1" fmla="val 0"/>
              <a:gd name="adj2" fmla="val 17923"/>
            </a:avLst>
          </a:prstGeom>
          <a:solidFill>
            <a:sysClr val="window" lastClr="FFFFFF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36000" tIns="72000" rIns="36000" bIns="72000" rtlCol="0" anchor="ctr" anchorCtr="0"/>
          <a:lstStyle/>
          <a:p>
            <a:pPr algn="ctr" defTabSz="914400" latinLnBrk="0">
              <a:lnSpc>
                <a:spcPct val="110000"/>
              </a:lnSpc>
              <a:spcBef>
                <a:spcPct val="20000"/>
              </a:spcBef>
              <a:buClr>
                <a:srgbClr val="7D7C7F"/>
              </a:buClr>
              <a:buSzPct val="90000"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교육지대 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/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컨텐츠팀</a:t>
            </a:r>
            <a:endParaRPr lang="en-US" altLang="ko-KR" sz="10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1386150" y="6122930"/>
            <a:ext cx="2916025" cy="108000"/>
            <a:chOff x="1386150" y="6120802"/>
            <a:chExt cx="2916025" cy="144000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1386150" y="6120802"/>
              <a:ext cx="0" cy="14400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직선 연결선 376"/>
            <p:cNvCxnSpPr/>
            <p:nvPr/>
          </p:nvCxnSpPr>
          <p:spPr>
            <a:xfrm>
              <a:off x="2874610" y="6120802"/>
              <a:ext cx="0" cy="14400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직선 연결선 377"/>
            <p:cNvCxnSpPr/>
            <p:nvPr/>
          </p:nvCxnSpPr>
          <p:spPr>
            <a:xfrm>
              <a:off x="4302175" y="6120802"/>
              <a:ext cx="0" cy="14400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4" name="TextBox 423"/>
          <p:cNvSpPr txBox="1"/>
          <p:nvPr/>
        </p:nvSpPr>
        <p:spPr>
          <a:xfrm>
            <a:off x="9194177" y="6300981"/>
            <a:ext cx="1031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Rix고딕 M" panose="02020603020101020101" pitchFamily="18" charset="-127"/>
                <a:ea typeface="Rix고딕 M" panose="02020603020101020101" pitchFamily="18" charset="-127"/>
              </a:rPr>
              <a:t>(*) “</a:t>
            </a:r>
            <a:r>
              <a:rPr lang="ko-KR" altLang="en-US" sz="8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이투스</a:t>
            </a:r>
            <a:r>
              <a:rPr lang="ko-KR" altLang="en-US" sz="800" dirty="0">
                <a:latin typeface="Rix고딕 M" panose="02020603020101020101" pitchFamily="18" charset="-127"/>
                <a:ea typeface="Rix고딕 M" panose="02020603020101020101" pitchFamily="18" charset="-127"/>
              </a:rPr>
              <a:t> 시스템 신규 플랫폼 구축 프로젝트</a:t>
            </a:r>
            <a:r>
              <a:rPr lang="en-US" altLang="ko-KR" sz="800" dirty="0">
                <a:latin typeface="Rix고딕 M" panose="02020603020101020101" pitchFamily="18" charset="-127"/>
                <a:ea typeface="Rix고딕 M" panose="02020603020101020101" pitchFamily="18" charset="-127"/>
              </a:rPr>
              <a:t>”</a:t>
            </a:r>
            <a:r>
              <a:rPr lang="ko-KR" altLang="en-US" sz="800" dirty="0">
                <a:latin typeface="Rix고딕 M" panose="02020603020101020101" pitchFamily="18" charset="-127"/>
                <a:ea typeface="Rix고딕 M" panose="02020603020101020101" pitchFamily="18" charset="-127"/>
              </a:rPr>
              <a:t> 투입 인력 활용</a:t>
            </a:r>
          </a:p>
        </p:txBody>
      </p:sp>
      <p:grpSp>
        <p:nvGrpSpPr>
          <p:cNvPr id="427" name="그룹 426"/>
          <p:cNvGrpSpPr/>
          <p:nvPr/>
        </p:nvGrpSpPr>
        <p:grpSpPr>
          <a:xfrm>
            <a:off x="6107557" y="3285364"/>
            <a:ext cx="2796585" cy="251012"/>
            <a:chOff x="2281756" y="3903296"/>
            <a:chExt cx="3322066" cy="280800"/>
          </a:xfrm>
        </p:grpSpPr>
        <p:sp>
          <p:nvSpPr>
            <p:cNvPr id="428" name="직사각형 427"/>
            <p:cNvSpPr/>
            <p:nvPr/>
          </p:nvSpPr>
          <p:spPr>
            <a:xfrm>
              <a:off x="4120620" y="3911478"/>
              <a:ext cx="1483202" cy="26414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2">
                  <a:lumMod val="50000"/>
                </a:schemeClr>
              </a:solidFill>
              <a:prstDash val="solid"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37431"/>
              <a:r>
                <a:rPr lang="ko-KR" altLang="en-US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이병도 이사</a:t>
              </a:r>
            </a:p>
          </p:txBody>
        </p:sp>
        <p:sp>
          <p:nvSpPr>
            <p:cNvPr id="429" name="양쪽 모서리가 둥근 사각형 428"/>
            <p:cNvSpPr/>
            <p:nvPr/>
          </p:nvSpPr>
          <p:spPr>
            <a:xfrm>
              <a:off x="2281756" y="3903296"/>
              <a:ext cx="1838868" cy="2808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 defTabSz="1037431">
                <a:buSzPct val="80000"/>
              </a:pPr>
              <a:r>
                <a:rPr lang="ko-KR" altLang="en-US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white"/>
                  </a:solidFill>
                  <a:latin typeface="+mn-ea"/>
                </a:rPr>
                <a:t>프로젝트 관리자</a:t>
              </a:r>
              <a:r>
                <a:rPr lang="en-US" altLang="ko-KR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white"/>
                  </a:solidFill>
                  <a:latin typeface="+mn-ea"/>
                </a:rPr>
                <a:t>(PM)</a:t>
              </a:r>
              <a:endPara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34" name="양쪽 모서리가 둥근 사각형 433"/>
          <p:cNvSpPr/>
          <p:nvPr/>
        </p:nvSpPr>
        <p:spPr>
          <a:xfrm>
            <a:off x="5692265" y="4114710"/>
            <a:ext cx="3323828" cy="918110"/>
          </a:xfrm>
          <a:prstGeom prst="round2SameRect">
            <a:avLst>
              <a:gd name="adj1" fmla="val 0"/>
              <a:gd name="adj2" fmla="val 0"/>
            </a:avLst>
          </a:prstGeom>
          <a:noFill/>
          <a:ln w="12700" cap="flat" cmpd="sng" algn="ctr">
            <a:solidFill>
              <a:schemeClr val="accent2">
                <a:lumMod val="50000"/>
              </a:schemeClr>
            </a:solidFill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400" latinLnBrk="0"/>
            <a:endParaRPr lang="en-US" altLang="ko-KR" sz="1600" kern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</a:endParaRPr>
          </a:p>
        </p:txBody>
      </p:sp>
      <p:sp>
        <p:nvSpPr>
          <p:cNvPr id="435" name="양쪽 모서리가 둥근 사각형 434"/>
          <p:cNvSpPr/>
          <p:nvPr/>
        </p:nvSpPr>
        <p:spPr>
          <a:xfrm>
            <a:off x="5685674" y="3829207"/>
            <a:ext cx="3337200" cy="288000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400" latinLnBrk="0"/>
            <a:r>
              <a:rPr lang="ko-KR" altLang="en-US" sz="13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</a:rPr>
              <a:t>아키텍처팀</a:t>
            </a:r>
            <a:endParaRPr lang="en-US" altLang="ko-KR" sz="13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bg1"/>
              </a:solidFill>
            </a:endParaRPr>
          </a:p>
        </p:txBody>
      </p:sp>
      <p:grpSp>
        <p:nvGrpSpPr>
          <p:cNvPr id="437" name="그룹 436"/>
          <p:cNvGrpSpPr/>
          <p:nvPr/>
        </p:nvGrpSpPr>
        <p:grpSpPr>
          <a:xfrm>
            <a:off x="5820280" y="4314073"/>
            <a:ext cx="868347" cy="622239"/>
            <a:chOff x="2046376" y="5817096"/>
            <a:chExt cx="1271341" cy="824950"/>
          </a:xfrm>
        </p:grpSpPr>
        <p:sp>
          <p:nvSpPr>
            <p:cNvPr id="438" name="직사각형 437"/>
            <p:cNvSpPr/>
            <p:nvPr/>
          </p:nvSpPr>
          <p:spPr>
            <a:xfrm>
              <a:off x="2046376" y="6191573"/>
              <a:ext cx="1271149" cy="450473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6A7680">
                  <a:lumMod val="40000"/>
                  <a:lumOff val="60000"/>
                </a:srgbClr>
              </a:solidFill>
              <a:prstDash val="sysDash"/>
            </a:ln>
            <a:effectLst/>
          </p:spPr>
          <p:txBody>
            <a:bodyPr lIns="72000" tIns="72000" rIns="72000" bIns="72000" rtlCol="0" anchor="ctr" anchorCtr="0"/>
            <a:lstStyle/>
            <a:p>
              <a:pPr algn="ctr" latinLnBrk="0">
                <a:lnSpc>
                  <a:spcPct val="110000"/>
                </a:lnSpc>
                <a:spcBef>
                  <a:spcPct val="20000"/>
                </a:spcBef>
                <a:buClr>
                  <a:srgbClr val="7D7C7F"/>
                </a:buClr>
                <a:buSzPct val="90000"/>
                <a:defRPr/>
              </a:pPr>
              <a:r>
                <a:rPr lang="ko-KR" altLang="en-US" sz="1000" kern="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방인화</a:t>
              </a:r>
              <a:r>
                <a:rPr lang="ko-KR" altLang="en-US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 외 </a:t>
              </a:r>
              <a:r>
                <a:rPr lang="en-US" altLang="ko-KR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1</a:t>
              </a:r>
            </a:p>
          </p:txBody>
        </p:sp>
        <p:sp>
          <p:nvSpPr>
            <p:cNvPr id="439" name="직사각형 438"/>
            <p:cNvSpPr/>
            <p:nvPr/>
          </p:nvSpPr>
          <p:spPr>
            <a:xfrm>
              <a:off x="2046376" y="5817096"/>
              <a:ext cx="1271341" cy="374479"/>
            </a:xfrm>
            <a:prstGeom prst="rect">
              <a:avLst/>
            </a:prstGeom>
            <a:solidFill>
              <a:srgbClr val="6A7680">
                <a:lumMod val="20000"/>
                <a:lumOff val="80000"/>
              </a:srgbClr>
            </a:solidFill>
            <a:ln w="9525" cap="flat" cmpd="sng" algn="ctr">
              <a:solidFill>
                <a:srgbClr val="6A7680">
                  <a:lumMod val="40000"/>
                  <a:lumOff val="60000"/>
                </a:srgbClr>
              </a:solidFill>
              <a:prstDash val="sysDash"/>
            </a:ln>
            <a:effectLst/>
          </p:spPr>
          <p:txBody>
            <a:bodyPr lIns="0" rIns="0" rtlCol="0" anchor="ctr"/>
            <a:lstStyle/>
            <a:p>
              <a:pPr algn="ctr" latinLnBrk="0">
                <a:defRPr/>
              </a:pPr>
              <a:r>
                <a:rPr lang="en-US" altLang="ko-KR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gradFill>
                    <a:gsLst>
                      <a:gs pos="417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  <a:latin typeface="+mn-ea"/>
                </a:rPr>
                <a:t>DA</a:t>
              </a:r>
              <a:endParaRPr lang="ko-KR" altLang="en-US" sz="1000" kern="0" dirty="0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417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endParaRPr>
            </a:p>
          </p:txBody>
        </p:sp>
      </p:grpSp>
      <p:grpSp>
        <p:nvGrpSpPr>
          <p:cNvPr id="440" name="그룹 439"/>
          <p:cNvGrpSpPr/>
          <p:nvPr/>
        </p:nvGrpSpPr>
        <p:grpSpPr>
          <a:xfrm>
            <a:off x="6930920" y="4300497"/>
            <a:ext cx="868347" cy="632293"/>
            <a:chOff x="3543479" y="5817095"/>
            <a:chExt cx="1271342" cy="838279"/>
          </a:xfrm>
        </p:grpSpPr>
        <p:sp>
          <p:nvSpPr>
            <p:cNvPr id="441" name="직사각형 440"/>
            <p:cNvSpPr/>
            <p:nvPr/>
          </p:nvSpPr>
          <p:spPr>
            <a:xfrm>
              <a:off x="3543479" y="6219257"/>
              <a:ext cx="1271148" cy="436117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6A7680">
                  <a:lumMod val="40000"/>
                  <a:lumOff val="60000"/>
                </a:srgbClr>
              </a:solidFill>
              <a:prstDash val="sysDash"/>
            </a:ln>
            <a:effectLst/>
          </p:spPr>
          <p:txBody>
            <a:bodyPr lIns="72000" tIns="72000" rIns="72000" bIns="72000" rtlCol="0" anchor="ctr" anchorCtr="0"/>
            <a:lstStyle/>
            <a:p>
              <a:pPr algn="ctr" latinLnBrk="0">
                <a:lnSpc>
                  <a:spcPct val="110000"/>
                </a:lnSpc>
                <a:spcBef>
                  <a:spcPct val="20000"/>
                </a:spcBef>
                <a:buClr>
                  <a:srgbClr val="7D7C7F"/>
                </a:buClr>
                <a:buSzPct val="90000"/>
                <a:defRPr/>
              </a:pPr>
              <a:r>
                <a:rPr lang="ko-KR" altLang="en-US" sz="1000" kern="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주태영</a:t>
              </a:r>
              <a:endParaRPr lang="ko-KR" altLang="en-US" sz="1000" kern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endParaRPr>
            </a:p>
          </p:txBody>
        </p:sp>
        <p:sp>
          <p:nvSpPr>
            <p:cNvPr id="442" name="직사각형 441"/>
            <p:cNvSpPr/>
            <p:nvPr/>
          </p:nvSpPr>
          <p:spPr>
            <a:xfrm>
              <a:off x="3543480" y="5817095"/>
              <a:ext cx="1271341" cy="402160"/>
            </a:xfrm>
            <a:prstGeom prst="rect">
              <a:avLst/>
            </a:prstGeom>
            <a:solidFill>
              <a:srgbClr val="6A7680">
                <a:lumMod val="20000"/>
                <a:lumOff val="80000"/>
              </a:srgbClr>
            </a:solidFill>
            <a:ln w="9525" cap="flat" cmpd="sng" algn="ctr">
              <a:solidFill>
                <a:srgbClr val="6A7680">
                  <a:lumMod val="40000"/>
                  <a:lumOff val="60000"/>
                </a:srgbClr>
              </a:solidFill>
              <a:prstDash val="sysDash"/>
            </a:ln>
            <a:effectLst/>
          </p:spPr>
          <p:txBody>
            <a:bodyPr lIns="0" rIns="0" rtlCol="0" anchor="ctr"/>
            <a:lstStyle/>
            <a:p>
              <a:pPr algn="ctr" latinLnBrk="0">
                <a:defRPr/>
              </a:pPr>
              <a:r>
                <a:rPr lang="en-US" altLang="ko-KR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gradFill>
                    <a:gsLst>
                      <a:gs pos="417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  <a:latin typeface="+mn-ea"/>
                </a:rPr>
                <a:t>AA</a:t>
              </a:r>
              <a:endParaRPr lang="ko-KR" altLang="en-US" sz="1000" kern="0" dirty="0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417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endParaRPr>
            </a:p>
          </p:txBody>
        </p:sp>
      </p:grpSp>
      <p:grpSp>
        <p:nvGrpSpPr>
          <p:cNvPr id="443" name="그룹 442"/>
          <p:cNvGrpSpPr/>
          <p:nvPr/>
        </p:nvGrpSpPr>
        <p:grpSpPr>
          <a:xfrm>
            <a:off x="9306490" y="5580881"/>
            <a:ext cx="804723" cy="614445"/>
            <a:chOff x="6907799" y="5228568"/>
            <a:chExt cx="1271342" cy="814616"/>
          </a:xfrm>
        </p:grpSpPr>
        <p:sp>
          <p:nvSpPr>
            <p:cNvPr id="444" name="직사각형 443"/>
            <p:cNvSpPr/>
            <p:nvPr/>
          </p:nvSpPr>
          <p:spPr>
            <a:xfrm>
              <a:off x="6907799" y="5603045"/>
              <a:ext cx="1271149" cy="440139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6A7680">
                  <a:lumMod val="40000"/>
                  <a:lumOff val="60000"/>
                </a:srgbClr>
              </a:solidFill>
              <a:prstDash val="sysDash"/>
            </a:ln>
            <a:effectLst/>
          </p:spPr>
          <p:txBody>
            <a:bodyPr lIns="72000" tIns="72000" rIns="72000" bIns="72000" rtlCol="0" anchor="ctr" anchorCtr="0"/>
            <a:lstStyle/>
            <a:p>
              <a:pPr algn="ctr" latinLnBrk="0">
                <a:lnSpc>
                  <a:spcPct val="110000"/>
                </a:lnSpc>
                <a:spcBef>
                  <a:spcPct val="20000"/>
                </a:spcBef>
                <a:buClr>
                  <a:srgbClr val="7D7C7F"/>
                </a:buClr>
                <a:buSzPct val="90000"/>
                <a:defRPr/>
              </a:pPr>
              <a:r>
                <a:rPr lang="ko-KR" altLang="en-US" sz="1000" kern="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정재림</a:t>
              </a:r>
              <a:r>
                <a:rPr lang="ko-KR" altLang="en-US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 외 </a:t>
              </a:r>
              <a:r>
                <a:rPr lang="en-US" altLang="ko-KR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1</a:t>
              </a:r>
              <a:endParaRPr lang="ko-KR" altLang="en-US" sz="1000" kern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endParaRPr>
            </a:p>
          </p:txBody>
        </p:sp>
        <p:sp>
          <p:nvSpPr>
            <p:cNvPr id="445" name="직사각형 444"/>
            <p:cNvSpPr/>
            <p:nvPr/>
          </p:nvSpPr>
          <p:spPr>
            <a:xfrm>
              <a:off x="6907800" y="5228568"/>
              <a:ext cx="1271341" cy="374479"/>
            </a:xfrm>
            <a:prstGeom prst="rect">
              <a:avLst/>
            </a:prstGeom>
            <a:solidFill>
              <a:srgbClr val="6A7680">
                <a:lumMod val="20000"/>
                <a:lumOff val="80000"/>
              </a:srgbClr>
            </a:solidFill>
            <a:ln w="9525" cap="flat" cmpd="sng" algn="ctr">
              <a:solidFill>
                <a:srgbClr val="6A7680">
                  <a:lumMod val="40000"/>
                  <a:lumOff val="60000"/>
                </a:srgbClr>
              </a:solidFill>
              <a:prstDash val="sysDash"/>
            </a:ln>
            <a:effectLst/>
          </p:spPr>
          <p:txBody>
            <a:bodyPr lIns="0" rIns="0" rtlCol="0" anchor="ctr"/>
            <a:lstStyle/>
            <a:p>
              <a:pPr algn="ctr" latinLnBrk="0">
                <a:defRPr/>
              </a:pPr>
              <a:r>
                <a:rPr lang="ko-KR" altLang="en-US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gradFill>
                    <a:gsLst>
                      <a:gs pos="417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  <a:latin typeface="+mn-ea"/>
                </a:rPr>
                <a:t>디자인</a:t>
              </a:r>
              <a:r>
                <a:rPr lang="en-US" altLang="ko-KR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gradFill>
                    <a:gsLst>
                      <a:gs pos="417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  <a:latin typeface="+mn-ea"/>
                </a:rPr>
                <a:t>(</a:t>
              </a:r>
              <a:r>
                <a:rPr lang="ko-KR" altLang="en-US" sz="1000" kern="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gradFill>
                    <a:gsLst>
                      <a:gs pos="417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  <a:latin typeface="+mn-ea"/>
                </a:rPr>
                <a:t>비상주</a:t>
              </a:r>
              <a:r>
                <a:rPr lang="en-US" altLang="ko-KR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gradFill>
                    <a:gsLst>
                      <a:gs pos="417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  <a:latin typeface="+mn-ea"/>
                </a:rPr>
                <a:t>)</a:t>
              </a:r>
              <a:endParaRPr lang="ko-KR" altLang="en-US" sz="1000" kern="0" dirty="0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417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endParaRPr>
            </a:p>
          </p:txBody>
        </p:sp>
      </p:grpSp>
      <p:grpSp>
        <p:nvGrpSpPr>
          <p:cNvPr id="446" name="그룹 445"/>
          <p:cNvGrpSpPr/>
          <p:nvPr/>
        </p:nvGrpSpPr>
        <p:grpSpPr>
          <a:xfrm>
            <a:off x="8051547" y="4296250"/>
            <a:ext cx="868347" cy="636540"/>
            <a:chOff x="3543479" y="5817095"/>
            <a:chExt cx="1271342" cy="720081"/>
          </a:xfrm>
        </p:grpSpPr>
        <p:sp>
          <p:nvSpPr>
            <p:cNvPr id="447" name="직사각형 446"/>
            <p:cNvSpPr/>
            <p:nvPr/>
          </p:nvSpPr>
          <p:spPr>
            <a:xfrm>
              <a:off x="3543479" y="6159924"/>
              <a:ext cx="1271148" cy="377252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6A7680">
                  <a:lumMod val="40000"/>
                  <a:lumOff val="60000"/>
                </a:srgbClr>
              </a:solidFill>
              <a:prstDash val="sysDash"/>
            </a:ln>
            <a:effectLst/>
          </p:spPr>
          <p:txBody>
            <a:bodyPr lIns="72000" tIns="72000" rIns="72000" bIns="72000" rtlCol="0" anchor="ctr" anchorCtr="0"/>
            <a:lstStyle/>
            <a:p>
              <a:pPr algn="ctr" latinLnBrk="0">
                <a:lnSpc>
                  <a:spcPct val="110000"/>
                </a:lnSpc>
                <a:spcBef>
                  <a:spcPct val="20000"/>
                </a:spcBef>
                <a:buClr>
                  <a:srgbClr val="7D7C7F"/>
                </a:buClr>
                <a:buSzPct val="90000"/>
                <a:defRPr/>
              </a:pPr>
              <a:r>
                <a:rPr lang="ko-KR" altLang="en-US" sz="1000" kern="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김연배</a:t>
              </a:r>
              <a:r>
                <a:rPr lang="en-US" altLang="ko-KR" sz="1000" kern="0" baseline="30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(*)</a:t>
              </a:r>
              <a:endParaRPr lang="ko-KR" altLang="en-US" sz="1000" kern="0" baseline="300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endParaRPr>
            </a:p>
          </p:txBody>
        </p:sp>
        <p:sp>
          <p:nvSpPr>
            <p:cNvPr id="448" name="직사각형 447"/>
            <p:cNvSpPr/>
            <p:nvPr/>
          </p:nvSpPr>
          <p:spPr>
            <a:xfrm>
              <a:off x="3543480" y="5817095"/>
              <a:ext cx="1271341" cy="342829"/>
            </a:xfrm>
            <a:prstGeom prst="rect">
              <a:avLst/>
            </a:prstGeom>
            <a:solidFill>
              <a:srgbClr val="6A7680">
                <a:lumMod val="20000"/>
                <a:lumOff val="80000"/>
              </a:srgbClr>
            </a:solidFill>
            <a:ln w="9525" cap="flat" cmpd="sng" algn="ctr">
              <a:solidFill>
                <a:srgbClr val="6A7680">
                  <a:lumMod val="40000"/>
                  <a:lumOff val="60000"/>
                </a:srgbClr>
              </a:solidFill>
              <a:prstDash val="sysDash"/>
            </a:ln>
            <a:effectLst/>
          </p:spPr>
          <p:txBody>
            <a:bodyPr lIns="0" rIns="0" rtlCol="0" anchor="ctr"/>
            <a:lstStyle/>
            <a:p>
              <a:pPr algn="ctr" latinLnBrk="0">
                <a:defRPr/>
              </a:pPr>
              <a:r>
                <a:rPr lang="en-US" altLang="ko-KR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gradFill>
                    <a:gsLst>
                      <a:gs pos="417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  <a:latin typeface="+mn-ea"/>
                </a:rPr>
                <a:t>TA(</a:t>
              </a:r>
              <a:r>
                <a:rPr lang="ko-KR" altLang="en-US" sz="1000" kern="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gradFill>
                    <a:gsLst>
                      <a:gs pos="417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  <a:latin typeface="+mn-ea"/>
                </a:rPr>
                <a:t>비상주</a:t>
              </a:r>
              <a:r>
                <a:rPr lang="en-US" altLang="ko-KR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gradFill>
                    <a:gsLst>
                      <a:gs pos="417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  <a:latin typeface="+mn-ea"/>
                </a:rPr>
                <a:t>)</a:t>
              </a:r>
              <a:endParaRPr lang="ko-KR" altLang="en-US" sz="1000" kern="0" dirty="0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417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endParaRPr>
            </a:p>
          </p:txBody>
        </p:sp>
      </p:grpSp>
      <p:sp>
        <p:nvSpPr>
          <p:cNvPr id="449" name="양쪽 모서리가 둥근 사각형 448"/>
          <p:cNvSpPr/>
          <p:nvPr/>
        </p:nvSpPr>
        <p:spPr>
          <a:xfrm>
            <a:off x="5694876" y="5420058"/>
            <a:ext cx="3323828" cy="1445128"/>
          </a:xfrm>
          <a:prstGeom prst="round2SameRect">
            <a:avLst>
              <a:gd name="adj1" fmla="val 0"/>
              <a:gd name="adj2" fmla="val 0"/>
            </a:avLst>
          </a:prstGeom>
          <a:noFill/>
          <a:ln w="12700" cap="flat" cmpd="sng" algn="ctr">
            <a:solidFill>
              <a:schemeClr val="accent2">
                <a:lumMod val="50000"/>
              </a:schemeClr>
            </a:solidFill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400" latinLnBrk="0"/>
            <a:endParaRPr lang="en-US" altLang="ko-KR" sz="1600" kern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</a:endParaRPr>
          </a:p>
        </p:txBody>
      </p:sp>
      <p:sp>
        <p:nvSpPr>
          <p:cNvPr id="450" name="양쪽 모서리가 둥근 사각형 449"/>
          <p:cNvSpPr/>
          <p:nvPr/>
        </p:nvSpPr>
        <p:spPr>
          <a:xfrm>
            <a:off x="5688285" y="5157487"/>
            <a:ext cx="3337200" cy="288000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400" latinLnBrk="0"/>
            <a:r>
              <a:rPr lang="ko-KR" altLang="en-US" sz="13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</a:rPr>
              <a:t>기능 개발</a:t>
            </a:r>
            <a:endParaRPr lang="en-US" altLang="ko-KR" sz="13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2" name="L 도형 51"/>
          <p:cNvSpPr/>
          <p:nvPr/>
        </p:nvSpPr>
        <p:spPr>
          <a:xfrm rot="10800000">
            <a:off x="5683166" y="2983578"/>
            <a:ext cx="4543200" cy="3881606"/>
          </a:xfrm>
          <a:prstGeom prst="corner">
            <a:avLst>
              <a:gd name="adj1" fmla="val 18351"/>
              <a:gd name="adj2" fmla="val 28072"/>
            </a:avLst>
          </a:prstGeom>
          <a:noFill/>
          <a:ln w="12700" cap="flat" cmpd="sng" algn="ctr">
            <a:solidFill>
              <a:schemeClr val="accent2">
                <a:lumMod val="50000"/>
              </a:schemeClr>
            </a:solidFill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400" latinLnBrk="0"/>
            <a:endParaRPr lang="ko-KR" altLang="en-US" sz="1600" kern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</a:endParaRPr>
          </a:p>
        </p:txBody>
      </p:sp>
      <p:cxnSp>
        <p:nvCxnSpPr>
          <p:cNvPr id="460" name="직선 연결선 459"/>
          <p:cNvCxnSpPr/>
          <p:nvPr/>
        </p:nvCxnSpPr>
        <p:spPr>
          <a:xfrm>
            <a:off x="9712003" y="3859126"/>
            <a:ext cx="0" cy="122400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</p:cxnSp>
      <p:grpSp>
        <p:nvGrpSpPr>
          <p:cNvPr id="461" name="그룹 460"/>
          <p:cNvGrpSpPr/>
          <p:nvPr/>
        </p:nvGrpSpPr>
        <p:grpSpPr>
          <a:xfrm>
            <a:off x="9294615" y="3348571"/>
            <a:ext cx="806797" cy="507926"/>
            <a:chOff x="2042093" y="5817096"/>
            <a:chExt cx="1275624" cy="673660"/>
          </a:xfrm>
        </p:grpSpPr>
        <p:sp>
          <p:nvSpPr>
            <p:cNvPr id="462" name="직사각형 461"/>
            <p:cNvSpPr/>
            <p:nvPr/>
          </p:nvSpPr>
          <p:spPr>
            <a:xfrm>
              <a:off x="2042093" y="6145146"/>
              <a:ext cx="1271144" cy="345610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6A7680">
                  <a:lumMod val="40000"/>
                  <a:lumOff val="60000"/>
                </a:srgbClr>
              </a:solidFill>
              <a:prstDash val="sysDash"/>
            </a:ln>
            <a:effectLst/>
          </p:spPr>
          <p:txBody>
            <a:bodyPr lIns="72000" tIns="72000" rIns="72000" bIns="72000" rtlCol="0" anchor="ctr" anchorCtr="0"/>
            <a:lstStyle/>
            <a:p>
              <a:pPr algn="ctr" latinLnBrk="0">
                <a:lnSpc>
                  <a:spcPct val="110000"/>
                </a:lnSpc>
                <a:spcBef>
                  <a:spcPct val="20000"/>
                </a:spcBef>
                <a:buClr>
                  <a:srgbClr val="7D7C7F"/>
                </a:buClr>
                <a:buSzPct val="90000"/>
                <a:defRPr/>
              </a:pPr>
              <a:r>
                <a:rPr lang="ko-KR" altLang="en-US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김흥한</a:t>
              </a:r>
            </a:p>
          </p:txBody>
        </p:sp>
        <p:sp>
          <p:nvSpPr>
            <p:cNvPr id="463" name="직사각형 462"/>
            <p:cNvSpPr/>
            <p:nvPr/>
          </p:nvSpPr>
          <p:spPr>
            <a:xfrm>
              <a:off x="2046376" y="5817096"/>
              <a:ext cx="1271341" cy="374479"/>
            </a:xfrm>
            <a:prstGeom prst="rect">
              <a:avLst/>
            </a:prstGeom>
            <a:solidFill>
              <a:srgbClr val="6A7680">
                <a:lumMod val="20000"/>
                <a:lumOff val="80000"/>
              </a:srgbClr>
            </a:solidFill>
            <a:ln w="9525" cap="flat" cmpd="sng" algn="ctr">
              <a:solidFill>
                <a:srgbClr val="6A7680">
                  <a:lumMod val="40000"/>
                  <a:lumOff val="60000"/>
                </a:srgbClr>
              </a:solidFill>
              <a:prstDash val="sysDash"/>
            </a:ln>
            <a:effectLst/>
          </p:spPr>
          <p:txBody>
            <a:bodyPr lIns="0" rIns="0" rtlCol="0" anchor="ctr"/>
            <a:lstStyle/>
            <a:p>
              <a:pPr algn="ctr" latinLnBrk="0">
                <a:defRPr/>
              </a:pPr>
              <a:r>
                <a:rPr lang="ko-KR" altLang="en-US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gradFill>
                    <a:gsLst>
                      <a:gs pos="417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  <a:latin typeface="+mn-ea"/>
                </a:rPr>
                <a:t>사업관리</a:t>
              </a:r>
            </a:p>
          </p:txBody>
        </p:sp>
      </p:grpSp>
      <p:sp>
        <p:nvSpPr>
          <p:cNvPr id="467" name="직사각형 466"/>
          <p:cNvSpPr/>
          <p:nvPr/>
        </p:nvSpPr>
        <p:spPr>
          <a:xfrm>
            <a:off x="9295272" y="4101615"/>
            <a:ext cx="804088" cy="282350"/>
          </a:xfrm>
          <a:prstGeom prst="rect">
            <a:avLst/>
          </a:prstGeom>
          <a:solidFill>
            <a:srgbClr val="6A7680">
              <a:lumMod val="20000"/>
              <a:lumOff val="80000"/>
            </a:srgbClr>
          </a:solidFill>
          <a:ln w="9525" cap="flat" cmpd="sng" algn="ctr">
            <a:solidFill>
              <a:srgbClr val="6A7680">
                <a:lumMod val="40000"/>
                <a:lumOff val="60000"/>
              </a:srgbClr>
            </a:solidFill>
            <a:prstDash val="sysDash"/>
          </a:ln>
          <a:effectLst/>
        </p:spPr>
        <p:txBody>
          <a:bodyPr lIns="0" rIns="0" rtlCol="0" anchor="ctr"/>
          <a:lstStyle/>
          <a:p>
            <a:pPr algn="ctr" latinLnBrk="0">
              <a:defRPr/>
            </a:pPr>
            <a:r>
              <a:rPr lang="en-US" altLang="ko-KR" sz="1000" kern="0" dirty="0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417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PMO(</a:t>
            </a:r>
            <a:r>
              <a:rPr lang="ko-KR" altLang="en-US" sz="1000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417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비상주</a:t>
            </a:r>
            <a:r>
              <a:rPr lang="en-US" altLang="ko-KR" sz="1000" kern="0" dirty="0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417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)</a:t>
            </a:r>
            <a:endParaRPr lang="ko-KR" altLang="en-US" sz="1000" kern="0" dirty="0">
              <a:ln>
                <a:solidFill>
                  <a:schemeClr val="tx1">
                    <a:alpha val="0"/>
                  </a:schemeClr>
                </a:solidFill>
              </a:ln>
              <a:gradFill>
                <a:gsLst>
                  <a:gs pos="417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grpSp>
        <p:nvGrpSpPr>
          <p:cNvPr id="468" name="그룹 467"/>
          <p:cNvGrpSpPr/>
          <p:nvPr/>
        </p:nvGrpSpPr>
        <p:grpSpPr>
          <a:xfrm>
            <a:off x="9307250" y="4874141"/>
            <a:ext cx="806797" cy="507926"/>
            <a:chOff x="2042093" y="5817096"/>
            <a:chExt cx="1275624" cy="673660"/>
          </a:xfrm>
        </p:grpSpPr>
        <p:sp>
          <p:nvSpPr>
            <p:cNvPr id="469" name="직사각형 468"/>
            <p:cNvSpPr/>
            <p:nvPr/>
          </p:nvSpPr>
          <p:spPr>
            <a:xfrm>
              <a:off x="2042093" y="6145146"/>
              <a:ext cx="1271144" cy="345610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6A7680">
                  <a:lumMod val="40000"/>
                  <a:lumOff val="60000"/>
                </a:srgbClr>
              </a:solidFill>
              <a:prstDash val="sysDash"/>
            </a:ln>
            <a:effectLst/>
          </p:spPr>
          <p:txBody>
            <a:bodyPr lIns="72000" tIns="72000" rIns="72000" bIns="72000" rtlCol="0" anchor="ctr" anchorCtr="0"/>
            <a:lstStyle/>
            <a:p>
              <a:pPr algn="ctr" latinLnBrk="0">
                <a:lnSpc>
                  <a:spcPct val="110000"/>
                </a:lnSpc>
                <a:spcBef>
                  <a:spcPct val="20000"/>
                </a:spcBef>
                <a:buClr>
                  <a:srgbClr val="7D7C7F"/>
                </a:buClr>
                <a:buSzPct val="90000"/>
                <a:defRPr/>
              </a:pPr>
              <a:r>
                <a:rPr lang="ko-KR" altLang="en-US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박민우</a:t>
              </a:r>
            </a:p>
          </p:txBody>
        </p:sp>
        <p:sp>
          <p:nvSpPr>
            <p:cNvPr id="470" name="직사각형 469"/>
            <p:cNvSpPr/>
            <p:nvPr/>
          </p:nvSpPr>
          <p:spPr>
            <a:xfrm>
              <a:off x="2046376" y="5817096"/>
              <a:ext cx="1271341" cy="374479"/>
            </a:xfrm>
            <a:prstGeom prst="rect">
              <a:avLst/>
            </a:prstGeom>
            <a:solidFill>
              <a:srgbClr val="6A7680">
                <a:lumMod val="20000"/>
                <a:lumOff val="80000"/>
              </a:srgbClr>
            </a:solidFill>
            <a:ln w="9525" cap="flat" cmpd="sng" algn="ctr">
              <a:solidFill>
                <a:srgbClr val="6A7680">
                  <a:lumMod val="40000"/>
                  <a:lumOff val="60000"/>
                </a:srgbClr>
              </a:solidFill>
              <a:prstDash val="sysDash"/>
            </a:ln>
            <a:effectLst/>
          </p:spPr>
          <p:txBody>
            <a:bodyPr lIns="0" rIns="0" rtlCol="0" anchor="ctr"/>
            <a:lstStyle/>
            <a:p>
              <a:pPr algn="ctr" latinLnBrk="0">
                <a:defRPr/>
              </a:pPr>
              <a:r>
                <a:rPr lang="ko-KR" altLang="en-US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gradFill>
                    <a:gsLst>
                      <a:gs pos="417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  <a:latin typeface="+mn-ea"/>
                </a:rPr>
                <a:t>사업지원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715045" y="6262650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이투스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/</a:t>
            </a:r>
            <a:endParaRPr lang="ko-KR" altLang="en-US" sz="10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481" name="직사각형 480"/>
          <p:cNvSpPr/>
          <p:nvPr/>
        </p:nvSpPr>
        <p:spPr>
          <a:xfrm>
            <a:off x="9307250" y="4500731"/>
            <a:ext cx="804088" cy="282350"/>
          </a:xfrm>
          <a:prstGeom prst="rect">
            <a:avLst/>
          </a:prstGeom>
          <a:solidFill>
            <a:srgbClr val="6A7680">
              <a:lumMod val="20000"/>
              <a:lumOff val="80000"/>
            </a:srgbClr>
          </a:solidFill>
          <a:ln w="9525" cap="flat" cmpd="sng" algn="ctr">
            <a:solidFill>
              <a:srgbClr val="6A7680">
                <a:lumMod val="40000"/>
                <a:lumOff val="60000"/>
              </a:srgbClr>
            </a:solidFill>
            <a:prstDash val="sysDash"/>
          </a:ln>
          <a:effectLst/>
        </p:spPr>
        <p:txBody>
          <a:bodyPr lIns="0" rIns="0" rtlCol="0" anchor="ctr"/>
          <a:lstStyle/>
          <a:p>
            <a:pPr algn="ctr" latinLnBrk="0">
              <a:defRPr/>
            </a:pPr>
            <a:r>
              <a:rPr lang="ko-KR" altLang="en-US" sz="1000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417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테스트팀</a:t>
            </a:r>
            <a:endParaRPr lang="ko-KR" altLang="en-US" sz="1000" kern="0" dirty="0">
              <a:ln>
                <a:solidFill>
                  <a:schemeClr val="tx1">
                    <a:alpha val="0"/>
                  </a:schemeClr>
                </a:solidFill>
              </a:ln>
              <a:gradFill>
                <a:gsLst>
                  <a:gs pos="417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894463" y="6015586"/>
            <a:ext cx="2979743" cy="738570"/>
            <a:chOff x="5894463" y="5842741"/>
            <a:chExt cx="2979743" cy="911415"/>
          </a:xfrm>
        </p:grpSpPr>
        <p:sp>
          <p:nvSpPr>
            <p:cNvPr id="453" name="직사각형 452"/>
            <p:cNvSpPr/>
            <p:nvPr/>
          </p:nvSpPr>
          <p:spPr>
            <a:xfrm>
              <a:off x="6929936" y="5842741"/>
              <a:ext cx="1944270" cy="290769"/>
            </a:xfrm>
            <a:prstGeom prst="rect">
              <a:avLst/>
            </a:prstGeom>
            <a:solidFill>
              <a:srgbClr val="6A7680">
                <a:lumMod val="20000"/>
                <a:lumOff val="80000"/>
              </a:srgbClr>
            </a:solidFill>
            <a:ln w="9525" cap="flat" cmpd="sng" algn="ctr">
              <a:solidFill>
                <a:srgbClr val="6A7680">
                  <a:lumMod val="40000"/>
                  <a:lumOff val="60000"/>
                </a:srgbClr>
              </a:solidFill>
              <a:prstDash val="sysDash"/>
            </a:ln>
            <a:effectLst/>
          </p:spPr>
          <p:txBody>
            <a:bodyPr lIns="0" rIns="0" rtlCol="0" anchor="ctr"/>
            <a:lstStyle/>
            <a:p>
              <a:pPr algn="ctr" latinLnBrk="0">
                <a:defRPr/>
              </a:pPr>
              <a:r>
                <a:rPr lang="ko-KR" altLang="en-US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gradFill>
                    <a:gsLst>
                      <a:gs pos="417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  <a:latin typeface="+mn-ea"/>
                </a:rPr>
                <a:t>전환 개발팀</a:t>
              </a:r>
            </a:p>
          </p:txBody>
        </p:sp>
        <p:grpSp>
          <p:nvGrpSpPr>
            <p:cNvPr id="454" name="그룹 453"/>
            <p:cNvGrpSpPr/>
            <p:nvPr/>
          </p:nvGrpSpPr>
          <p:grpSpPr>
            <a:xfrm>
              <a:off x="5894463" y="5863337"/>
              <a:ext cx="891247" cy="872946"/>
              <a:chOff x="3543479" y="5817094"/>
              <a:chExt cx="1271342" cy="1595570"/>
            </a:xfrm>
          </p:grpSpPr>
          <p:sp>
            <p:nvSpPr>
              <p:cNvPr id="455" name="직사각형 454"/>
              <p:cNvSpPr/>
              <p:nvPr/>
            </p:nvSpPr>
            <p:spPr>
              <a:xfrm>
                <a:off x="3543479" y="6310909"/>
                <a:ext cx="1271148" cy="1101755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rgbClr val="6A7680">
                    <a:lumMod val="40000"/>
                    <a:lumOff val="60000"/>
                  </a:srgbClr>
                </a:solidFill>
                <a:prstDash val="sysDash"/>
              </a:ln>
              <a:effectLst/>
            </p:spPr>
            <p:txBody>
              <a:bodyPr lIns="72000" tIns="72000" rIns="72000" bIns="72000" rtlCol="0" anchor="ctr" anchorCtr="0"/>
              <a:lstStyle/>
              <a:p>
                <a:pPr algn="ctr" latinLnBrk="0">
                  <a:lnSpc>
                    <a:spcPct val="110000"/>
                  </a:lnSpc>
                  <a:spcBef>
                    <a:spcPct val="20000"/>
                  </a:spcBef>
                  <a:buClr>
                    <a:srgbClr val="7D7C7F"/>
                  </a:buClr>
                  <a:buSzPct val="90000"/>
                  <a:defRPr/>
                </a:pPr>
                <a:r>
                  <a:rPr lang="ko-KR" altLang="en-US" sz="1000" kern="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ea"/>
                  </a:rPr>
                  <a:t>노일래 외 </a:t>
                </a:r>
                <a:r>
                  <a:rPr lang="en-US" altLang="ko-KR" sz="1000" kern="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ea"/>
                  </a:rPr>
                  <a:t>2</a:t>
                </a:r>
                <a:endParaRPr lang="ko-KR" altLang="en-US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endParaRPr>
              </a:p>
            </p:txBody>
          </p:sp>
          <p:sp>
            <p:nvSpPr>
              <p:cNvPr id="456" name="직사각형 455"/>
              <p:cNvSpPr/>
              <p:nvPr/>
            </p:nvSpPr>
            <p:spPr>
              <a:xfrm>
                <a:off x="3543480" y="5817094"/>
                <a:ext cx="1271341" cy="493811"/>
              </a:xfrm>
              <a:prstGeom prst="rect">
                <a:avLst/>
              </a:prstGeom>
              <a:solidFill>
                <a:srgbClr val="6A7680">
                  <a:lumMod val="20000"/>
                  <a:lumOff val="80000"/>
                </a:srgbClr>
              </a:solidFill>
              <a:ln w="9525" cap="flat" cmpd="sng" algn="ctr">
                <a:solidFill>
                  <a:srgbClr val="6A7680">
                    <a:lumMod val="40000"/>
                    <a:lumOff val="60000"/>
                  </a:srgbClr>
                </a:solidFill>
                <a:prstDash val="sysDash"/>
              </a:ln>
              <a:effectLst/>
            </p:spPr>
            <p:txBody>
              <a:bodyPr lIns="0" rIns="0" rtlCol="0" anchor="ctr"/>
              <a:lstStyle/>
              <a:p>
                <a:pPr algn="ctr" latinLnBrk="0">
                  <a:defRPr/>
                </a:pPr>
                <a:r>
                  <a:rPr lang="en-US" altLang="ko-KR" sz="1000" kern="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gradFill>
                      <a:gsLst>
                        <a:gs pos="417">
                          <a:prstClr val="black">
                            <a:lumMod val="75000"/>
                            <a:lumOff val="25000"/>
                          </a:prstClr>
                        </a:gs>
                        <a:gs pos="100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path path="shape">
                        <a:fillToRect l="50000" t="50000" r="50000" b="50000"/>
                      </a:path>
                    </a:gradFill>
                    <a:latin typeface="+mn-ea"/>
                  </a:rPr>
                  <a:t>API </a:t>
                </a:r>
                <a:r>
                  <a:rPr lang="ko-KR" altLang="en-US" sz="1000" kern="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gradFill>
                      <a:gsLst>
                        <a:gs pos="417">
                          <a:prstClr val="black">
                            <a:lumMod val="75000"/>
                            <a:lumOff val="25000"/>
                          </a:prstClr>
                        </a:gs>
                        <a:gs pos="100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path path="shape">
                        <a:fillToRect l="50000" t="50000" r="50000" b="50000"/>
                      </a:path>
                    </a:gradFill>
                    <a:latin typeface="+mn-ea"/>
                  </a:rPr>
                  <a:t>개발팀</a:t>
                </a:r>
              </a:p>
            </p:txBody>
          </p:sp>
        </p:grpSp>
        <p:sp>
          <p:nvSpPr>
            <p:cNvPr id="96" name="직사각형 95"/>
            <p:cNvSpPr/>
            <p:nvPr/>
          </p:nvSpPr>
          <p:spPr>
            <a:xfrm>
              <a:off x="6924852" y="6133509"/>
              <a:ext cx="1949354" cy="620647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6A7680">
                  <a:lumMod val="40000"/>
                  <a:lumOff val="60000"/>
                </a:srgbClr>
              </a:solidFill>
              <a:prstDash val="sysDash"/>
            </a:ln>
            <a:effectLst/>
          </p:spPr>
          <p:txBody>
            <a:bodyPr lIns="72000" tIns="72000" rIns="72000" bIns="72000" rtlCol="0" anchor="ctr" anchorCtr="0"/>
            <a:lstStyle/>
            <a:p>
              <a:pPr algn="ctr" latinLnBrk="0">
                <a:lnSpc>
                  <a:spcPct val="110000"/>
                </a:lnSpc>
                <a:spcBef>
                  <a:spcPct val="20000"/>
                </a:spcBef>
                <a:buClr>
                  <a:srgbClr val="7D7C7F"/>
                </a:buClr>
                <a:buSzPct val="90000"/>
                <a:defRPr/>
              </a:pPr>
              <a:r>
                <a:rPr lang="ko-KR" altLang="en-US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윤정선 외 </a:t>
              </a:r>
              <a:r>
                <a:rPr lang="en-US" altLang="ko-KR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5</a:t>
              </a:r>
              <a:r>
                <a:rPr lang="ko-KR" altLang="en-US" sz="1000" kern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</a:rPr>
                <a:t> </a:t>
              </a:r>
              <a:endParaRPr lang="en-US" altLang="ko-KR" sz="1000" kern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endParaRPr>
            </a:p>
          </p:txBody>
        </p:sp>
      </p:grpSp>
      <p:sp>
        <p:nvSpPr>
          <p:cNvPr id="97" name="직사각형 96"/>
          <p:cNvSpPr/>
          <p:nvPr/>
        </p:nvSpPr>
        <p:spPr>
          <a:xfrm>
            <a:off x="6377664" y="5576726"/>
            <a:ext cx="1944270" cy="290769"/>
          </a:xfrm>
          <a:prstGeom prst="rect">
            <a:avLst/>
          </a:prstGeom>
          <a:solidFill>
            <a:srgbClr val="6A7680">
              <a:lumMod val="20000"/>
              <a:lumOff val="80000"/>
            </a:srgbClr>
          </a:solidFill>
          <a:ln w="9525" cap="flat" cmpd="sng" algn="ctr">
            <a:solidFill>
              <a:srgbClr val="6A7680">
                <a:lumMod val="40000"/>
                <a:lumOff val="60000"/>
              </a:srgbClr>
            </a:solidFill>
            <a:prstDash val="sysDash"/>
          </a:ln>
          <a:effectLst/>
        </p:spPr>
        <p:txBody>
          <a:bodyPr lIns="0" rIns="0" rtlCol="0" anchor="ctr"/>
          <a:lstStyle/>
          <a:p>
            <a:pPr algn="ctr" latinLnBrk="0">
              <a:defRPr/>
            </a:pPr>
            <a:r>
              <a:rPr lang="ko-KR" altLang="en-US" sz="1000" kern="0" dirty="0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417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개발 총괄 </a:t>
            </a:r>
            <a:r>
              <a:rPr lang="en-US" altLang="ko-KR" sz="1000" kern="0" dirty="0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417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: </a:t>
            </a:r>
            <a:r>
              <a:rPr lang="ko-KR" altLang="en-US" sz="1000" kern="0" dirty="0">
                <a:ln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417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노일래</a:t>
            </a:r>
          </a:p>
        </p:txBody>
      </p:sp>
      <p:sp>
        <p:nvSpPr>
          <p:cNvPr id="102" name="모서리가 둥근 직사각형 211">
            <a:extLst>
              <a:ext uri="{FF2B5EF4-FFF2-40B4-BE49-F238E27FC236}">
                <a16:creationId xmlns:a16="http://schemas.microsoft.com/office/drawing/2014/main" id="{8BF98EB6-B18D-4299-9C53-7DCA0604ABBA}"/>
              </a:ext>
            </a:extLst>
          </p:cNvPr>
          <p:cNvSpPr/>
          <p:nvPr/>
        </p:nvSpPr>
        <p:spPr>
          <a:xfrm>
            <a:off x="1949697" y="3996022"/>
            <a:ext cx="1728725" cy="18265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1458" algn="ctr" defTabSz="957778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9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27917">
                      <a:prstClr val="black">
                        <a:lumMod val="85000"/>
                        <a:lumOff val="15000"/>
                      </a:prstClr>
                    </a:gs>
                    <a:gs pos="38333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</a:rPr>
              <a:t>TMS TFT</a:t>
            </a:r>
            <a:endParaRPr lang="ko-KR" altLang="en-US" sz="900" kern="0" dirty="0">
              <a:ln>
                <a:solidFill>
                  <a:srgbClr val="87A884">
                    <a:lumMod val="75000"/>
                    <a:alpha val="0"/>
                  </a:srgbClr>
                </a:solidFill>
              </a:ln>
              <a:gradFill>
                <a:gsLst>
                  <a:gs pos="27917">
                    <a:prstClr val="black">
                      <a:lumMod val="85000"/>
                      <a:lumOff val="15000"/>
                    </a:prstClr>
                  </a:gs>
                  <a:gs pos="38333">
                    <a:prstClr val="black">
                      <a:lumMod val="85000"/>
                      <a:lumOff val="15000"/>
                    </a:prstClr>
                  </a:gs>
                </a:gsLst>
                <a:lin ang="5400000" scaled="0"/>
              </a:gradFill>
            </a:endParaRPr>
          </a:p>
        </p:txBody>
      </p:sp>
      <p:sp>
        <p:nvSpPr>
          <p:cNvPr id="105" name="양쪽 모서리가 둥근 사각형 104"/>
          <p:cNvSpPr/>
          <p:nvPr/>
        </p:nvSpPr>
        <p:spPr>
          <a:xfrm>
            <a:off x="558415" y="3528798"/>
            <a:ext cx="4536630" cy="1504022"/>
          </a:xfrm>
          <a:prstGeom prst="round2SameRect">
            <a:avLst>
              <a:gd name="adj1" fmla="val 0"/>
              <a:gd name="adj2" fmla="val 0"/>
            </a:avLst>
          </a:prstGeom>
          <a:noFill/>
          <a:ln w="1270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400" latinLnBrk="0"/>
            <a:endParaRPr lang="en-US" altLang="ko-KR" sz="1600" kern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</a:endParaRPr>
          </a:p>
        </p:txBody>
      </p:sp>
      <p:grpSp>
        <p:nvGrpSpPr>
          <p:cNvPr id="108" name="그룹 107"/>
          <p:cNvGrpSpPr/>
          <p:nvPr/>
        </p:nvGrpSpPr>
        <p:grpSpPr>
          <a:xfrm>
            <a:off x="1641494" y="4226313"/>
            <a:ext cx="3371200" cy="738810"/>
            <a:chOff x="3607345" y="4330571"/>
            <a:chExt cx="1381277" cy="738810"/>
          </a:xfrm>
        </p:grpSpPr>
        <p:sp>
          <p:nvSpPr>
            <p:cNvPr id="111" name="직사각형 110"/>
            <p:cNvSpPr/>
            <p:nvPr/>
          </p:nvSpPr>
          <p:spPr>
            <a:xfrm>
              <a:off x="3607345" y="4581678"/>
              <a:ext cx="1381277" cy="487703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36000" tIns="72000" rIns="36000" bIns="72000" numCol="3" rtlCol="0" anchor="ctr" anchorCtr="0"/>
            <a:lstStyle/>
            <a:p>
              <a:pPr algn="ctr" defTabSz="914400" latinLnBrk="0">
                <a:spcBef>
                  <a:spcPct val="20000"/>
                </a:spcBef>
                <a:buClr>
                  <a:srgbClr val="7D7C7F"/>
                </a:buClr>
                <a:buSzPct val="90000"/>
                <a:defRPr/>
              </a:pPr>
              <a:endPara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  <p:sp>
          <p:nvSpPr>
            <p:cNvPr id="112" name="양쪽 모서리가 둥근 사각형 111"/>
            <p:cNvSpPr/>
            <p:nvPr/>
          </p:nvSpPr>
          <p:spPr>
            <a:xfrm>
              <a:off x="3607345" y="4330571"/>
              <a:ext cx="1381277" cy="224409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400" latinLnBrk="0">
                <a:defRPr/>
              </a:pPr>
              <a:r>
                <a:rPr lang="ko-KR" altLang="en-US" sz="1100" kern="0" dirty="0" err="1">
                  <a:ln>
                    <a:solidFill>
                      <a:prstClr val="black">
                        <a:alpha val="0"/>
                      </a:prstClr>
                    </a:solidFill>
                  </a:ln>
                  <a:gradFill>
                    <a:gsLst>
                      <a:gs pos="417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아키텍쳐</a:t>
              </a:r>
              <a:endParaRPr lang="en-US" altLang="ko-KR" sz="1100" kern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658512" y="3695171"/>
            <a:ext cx="4327574" cy="251012"/>
            <a:chOff x="2281756" y="3903296"/>
            <a:chExt cx="3322066" cy="280800"/>
          </a:xfrm>
        </p:grpSpPr>
        <p:sp>
          <p:nvSpPr>
            <p:cNvPr id="114" name="직사각형 113"/>
            <p:cNvSpPr/>
            <p:nvPr/>
          </p:nvSpPr>
          <p:spPr>
            <a:xfrm>
              <a:off x="4120620" y="3911478"/>
              <a:ext cx="1483202" cy="26414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2">
                  <a:lumMod val="50000"/>
                </a:schemeClr>
              </a:solidFill>
              <a:prstDash val="solid"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37431"/>
              <a:r>
                <a:rPr lang="ko-KR" altLang="en-US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플랫폼개발팀 이병철 과장</a:t>
              </a:r>
            </a:p>
          </p:txBody>
        </p:sp>
        <p:sp>
          <p:nvSpPr>
            <p:cNvPr id="115" name="양쪽 모서리가 둥근 사각형 114"/>
            <p:cNvSpPr/>
            <p:nvPr/>
          </p:nvSpPr>
          <p:spPr>
            <a:xfrm>
              <a:off x="2281756" y="3903296"/>
              <a:ext cx="1838868" cy="2808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algn="ctr" defTabSz="1037431">
                <a:buSzPct val="80000"/>
              </a:pPr>
              <a:r>
                <a:rPr lang="ko-KR" altLang="en-US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white"/>
                  </a:solidFill>
                  <a:latin typeface="+mn-ea"/>
                </a:rPr>
                <a:t>사업관리 및 </a:t>
              </a:r>
              <a:r>
                <a:rPr lang="en-US" altLang="ko-KR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white"/>
                  </a:solidFill>
                  <a:latin typeface="+mn-ea"/>
                </a:rPr>
                <a:t>SW</a:t>
              </a:r>
              <a:r>
                <a:rPr lang="ko-KR" altLang="en-US" sz="12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prstClr val="white"/>
                  </a:solidFill>
                  <a:latin typeface="+mn-ea"/>
                </a:rPr>
                <a:t>표준화 총괄 </a:t>
              </a:r>
            </a:p>
          </p:txBody>
        </p:sp>
      </p:grpSp>
      <p:sp>
        <p:nvSpPr>
          <p:cNvPr id="116" name="직사각형 115"/>
          <p:cNvSpPr/>
          <p:nvPr/>
        </p:nvSpPr>
        <p:spPr>
          <a:xfrm>
            <a:off x="618509" y="4476508"/>
            <a:ext cx="975243" cy="491278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36000" tIns="72000" rIns="36000" bIns="72000" rtlCol="0" anchor="ctr" anchorCtr="0"/>
          <a:lstStyle/>
          <a:p>
            <a:pPr algn="ctr" defTabSz="914400" latinLnBrk="0">
              <a:lnSpc>
                <a:spcPct val="110000"/>
              </a:lnSpc>
              <a:spcBef>
                <a:spcPct val="20000"/>
              </a:spcBef>
              <a:buClr>
                <a:srgbClr val="7D7C7F"/>
              </a:buClr>
              <a:buSzPct val="90000"/>
              <a:defRPr/>
            </a:pP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IT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개발실</a:t>
            </a:r>
            <a:endParaRPr lang="en-US" altLang="ko-KR" sz="1000" kern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Rix고딕 EB" panose="02020603020101020101" pitchFamily="18" charset="-127"/>
              <a:ea typeface="Rix고딕 EB" panose="02020603020101020101" pitchFamily="18" charset="-127"/>
            </a:endParaRPr>
          </a:p>
          <a:p>
            <a:pPr algn="ctr" defTabSz="914400" latinLnBrk="0">
              <a:lnSpc>
                <a:spcPct val="110000"/>
              </a:lnSpc>
              <a:spcBef>
                <a:spcPct val="20000"/>
              </a:spcBef>
              <a:buClr>
                <a:srgbClr val="7D7C7F"/>
              </a:buClr>
              <a:buSzPct val="90000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서건우 실장</a:t>
            </a:r>
          </a:p>
        </p:txBody>
      </p:sp>
      <p:sp>
        <p:nvSpPr>
          <p:cNvPr id="117" name="양쪽 모서리가 둥근 사각형 116"/>
          <p:cNvSpPr/>
          <p:nvPr/>
        </p:nvSpPr>
        <p:spPr>
          <a:xfrm>
            <a:off x="618509" y="4232858"/>
            <a:ext cx="975243" cy="224409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914400" latinLnBrk="0">
              <a:defRPr/>
            </a:pPr>
            <a:r>
              <a:rPr lang="ko-KR" altLang="en-US" sz="1100" kern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기술지원</a:t>
            </a:r>
            <a:endParaRPr lang="en-US" altLang="ko-KR" sz="1100" kern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646012" y="4469315"/>
            <a:ext cx="1026243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latinLnBrk="0">
              <a:lnSpc>
                <a:spcPct val="90000"/>
              </a:lnSpc>
              <a:spcBef>
                <a:spcPct val="20000"/>
              </a:spcBef>
              <a:buClr>
                <a:srgbClr val="7D7C7F"/>
              </a:buClr>
              <a:buSzPct val="90000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데이터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아키텍쳐</a:t>
            </a:r>
            <a:endParaRPr lang="en-US" altLang="ko-KR" sz="1100" kern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Rix고딕 EB" panose="02020603020101020101" pitchFamily="18" charset="-127"/>
              <a:ea typeface="Rix고딕 EB" panose="02020603020101020101" pitchFamily="18" charset="-127"/>
            </a:endParaRPr>
          </a:p>
          <a:p>
            <a:pPr algn="ctr" defTabSz="914400" latinLnBrk="0">
              <a:lnSpc>
                <a:spcPct val="90000"/>
              </a:lnSpc>
              <a:spcBef>
                <a:spcPct val="20000"/>
              </a:spcBef>
              <a:buClr>
                <a:srgbClr val="7D7C7F"/>
              </a:buClr>
              <a:buSzPct val="90000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선도개발팀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/</a:t>
            </a:r>
            <a:b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</a:b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김도영과장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621805" y="4460437"/>
            <a:ext cx="125707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latinLnBrk="0">
              <a:lnSpc>
                <a:spcPct val="90000"/>
              </a:lnSpc>
              <a:spcBef>
                <a:spcPct val="20000"/>
              </a:spcBef>
              <a:buClr>
                <a:srgbClr val="7D7C7F"/>
              </a:buClr>
              <a:buSzPct val="90000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소프트웨어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아키텍쳐</a:t>
            </a:r>
            <a:endParaRPr lang="en-US" altLang="ko-KR" sz="1100" kern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Rix고딕 EB" panose="02020603020101020101" pitchFamily="18" charset="-127"/>
              <a:ea typeface="Rix고딕 EB" panose="02020603020101020101" pitchFamily="18" charset="-127"/>
            </a:endParaRPr>
          </a:p>
          <a:p>
            <a:pPr algn="ctr" defTabSz="914400" latinLnBrk="0">
              <a:lnSpc>
                <a:spcPct val="90000"/>
              </a:lnSpc>
              <a:spcBef>
                <a:spcPct val="20000"/>
              </a:spcBef>
              <a:buClr>
                <a:srgbClr val="7D7C7F"/>
              </a:buClr>
              <a:buSzPct val="90000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선도개발팀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/</a:t>
            </a:r>
            <a:b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</a:b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남희성과장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908125" y="4461410"/>
            <a:ext cx="1026242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latinLnBrk="0">
              <a:lnSpc>
                <a:spcPct val="90000"/>
              </a:lnSpc>
              <a:spcBef>
                <a:spcPct val="20000"/>
              </a:spcBef>
              <a:buClr>
                <a:srgbClr val="7D7C7F"/>
              </a:buClr>
              <a:buSzPct val="90000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인프라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아키텍쳐</a:t>
            </a:r>
            <a:endParaRPr lang="en-US" altLang="ko-KR" sz="1100" kern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Rix고딕 EB" panose="02020603020101020101" pitchFamily="18" charset="-127"/>
              <a:ea typeface="Rix고딕 EB" panose="02020603020101020101" pitchFamily="18" charset="-127"/>
            </a:endParaRPr>
          </a:p>
          <a:p>
            <a:pPr algn="ctr" defTabSz="914400" latinLnBrk="0">
              <a:lnSpc>
                <a:spcPct val="90000"/>
              </a:lnSpc>
              <a:spcBef>
                <a:spcPct val="20000"/>
              </a:spcBef>
              <a:buClr>
                <a:srgbClr val="7D7C7F"/>
              </a:buClr>
              <a:buSzPct val="90000"/>
              <a:defRPr/>
            </a:pP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정보보안팀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/</a:t>
            </a:r>
            <a:b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</a:b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박범선과장</a:t>
            </a:r>
            <a:endParaRPr lang="ko-KR" altLang="en-US" sz="10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cxnSp>
        <p:nvCxnSpPr>
          <p:cNvPr id="121" name="직선 연결선 120"/>
          <p:cNvCxnSpPr/>
          <p:nvPr/>
        </p:nvCxnSpPr>
        <p:spPr>
          <a:xfrm>
            <a:off x="2646818" y="4499161"/>
            <a:ext cx="0" cy="416529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>
            <a:off x="3897622" y="4500731"/>
            <a:ext cx="0" cy="416529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양쪽 모서리가 둥근 사각형 92"/>
          <p:cNvSpPr/>
          <p:nvPr/>
        </p:nvSpPr>
        <p:spPr>
          <a:xfrm>
            <a:off x="557111" y="3322921"/>
            <a:ext cx="4546800" cy="288000"/>
          </a:xfrm>
          <a:prstGeom prst="round2SameRect">
            <a:avLst/>
          </a:prstGeom>
          <a:solidFill>
            <a:schemeClr val="accent3"/>
          </a:solidFill>
          <a:ln w="127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400" latinLnBrk="0"/>
            <a:r>
              <a:rPr lang="ko-KR" altLang="en-US" sz="13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</a:rPr>
              <a:t>사업관리 및 개발 표준화</a:t>
            </a:r>
            <a:endParaRPr lang="en-US" altLang="ko-KR" sz="13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8" name="양쪽 모서리가 둥근 사각형 97"/>
          <p:cNvSpPr/>
          <p:nvPr/>
        </p:nvSpPr>
        <p:spPr>
          <a:xfrm>
            <a:off x="5674129" y="2723179"/>
            <a:ext cx="4557853" cy="288000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914400" latinLnBrk="0"/>
            <a:r>
              <a:rPr lang="ko-KR" altLang="en-US" sz="13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</a:rPr>
              <a:t>프로젝트 관리 및 지원</a:t>
            </a:r>
            <a:endParaRPr lang="en-US" altLang="ko-KR" sz="13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9" name="왼쪽/오른쪽 화살표 98"/>
          <p:cNvSpPr/>
          <p:nvPr/>
        </p:nvSpPr>
        <p:spPr>
          <a:xfrm>
            <a:off x="4986650" y="5969914"/>
            <a:ext cx="749894" cy="331067"/>
          </a:xfrm>
          <a:prstGeom prst="left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/>
          <p:cNvSpPr txBox="1"/>
          <p:nvPr/>
        </p:nvSpPr>
        <p:spPr>
          <a:xfrm>
            <a:off x="5035673" y="6019135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의사소통</a:t>
            </a:r>
          </a:p>
        </p:txBody>
      </p:sp>
      <p:sp>
        <p:nvSpPr>
          <p:cNvPr id="101" name="왼쪽/오른쪽 화살표 100"/>
          <p:cNvSpPr/>
          <p:nvPr/>
        </p:nvSpPr>
        <p:spPr>
          <a:xfrm>
            <a:off x="4986086" y="4477866"/>
            <a:ext cx="749894" cy="331067"/>
          </a:xfrm>
          <a:prstGeom prst="left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/>
          <p:cNvSpPr txBox="1"/>
          <p:nvPr/>
        </p:nvSpPr>
        <p:spPr>
          <a:xfrm>
            <a:off x="5035109" y="4527087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의사소통</a:t>
            </a:r>
          </a:p>
        </p:txBody>
      </p:sp>
      <p:sp>
        <p:nvSpPr>
          <p:cNvPr id="104" name="왼쪽/오른쪽 화살표 103"/>
          <p:cNvSpPr/>
          <p:nvPr/>
        </p:nvSpPr>
        <p:spPr>
          <a:xfrm>
            <a:off x="4986650" y="3276561"/>
            <a:ext cx="749894" cy="331067"/>
          </a:xfrm>
          <a:prstGeom prst="left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5058660" y="3318380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의사소통</a:t>
            </a:r>
          </a:p>
        </p:txBody>
      </p:sp>
    </p:spTree>
    <p:extLst>
      <p:ext uri="{BB962C8B-B14F-4D97-AF65-F5344CB8AC3E}">
        <p14:creationId xmlns:p14="http://schemas.microsoft.com/office/powerpoint/2010/main" val="36616611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194755"/>
              </p:ext>
            </p:extLst>
          </p:nvPr>
        </p:nvGraphicFramePr>
        <p:xfrm>
          <a:off x="738188" y="2074933"/>
          <a:ext cx="9217026" cy="4874137"/>
        </p:xfrm>
        <a:graphic>
          <a:graphicData uri="http://schemas.openxmlformats.org/drawingml/2006/table">
            <a:tbl>
              <a:tblPr firstRow="1">
                <a:effectLst/>
              </a:tblPr>
              <a:tblGrid>
                <a:gridCol w="1095467">
                  <a:extLst>
                    <a:ext uri="{9D8B030D-6E8A-4147-A177-3AD203B41FA5}">
                      <a16:colId xmlns:a16="http://schemas.microsoft.com/office/drawing/2014/main" val="1493712485"/>
                    </a:ext>
                  </a:extLst>
                </a:gridCol>
                <a:gridCol w="1095467">
                  <a:extLst>
                    <a:ext uri="{9D8B030D-6E8A-4147-A177-3AD203B41FA5}">
                      <a16:colId xmlns:a16="http://schemas.microsoft.com/office/drawing/2014/main" val="2665359829"/>
                    </a:ext>
                  </a:extLst>
                </a:gridCol>
                <a:gridCol w="5439556">
                  <a:extLst>
                    <a:ext uri="{9D8B030D-6E8A-4147-A177-3AD203B41FA5}">
                      <a16:colId xmlns:a16="http://schemas.microsoft.com/office/drawing/2014/main" val="707382593"/>
                    </a:ext>
                  </a:extLst>
                </a:gridCol>
                <a:gridCol w="1586536">
                  <a:extLst>
                    <a:ext uri="{9D8B030D-6E8A-4147-A177-3AD203B41FA5}">
                      <a16:colId xmlns:a16="http://schemas.microsoft.com/office/drawing/2014/main" val="299573206"/>
                    </a:ext>
                  </a:extLst>
                </a:gridCol>
              </a:tblGrid>
              <a:tr h="241618">
                <a:tc gridSpan="2">
                  <a:txBody>
                    <a:bodyPr/>
                    <a:lstStyle>
                      <a:lvl1pPr marL="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업무 역할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수행 담당자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416390"/>
                  </a:ext>
                </a:extLst>
              </a:tr>
              <a:tr h="399668">
                <a:tc gridSpan="2"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용역 책임자</a:t>
                      </a:r>
                      <a:endParaRPr kumimoji="0" lang="en-US" altLang="ko-KR" sz="12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사업수행 총괄 책임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계약 관리 및 사업 수행지원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이투스교육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교육지대와 지속적 협력관계 관리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최재석 상무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227870"/>
                  </a:ext>
                </a:extLst>
              </a:tr>
              <a:tr h="599503">
                <a:tc gridSpan="2"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프로젝트 관리자</a:t>
                      </a:r>
                      <a:endParaRPr kumimoji="0" lang="ko-KR" altLang="ko-KR" sz="12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이투스교육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교육지대 사업 총괄 관리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사업계획 수립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진행사항 보고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회의 소집 및 주관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사업진행에 대한 업무조정 및 통제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이병도 이사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602140"/>
                  </a:ext>
                </a:extLst>
              </a:tr>
              <a:tr h="599503">
                <a:tc gridSpan="2"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사업 </a:t>
                      </a:r>
                      <a:r>
                        <a:rPr kumimoji="0" lang="en-US" altLang="ko-KR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품질 관리</a:t>
                      </a:r>
                      <a:endParaRPr kumimoji="0" lang="ko-KR" altLang="ko-KR" sz="12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각종 보고회의 준비 및 진행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쟁점 관리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산출물 관리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위험 및 이슈관리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품질관리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자원관리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형상관리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테스트 지원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업무 분석 지원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김흥한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부장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박민우 부장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687098"/>
                  </a:ext>
                </a:extLst>
              </a:tr>
              <a:tr h="399668">
                <a:tc rowSpan="3"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공통기술팀</a:t>
                      </a:r>
                      <a:endParaRPr kumimoji="0" lang="ko-KR" altLang="ko-KR" sz="12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DA</a:t>
                      </a:r>
                      <a:endParaRPr kumimoji="0" lang="ko-KR" altLang="ko-KR" sz="12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공통기술팀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PL</a:t>
                      </a: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데이터 아키텍처 설계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방인화 부장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119024"/>
                  </a:ext>
                </a:extLst>
              </a:tr>
              <a:tr h="399668">
                <a:tc vMerge="1"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12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AA</a:t>
                      </a:r>
                      <a:endParaRPr kumimoji="0" lang="ko-KR" altLang="ko-KR" sz="12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개발표준 수립 </a:t>
                      </a: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공통 프레임워크 및 응용아키텍처 분석 설계</a:t>
                      </a:r>
                      <a:endParaRPr kumimoji="0" lang="pt-BR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주태영 부장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63442"/>
                  </a:ext>
                </a:extLst>
              </a:tr>
              <a:tr h="218001">
                <a:tc vMerge="1"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TA</a:t>
                      </a:r>
                      <a:endParaRPr kumimoji="0" lang="ko-KR" altLang="ko-KR" sz="12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네트워크 및 인프라 분석 및 설계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(AWS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구축 관련 협업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  <a:endParaRPr kumimoji="0" lang="pt-BR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김연배 부장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668">
                <a:tc gridSpan="2"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kumimoji="0" lang="ko-KR" altLang="en-US" sz="1200" b="0" i="0" u="none" strike="noStrike" kern="1200" cap="none" spc="0" normalizeH="0" baseline="0" dirty="0" err="1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이관팀</a:t>
                      </a:r>
                      <a:endParaRPr kumimoji="0" lang="ko-KR" altLang="ko-KR" sz="12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표준 용어 사전 개발 및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매핑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정의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데이터 모델링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데이터 이관 및 마이그레이션</a:t>
                      </a:r>
                      <a:endParaRPr kumimoji="0" lang="pt-BR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방인화 부장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이충원 이사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9503">
                <a:tc gridSpan="2"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전환 개발팀</a:t>
                      </a:r>
                      <a:endParaRPr kumimoji="0" lang="ko-KR" altLang="ko-KR" sz="12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SP(Stored Procedure)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전환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C/S,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서블릿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WAS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전환 개발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한글 컨트롤 기능 개발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윤정선 부장 외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001">
                <a:tc gridSpan="2"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API </a:t>
                      </a:r>
                      <a:r>
                        <a:rPr kumimoji="0" lang="ko-KR" altLang="en-US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개발팀</a:t>
                      </a:r>
                      <a:endParaRPr kumimoji="0" lang="ko-KR" altLang="ko-KR" sz="12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바로테스트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미니테스트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E-Bank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를 위한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DB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연계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API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</a:t>
                      </a:r>
                      <a:endParaRPr kumimoji="0" lang="pt-BR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노일래 이사 외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668">
                <a:tc gridSpan="2"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</a:t>
                      </a:r>
                      <a:endParaRPr kumimoji="0" lang="ko-KR" altLang="ko-KR" sz="12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I-System WEB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화면 및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E-Bank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테스트 화면 디자인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웹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퍼블리싱</a:t>
                      </a:r>
                      <a:endParaRPr kumimoji="0" lang="ko-KR" altLang="en-US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정재림 과장 외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668">
                <a:tc gridSpan="2"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테스트</a:t>
                      </a:r>
                      <a:endParaRPr kumimoji="0" lang="ko-KR" altLang="ko-KR" sz="12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사용자 테스트 케이스 작성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케이스 검증 및 사용자 테스트 지원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선우훈 대리 외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882080" y="1415342"/>
            <a:ext cx="8928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defRPr sz="14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defRPr>
            </a:lvl1pPr>
          </a:lstStyle>
          <a:p>
            <a:pPr algn="l"/>
            <a:r>
              <a:rPr lang="ko-KR" altLang="en-US" dirty="0"/>
              <a:t>각 업무별로 최상의 결과를 도출할 수 있는 전문 인력을 배치하였으며</a:t>
            </a:r>
            <a:r>
              <a:rPr lang="en-US" altLang="ko-KR" dirty="0"/>
              <a:t>, </a:t>
            </a:r>
            <a:r>
              <a:rPr lang="ko-KR" altLang="en-US" dirty="0"/>
              <a:t>책임과 역할을 명확히 하여 사업을 수행할 수 있도록 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수행 조직 역할</a:t>
            </a:r>
          </a:p>
        </p:txBody>
      </p:sp>
    </p:spTree>
    <p:extLst>
      <p:ext uri="{BB962C8B-B14F-4D97-AF65-F5344CB8AC3E}">
        <p14:creationId xmlns:p14="http://schemas.microsoft.com/office/powerpoint/2010/main" val="33709080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역할 및 의사소통 방안</a:t>
            </a:r>
            <a:endParaRPr lang="en-US" altLang="ko-KR" dirty="0"/>
          </a:p>
        </p:txBody>
      </p:sp>
      <p:sp>
        <p:nvSpPr>
          <p:cNvPr id="169" name="TextBox 168"/>
          <p:cNvSpPr txBox="1"/>
          <p:nvPr/>
        </p:nvSpPr>
        <p:spPr>
          <a:xfrm>
            <a:off x="878844" y="1447049"/>
            <a:ext cx="8928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defRPr sz="14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defRPr>
            </a:lvl1pPr>
          </a:lstStyle>
          <a:p>
            <a:pPr algn="l"/>
            <a:r>
              <a:rPr lang="ko-KR" altLang="en-US" dirty="0"/>
              <a:t>목적 별 다채널 의사소통 채널을 구축하고 명확한 업무분장을 통해 효율적으로 사업을 수행하도록 하겠습니다</a:t>
            </a:r>
            <a:r>
              <a:rPr lang="en-US" altLang="ko-KR" dirty="0"/>
              <a:t>.</a:t>
            </a:r>
          </a:p>
        </p:txBody>
      </p:sp>
      <p:grpSp>
        <p:nvGrpSpPr>
          <p:cNvPr id="170" name="그룹 169"/>
          <p:cNvGrpSpPr/>
          <p:nvPr/>
        </p:nvGrpSpPr>
        <p:grpSpPr>
          <a:xfrm>
            <a:off x="738060" y="1980381"/>
            <a:ext cx="9217153" cy="5034564"/>
            <a:chOff x="738060" y="1913923"/>
            <a:chExt cx="9917724" cy="5034564"/>
          </a:xfrm>
        </p:grpSpPr>
        <p:grpSp>
          <p:nvGrpSpPr>
            <p:cNvPr id="171" name="그룹 170"/>
            <p:cNvGrpSpPr/>
            <p:nvPr/>
          </p:nvGrpSpPr>
          <p:grpSpPr>
            <a:xfrm>
              <a:off x="738060" y="1913923"/>
              <a:ext cx="3185328" cy="5034564"/>
              <a:chOff x="732511" y="1709205"/>
              <a:chExt cx="6558459" cy="5034564"/>
            </a:xfrm>
          </p:grpSpPr>
          <p:sp>
            <p:nvSpPr>
              <p:cNvPr id="178" name="직사각형 177"/>
              <p:cNvSpPr/>
              <p:nvPr/>
            </p:nvSpPr>
            <p:spPr bwMode="auto">
              <a:xfrm>
                <a:off x="732511" y="1709205"/>
                <a:ext cx="6558459" cy="58632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12700" cap="flat" cmpd="sng" algn="ctr">
                <a:noFill/>
                <a:prstDash val="solid"/>
              </a:ln>
              <a:effectLst>
                <a:outerShdw blurRad="63500" algn="ctr" rotWithShape="0">
                  <a:prstClr val="black">
                    <a:alpha val="47000"/>
                  </a:prstClr>
                </a:outerShdw>
              </a:effectLst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1042990" latinLnBrk="0">
                  <a:defRPr/>
                </a:pPr>
                <a:r>
                  <a:rPr lang="ko-KR" altLang="en-US" kern="0" dirty="0">
                    <a:gradFill>
                      <a:gsLst>
                        <a:gs pos="48333">
                          <a:prstClr val="white"/>
                        </a:gs>
                        <a:gs pos="62000">
                          <a:prstClr val="white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atin typeface="+mj-ea"/>
                    <a:ea typeface="+mj-ea"/>
                  </a:rPr>
                  <a:t>프로젝트 관리 의사소통</a:t>
                </a:r>
              </a:p>
            </p:txBody>
          </p:sp>
          <p:sp>
            <p:nvSpPr>
              <p:cNvPr id="179" name="직사각형 178"/>
              <p:cNvSpPr/>
              <p:nvPr/>
            </p:nvSpPr>
            <p:spPr bwMode="auto">
              <a:xfrm>
                <a:off x="732511" y="2295524"/>
                <a:ext cx="6558459" cy="4448245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</a:ln>
              <a:effectLst>
                <a:outerShdw blurRad="63500" algn="ctr" rotWithShape="0">
                  <a:prstClr val="black">
                    <a:alpha val="47000"/>
                  </a:prstClr>
                </a:outerShdw>
              </a:effectLst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1041607" latinLnBrk="0"/>
                <a:endParaRPr lang="ko-KR" altLang="en-US" kern="0" spc="-150" dirty="0">
                  <a:solidFill>
                    <a:srgbClr val="217083"/>
                  </a:solidFill>
                  <a:latin typeface="Rix고딕 EB"/>
                  <a:ea typeface="Rix고딕 EB"/>
                </a:endParaRPr>
              </a:p>
            </p:txBody>
          </p:sp>
        </p:grpSp>
        <p:grpSp>
          <p:nvGrpSpPr>
            <p:cNvPr id="172" name="그룹 171"/>
            <p:cNvGrpSpPr/>
            <p:nvPr/>
          </p:nvGrpSpPr>
          <p:grpSpPr>
            <a:xfrm>
              <a:off x="4084161" y="1913923"/>
              <a:ext cx="3185328" cy="5034564"/>
              <a:chOff x="732511" y="1709205"/>
              <a:chExt cx="6558459" cy="5034564"/>
            </a:xfrm>
          </p:grpSpPr>
          <p:sp>
            <p:nvSpPr>
              <p:cNvPr id="176" name="직사각형 175"/>
              <p:cNvSpPr/>
              <p:nvPr/>
            </p:nvSpPr>
            <p:spPr bwMode="auto">
              <a:xfrm>
                <a:off x="732511" y="1709205"/>
                <a:ext cx="6558459" cy="586320"/>
              </a:xfrm>
              <a:prstGeom prst="rect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</a:ln>
              <a:effectLst>
                <a:outerShdw blurRad="63500" algn="ctr" rotWithShape="0">
                  <a:prstClr val="black">
                    <a:alpha val="47000"/>
                  </a:prstClr>
                </a:outerShdw>
              </a:effectLst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1042990" latinLnBrk="0">
                  <a:defRPr/>
                </a:pPr>
                <a:r>
                  <a:rPr lang="ko-KR" altLang="en-US" kern="0" dirty="0" err="1">
                    <a:gradFill>
                      <a:gsLst>
                        <a:gs pos="48333">
                          <a:prstClr val="white"/>
                        </a:gs>
                        <a:gs pos="62000">
                          <a:prstClr val="white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atin typeface="+mj-ea"/>
                    <a:ea typeface="+mj-ea"/>
                  </a:rPr>
                  <a:t>아키텍쳐</a:t>
                </a:r>
                <a:r>
                  <a:rPr lang="ko-KR" altLang="en-US" kern="0" dirty="0">
                    <a:gradFill>
                      <a:gsLst>
                        <a:gs pos="48333">
                          <a:prstClr val="white"/>
                        </a:gs>
                        <a:gs pos="62000">
                          <a:prstClr val="white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atin typeface="+mj-ea"/>
                    <a:ea typeface="+mj-ea"/>
                  </a:rPr>
                  <a:t> 구축 의사소통</a:t>
                </a:r>
              </a:p>
            </p:txBody>
          </p:sp>
          <p:sp>
            <p:nvSpPr>
              <p:cNvPr id="177" name="직사각형 176"/>
              <p:cNvSpPr/>
              <p:nvPr/>
            </p:nvSpPr>
            <p:spPr bwMode="auto">
              <a:xfrm>
                <a:off x="732511" y="2295524"/>
                <a:ext cx="6558459" cy="4448245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</a:ln>
              <a:effectLst>
                <a:outerShdw blurRad="63500" algn="ctr" rotWithShape="0">
                  <a:prstClr val="black">
                    <a:alpha val="47000"/>
                  </a:prstClr>
                </a:outerShdw>
              </a:effectLst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1041607" latinLnBrk="0"/>
                <a:endParaRPr lang="ko-KR" altLang="en-US" kern="0" spc="-150" dirty="0">
                  <a:solidFill>
                    <a:srgbClr val="217083"/>
                  </a:solidFill>
                  <a:latin typeface="Rix고딕 EB"/>
                  <a:ea typeface="Rix고딕 EB"/>
                </a:endParaRPr>
              </a:p>
            </p:txBody>
          </p:sp>
        </p:grpSp>
        <p:grpSp>
          <p:nvGrpSpPr>
            <p:cNvPr id="173" name="그룹 172"/>
            <p:cNvGrpSpPr/>
            <p:nvPr/>
          </p:nvGrpSpPr>
          <p:grpSpPr>
            <a:xfrm>
              <a:off x="7470456" y="1913923"/>
              <a:ext cx="3185328" cy="5034564"/>
              <a:chOff x="732511" y="1709205"/>
              <a:chExt cx="6558459" cy="5034564"/>
            </a:xfrm>
          </p:grpSpPr>
          <p:sp>
            <p:nvSpPr>
              <p:cNvPr id="174" name="직사각형 173"/>
              <p:cNvSpPr/>
              <p:nvPr/>
            </p:nvSpPr>
            <p:spPr bwMode="auto">
              <a:xfrm>
                <a:off x="732511" y="1709205"/>
                <a:ext cx="6558459" cy="586320"/>
              </a:xfrm>
              <a:prstGeom prst="rect">
                <a:avLst/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</a:ln>
              <a:effectLst>
                <a:outerShdw blurRad="63500" algn="ctr" rotWithShape="0">
                  <a:prstClr val="black">
                    <a:alpha val="47000"/>
                  </a:prstClr>
                </a:outerShdw>
              </a:effectLst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1042990" latinLnBrk="0">
                  <a:defRPr/>
                </a:pPr>
                <a:r>
                  <a:rPr lang="ko-KR" altLang="en-US" kern="0" dirty="0">
                    <a:gradFill>
                      <a:gsLst>
                        <a:gs pos="48333">
                          <a:prstClr val="white"/>
                        </a:gs>
                        <a:gs pos="62000">
                          <a:prstClr val="white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atin typeface="+mj-ea"/>
                  </a:rPr>
                  <a:t>개발 업무 의사소통</a:t>
                </a:r>
              </a:p>
            </p:txBody>
          </p:sp>
          <p:sp>
            <p:nvSpPr>
              <p:cNvPr id="175" name="직사각형 174"/>
              <p:cNvSpPr/>
              <p:nvPr/>
            </p:nvSpPr>
            <p:spPr bwMode="auto">
              <a:xfrm>
                <a:off x="732511" y="2295524"/>
                <a:ext cx="6558459" cy="4448245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</a:ln>
              <a:effectLst>
                <a:outerShdw blurRad="63500" algn="ctr" rotWithShape="0">
                  <a:prstClr val="black">
                    <a:alpha val="47000"/>
                  </a:prstClr>
                </a:outerShdw>
              </a:effectLst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1041607" latinLnBrk="0"/>
                <a:endParaRPr lang="ko-KR" altLang="en-US" kern="0" spc="-150" dirty="0">
                  <a:solidFill>
                    <a:srgbClr val="217083"/>
                  </a:solidFill>
                  <a:latin typeface="Rix고딕 EB"/>
                  <a:ea typeface="Rix고딕 EB"/>
                </a:endParaRPr>
              </a:p>
            </p:txBody>
          </p:sp>
        </p:grpSp>
      </p:grpSp>
      <p:graphicFrame>
        <p:nvGraphicFramePr>
          <p:cNvPr id="189" name="표 1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168228"/>
              </p:ext>
            </p:extLst>
          </p:nvPr>
        </p:nvGraphicFramePr>
        <p:xfrm>
          <a:off x="733870" y="4561532"/>
          <a:ext cx="2964512" cy="2385698"/>
        </p:xfrm>
        <a:graphic>
          <a:graphicData uri="http://schemas.openxmlformats.org/drawingml/2006/table">
            <a:tbl>
              <a:tblPr firstRow="1">
                <a:tableStyleId>{5FD0F851-EC5A-4D38-B0AD-8093EC10F338}</a:tableStyleId>
              </a:tblPr>
              <a:tblGrid>
                <a:gridCol w="864502">
                  <a:extLst>
                    <a:ext uri="{9D8B030D-6E8A-4147-A177-3AD203B41FA5}">
                      <a16:colId xmlns:a16="http://schemas.microsoft.com/office/drawing/2014/main" val="1493712485"/>
                    </a:ext>
                  </a:extLst>
                </a:gridCol>
                <a:gridCol w="2100010">
                  <a:extLst>
                    <a:ext uri="{9D8B030D-6E8A-4147-A177-3AD203B41FA5}">
                      <a16:colId xmlns:a16="http://schemas.microsoft.com/office/drawing/2014/main" val="707382593"/>
                    </a:ext>
                  </a:extLst>
                </a:gridCol>
              </a:tblGrid>
              <a:tr h="392356">
                <a:tc>
                  <a:txBody>
                    <a:bodyPr/>
                    <a:lstStyle/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업무 역할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416390"/>
                  </a:ext>
                </a:extLst>
              </a:tr>
              <a:tr h="703404"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플랫폼 개발팀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이투스교육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프로젝트 사업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진도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관리 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정기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수시보고 검토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승인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이슈 관련 협의 및 조정</a:t>
                      </a:r>
                    </a:p>
                  </a:txBody>
                  <a:tcPr marL="108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227870"/>
                  </a:ext>
                </a:extLst>
              </a:tr>
              <a:tr h="644969"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선도개발팀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이투스교육</a:t>
                      </a:r>
                      <a:r>
                        <a:rPr kumimoji="1" lang="en-US" altLang="ko-KR" sz="105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)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IT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개발실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교육지대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정기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수시보고 검토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승인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이슈 관련 협의 및 조정</a:t>
                      </a:r>
                    </a:p>
                  </a:txBody>
                  <a:tcPr marL="108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02140"/>
                  </a:ext>
                </a:extLst>
              </a:tr>
              <a:tr h="644969"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PM /</a:t>
                      </a:r>
                    </a:p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사업관리 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/</a:t>
                      </a:r>
                    </a:p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총괄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PL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정기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주간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월간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보고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수시 보고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진척 및 이슈 보고</a:t>
                      </a:r>
                    </a:p>
                  </a:txBody>
                  <a:tcPr marL="108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687098"/>
                  </a:ext>
                </a:extLst>
              </a:tr>
            </a:tbl>
          </a:graphicData>
        </a:graphic>
      </p:graphicFrame>
      <p:graphicFrame>
        <p:nvGraphicFramePr>
          <p:cNvPr id="190" name="표 1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294506"/>
              </p:ext>
            </p:extLst>
          </p:nvPr>
        </p:nvGraphicFramePr>
        <p:xfrm>
          <a:off x="3847799" y="4561532"/>
          <a:ext cx="2960322" cy="2387539"/>
        </p:xfrm>
        <a:graphic>
          <a:graphicData uri="http://schemas.openxmlformats.org/drawingml/2006/table">
            <a:tbl>
              <a:tblPr firstRow="1">
                <a:tableStyleId>{5FD0F851-EC5A-4D38-B0AD-8093EC10F338}</a:tableStyleId>
              </a:tblPr>
              <a:tblGrid>
                <a:gridCol w="844393">
                  <a:extLst>
                    <a:ext uri="{9D8B030D-6E8A-4147-A177-3AD203B41FA5}">
                      <a16:colId xmlns:a16="http://schemas.microsoft.com/office/drawing/2014/main" val="1493712485"/>
                    </a:ext>
                  </a:extLst>
                </a:gridCol>
                <a:gridCol w="2115929">
                  <a:extLst>
                    <a:ext uri="{9D8B030D-6E8A-4147-A177-3AD203B41FA5}">
                      <a16:colId xmlns:a16="http://schemas.microsoft.com/office/drawing/2014/main" val="707382593"/>
                    </a:ext>
                  </a:extLst>
                </a:gridCol>
              </a:tblGrid>
              <a:tr h="382508">
                <a:tc>
                  <a:txBody>
                    <a:bodyPr/>
                    <a:lstStyle/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  <a:sym typeface="Monotype Sorts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  <a:sym typeface="Monotype Sorts"/>
                        </a:rPr>
                        <a:t>업무 역할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416390"/>
                  </a:ext>
                </a:extLst>
              </a:tr>
              <a:tr h="697221"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정보보안팀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</a:b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이투스교육</a:t>
                      </a:r>
                      <a:r>
                        <a:rPr kumimoji="1" lang="en-US" altLang="ko-KR" sz="105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)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IT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개발실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</a:b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교육지대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인프라 설계 검토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·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승인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인프라 구성 관련 지원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인프라 구성 확인</a:t>
                      </a:r>
                    </a:p>
                  </a:txBody>
                  <a:tcPr marL="108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227870"/>
                  </a:ext>
                </a:extLst>
              </a:tr>
              <a:tr h="666374"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TA/AA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인프라 구성 진행 사항 확인 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및 관련 지원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구성 관련 의견 조율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108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02140"/>
                  </a:ext>
                </a:extLst>
              </a:tr>
              <a:tr h="641436"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베스핀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글로벌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C2E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기반 환경 구성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(AWS)</a:t>
                      </a: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인프라 설계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납품 및 설치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안정화 지원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108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687098"/>
                  </a:ext>
                </a:extLst>
              </a:tr>
            </a:tbl>
          </a:graphicData>
        </a:graphic>
      </p:graphicFrame>
      <p:graphicFrame>
        <p:nvGraphicFramePr>
          <p:cNvPr id="205" name="표 2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958070"/>
              </p:ext>
            </p:extLst>
          </p:nvPr>
        </p:nvGraphicFramePr>
        <p:xfrm>
          <a:off x="6994891" y="4561532"/>
          <a:ext cx="2960039" cy="2386957"/>
        </p:xfrm>
        <a:graphic>
          <a:graphicData uri="http://schemas.openxmlformats.org/drawingml/2006/table">
            <a:tbl>
              <a:tblPr firstRow="1">
                <a:tableStyleId>{5FD0F851-EC5A-4D38-B0AD-8093EC10F338}</a:tableStyleId>
              </a:tblPr>
              <a:tblGrid>
                <a:gridCol w="850150">
                  <a:extLst>
                    <a:ext uri="{9D8B030D-6E8A-4147-A177-3AD203B41FA5}">
                      <a16:colId xmlns:a16="http://schemas.microsoft.com/office/drawing/2014/main" val="1493712485"/>
                    </a:ext>
                  </a:extLst>
                </a:gridCol>
                <a:gridCol w="2109889">
                  <a:extLst>
                    <a:ext uri="{9D8B030D-6E8A-4147-A177-3AD203B41FA5}">
                      <a16:colId xmlns:a16="http://schemas.microsoft.com/office/drawing/2014/main" val="707382593"/>
                    </a:ext>
                  </a:extLst>
                </a:gridCol>
              </a:tblGrid>
              <a:tr h="395219">
                <a:tc>
                  <a:txBody>
                    <a:bodyPr/>
                    <a:lstStyle/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업무 역할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416390"/>
                  </a:ext>
                </a:extLst>
              </a:tr>
              <a:tr h="692388"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플랫폼 개발팀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프로젝트 개발관련 지원 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업무부서의 요구사항 의견 조율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 결과물 승인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108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227870"/>
                  </a:ext>
                </a:extLst>
              </a:tr>
              <a:tr h="649675"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선도개발팀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이투스교육</a:t>
                      </a:r>
                      <a:r>
                        <a:rPr kumimoji="1" lang="en-US" altLang="ko-KR" sz="105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)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IT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개발실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교육지대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요구사항 명확화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 사항 검토 및 문제 통보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현행 업무 및 시스템 설명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108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02140"/>
                  </a:ext>
                </a:extLst>
              </a:tr>
              <a:tr h="649675"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이행팀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개발팀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요구사항에 대한 정확한 이해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요구사항 개발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gradFill>
                          <a:gsLst>
                            <a:gs pos="10417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36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gradFill>
                            <a:gsLst>
                              <a:gs pos="10417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36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path path="shape">
                              <a:fillToRect l="50000" t="50000" r="50000" b="50000"/>
                            </a:path>
                          </a:gra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테스트 및 안정화</a:t>
                      </a:r>
                    </a:p>
                  </a:txBody>
                  <a:tcPr marL="108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687098"/>
                  </a:ext>
                </a:extLst>
              </a:tr>
            </a:tbl>
          </a:graphicData>
        </a:graphic>
      </p:graphicFrame>
      <p:sp>
        <p:nvSpPr>
          <p:cNvPr id="129" name="직사각형 128"/>
          <p:cNvSpPr/>
          <p:nvPr/>
        </p:nvSpPr>
        <p:spPr>
          <a:xfrm>
            <a:off x="2970370" y="3235728"/>
            <a:ext cx="547901" cy="84413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PM / </a:t>
            </a:r>
          </a:p>
          <a:p>
            <a:pPr algn="ctr" latinLnBrk="0">
              <a:lnSpc>
                <a:spcPct val="110000"/>
              </a:lnSpc>
            </a:pP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사업관리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  <a:p>
            <a:pPr algn="ctr" latinLnBrk="0">
              <a:lnSpc>
                <a:spcPct val="110000"/>
              </a:lnSpc>
            </a:pP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/ </a:t>
            </a: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총괄</a:t>
            </a: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PL</a:t>
            </a:r>
          </a:p>
        </p:txBody>
      </p:sp>
      <p:cxnSp>
        <p:nvCxnSpPr>
          <p:cNvPr id="130" name="직선 화살표 연결선 129"/>
          <p:cNvCxnSpPr/>
          <p:nvPr/>
        </p:nvCxnSpPr>
        <p:spPr>
          <a:xfrm flipH="1">
            <a:off x="2410278" y="3557448"/>
            <a:ext cx="5760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/>
          <p:cNvCxnSpPr/>
          <p:nvPr/>
        </p:nvCxnSpPr>
        <p:spPr>
          <a:xfrm flipH="1">
            <a:off x="2410278" y="3453204"/>
            <a:ext cx="5760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모서리가 둥근 직사각형 211">
            <a:extLst>
              <a:ext uri="{FF2B5EF4-FFF2-40B4-BE49-F238E27FC236}">
                <a16:creationId xmlns:a16="http://schemas.microsoft.com/office/drawing/2014/main" id="{8BF98EB6-B18D-4299-9C53-7DCA0604ABBA}"/>
              </a:ext>
            </a:extLst>
          </p:cNvPr>
          <p:cNvSpPr/>
          <p:nvPr/>
        </p:nvSpPr>
        <p:spPr>
          <a:xfrm>
            <a:off x="2411106" y="3000944"/>
            <a:ext cx="637778" cy="5299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1458" algn="ctr" defTabSz="957778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27917">
                      <a:prstClr val="black">
                        <a:lumMod val="85000"/>
                        <a:lumOff val="15000"/>
                      </a:prstClr>
                    </a:gs>
                    <a:gs pos="38333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</a:rPr>
              <a:t>정기</a:t>
            </a:r>
            <a:r>
              <a:rPr lang="en-US" altLang="ko-KR" sz="10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27917">
                      <a:prstClr val="black">
                        <a:lumMod val="85000"/>
                        <a:lumOff val="15000"/>
                      </a:prstClr>
                    </a:gs>
                    <a:gs pos="38333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</a:rPr>
              <a:t>/</a:t>
            </a:r>
            <a:r>
              <a:rPr lang="ko-KR" altLang="en-US" sz="10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27917">
                      <a:prstClr val="black">
                        <a:lumMod val="85000"/>
                        <a:lumOff val="15000"/>
                      </a:prstClr>
                    </a:gs>
                    <a:gs pos="38333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</a:rPr>
              <a:t>수시</a:t>
            </a:r>
            <a:endParaRPr lang="en-US" altLang="ko-KR" sz="1000" kern="0" dirty="0">
              <a:ln>
                <a:solidFill>
                  <a:srgbClr val="87A884">
                    <a:lumMod val="75000"/>
                    <a:alpha val="0"/>
                  </a:srgbClr>
                </a:solidFill>
              </a:ln>
              <a:gradFill>
                <a:gsLst>
                  <a:gs pos="27917">
                    <a:prstClr val="black">
                      <a:lumMod val="85000"/>
                      <a:lumOff val="15000"/>
                    </a:prstClr>
                  </a:gs>
                  <a:gs pos="38333">
                    <a:prstClr val="black">
                      <a:lumMod val="85000"/>
                      <a:lumOff val="15000"/>
                    </a:prstClr>
                  </a:gs>
                </a:gsLst>
                <a:lin ang="5400000" scaled="0"/>
              </a:gradFill>
            </a:endParaRPr>
          </a:p>
          <a:p>
            <a:pPr marL="1458" algn="ctr" defTabSz="957778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27917">
                      <a:prstClr val="black">
                        <a:lumMod val="85000"/>
                        <a:lumOff val="15000"/>
                      </a:prstClr>
                    </a:gs>
                    <a:gs pos="38333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</a:rPr>
              <a:t>보고</a:t>
            </a:r>
          </a:p>
        </p:txBody>
      </p:sp>
      <p:sp>
        <p:nvSpPr>
          <p:cNvPr id="133" name="모서리가 둥근 직사각형 211">
            <a:extLst>
              <a:ext uri="{FF2B5EF4-FFF2-40B4-BE49-F238E27FC236}">
                <a16:creationId xmlns:a16="http://schemas.microsoft.com/office/drawing/2014/main" id="{8BF98EB6-B18D-4299-9C53-7DCA0604ABBA}"/>
              </a:ext>
            </a:extLst>
          </p:cNvPr>
          <p:cNvSpPr/>
          <p:nvPr/>
        </p:nvSpPr>
        <p:spPr>
          <a:xfrm>
            <a:off x="2422562" y="3513670"/>
            <a:ext cx="619639" cy="5299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1458" algn="ctr" defTabSz="957778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27917">
                      <a:prstClr val="black">
                        <a:lumMod val="85000"/>
                        <a:lumOff val="15000"/>
                      </a:prstClr>
                    </a:gs>
                    <a:gs pos="38333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</a:rPr>
              <a:t>검토 </a:t>
            </a:r>
            <a:r>
              <a:rPr lang="en-US" altLang="ko-KR" sz="10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27917">
                      <a:prstClr val="black">
                        <a:lumMod val="85000"/>
                        <a:lumOff val="15000"/>
                      </a:prstClr>
                    </a:gs>
                    <a:gs pos="38333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</a:rPr>
              <a:t>/</a:t>
            </a:r>
          </a:p>
          <a:p>
            <a:pPr marL="1458" algn="ctr" defTabSz="957778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27917">
                      <a:prstClr val="black">
                        <a:lumMod val="85000"/>
                        <a:lumOff val="15000"/>
                      </a:prstClr>
                    </a:gs>
                    <a:gs pos="38333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</a:rPr>
              <a:t>승인</a:t>
            </a:r>
          </a:p>
        </p:txBody>
      </p:sp>
      <p:cxnSp>
        <p:nvCxnSpPr>
          <p:cNvPr id="134" name="직선 화살표 연결선 133"/>
          <p:cNvCxnSpPr/>
          <p:nvPr/>
        </p:nvCxnSpPr>
        <p:spPr>
          <a:xfrm>
            <a:off x="1730830" y="3162246"/>
            <a:ext cx="0" cy="74553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1030949" y="2725281"/>
            <a:ext cx="1399762" cy="47599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 dirty="0" err="1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교육지대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  <a:p>
            <a:pPr algn="ctr" latinLnBrk="0">
              <a:lnSpc>
                <a:spcPct val="110000"/>
              </a:lnSpc>
            </a:pP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IT</a:t>
            </a: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개발실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030949" y="3871568"/>
            <a:ext cx="1399762" cy="47599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 dirty="0" err="1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이투스교육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  <a:p>
            <a:pPr algn="ctr" latinLnBrk="0">
              <a:lnSpc>
                <a:spcPct val="110000"/>
              </a:lnSpc>
            </a:pPr>
            <a:r>
              <a:rPr lang="ko-KR" altLang="en-US" sz="1000" kern="0" dirty="0" err="1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선도개발팀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030949" y="3298425"/>
            <a:ext cx="1399762" cy="47599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 dirty="0" err="1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이투스교육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  <a:p>
            <a:pPr algn="ctr" latinLnBrk="0">
              <a:lnSpc>
                <a:spcPct val="110000"/>
              </a:lnSpc>
            </a:pP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플랫폼 개발팀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grpSp>
        <p:nvGrpSpPr>
          <p:cNvPr id="139" name="그룹 138"/>
          <p:cNvGrpSpPr/>
          <p:nvPr/>
        </p:nvGrpSpPr>
        <p:grpSpPr>
          <a:xfrm>
            <a:off x="4112196" y="3113397"/>
            <a:ext cx="2431526" cy="1257674"/>
            <a:chOff x="602961" y="2387352"/>
            <a:chExt cx="2431526" cy="1257674"/>
          </a:xfrm>
        </p:grpSpPr>
        <p:sp>
          <p:nvSpPr>
            <p:cNvPr id="140" name="타원 139"/>
            <p:cNvSpPr/>
            <p:nvPr/>
          </p:nvSpPr>
          <p:spPr>
            <a:xfrm>
              <a:off x="1034098" y="2387352"/>
              <a:ext cx="1575938" cy="948034"/>
            </a:xfrm>
            <a:prstGeom prst="ellipse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>
                <a:solidFill>
                  <a:prstClr val="black"/>
                </a:solidFill>
              </a:endParaRPr>
            </a:p>
          </p:txBody>
        </p:sp>
        <p:grpSp>
          <p:nvGrpSpPr>
            <p:cNvPr id="141" name="그룹 140"/>
            <p:cNvGrpSpPr/>
            <p:nvPr/>
          </p:nvGrpSpPr>
          <p:grpSpPr>
            <a:xfrm>
              <a:off x="602961" y="2461413"/>
              <a:ext cx="2431526" cy="1183613"/>
              <a:chOff x="832260" y="5421006"/>
              <a:chExt cx="2048792" cy="1078375"/>
            </a:xfrm>
          </p:grpSpPr>
          <p:sp>
            <p:nvSpPr>
              <p:cNvPr id="142" name="모서리가 둥근 직사각형 141"/>
              <p:cNvSpPr/>
              <p:nvPr/>
            </p:nvSpPr>
            <p:spPr>
              <a:xfrm>
                <a:off x="832260" y="5897128"/>
                <a:ext cx="736364" cy="424742"/>
              </a:xfrm>
              <a:prstGeom prst="roundRect">
                <a:avLst>
                  <a:gd name="adj" fmla="val 50000"/>
                </a:avLst>
              </a:prstGeom>
              <a:solidFill>
                <a:srgbClr val="DAC2EC"/>
              </a:solidFill>
              <a:ln w="19050">
                <a:noFill/>
              </a:ln>
              <a:effectLst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latinLnBrk="0">
                  <a:lnSpc>
                    <a:spcPct val="110000"/>
                  </a:lnSpc>
                </a:pPr>
                <a:r>
                  <a:rPr lang="ko-KR" altLang="en-US" sz="1200" kern="0" dirty="0" err="1">
                    <a:gradFill>
                      <a:gsLst>
                        <a:gs pos="417">
                          <a:prstClr val="black">
                            <a:lumMod val="85000"/>
                            <a:lumOff val="15000"/>
                          </a:prstClr>
                        </a:gs>
                        <a:gs pos="100000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:rPr>
                  <a:t>베스핀</a:t>
                </a:r>
                <a:endParaRPr lang="en-US" altLang="ko-KR" sz="1200" kern="0" dirty="0">
                  <a:gradFill>
                    <a:gsLst>
                      <a:gs pos="417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</a:endParaRPr>
              </a:p>
              <a:p>
                <a:pPr algn="ctr" latinLnBrk="0">
                  <a:lnSpc>
                    <a:spcPct val="110000"/>
                  </a:lnSpc>
                </a:pPr>
                <a:r>
                  <a:rPr lang="ko-KR" altLang="en-US" sz="1200" kern="0" dirty="0">
                    <a:gradFill>
                      <a:gsLst>
                        <a:gs pos="417">
                          <a:prstClr val="black">
                            <a:lumMod val="85000"/>
                            <a:lumOff val="15000"/>
                          </a:prstClr>
                        </a:gs>
                        <a:gs pos="100000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:rPr>
                  <a:t>글로벌</a:t>
                </a:r>
                <a:endParaRPr lang="en-US" altLang="ko-KR" sz="1200" kern="0" dirty="0">
                  <a:gradFill>
                    <a:gsLst>
                      <a:gs pos="417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path path="shape">
                      <a:fillToRect l="50000" t="50000" r="50000" b="50000"/>
                    </a:path>
                  </a:gradFill>
                </a:endParaRPr>
              </a:p>
            </p:txBody>
          </p:sp>
          <p:sp>
            <p:nvSpPr>
              <p:cNvPr id="143" name="모서리가 둥근 직사각형 142"/>
              <p:cNvSpPr/>
              <p:nvPr/>
            </p:nvSpPr>
            <p:spPr>
              <a:xfrm>
                <a:off x="2144688" y="5897128"/>
                <a:ext cx="736364" cy="42474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40000"/>
                  <a:lumOff val="60000"/>
                </a:schemeClr>
              </a:solidFill>
              <a:ln w="19050">
                <a:noFill/>
              </a:ln>
              <a:effectLst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latinLnBrk="0">
                  <a:lnSpc>
                    <a:spcPct val="110000"/>
                  </a:lnSpc>
                </a:pPr>
                <a:r>
                  <a:rPr lang="en-US" altLang="ko-KR" sz="1200" kern="0" dirty="0">
                    <a:gradFill>
                      <a:gsLst>
                        <a:gs pos="417">
                          <a:prstClr val="black">
                            <a:lumMod val="85000"/>
                            <a:lumOff val="15000"/>
                          </a:prstClr>
                        </a:gs>
                        <a:gs pos="100000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:rPr>
                  <a:t>TA/AA</a:t>
                </a:r>
              </a:p>
            </p:txBody>
          </p:sp>
          <p:sp>
            <p:nvSpPr>
              <p:cNvPr id="144" name="모서리가 둥근 직사각형 211">
                <a:extLst>
                  <a:ext uri="{FF2B5EF4-FFF2-40B4-BE49-F238E27FC236}">
                    <a16:creationId xmlns:a16="http://schemas.microsoft.com/office/drawing/2014/main" id="{8BF98EB6-B18D-4299-9C53-7DCA0604ABBA}"/>
                  </a:ext>
                </a:extLst>
              </p:cNvPr>
              <p:cNvSpPr/>
              <p:nvPr/>
            </p:nvSpPr>
            <p:spPr>
              <a:xfrm>
                <a:off x="837908" y="5421006"/>
                <a:ext cx="481823" cy="291105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marL="1458" algn="ctr" defTabSz="957778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ko-KR" altLang="en-US" sz="105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27917">
                          <a:prstClr val="black">
                            <a:lumMod val="85000"/>
                            <a:lumOff val="15000"/>
                          </a:prstClr>
                        </a:gs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</a:rPr>
                  <a:t>구축</a:t>
                </a:r>
              </a:p>
            </p:txBody>
          </p:sp>
          <p:sp>
            <p:nvSpPr>
              <p:cNvPr id="145" name="모서리가 둥근 직사각형 211">
                <a:extLst>
                  <a:ext uri="{FF2B5EF4-FFF2-40B4-BE49-F238E27FC236}">
                    <a16:creationId xmlns:a16="http://schemas.microsoft.com/office/drawing/2014/main" id="{8BF98EB6-B18D-4299-9C53-7DCA0604ABBA}"/>
                  </a:ext>
                </a:extLst>
              </p:cNvPr>
              <p:cNvSpPr/>
              <p:nvPr/>
            </p:nvSpPr>
            <p:spPr>
              <a:xfrm>
                <a:off x="2394149" y="5421006"/>
                <a:ext cx="481823" cy="291105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marL="1458" algn="ctr" defTabSz="957778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ko-KR" altLang="en-US" sz="105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27917">
                          <a:prstClr val="black">
                            <a:lumMod val="85000"/>
                            <a:lumOff val="15000"/>
                          </a:prstClr>
                        </a:gs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</a:rPr>
                  <a:t>조정</a:t>
                </a:r>
              </a:p>
            </p:txBody>
          </p:sp>
          <p:sp>
            <p:nvSpPr>
              <p:cNvPr id="146" name="모서리가 둥근 직사각형 211">
                <a:extLst>
                  <a:ext uri="{FF2B5EF4-FFF2-40B4-BE49-F238E27FC236}">
                    <a16:creationId xmlns:a16="http://schemas.microsoft.com/office/drawing/2014/main" id="{8BF98EB6-B18D-4299-9C53-7DCA0604ABBA}"/>
                  </a:ext>
                </a:extLst>
              </p:cNvPr>
              <p:cNvSpPr/>
              <p:nvPr/>
            </p:nvSpPr>
            <p:spPr>
              <a:xfrm>
                <a:off x="1618432" y="6208276"/>
                <a:ext cx="481823" cy="291105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marL="1458" algn="ctr" defTabSz="957778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ko-KR" altLang="en-US" sz="1050" kern="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27917">
                          <a:prstClr val="black">
                            <a:lumMod val="85000"/>
                            <a:lumOff val="15000"/>
                          </a:prstClr>
                        </a:gs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</a:rPr>
                  <a:t>지원</a:t>
                </a:r>
              </a:p>
            </p:txBody>
          </p:sp>
        </p:grpSp>
      </p:grpSp>
      <p:sp>
        <p:nvSpPr>
          <p:cNvPr id="147" name="직사각형 146"/>
          <p:cNvSpPr/>
          <p:nvPr/>
        </p:nvSpPr>
        <p:spPr>
          <a:xfrm>
            <a:off x="4566632" y="2814902"/>
            <a:ext cx="738963" cy="4136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 dirty="0" err="1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정보보안팀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sp>
        <p:nvSpPr>
          <p:cNvPr id="148" name="직사각형 147"/>
          <p:cNvSpPr/>
          <p:nvPr/>
        </p:nvSpPr>
        <p:spPr>
          <a:xfrm>
            <a:off x="5358742" y="2814902"/>
            <a:ext cx="738963" cy="4136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IT</a:t>
            </a: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개발실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4566631" y="2709095"/>
            <a:ext cx="738963" cy="211614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 dirty="0" err="1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이투스교육</a:t>
            </a:r>
            <a:endParaRPr lang="ko-KR" altLang="en-US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358741" y="2717549"/>
            <a:ext cx="738963" cy="211614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 dirty="0" err="1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교육지대</a:t>
            </a:r>
            <a:endParaRPr lang="ko-KR" altLang="en-US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7170229" y="3852417"/>
            <a:ext cx="738265" cy="5703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DB</a:t>
            </a:r>
          </a:p>
          <a:p>
            <a:pPr algn="ctr" latinLnBrk="0">
              <a:lnSpc>
                <a:spcPct val="110000"/>
              </a:lnSpc>
            </a:pP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이행팀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9076840" y="3852417"/>
            <a:ext cx="738265" cy="5703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API</a:t>
            </a:r>
          </a:p>
          <a:p>
            <a:pPr algn="ctr" latinLnBrk="0">
              <a:lnSpc>
                <a:spcPct val="110000"/>
              </a:lnSpc>
            </a:pP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개발팀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8123535" y="3852417"/>
            <a:ext cx="738265" cy="5703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APP</a:t>
            </a: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 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  <a:p>
            <a:pPr algn="ctr" latinLnBrk="0">
              <a:lnSpc>
                <a:spcPct val="110000"/>
              </a:lnSpc>
            </a:pP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전환 개발팀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cxnSp>
        <p:nvCxnSpPr>
          <p:cNvPr id="154" name="직선 화살표 연결선 153"/>
          <p:cNvCxnSpPr>
            <a:stCxn id="157" idx="2"/>
            <a:endCxn id="151" idx="0"/>
          </p:cNvCxnSpPr>
          <p:nvPr/>
        </p:nvCxnSpPr>
        <p:spPr>
          <a:xfrm>
            <a:off x="7377418" y="3252120"/>
            <a:ext cx="161944" cy="6002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직사각형 155"/>
          <p:cNvSpPr/>
          <p:nvPr/>
        </p:nvSpPr>
        <p:spPr>
          <a:xfrm>
            <a:off x="7768817" y="2838506"/>
            <a:ext cx="682406" cy="4136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선도</a:t>
            </a: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/>
            </a:r>
            <a:b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</a:b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개발팀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7036215" y="2838506"/>
            <a:ext cx="682406" cy="4136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플랫폼</a:t>
            </a: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/>
            </a:r>
            <a:b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</a:b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개발팀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8501419" y="2838506"/>
            <a:ext cx="682406" cy="4136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서비스</a:t>
            </a: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/>
            </a:r>
            <a:b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</a:b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개발팀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9234022" y="2838506"/>
            <a:ext cx="682406" cy="4136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en-US" altLang="ko-KR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IT</a:t>
            </a:r>
            <a:r>
              <a:rPr lang="ko-KR" altLang="en-US" sz="1000" kern="0" dirty="0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개발실</a:t>
            </a:r>
            <a:endParaRPr lang="en-US" altLang="ko-KR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cxnSp>
        <p:nvCxnSpPr>
          <p:cNvPr id="161" name="직선 화살표 연결선 160"/>
          <p:cNvCxnSpPr>
            <a:stCxn id="157" idx="2"/>
            <a:endCxn id="153" idx="0"/>
          </p:cNvCxnSpPr>
          <p:nvPr/>
        </p:nvCxnSpPr>
        <p:spPr>
          <a:xfrm>
            <a:off x="7377418" y="3252120"/>
            <a:ext cx="1115250" cy="6002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/>
          <p:cNvCxnSpPr>
            <a:stCxn id="157" idx="2"/>
            <a:endCxn id="152" idx="0"/>
          </p:cNvCxnSpPr>
          <p:nvPr/>
        </p:nvCxnSpPr>
        <p:spPr>
          <a:xfrm>
            <a:off x="7377418" y="3252120"/>
            <a:ext cx="2068555" cy="6002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/>
          <p:cNvCxnSpPr>
            <a:stCxn id="156" idx="2"/>
            <a:endCxn id="151" idx="0"/>
          </p:cNvCxnSpPr>
          <p:nvPr/>
        </p:nvCxnSpPr>
        <p:spPr>
          <a:xfrm flipH="1">
            <a:off x="7539362" y="3252120"/>
            <a:ext cx="570658" cy="6002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화살표 연결선 163"/>
          <p:cNvCxnSpPr>
            <a:stCxn id="158" idx="2"/>
            <a:endCxn id="153" idx="0"/>
          </p:cNvCxnSpPr>
          <p:nvPr/>
        </p:nvCxnSpPr>
        <p:spPr>
          <a:xfrm flipH="1">
            <a:off x="8492668" y="3252120"/>
            <a:ext cx="349954" cy="6002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/>
          <p:cNvCxnSpPr>
            <a:stCxn id="158" idx="2"/>
            <a:endCxn id="152" idx="0"/>
          </p:cNvCxnSpPr>
          <p:nvPr/>
        </p:nvCxnSpPr>
        <p:spPr>
          <a:xfrm>
            <a:off x="8842622" y="3252120"/>
            <a:ext cx="603351" cy="6002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/>
          <p:cNvCxnSpPr>
            <a:stCxn id="159" idx="2"/>
            <a:endCxn id="153" idx="0"/>
          </p:cNvCxnSpPr>
          <p:nvPr/>
        </p:nvCxnSpPr>
        <p:spPr>
          <a:xfrm flipH="1">
            <a:off x="8492668" y="3252120"/>
            <a:ext cx="1082557" cy="6002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/>
          <p:cNvCxnSpPr>
            <a:stCxn id="159" idx="2"/>
            <a:endCxn id="151" idx="0"/>
          </p:cNvCxnSpPr>
          <p:nvPr/>
        </p:nvCxnSpPr>
        <p:spPr>
          <a:xfrm flipH="1">
            <a:off x="7539362" y="3252120"/>
            <a:ext cx="2035863" cy="6002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/>
          <p:cNvCxnSpPr>
            <a:stCxn id="159" idx="2"/>
            <a:endCxn id="152" idx="0"/>
          </p:cNvCxnSpPr>
          <p:nvPr/>
        </p:nvCxnSpPr>
        <p:spPr>
          <a:xfrm flipH="1">
            <a:off x="9445973" y="3252120"/>
            <a:ext cx="129252" cy="6002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모서리가 둥근 직사각형 211">
            <a:extLst>
              <a:ext uri="{FF2B5EF4-FFF2-40B4-BE49-F238E27FC236}">
                <a16:creationId xmlns:a16="http://schemas.microsoft.com/office/drawing/2014/main" id="{8BF98EB6-B18D-4299-9C53-7DCA0604ABBA}"/>
              </a:ext>
            </a:extLst>
          </p:cNvPr>
          <p:cNvSpPr/>
          <p:nvPr/>
        </p:nvSpPr>
        <p:spPr>
          <a:xfrm>
            <a:off x="7600667" y="3486596"/>
            <a:ext cx="1728725" cy="18265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1458" algn="ctr" defTabSz="957778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9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27917">
                      <a:prstClr val="black">
                        <a:lumMod val="85000"/>
                        <a:lumOff val="15000"/>
                      </a:prstClr>
                    </a:gs>
                    <a:gs pos="38333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</a:rPr>
              <a:t>유기적인  의사소통 </a:t>
            </a:r>
            <a:r>
              <a:rPr lang="en-US" altLang="ko-KR" sz="9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gradFill>
                  <a:gsLst>
                    <a:gs pos="27917">
                      <a:prstClr val="black">
                        <a:lumMod val="85000"/>
                        <a:lumOff val="15000"/>
                      </a:prstClr>
                    </a:gs>
                    <a:gs pos="38333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</a:rPr>
              <a:t>TF</a:t>
            </a:r>
            <a:endParaRPr lang="ko-KR" altLang="en-US" sz="900" kern="0" dirty="0">
              <a:ln>
                <a:solidFill>
                  <a:srgbClr val="87A884">
                    <a:lumMod val="75000"/>
                    <a:alpha val="0"/>
                  </a:srgbClr>
                </a:solidFill>
              </a:ln>
              <a:gradFill>
                <a:gsLst>
                  <a:gs pos="27917">
                    <a:prstClr val="black">
                      <a:lumMod val="85000"/>
                      <a:lumOff val="15000"/>
                    </a:prstClr>
                  </a:gs>
                  <a:gs pos="38333">
                    <a:prstClr val="black">
                      <a:lumMod val="85000"/>
                      <a:lumOff val="15000"/>
                    </a:prstClr>
                  </a:gs>
                </a:gsLst>
                <a:lin ang="5400000" scaled="0"/>
              </a:gradFill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7036215" y="2638199"/>
            <a:ext cx="2147610" cy="211614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 dirty="0" err="1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이투스교육</a:t>
            </a:r>
            <a:endParaRPr lang="ko-KR" altLang="en-US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9234022" y="2638199"/>
            <a:ext cx="682406" cy="211614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>
              <a:lnSpc>
                <a:spcPct val="110000"/>
              </a:lnSpc>
            </a:pPr>
            <a:r>
              <a:rPr lang="ko-KR" altLang="en-US" sz="1000" kern="0" dirty="0" err="1">
                <a:gradFill>
                  <a:gsLst>
                    <a:gs pos="417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path path="shape">
                    <a:fillToRect l="50000" t="50000" r="50000" b="50000"/>
                  </a:path>
                </a:gradFill>
                <a:latin typeface="+mn-ea"/>
              </a:rPr>
              <a:t>교육지대</a:t>
            </a:r>
            <a:endParaRPr lang="ko-KR" altLang="en-US" sz="1000" kern="0" dirty="0">
              <a:gradFill>
                <a:gsLst>
                  <a:gs pos="417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path path="shape">
                  <a:fillToRect l="50000" t="50000" r="50000" b="50000"/>
                </a:path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03602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사업추진 일정 </a:t>
            </a:r>
            <a:r>
              <a:rPr lang="en-US" altLang="ko-KR" sz="1800" dirty="0"/>
              <a:t>(1/2) 2</a:t>
            </a:r>
            <a:r>
              <a:rPr lang="ko-KR" altLang="en-US" sz="1800" dirty="0"/>
              <a:t>안</a:t>
            </a:r>
            <a:endParaRPr lang="en-US" altLang="ko-KR" sz="1800" dirty="0"/>
          </a:p>
        </p:txBody>
      </p: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691017"/>
              </p:ext>
            </p:extLst>
          </p:nvPr>
        </p:nvGraphicFramePr>
        <p:xfrm>
          <a:off x="748135" y="1834062"/>
          <a:ext cx="9230181" cy="509943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609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7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7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7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78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78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78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780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780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91805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9AA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2019</a:t>
                      </a:r>
                      <a:r>
                        <a:rPr lang="ko-KR" alt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년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9A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2020</a:t>
                      </a:r>
                      <a:r>
                        <a:rPr lang="ko-KR" alt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년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9A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80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r>
                        <a:rPr lang="ko-KR" alt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3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ko-KR" alt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3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r>
                        <a:rPr lang="ko-KR" alt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3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r>
                        <a:rPr lang="ko-KR" alt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3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r>
                        <a:rPr lang="ko-KR" alt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3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r>
                        <a:rPr lang="ko-KR" alt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3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r>
                        <a:rPr lang="ko-KR" alt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3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  <a:r>
                        <a:rPr lang="ko-KR" alt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3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ko-KR" alt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3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alt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3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88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4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시스템 이관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11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DB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ko-KR" altLang="en-US" sz="1000" u="none" strike="noStrike" dirty="0">
                          <a:effectLst/>
                        </a:rPr>
                        <a:t>이행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모델링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dirty="0">
                          <a:effectLst/>
                        </a:rPr>
                        <a:t>데이터</a:t>
                      </a:r>
                      <a:endParaRPr lang="en-US" altLang="ko-KR" sz="1000" u="none" strike="noStrike" dirty="0">
                        <a:effectLst/>
                      </a:endParaRPr>
                    </a:p>
                    <a:p>
                      <a:pPr marL="0" marR="0" lvl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dirty="0">
                          <a:effectLst/>
                        </a:rPr>
                        <a:t>이관</a:t>
                      </a:r>
                      <a:endParaRPr lang="en-US" altLang="ko-KR" sz="1000" u="none" strike="noStrike" dirty="0">
                        <a:effectLst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5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 dirty="0">
                          <a:effectLst/>
                        </a:rPr>
                        <a:t>SP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676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</a:rPr>
                        <a:t>APP</a:t>
                      </a:r>
                      <a:r>
                        <a:rPr lang="ko-KR" altLang="en-US" sz="1000" u="none" strike="noStrike" dirty="0">
                          <a:effectLst/>
                        </a:rPr>
                        <a:t/>
                      </a:r>
                      <a:br>
                        <a:rPr lang="ko-KR" altLang="en-US" sz="1000" u="none" strike="noStrike" dirty="0">
                          <a:effectLst/>
                        </a:rPr>
                      </a:br>
                      <a:r>
                        <a:rPr lang="ko-KR" altLang="en-US" sz="1000" u="none" strike="noStrike" dirty="0">
                          <a:effectLst/>
                        </a:rPr>
                        <a:t>개발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</a:t>
                      </a: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전환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29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API</a:t>
                      </a: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ix고딕 M" panose="02020603020101020101" pitchFamily="18" charset="-127"/>
                        </a:rPr>
                        <a:t>개발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9746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사용자 테스트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Rix고딕 M" panose="02020603020101020101" pitchFamily="18" charset="-127"/>
                      </a:endParaRPr>
                    </a:p>
                  </a:txBody>
                  <a:tcPr marL="7717" marR="7717" marT="7717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6" name="그룹 55"/>
          <p:cNvGrpSpPr/>
          <p:nvPr/>
        </p:nvGrpSpPr>
        <p:grpSpPr>
          <a:xfrm>
            <a:off x="2299868" y="2268421"/>
            <a:ext cx="581575" cy="510343"/>
            <a:chOff x="1033279" y="1780167"/>
            <a:chExt cx="607727" cy="511079"/>
          </a:xfrm>
        </p:grpSpPr>
        <p:grpSp>
          <p:nvGrpSpPr>
            <p:cNvPr id="57" name="그룹 56"/>
            <p:cNvGrpSpPr/>
            <p:nvPr/>
          </p:nvGrpSpPr>
          <p:grpSpPr>
            <a:xfrm>
              <a:off x="1304682" y="1780167"/>
              <a:ext cx="230858" cy="451153"/>
              <a:chOff x="7798709" y="1830010"/>
              <a:chExt cx="178556" cy="377885"/>
            </a:xfrm>
          </p:grpSpPr>
          <p:pic>
            <p:nvPicPr>
              <p:cNvPr id="59" name="그림 5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" r="13365"/>
              <a:stretch/>
            </p:blipFill>
            <p:spPr>
              <a:xfrm flipH="1">
                <a:off x="7802823" y="1830010"/>
                <a:ext cx="174442" cy="377885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60" name="직선 연결선 59"/>
              <p:cNvCxnSpPr/>
              <p:nvPr/>
            </p:nvCxnSpPr>
            <p:spPr>
              <a:xfrm>
                <a:off x="7798709" y="1865528"/>
                <a:ext cx="0" cy="320957"/>
              </a:xfrm>
              <a:prstGeom prst="line">
                <a:avLst/>
              </a:prstGeom>
              <a:ln w="22225">
                <a:gradFill>
                  <a:gsLst>
                    <a:gs pos="100000">
                      <a:schemeClr val="tx1">
                        <a:lumMod val="50000"/>
                        <a:lumOff val="50000"/>
                      </a:schemeClr>
                    </a:gs>
                    <a:gs pos="1000">
                      <a:schemeClr val="tx1">
                        <a:lumMod val="95000"/>
                        <a:lumOff val="5000"/>
                      </a:schemeClr>
                    </a:gs>
                  </a:gsLst>
                  <a:lin ang="10800000" scaled="0"/>
                </a:gra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Text Box 1574"/>
            <p:cNvSpPr txBox="1">
              <a:spLocks noChangeArrowheads="1"/>
            </p:cNvSpPr>
            <p:nvPr/>
          </p:nvSpPr>
          <p:spPr bwMode="auto">
            <a:xfrm>
              <a:off x="1033279" y="2084748"/>
              <a:ext cx="607727" cy="20649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x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ctr" fontAlgn="base" latinLnBrk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defRPr kumimoji="0" sz="1000" spc="-50">
                  <a:gradFill>
                    <a:gsLst>
                      <a:gs pos="67083">
                        <a:schemeClr val="accent2">
                          <a:lumMod val="75000"/>
                        </a:schemeClr>
                      </a:gs>
                      <a:gs pos="61250">
                        <a:schemeClr val="accent2">
                          <a:lumMod val="75000"/>
                        </a:schemeClr>
                      </a:gs>
                    </a:gsLst>
                    <a:lin ang="16200000" scaled="1"/>
                  </a:gradFill>
                  <a:latin typeface="넥슨 풋볼고딕 B" panose="020B0803000000000000" pitchFamily="50" charset="-127"/>
                  <a:ea typeface="넥슨 풋볼고딕 B" panose="020B0803000000000000" pitchFamily="50" charset="-127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5pPr>
              <a:lvl6pPr>
                <a:defRPr kumimoji="1" sz="2700">
                  <a:latin typeface="굴림" charset="-127"/>
                  <a:ea typeface="굴림" charset="-127"/>
                </a:defRPr>
              </a:lvl6pPr>
              <a:lvl7pPr>
                <a:defRPr kumimoji="1" sz="2700">
                  <a:latin typeface="굴림" charset="-127"/>
                  <a:ea typeface="굴림" charset="-127"/>
                </a:defRPr>
              </a:lvl7pPr>
              <a:lvl8pPr>
                <a:defRPr kumimoji="1" sz="2700">
                  <a:latin typeface="굴림" charset="-127"/>
                  <a:ea typeface="굴림" charset="-127"/>
                </a:defRPr>
              </a:lvl8pPr>
              <a:lvl9pPr>
                <a:defRPr kumimoji="1" sz="2700">
                  <a:latin typeface="굴림" charset="-127"/>
                  <a:ea typeface="굴림" charset="-127"/>
                </a:defRPr>
              </a:lvl9pPr>
            </a:lstStyle>
            <a:p>
              <a:r>
                <a:rPr lang="ko-KR" altLang="en-US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착수보고</a:t>
              </a: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4405075" y="2268421"/>
            <a:ext cx="581575" cy="510340"/>
            <a:chOff x="4961224" y="1780167"/>
            <a:chExt cx="607727" cy="511076"/>
          </a:xfrm>
        </p:grpSpPr>
        <p:grpSp>
          <p:nvGrpSpPr>
            <p:cNvPr id="62" name="그룹 61"/>
            <p:cNvGrpSpPr/>
            <p:nvPr/>
          </p:nvGrpSpPr>
          <p:grpSpPr>
            <a:xfrm>
              <a:off x="5237949" y="1780167"/>
              <a:ext cx="225539" cy="451153"/>
              <a:chOff x="7901415" y="1830014"/>
              <a:chExt cx="174442" cy="377885"/>
            </a:xfrm>
          </p:grpSpPr>
          <p:pic>
            <p:nvPicPr>
              <p:cNvPr id="64" name="그림 6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" r="13365"/>
              <a:stretch/>
            </p:blipFill>
            <p:spPr>
              <a:xfrm flipH="1">
                <a:off x="7901415" y="1830014"/>
                <a:ext cx="174442" cy="377885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65" name="직선 연결선 64"/>
              <p:cNvCxnSpPr/>
              <p:nvPr/>
            </p:nvCxnSpPr>
            <p:spPr>
              <a:xfrm>
                <a:off x="7902592" y="1865527"/>
                <a:ext cx="0" cy="320957"/>
              </a:xfrm>
              <a:prstGeom prst="line">
                <a:avLst/>
              </a:prstGeom>
              <a:ln w="22225">
                <a:gradFill>
                  <a:gsLst>
                    <a:gs pos="100000">
                      <a:schemeClr val="tx1">
                        <a:lumMod val="50000"/>
                        <a:lumOff val="50000"/>
                      </a:schemeClr>
                    </a:gs>
                    <a:gs pos="1000">
                      <a:schemeClr val="tx1">
                        <a:lumMod val="95000"/>
                        <a:lumOff val="5000"/>
                      </a:schemeClr>
                    </a:gs>
                  </a:gsLst>
                  <a:lin ang="10800000" scaled="0"/>
                </a:gra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Text Box 1574"/>
            <p:cNvSpPr txBox="1">
              <a:spLocks noChangeArrowheads="1"/>
            </p:cNvSpPr>
            <p:nvPr/>
          </p:nvSpPr>
          <p:spPr bwMode="auto">
            <a:xfrm>
              <a:off x="4961224" y="2084745"/>
              <a:ext cx="607727" cy="20649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x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ctr" fontAlgn="base" latinLnBrk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defRPr kumimoji="0" sz="1000" spc="-50">
                  <a:gradFill>
                    <a:gsLst>
                      <a:gs pos="67083">
                        <a:schemeClr val="accent2">
                          <a:lumMod val="75000"/>
                        </a:schemeClr>
                      </a:gs>
                      <a:gs pos="61250">
                        <a:schemeClr val="accent2">
                          <a:lumMod val="75000"/>
                        </a:schemeClr>
                      </a:gs>
                    </a:gsLst>
                    <a:lin ang="16200000" scaled="1"/>
                  </a:gradFill>
                  <a:latin typeface="넥슨 풋볼고딕 B" panose="020B0803000000000000" pitchFamily="50" charset="-127"/>
                  <a:ea typeface="넥슨 풋볼고딕 B" panose="020B0803000000000000" pitchFamily="50" charset="-127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5pPr>
              <a:lvl6pPr>
                <a:defRPr kumimoji="1" sz="2700">
                  <a:latin typeface="굴림" charset="-127"/>
                  <a:ea typeface="굴림" charset="-127"/>
                </a:defRPr>
              </a:lvl6pPr>
              <a:lvl7pPr>
                <a:defRPr kumimoji="1" sz="2700">
                  <a:latin typeface="굴림" charset="-127"/>
                  <a:ea typeface="굴림" charset="-127"/>
                </a:defRPr>
              </a:lvl7pPr>
              <a:lvl8pPr>
                <a:defRPr kumimoji="1" sz="2700">
                  <a:latin typeface="굴림" charset="-127"/>
                  <a:ea typeface="굴림" charset="-127"/>
                </a:defRPr>
              </a:lvl8pPr>
              <a:lvl9pPr>
                <a:defRPr kumimoji="1" sz="2700">
                  <a:latin typeface="굴림" charset="-127"/>
                  <a:ea typeface="굴림" charset="-127"/>
                </a:defRPr>
              </a:lvl9pPr>
            </a:lstStyle>
            <a:p>
              <a:r>
                <a:rPr lang="ko-KR" altLang="en-US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중간보고</a:t>
              </a:r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9284838" y="2196411"/>
            <a:ext cx="592811" cy="510341"/>
            <a:chOff x="7530068" y="1780167"/>
            <a:chExt cx="619468" cy="511077"/>
          </a:xfrm>
        </p:grpSpPr>
        <p:grpSp>
          <p:nvGrpSpPr>
            <p:cNvPr id="67" name="그룹 66"/>
            <p:cNvGrpSpPr/>
            <p:nvPr/>
          </p:nvGrpSpPr>
          <p:grpSpPr>
            <a:xfrm>
              <a:off x="7923997" y="1780167"/>
              <a:ext cx="225539" cy="451153"/>
              <a:chOff x="7901415" y="1830011"/>
              <a:chExt cx="174442" cy="377885"/>
            </a:xfrm>
          </p:grpSpPr>
          <p:pic>
            <p:nvPicPr>
              <p:cNvPr id="69" name="그림 6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" r="13365"/>
              <a:stretch/>
            </p:blipFill>
            <p:spPr>
              <a:xfrm flipH="1">
                <a:off x="7901415" y="1830011"/>
                <a:ext cx="174442" cy="377885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70" name="직선 연결선 69"/>
              <p:cNvCxnSpPr/>
              <p:nvPr/>
            </p:nvCxnSpPr>
            <p:spPr>
              <a:xfrm>
                <a:off x="7902592" y="1865528"/>
                <a:ext cx="0" cy="320957"/>
              </a:xfrm>
              <a:prstGeom prst="line">
                <a:avLst/>
              </a:prstGeom>
              <a:ln w="22225">
                <a:gradFill>
                  <a:gsLst>
                    <a:gs pos="100000">
                      <a:schemeClr val="tx1">
                        <a:lumMod val="50000"/>
                        <a:lumOff val="50000"/>
                      </a:schemeClr>
                    </a:gs>
                    <a:gs pos="1000">
                      <a:schemeClr val="tx1">
                        <a:lumMod val="95000"/>
                        <a:lumOff val="5000"/>
                      </a:schemeClr>
                    </a:gs>
                  </a:gsLst>
                  <a:lin ang="10800000" scaled="0"/>
                </a:gra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Text Box 1574"/>
            <p:cNvSpPr txBox="1">
              <a:spLocks noChangeArrowheads="1"/>
            </p:cNvSpPr>
            <p:nvPr/>
          </p:nvSpPr>
          <p:spPr bwMode="auto">
            <a:xfrm>
              <a:off x="7530068" y="2084746"/>
              <a:ext cx="607726" cy="20649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x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ctr" fontAlgn="base" latinLnBrk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defRPr kumimoji="0" sz="1000" spc="-50">
                  <a:gradFill>
                    <a:gsLst>
                      <a:gs pos="67083">
                        <a:schemeClr val="accent2">
                          <a:lumMod val="75000"/>
                        </a:schemeClr>
                      </a:gs>
                      <a:gs pos="61250">
                        <a:schemeClr val="accent2">
                          <a:lumMod val="75000"/>
                        </a:schemeClr>
                      </a:gs>
                    </a:gsLst>
                    <a:lin ang="16200000" scaled="1"/>
                  </a:gradFill>
                  <a:latin typeface="넥슨 풋볼고딕 B" panose="020B0803000000000000" pitchFamily="50" charset="-127"/>
                  <a:ea typeface="넥슨 풋볼고딕 B" panose="020B0803000000000000" pitchFamily="50" charset="-127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5pPr>
              <a:lvl6pPr>
                <a:defRPr kumimoji="1" sz="2700">
                  <a:latin typeface="굴림" charset="-127"/>
                  <a:ea typeface="굴림" charset="-127"/>
                </a:defRPr>
              </a:lvl6pPr>
              <a:lvl7pPr>
                <a:defRPr kumimoji="1" sz="2700">
                  <a:latin typeface="굴림" charset="-127"/>
                  <a:ea typeface="굴림" charset="-127"/>
                </a:defRPr>
              </a:lvl7pPr>
              <a:lvl8pPr>
                <a:defRPr kumimoji="1" sz="2700">
                  <a:latin typeface="굴림" charset="-127"/>
                  <a:ea typeface="굴림" charset="-127"/>
                </a:defRPr>
              </a:lvl8pPr>
              <a:lvl9pPr>
                <a:defRPr kumimoji="1" sz="2700">
                  <a:latin typeface="굴림" charset="-127"/>
                  <a:ea typeface="굴림" charset="-127"/>
                </a:defRPr>
              </a:lvl9pPr>
            </a:lstStyle>
            <a:p>
              <a:r>
                <a:rPr lang="ko-KR" altLang="en-US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검수요청</a:t>
              </a:r>
            </a:p>
          </p:txBody>
        </p:sp>
      </p:grpSp>
      <p:grpSp>
        <p:nvGrpSpPr>
          <p:cNvPr id="71" name="그룹 70"/>
          <p:cNvGrpSpPr/>
          <p:nvPr/>
        </p:nvGrpSpPr>
        <p:grpSpPr>
          <a:xfrm>
            <a:off x="8924788" y="2443026"/>
            <a:ext cx="582219" cy="468203"/>
            <a:chOff x="8174513" y="1822371"/>
            <a:chExt cx="608400" cy="468878"/>
          </a:xfrm>
        </p:grpSpPr>
        <p:grpSp>
          <p:nvGrpSpPr>
            <p:cNvPr id="72" name="그룹 71"/>
            <p:cNvGrpSpPr/>
            <p:nvPr/>
          </p:nvGrpSpPr>
          <p:grpSpPr>
            <a:xfrm>
              <a:off x="8415512" y="1822371"/>
              <a:ext cx="296212" cy="408949"/>
              <a:chOff x="8415512" y="1735723"/>
              <a:chExt cx="296212" cy="408949"/>
            </a:xfrm>
          </p:grpSpPr>
          <p:cxnSp>
            <p:nvCxnSpPr>
              <p:cNvPr id="74" name="직선 연결선 73"/>
              <p:cNvCxnSpPr/>
              <p:nvPr/>
            </p:nvCxnSpPr>
            <p:spPr>
              <a:xfrm>
                <a:off x="8471437" y="1761486"/>
                <a:ext cx="0" cy="383186"/>
              </a:xfrm>
              <a:prstGeom prst="line">
                <a:avLst/>
              </a:prstGeom>
              <a:ln w="22225">
                <a:gradFill>
                  <a:gsLst>
                    <a:gs pos="100000">
                      <a:schemeClr val="tx1">
                        <a:lumMod val="50000"/>
                        <a:lumOff val="50000"/>
                      </a:schemeClr>
                    </a:gs>
                    <a:gs pos="1000">
                      <a:schemeClr val="tx1">
                        <a:lumMod val="95000"/>
                        <a:lumOff val="5000"/>
                      </a:schemeClr>
                    </a:gs>
                  </a:gsLst>
                  <a:lin ang="10800000" scaled="0"/>
                </a:gra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5" name="그룹 74"/>
              <p:cNvGrpSpPr/>
              <p:nvPr/>
            </p:nvGrpSpPr>
            <p:grpSpPr>
              <a:xfrm>
                <a:off x="8415512" y="1735723"/>
                <a:ext cx="296212" cy="406175"/>
                <a:chOff x="13770768" y="2812840"/>
                <a:chExt cx="376234" cy="558679"/>
              </a:xfrm>
            </p:grpSpPr>
            <p:pic>
              <p:nvPicPr>
                <p:cNvPr id="76" name="그림 75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-40000" contrast="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" r="13365"/>
                <a:stretch/>
              </p:blipFill>
              <p:spPr>
                <a:xfrm flipH="1">
                  <a:off x="13841761" y="2812840"/>
                  <a:ext cx="305241" cy="519414"/>
                </a:xfrm>
                <a:prstGeom prst="rect">
                  <a:avLst/>
                </a:prstGeom>
              </p:spPr>
            </p:pic>
            <p:pic>
              <p:nvPicPr>
                <p:cNvPr id="77" name="그림 76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duotone>
                    <a:prstClr val="black"/>
                    <a:srgbClr val="D9C3A5">
                      <a:tint val="50000"/>
                      <a:satMod val="18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9384" t="1159" r="-2360" b="-1159"/>
                <a:stretch/>
              </p:blipFill>
              <p:spPr>
                <a:xfrm flipH="1">
                  <a:off x="13770768" y="2852105"/>
                  <a:ext cx="74375" cy="519414"/>
                </a:xfrm>
                <a:prstGeom prst="rect">
                  <a:avLst/>
                </a:prstGeom>
              </p:spPr>
            </p:pic>
          </p:grpSp>
        </p:grpSp>
        <p:sp>
          <p:nvSpPr>
            <p:cNvPr id="73" name="Text Box 1574"/>
            <p:cNvSpPr txBox="1">
              <a:spLocks noChangeArrowheads="1"/>
            </p:cNvSpPr>
            <p:nvPr/>
          </p:nvSpPr>
          <p:spPr bwMode="auto">
            <a:xfrm>
              <a:off x="8174513" y="2084751"/>
              <a:ext cx="608400" cy="206498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  <a:ex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ctr" fontAlgn="base" latinLnBrk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80000"/>
                <a:defRPr kumimoji="0" sz="900" spc="-30">
                  <a:gradFill>
                    <a:gsLst>
                      <a:gs pos="67083">
                        <a:srgbClr val="0E69AA">
                          <a:lumMod val="75000"/>
                        </a:srgbClr>
                      </a:gs>
                      <a:gs pos="61250">
                        <a:srgbClr val="0E69AA">
                          <a:lumMod val="75000"/>
                        </a:srgbClr>
                      </a:gs>
                    </a:gsLst>
                    <a:lin ang="16200000" scaled="1"/>
                  </a:gradFill>
                  <a:latin typeface="KBIZ한마음고딕 H" panose="02020503020101020101" pitchFamily="18" charset="-127"/>
                  <a:ea typeface="KBIZ한마음고딕 H" panose="02020503020101020101" pitchFamily="18" charset="-127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 kumimoji="1" sz="2700">
                  <a:latin typeface="굴림" charset="-127"/>
                  <a:ea typeface="굴림" charset="-127"/>
                </a:defRPr>
              </a:lvl5pPr>
              <a:lvl6pPr>
                <a:defRPr kumimoji="1" sz="2700">
                  <a:latin typeface="굴림" charset="-127"/>
                  <a:ea typeface="굴림" charset="-127"/>
                </a:defRPr>
              </a:lvl6pPr>
              <a:lvl7pPr>
                <a:defRPr kumimoji="1" sz="2700">
                  <a:latin typeface="굴림" charset="-127"/>
                  <a:ea typeface="굴림" charset="-127"/>
                </a:defRPr>
              </a:lvl7pPr>
              <a:lvl8pPr>
                <a:defRPr kumimoji="1" sz="2700">
                  <a:latin typeface="굴림" charset="-127"/>
                  <a:ea typeface="굴림" charset="-127"/>
                </a:defRPr>
              </a:lvl8pPr>
              <a:lvl9pPr>
                <a:defRPr kumimoji="1" sz="2700">
                  <a:latin typeface="굴림" charset="-127"/>
                  <a:ea typeface="굴림" charset="-127"/>
                </a:defRPr>
              </a:lvl9pPr>
            </a:lstStyle>
            <a:p>
              <a:r>
                <a:rPr lang="ko-KR" altLang="en-US" sz="10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완료보고</a:t>
              </a:r>
            </a:p>
          </p:txBody>
        </p:sp>
      </p:grpSp>
      <p:sp>
        <p:nvSpPr>
          <p:cNvPr id="78" name="AutoShape 3990"/>
          <p:cNvSpPr>
            <a:spLocks noChangeArrowheads="1"/>
          </p:cNvSpPr>
          <p:nvPr/>
        </p:nvSpPr>
        <p:spPr bwMode="auto">
          <a:xfrm rot="10800000" flipV="1">
            <a:off x="3105764" y="3078866"/>
            <a:ext cx="477246" cy="395833"/>
          </a:xfrm>
          <a:prstGeom prst="round2SameRect">
            <a:avLst/>
          </a:prstGeom>
          <a:solidFill>
            <a:srgbClr val="1F94A6">
              <a:lumMod val="20000"/>
              <a:lumOff val="80000"/>
              <a:alpha val="54117"/>
            </a:srgbClr>
          </a:solidFill>
          <a:ln w="9525" cap="flat" cmpd="sng">
            <a:solidFill>
              <a:srgbClr val="0E69A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79" name="Text Box 3518"/>
          <p:cNvSpPr txBox="1">
            <a:spLocks noChangeArrowheads="1"/>
          </p:cNvSpPr>
          <p:nvPr/>
        </p:nvSpPr>
        <p:spPr bwMode="auto">
          <a:xfrm>
            <a:off x="3070663" y="3107506"/>
            <a:ext cx="556563" cy="33855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>개발환경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/>
            </a:r>
            <a:b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</a:b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>구성</a:t>
            </a:r>
            <a:endParaRPr kumimoji="0" lang="en-US" altLang="ko-KR" sz="800" b="0" i="0" u="none" strike="noStrike" kern="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61250">
                    <a:prstClr val="black">
                      <a:lumMod val="75000"/>
                      <a:lumOff val="25000"/>
                    </a:prstClr>
                  </a:gs>
                  <a:gs pos="53333">
                    <a:prstClr val="black">
                      <a:lumMod val="75000"/>
                      <a:lumOff val="25000"/>
                    </a:prstClr>
                  </a:gs>
                </a:gsLst>
                <a:lin ang="16200000" scaled="1"/>
              </a:gradFill>
              <a:effectLst/>
              <a:uLnTx/>
              <a:uFillTx/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3118226" y="3449650"/>
            <a:ext cx="432000" cy="75516"/>
          </a:xfrm>
          <a:prstGeom prst="rect">
            <a:avLst/>
          </a:prstGeom>
          <a:solidFill>
            <a:srgbClr val="0E69AA">
              <a:alpha val="91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cxnSp>
        <p:nvCxnSpPr>
          <p:cNvPr id="87" name="직선 연결선 86"/>
          <p:cNvCxnSpPr/>
          <p:nvPr/>
        </p:nvCxnSpPr>
        <p:spPr>
          <a:xfrm>
            <a:off x="3122465" y="3483879"/>
            <a:ext cx="453445" cy="0"/>
          </a:xfrm>
          <a:prstGeom prst="line">
            <a:avLst/>
          </a:prstGeom>
          <a:noFill/>
          <a:ln w="19050" cap="rnd">
            <a:solidFill>
              <a:srgbClr val="0E69AA">
                <a:lumMod val="40000"/>
                <a:lumOff val="60000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" name="Oval 1468"/>
          <p:cNvSpPr>
            <a:spLocks noChangeArrowheads="1"/>
          </p:cNvSpPr>
          <p:nvPr/>
        </p:nvSpPr>
        <p:spPr bwMode="auto">
          <a:xfrm>
            <a:off x="3078815" y="3436470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89" name="Oval 1468"/>
          <p:cNvSpPr>
            <a:spLocks noChangeArrowheads="1"/>
          </p:cNvSpPr>
          <p:nvPr/>
        </p:nvSpPr>
        <p:spPr bwMode="auto">
          <a:xfrm>
            <a:off x="3531097" y="3448246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90" name="AutoShape 3990"/>
          <p:cNvSpPr>
            <a:spLocks noChangeArrowheads="1"/>
          </p:cNvSpPr>
          <p:nvPr/>
        </p:nvSpPr>
        <p:spPr bwMode="auto">
          <a:xfrm rot="10800000" flipV="1">
            <a:off x="8381471" y="5201254"/>
            <a:ext cx="1585827" cy="206705"/>
          </a:xfrm>
          <a:prstGeom prst="round2SameRect">
            <a:avLst/>
          </a:prstGeom>
          <a:solidFill>
            <a:srgbClr val="1F94A6">
              <a:lumMod val="20000"/>
              <a:lumOff val="80000"/>
              <a:alpha val="54117"/>
            </a:srgbClr>
          </a:solidFill>
          <a:ln w="9525" cap="flat" cmpd="sng">
            <a:solidFill>
              <a:srgbClr val="0E69A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91" name="AutoShape 3990"/>
          <p:cNvSpPr>
            <a:spLocks noChangeArrowheads="1"/>
          </p:cNvSpPr>
          <p:nvPr/>
        </p:nvSpPr>
        <p:spPr bwMode="auto">
          <a:xfrm rot="10800000">
            <a:off x="3563691" y="5438992"/>
            <a:ext cx="3207812" cy="215714"/>
          </a:xfrm>
          <a:prstGeom prst="round2SameRect">
            <a:avLst/>
          </a:prstGeom>
          <a:solidFill>
            <a:srgbClr val="1F94A6">
              <a:lumMod val="20000"/>
              <a:lumOff val="80000"/>
              <a:alpha val="54117"/>
            </a:srgbClr>
          </a:solidFill>
          <a:ln w="9525" cap="flat" cmpd="sng">
            <a:solidFill>
              <a:srgbClr val="0E69A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92" name="AutoShape 3990"/>
          <p:cNvSpPr>
            <a:spLocks noChangeArrowheads="1"/>
          </p:cNvSpPr>
          <p:nvPr/>
        </p:nvSpPr>
        <p:spPr bwMode="auto">
          <a:xfrm rot="10800000" flipV="1">
            <a:off x="1979929" y="5232288"/>
            <a:ext cx="1056282" cy="206705"/>
          </a:xfrm>
          <a:prstGeom prst="round2SameRect">
            <a:avLst/>
          </a:prstGeom>
          <a:solidFill>
            <a:srgbClr val="1F94A6">
              <a:lumMod val="20000"/>
              <a:lumOff val="80000"/>
              <a:alpha val="54117"/>
            </a:srgbClr>
          </a:solidFill>
          <a:ln w="9525" cap="flat" cmpd="sng">
            <a:solidFill>
              <a:srgbClr val="0E69A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93" name="AutoShape 3990"/>
          <p:cNvSpPr>
            <a:spLocks noChangeArrowheads="1"/>
          </p:cNvSpPr>
          <p:nvPr/>
        </p:nvSpPr>
        <p:spPr bwMode="auto">
          <a:xfrm rot="10800000" flipV="1">
            <a:off x="2970370" y="5152644"/>
            <a:ext cx="792110" cy="286349"/>
          </a:xfrm>
          <a:prstGeom prst="round2SameRect">
            <a:avLst/>
          </a:prstGeom>
          <a:solidFill>
            <a:srgbClr val="1F94A6">
              <a:lumMod val="20000"/>
              <a:lumOff val="80000"/>
              <a:alpha val="54117"/>
            </a:srgbClr>
          </a:solidFill>
          <a:ln w="9525" cap="flat" cmpd="sng">
            <a:solidFill>
              <a:srgbClr val="0E69A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6770842" y="5152644"/>
            <a:ext cx="1600581" cy="286349"/>
            <a:chOff x="6230967" y="5152644"/>
            <a:chExt cx="2650619" cy="286349"/>
          </a:xfrm>
        </p:grpSpPr>
        <p:sp>
          <p:nvSpPr>
            <p:cNvPr id="95" name="AutoShape 3990"/>
            <p:cNvSpPr>
              <a:spLocks noChangeArrowheads="1"/>
            </p:cNvSpPr>
            <p:nvPr/>
          </p:nvSpPr>
          <p:spPr bwMode="auto">
            <a:xfrm rot="10800000" flipV="1">
              <a:off x="7550359" y="5152644"/>
              <a:ext cx="1331227" cy="255315"/>
            </a:xfrm>
            <a:prstGeom prst="round2SameRect">
              <a:avLst/>
            </a:prstGeom>
            <a:solidFill>
              <a:srgbClr val="1F94A6">
                <a:lumMod val="20000"/>
                <a:lumOff val="80000"/>
                <a:alpha val="54117"/>
              </a:srgbClr>
            </a:solidFill>
            <a:ln w="9525" cap="flat" cmpd="sng">
              <a:solidFill>
                <a:srgbClr val="0E69AA"/>
              </a:solidFill>
              <a:prstDash val="solid"/>
              <a:round/>
              <a:headEnd/>
              <a:tailEnd/>
            </a:ln>
          </p:spPr>
          <p:txBody>
            <a:bodyPr lIns="54000" rIns="540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96" name="AutoShape 3990"/>
            <p:cNvSpPr>
              <a:spLocks noChangeArrowheads="1"/>
            </p:cNvSpPr>
            <p:nvPr/>
          </p:nvSpPr>
          <p:spPr bwMode="auto">
            <a:xfrm rot="10800000" flipV="1">
              <a:off x="6230967" y="5214953"/>
              <a:ext cx="1319385" cy="224040"/>
            </a:xfrm>
            <a:prstGeom prst="round2SameRect">
              <a:avLst/>
            </a:prstGeom>
            <a:solidFill>
              <a:srgbClr val="1F94A6">
                <a:lumMod val="20000"/>
                <a:lumOff val="80000"/>
                <a:alpha val="54117"/>
              </a:srgbClr>
            </a:solidFill>
            <a:ln w="9525" cap="flat" cmpd="sng">
              <a:solidFill>
                <a:srgbClr val="0E69AA"/>
              </a:solidFill>
              <a:prstDash val="solid"/>
              <a:round/>
              <a:headEnd/>
              <a:tailEnd/>
            </a:ln>
          </p:spPr>
          <p:txBody>
            <a:bodyPr lIns="54000" rIns="540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</p:grpSp>
      <p:sp>
        <p:nvSpPr>
          <p:cNvPr id="97" name="직사각형 96"/>
          <p:cNvSpPr/>
          <p:nvPr/>
        </p:nvSpPr>
        <p:spPr>
          <a:xfrm>
            <a:off x="1972699" y="5407959"/>
            <a:ext cx="7959661" cy="75516"/>
          </a:xfrm>
          <a:prstGeom prst="rect">
            <a:avLst/>
          </a:prstGeom>
          <a:solidFill>
            <a:srgbClr val="0E69AA">
              <a:alpha val="91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cxnSp>
        <p:nvCxnSpPr>
          <p:cNvPr id="98" name="직선 연결선 97"/>
          <p:cNvCxnSpPr/>
          <p:nvPr/>
        </p:nvCxnSpPr>
        <p:spPr>
          <a:xfrm>
            <a:off x="1959089" y="5447582"/>
            <a:ext cx="7959661" cy="0"/>
          </a:xfrm>
          <a:prstGeom prst="line">
            <a:avLst/>
          </a:prstGeom>
          <a:noFill/>
          <a:ln w="19050" cap="rnd">
            <a:solidFill>
              <a:srgbClr val="0E69AA">
                <a:lumMod val="40000"/>
                <a:lumOff val="60000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Text Box 3518"/>
          <p:cNvSpPr txBox="1">
            <a:spLocks noChangeArrowheads="1"/>
          </p:cNvSpPr>
          <p:nvPr/>
        </p:nvSpPr>
        <p:spPr bwMode="auto">
          <a:xfrm>
            <a:off x="2315234" y="5223859"/>
            <a:ext cx="341431" cy="21513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분석</a:t>
            </a:r>
          </a:p>
        </p:txBody>
      </p:sp>
      <p:sp>
        <p:nvSpPr>
          <p:cNvPr id="100" name="Text Box 3518"/>
          <p:cNvSpPr txBox="1">
            <a:spLocks noChangeArrowheads="1"/>
          </p:cNvSpPr>
          <p:nvPr/>
        </p:nvSpPr>
        <p:spPr bwMode="auto">
          <a:xfrm>
            <a:off x="8947200" y="5197343"/>
            <a:ext cx="427084" cy="21513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안정화</a:t>
            </a:r>
          </a:p>
        </p:txBody>
      </p:sp>
      <p:sp>
        <p:nvSpPr>
          <p:cNvPr id="101" name="Text Box 3518"/>
          <p:cNvSpPr txBox="1">
            <a:spLocks noChangeArrowheads="1"/>
          </p:cNvSpPr>
          <p:nvPr/>
        </p:nvSpPr>
        <p:spPr bwMode="auto">
          <a:xfrm>
            <a:off x="7626636" y="5114351"/>
            <a:ext cx="700833" cy="33855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사용자</a:t>
            </a:r>
            <a:r>
              <a:rPr kumimoji="0" lang="en-US" altLang="ko-KR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/</a:t>
            </a: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성능</a:t>
            </a:r>
            <a:endParaRPr kumimoji="0" lang="en-US" altLang="ko-KR" sz="800" b="0" i="0" u="none" strike="noStrike" kern="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61250">
                    <a:prstClr val="black">
                      <a:lumMod val="75000"/>
                      <a:lumOff val="25000"/>
                    </a:prstClr>
                  </a:gs>
                  <a:gs pos="53333">
                    <a:prstClr val="black">
                      <a:lumMod val="75000"/>
                      <a:lumOff val="25000"/>
                    </a:prstClr>
                  </a:gs>
                </a:gsLst>
                <a:lin ang="16200000" scaled="1"/>
              </a:gradFill>
              <a:effectLst/>
              <a:uLnTx/>
              <a:uFillTx/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테스트</a:t>
            </a:r>
          </a:p>
        </p:txBody>
      </p:sp>
      <p:sp>
        <p:nvSpPr>
          <p:cNvPr id="102" name="Text Box 3518"/>
          <p:cNvSpPr txBox="1">
            <a:spLocks noChangeArrowheads="1"/>
          </p:cNvSpPr>
          <p:nvPr/>
        </p:nvSpPr>
        <p:spPr bwMode="auto">
          <a:xfrm>
            <a:off x="3200792" y="5188252"/>
            <a:ext cx="341431" cy="21513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설계</a:t>
            </a:r>
          </a:p>
        </p:txBody>
      </p:sp>
      <p:sp>
        <p:nvSpPr>
          <p:cNvPr id="103" name="Text Box 3518"/>
          <p:cNvSpPr txBox="1">
            <a:spLocks noChangeArrowheads="1"/>
          </p:cNvSpPr>
          <p:nvPr/>
        </p:nvSpPr>
        <p:spPr bwMode="auto">
          <a:xfrm>
            <a:off x="4686726" y="5482205"/>
            <a:ext cx="941283" cy="21544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구현 </a:t>
            </a:r>
            <a:r>
              <a:rPr kumimoji="0" lang="en-US" altLang="ko-KR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/ </a:t>
            </a: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단위테스트</a:t>
            </a:r>
          </a:p>
        </p:txBody>
      </p:sp>
      <p:sp>
        <p:nvSpPr>
          <p:cNvPr id="104" name="Text Box 3518"/>
          <p:cNvSpPr txBox="1">
            <a:spLocks noChangeArrowheads="1"/>
          </p:cNvSpPr>
          <p:nvPr/>
        </p:nvSpPr>
        <p:spPr bwMode="auto">
          <a:xfrm>
            <a:off x="6825129" y="5211041"/>
            <a:ext cx="676787" cy="21544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통합 테스트</a:t>
            </a:r>
          </a:p>
        </p:txBody>
      </p:sp>
      <p:sp>
        <p:nvSpPr>
          <p:cNvPr id="105" name="AutoShape 3990"/>
          <p:cNvSpPr>
            <a:spLocks noChangeArrowheads="1"/>
          </p:cNvSpPr>
          <p:nvPr/>
        </p:nvSpPr>
        <p:spPr bwMode="auto">
          <a:xfrm rot="10800000" flipV="1">
            <a:off x="4374611" y="6547238"/>
            <a:ext cx="1908000" cy="206705"/>
          </a:xfrm>
          <a:prstGeom prst="round2SameRect">
            <a:avLst/>
          </a:prstGeom>
          <a:solidFill>
            <a:srgbClr val="1F94A6">
              <a:lumMod val="20000"/>
              <a:lumOff val="80000"/>
              <a:alpha val="54117"/>
            </a:srgbClr>
          </a:solidFill>
          <a:ln w="9525" cap="flat" cmpd="sng">
            <a:solidFill>
              <a:srgbClr val="0E69A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06" name="AutoShape 3990"/>
          <p:cNvSpPr>
            <a:spLocks noChangeArrowheads="1"/>
          </p:cNvSpPr>
          <p:nvPr/>
        </p:nvSpPr>
        <p:spPr bwMode="auto">
          <a:xfrm rot="10800000" flipV="1">
            <a:off x="5967528" y="6423216"/>
            <a:ext cx="791410" cy="330728"/>
          </a:xfrm>
          <a:prstGeom prst="round2SameRect">
            <a:avLst/>
          </a:prstGeom>
          <a:solidFill>
            <a:srgbClr val="1F94A6">
              <a:lumMod val="20000"/>
              <a:lumOff val="80000"/>
              <a:alpha val="54117"/>
            </a:srgbClr>
          </a:solidFill>
          <a:ln w="9525" cap="flat" cmpd="sng">
            <a:solidFill>
              <a:srgbClr val="0E69A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07" name="AutoShape 3990"/>
          <p:cNvSpPr>
            <a:spLocks noChangeArrowheads="1"/>
          </p:cNvSpPr>
          <p:nvPr/>
        </p:nvSpPr>
        <p:spPr bwMode="auto">
          <a:xfrm rot="10800000" flipV="1">
            <a:off x="6756660" y="6547238"/>
            <a:ext cx="1619244" cy="206705"/>
          </a:xfrm>
          <a:prstGeom prst="round2SameRect">
            <a:avLst/>
          </a:prstGeom>
          <a:solidFill>
            <a:srgbClr val="1F94A6">
              <a:lumMod val="20000"/>
              <a:lumOff val="80000"/>
              <a:alpha val="54117"/>
            </a:srgbClr>
          </a:solidFill>
          <a:ln w="9525" cap="flat" cmpd="sng">
            <a:solidFill>
              <a:srgbClr val="0E69A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4410570" y="6721983"/>
            <a:ext cx="3960000" cy="71355"/>
          </a:xfrm>
          <a:prstGeom prst="rect">
            <a:avLst/>
          </a:prstGeom>
          <a:solidFill>
            <a:srgbClr val="0E69AA">
              <a:alpha val="91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cxnSp>
        <p:nvCxnSpPr>
          <p:cNvPr id="109" name="직선 연결선 108"/>
          <p:cNvCxnSpPr/>
          <p:nvPr/>
        </p:nvCxnSpPr>
        <p:spPr>
          <a:xfrm>
            <a:off x="4399064" y="6757105"/>
            <a:ext cx="3960000" cy="0"/>
          </a:xfrm>
          <a:prstGeom prst="line">
            <a:avLst/>
          </a:prstGeom>
          <a:noFill/>
          <a:ln w="19050" cap="rnd">
            <a:solidFill>
              <a:srgbClr val="0E69AA">
                <a:lumMod val="40000"/>
                <a:lumOff val="60000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0" name="Oval 1468"/>
          <p:cNvSpPr>
            <a:spLocks noChangeArrowheads="1"/>
          </p:cNvSpPr>
          <p:nvPr/>
        </p:nvSpPr>
        <p:spPr bwMode="auto">
          <a:xfrm>
            <a:off x="4350410" y="6721073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11" name="Oval 1468"/>
          <p:cNvSpPr>
            <a:spLocks noChangeArrowheads="1"/>
          </p:cNvSpPr>
          <p:nvPr/>
        </p:nvSpPr>
        <p:spPr bwMode="auto">
          <a:xfrm>
            <a:off x="6255445" y="6721073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12" name="Oval 1468"/>
          <p:cNvSpPr>
            <a:spLocks noChangeArrowheads="1"/>
          </p:cNvSpPr>
          <p:nvPr/>
        </p:nvSpPr>
        <p:spPr bwMode="auto">
          <a:xfrm>
            <a:off x="8332747" y="6721073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13" name="Text Box 3518"/>
          <p:cNvSpPr txBox="1">
            <a:spLocks noChangeArrowheads="1"/>
          </p:cNvSpPr>
          <p:nvPr/>
        </p:nvSpPr>
        <p:spPr bwMode="auto">
          <a:xfrm>
            <a:off x="4554590" y="6537022"/>
            <a:ext cx="1233661" cy="206173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사용자 테스트 케이스 개발</a:t>
            </a:r>
          </a:p>
        </p:txBody>
      </p:sp>
      <p:sp>
        <p:nvSpPr>
          <p:cNvPr id="114" name="Text Box 3518"/>
          <p:cNvSpPr txBox="1">
            <a:spLocks noChangeArrowheads="1"/>
          </p:cNvSpPr>
          <p:nvPr/>
        </p:nvSpPr>
        <p:spPr bwMode="auto">
          <a:xfrm>
            <a:off x="7097144" y="6524990"/>
            <a:ext cx="940662" cy="206173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사용자 테스트 지원</a:t>
            </a:r>
          </a:p>
        </p:txBody>
      </p:sp>
      <p:sp>
        <p:nvSpPr>
          <p:cNvPr id="115" name="Oval 1468"/>
          <p:cNvSpPr>
            <a:spLocks noChangeArrowheads="1"/>
          </p:cNvSpPr>
          <p:nvPr/>
        </p:nvSpPr>
        <p:spPr bwMode="auto">
          <a:xfrm>
            <a:off x="6713928" y="6721073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16" name="Text Box 3518"/>
          <p:cNvSpPr txBox="1">
            <a:spLocks noChangeArrowheads="1"/>
          </p:cNvSpPr>
          <p:nvPr/>
        </p:nvSpPr>
        <p:spPr bwMode="auto">
          <a:xfrm>
            <a:off x="6111998" y="6401823"/>
            <a:ext cx="746912" cy="338554"/>
          </a:xfrm>
          <a:prstGeom prst="rect">
            <a:avLst/>
          </a:prstGeom>
          <a:extLst/>
        </p:spPr>
        <p:txBody>
          <a:bodyPr wrap="squar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케이스</a:t>
            </a:r>
            <a:endParaRPr kumimoji="0" lang="en-US" altLang="ko-KR" sz="800" b="0" i="0" u="none" strike="noStrike" kern="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61250">
                    <a:prstClr val="black">
                      <a:lumMod val="75000"/>
                      <a:lumOff val="25000"/>
                    </a:prstClr>
                  </a:gs>
                  <a:gs pos="53333">
                    <a:prstClr val="black">
                      <a:lumMod val="75000"/>
                      <a:lumOff val="25000"/>
                    </a:prstClr>
                  </a:gs>
                </a:gsLst>
                <a:lin ang="16200000" scaled="1"/>
              </a:gradFill>
              <a:effectLst/>
              <a:uLnTx/>
              <a:uFillTx/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>검증</a:t>
            </a:r>
            <a:endParaRPr kumimoji="0" lang="ko-KR" altLang="en-US" sz="800" b="0" i="0" u="none" strike="noStrike" kern="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61250">
                    <a:prstClr val="black">
                      <a:lumMod val="75000"/>
                      <a:lumOff val="25000"/>
                    </a:prstClr>
                  </a:gs>
                  <a:gs pos="53333">
                    <a:prstClr val="black">
                      <a:lumMod val="75000"/>
                      <a:lumOff val="25000"/>
                    </a:prstClr>
                  </a:gs>
                </a:gsLst>
                <a:lin ang="16200000" scaled="1"/>
              </a:gradFill>
              <a:effectLst/>
              <a:uLnTx/>
              <a:uFillTx/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17" name="AutoShape 3990"/>
          <p:cNvSpPr>
            <a:spLocks noChangeArrowheads="1"/>
          </p:cNvSpPr>
          <p:nvPr/>
        </p:nvSpPr>
        <p:spPr bwMode="auto">
          <a:xfrm rot="10800000" flipV="1">
            <a:off x="2813468" y="3719748"/>
            <a:ext cx="448142" cy="254936"/>
          </a:xfrm>
          <a:prstGeom prst="round2SameRect">
            <a:avLst/>
          </a:prstGeom>
          <a:solidFill>
            <a:srgbClr val="FFE89F">
              <a:alpha val="53725"/>
            </a:srgbClr>
          </a:solidFill>
          <a:ln w="9525" cap="flat" cmpd="sng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19" name="AutoShape 3990"/>
          <p:cNvSpPr>
            <a:spLocks noChangeArrowheads="1"/>
          </p:cNvSpPr>
          <p:nvPr/>
        </p:nvSpPr>
        <p:spPr bwMode="auto">
          <a:xfrm rot="10800000" flipV="1">
            <a:off x="3269058" y="3719748"/>
            <a:ext cx="3501787" cy="254936"/>
          </a:xfrm>
          <a:prstGeom prst="round2SameRect">
            <a:avLst/>
          </a:prstGeom>
          <a:solidFill>
            <a:srgbClr val="FFE89F">
              <a:alpha val="53725"/>
            </a:srgbClr>
          </a:solidFill>
          <a:ln w="9525" cap="flat" cmpd="sng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20" name="Text Box 3518"/>
          <p:cNvSpPr txBox="1">
            <a:spLocks noChangeArrowheads="1"/>
          </p:cNvSpPr>
          <p:nvPr/>
        </p:nvSpPr>
        <p:spPr bwMode="auto">
          <a:xfrm>
            <a:off x="4499791" y="3745730"/>
            <a:ext cx="702889" cy="206173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모델 </a:t>
            </a:r>
            <a:r>
              <a:rPr kumimoji="0" lang="en-US" altLang="ko-KR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ER </a:t>
            </a: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정비</a:t>
            </a:r>
          </a:p>
        </p:txBody>
      </p:sp>
      <p:sp>
        <p:nvSpPr>
          <p:cNvPr id="122" name="AutoShape 3990"/>
          <p:cNvSpPr>
            <a:spLocks noChangeArrowheads="1"/>
          </p:cNvSpPr>
          <p:nvPr/>
        </p:nvSpPr>
        <p:spPr bwMode="auto">
          <a:xfrm rot="10800000" flipV="1">
            <a:off x="2555111" y="4268882"/>
            <a:ext cx="614037" cy="206705"/>
          </a:xfrm>
          <a:prstGeom prst="round2SameRect">
            <a:avLst/>
          </a:prstGeom>
          <a:solidFill>
            <a:srgbClr val="FFE89F">
              <a:alpha val="53725"/>
            </a:srgbClr>
          </a:solidFill>
          <a:ln w="9525" cap="flat" cmpd="sng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23" name="AutoShape 3990"/>
          <p:cNvSpPr>
            <a:spLocks noChangeArrowheads="1"/>
          </p:cNvSpPr>
          <p:nvPr/>
        </p:nvSpPr>
        <p:spPr bwMode="auto">
          <a:xfrm rot="10800000" flipV="1">
            <a:off x="3164253" y="4144860"/>
            <a:ext cx="436955" cy="330728"/>
          </a:xfrm>
          <a:prstGeom prst="round2SameRect">
            <a:avLst/>
          </a:prstGeom>
          <a:solidFill>
            <a:srgbClr val="FFE89F">
              <a:alpha val="53725"/>
            </a:srgbClr>
          </a:solidFill>
          <a:ln w="9525" cap="flat" cmpd="sng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24" name="AutoShape 3990"/>
          <p:cNvSpPr>
            <a:spLocks noChangeArrowheads="1"/>
          </p:cNvSpPr>
          <p:nvPr/>
        </p:nvSpPr>
        <p:spPr bwMode="auto">
          <a:xfrm rot="10800000" flipV="1">
            <a:off x="3588346" y="4268882"/>
            <a:ext cx="3167239" cy="206705"/>
          </a:xfrm>
          <a:prstGeom prst="round2SameRect">
            <a:avLst/>
          </a:prstGeom>
          <a:solidFill>
            <a:srgbClr val="FFE89F">
              <a:alpha val="53725"/>
            </a:srgbClr>
          </a:solidFill>
          <a:ln w="9525" cap="flat" cmpd="sng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2566544" y="4443626"/>
            <a:ext cx="5760000" cy="75516"/>
          </a:xfrm>
          <a:prstGeom prst="rect">
            <a:avLst/>
          </a:prstGeom>
          <a:solidFill>
            <a:srgbClr val="F2B800">
              <a:alpha val="91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cxnSp>
        <p:nvCxnSpPr>
          <p:cNvPr id="126" name="직선 연결선 125"/>
          <p:cNvCxnSpPr/>
          <p:nvPr/>
        </p:nvCxnSpPr>
        <p:spPr>
          <a:xfrm>
            <a:off x="2555562" y="4483479"/>
            <a:ext cx="5724000" cy="0"/>
          </a:xfrm>
          <a:prstGeom prst="line">
            <a:avLst/>
          </a:prstGeom>
          <a:noFill/>
          <a:ln w="19050" cap="rnd">
            <a:solidFill>
              <a:srgbClr val="FFE89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8" name="Oval 1468"/>
          <p:cNvSpPr>
            <a:spLocks noChangeArrowheads="1"/>
          </p:cNvSpPr>
          <p:nvPr/>
        </p:nvSpPr>
        <p:spPr bwMode="auto">
          <a:xfrm>
            <a:off x="2517737" y="4442717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29" name="Oval 1468"/>
          <p:cNvSpPr>
            <a:spLocks noChangeArrowheads="1"/>
          </p:cNvSpPr>
          <p:nvPr/>
        </p:nvSpPr>
        <p:spPr bwMode="auto">
          <a:xfrm>
            <a:off x="3145573" y="4442717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30" name="Text Box 3518"/>
          <p:cNvSpPr txBox="1">
            <a:spLocks noChangeArrowheads="1"/>
          </p:cNvSpPr>
          <p:nvPr/>
        </p:nvSpPr>
        <p:spPr bwMode="auto">
          <a:xfrm>
            <a:off x="2650208" y="4264303"/>
            <a:ext cx="354666" cy="206173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분석</a:t>
            </a:r>
          </a:p>
        </p:txBody>
      </p:sp>
      <p:sp>
        <p:nvSpPr>
          <p:cNvPr id="131" name="Text Box 3518"/>
          <p:cNvSpPr txBox="1">
            <a:spLocks noChangeArrowheads="1"/>
          </p:cNvSpPr>
          <p:nvPr/>
        </p:nvSpPr>
        <p:spPr bwMode="auto">
          <a:xfrm>
            <a:off x="4843138" y="4241998"/>
            <a:ext cx="370614" cy="21544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개발</a:t>
            </a:r>
          </a:p>
        </p:txBody>
      </p:sp>
      <p:sp>
        <p:nvSpPr>
          <p:cNvPr id="132" name="Text Box 3518"/>
          <p:cNvSpPr txBox="1">
            <a:spLocks noChangeArrowheads="1"/>
          </p:cNvSpPr>
          <p:nvPr/>
        </p:nvSpPr>
        <p:spPr bwMode="auto">
          <a:xfrm>
            <a:off x="3184288" y="4201688"/>
            <a:ext cx="354666" cy="206173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설계</a:t>
            </a:r>
          </a:p>
        </p:txBody>
      </p:sp>
      <p:sp>
        <p:nvSpPr>
          <p:cNvPr id="133" name="Oval 1468"/>
          <p:cNvSpPr>
            <a:spLocks noChangeArrowheads="1"/>
          </p:cNvSpPr>
          <p:nvPr/>
        </p:nvSpPr>
        <p:spPr bwMode="auto">
          <a:xfrm>
            <a:off x="3554702" y="4452806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34" name="AutoShape 3990"/>
          <p:cNvSpPr>
            <a:spLocks noChangeArrowheads="1"/>
          </p:cNvSpPr>
          <p:nvPr/>
        </p:nvSpPr>
        <p:spPr bwMode="auto">
          <a:xfrm rot="10800000" flipV="1">
            <a:off x="6762132" y="4131847"/>
            <a:ext cx="817371" cy="349671"/>
          </a:xfrm>
          <a:prstGeom prst="round2SameRect">
            <a:avLst/>
          </a:prstGeom>
          <a:solidFill>
            <a:srgbClr val="FFD85D">
              <a:alpha val="52941"/>
            </a:srgbClr>
          </a:solidFill>
          <a:ln w="9525" cap="flat" cmpd="sng">
            <a:solidFill>
              <a:srgbClr val="F2B8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35" name="Oval 1468"/>
          <p:cNvSpPr>
            <a:spLocks noChangeArrowheads="1"/>
          </p:cNvSpPr>
          <p:nvPr/>
        </p:nvSpPr>
        <p:spPr bwMode="auto">
          <a:xfrm>
            <a:off x="6717825" y="4442717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36" name="AutoShape 3990"/>
          <p:cNvSpPr>
            <a:spLocks noChangeArrowheads="1"/>
          </p:cNvSpPr>
          <p:nvPr/>
        </p:nvSpPr>
        <p:spPr bwMode="auto">
          <a:xfrm rot="10800000" flipV="1">
            <a:off x="7587637" y="4124087"/>
            <a:ext cx="745110" cy="357431"/>
          </a:xfrm>
          <a:prstGeom prst="round2SameRect">
            <a:avLst/>
          </a:prstGeom>
          <a:solidFill>
            <a:srgbClr val="FFD85D">
              <a:alpha val="52941"/>
            </a:srgbClr>
          </a:solidFill>
          <a:ln w="9525" cap="flat" cmpd="sng">
            <a:solidFill>
              <a:srgbClr val="F2B8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37" name="Oval 1468"/>
          <p:cNvSpPr>
            <a:spLocks noChangeArrowheads="1"/>
          </p:cNvSpPr>
          <p:nvPr/>
        </p:nvSpPr>
        <p:spPr bwMode="auto">
          <a:xfrm>
            <a:off x="8278856" y="4426435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38" name="Oval 1468"/>
          <p:cNvSpPr>
            <a:spLocks noChangeArrowheads="1"/>
          </p:cNvSpPr>
          <p:nvPr/>
        </p:nvSpPr>
        <p:spPr bwMode="auto">
          <a:xfrm>
            <a:off x="7539593" y="4426435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39" name="Text Box 3518"/>
          <p:cNvSpPr txBox="1">
            <a:spLocks noChangeArrowheads="1"/>
          </p:cNvSpPr>
          <p:nvPr/>
        </p:nvSpPr>
        <p:spPr bwMode="auto">
          <a:xfrm>
            <a:off x="7648557" y="4107419"/>
            <a:ext cx="583814" cy="33855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모의 수행</a:t>
            </a:r>
            <a:r>
              <a:rPr kumimoji="0" lang="en-US" altLang="ko-KR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/>
            </a:r>
            <a:br>
              <a:rPr kumimoji="0" lang="en-US" altLang="ko-KR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kumimoji="0" lang="ko-KR" altLang="en-US" sz="800" b="0" i="0" u="none" strike="noStrike" kern="0" cap="none" spc="0" normalizeH="0" baseline="0" noProof="0" dirty="0" err="1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전계</a:t>
            </a: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 계획</a:t>
            </a:r>
          </a:p>
        </p:txBody>
      </p:sp>
      <p:grpSp>
        <p:nvGrpSpPr>
          <p:cNvPr id="143" name="그룹 142"/>
          <p:cNvGrpSpPr/>
          <p:nvPr/>
        </p:nvGrpSpPr>
        <p:grpSpPr>
          <a:xfrm>
            <a:off x="7921808" y="3882946"/>
            <a:ext cx="1164458" cy="329750"/>
            <a:chOff x="7002330" y="4405435"/>
            <a:chExt cx="1216821" cy="344577"/>
          </a:xfrm>
        </p:grpSpPr>
        <p:pic>
          <p:nvPicPr>
            <p:cNvPr id="144" name="그림 143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7342061" y="4566427"/>
              <a:ext cx="188200" cy="183585"/>
            </a:xfrm>
            <a:prstGeom prst="rect">
              <a:avLst/>
            </a:prstGeom>
          </p:spPr>
        </p:pic>
        <p:sp>
          <p:nvSpPr>
            <p:cNvPr id="145" name="Text Box 3518"/>
            <p:cNvSpPr txBox="1">
              <a:spLocks noChangeArrowheads="1"/>
            </p:cNvSpPr>
            <p:nvPr/>
          </p:nvSpPr>
          <p:spPr bwMode="auto">
            <a:xfrm>
              <a:off x="7002330" y="4405435"/>
              <a:ext cx="1216821" cy="20351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extLst/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lvl="0" algn="ctr">
                <a:defRPr sz="800">
                  <a:gradFill>
                    <a:gsLst>
                      <a:gs pos="61250">
                        <a:prstClr val="black">
                          <a:lumMod val="75000"/>
                          <a:lumOff val="25000"/>
                        </a:prstClr>
                      </a:gs>
                      <a:gs pos="53333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defRPr>
              </a:lvl1pPr>
            </a:lstStyle>
            <a:p>
              <a:r>
                <a:rPr lang="ko-KR" altLang="en-US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Rix고딕 EB"/>
                  <a:ea typeface="Rix고딕 EB"/>
                </a:rPr>
                <a:t>데이터전환 </a:t>
              </a:r>
              <a:r>
                <a: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Rix고딕 EB"/>
                  <a:ea typeface="Rix고딕 EB"/>
                </a:rPr>
                <a:t>1</a:t>
              </a:r>
              <a:r>
                <a:rPr lang="ko-KR" altLang="en-US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Rix고딕 EB"/>
                  <a:ea typeface="Rix고딕 EB"/>
                </a:rPr>
                <a:t>차</a:t>
              </a:r>
              <a:r>
                <a:rPr lang="en-US" altLang="ko-KR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Rix고딕 EB"/>
                  <a:ea typeface="Rix고딕 EB"/>
                </a:rPr>
                <a:t>/2</a:t>
              </a:r>
              <a:r>
                <a:rPr lang="ko-KR" altLang="en-US" sz="9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Rix고딕 EB"/>
                  <a:ea typeface="Rix고딕 EB"/>
                </a:rPr>
                <a:t>차</a:t>
              </a:r>
            </a:p>
          </p:txBody>
        </p:sp>
      </p:grpSp>
      <p:pic>
        <p:nvPicPr>
          <p:cNvPr id="146" name="Picture 4154" descr="그림2"/>
          <p:cNvPicPr>
            <a:picLocks noChangeAspect="1" noChangeArrowheads="1"/>
          </p:cNvPicPr>
          <p:nvPr/>
        </p:nvPicPr>
        <p:blipFill>
          <a:blip r:embed="rId8" cstate="print">
            <a:lum bright="6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364" y="6179873"/>
            <a:ext cx="170752" cy="169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7" name="Text Box 3518"/>
          <p:cNvSpPr txBox="1">
            <a:spLocks noChangeArrowheads="1"/>
          </p:cNvSpPr>
          <p:nvPr/>
        </p:nvSpPr>
        <p:spPr bwMode="auto">
          <a:xfrm>
            <a:off x="7994145" y="6297884"/>
            <a:ext cx="721190" cy="1619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extLst/>
        </p:spPr>
        <p:txBody>
          <a:bodyPr wrap="none" tIns="0" bIns="0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r>
              <a:rPr lang="ko-KR" altLang="en-US" sz="9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EB"/>
                <a:ea typeface="Rix고딕 EB"/>
              </a:rPr>
              <a:t>시스템 오픈</a:t>
            </a:r>
          </a:p>
        </p:txBody>
      </p:sp>
      <p:sp>
        <p:nvSpPr>
          <p:cNvPr id="148" name="AutoShape 3990"/>
          <p:cNvSpPr>
            <a:spLocks noChangeArrowheads="1"/>
          </p:cNvSpPr>
          <p:nvPr/>
        </p:nvSpPr>
        <p:spPr bwMode="auto">
          <a:xfrm rot="10800000" flipV="1">
            <a:off x="7577327" y="5738376"/>
            <a:ext cx="794096" cy="289785"/>
          </a:xfrm>
          <a:prstGeom prst="round2SameRect">
            <a:avLst/>
          </a:prstGeom>
          <a:solidFill>
            <a:srgbClr val="E3F8C8">
              <a:alpha val="53725"/>
            </a:srgbClr>
          </a:solidFill>
          <a:ln w="9525" cap="flat" cmpd="sng">
            <a:solidFill>
              <a:srgbClr val="7CA52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49" name="AutoShape 3990"/>
          <p:cNvSpPr>
            <a:spLocks noChangeArrowheads="1"/>
          </p:cNvSpPr>
          <p:nvPr/>
        </p:nvSpPr>
        <p:spPr bwMode="auto">
          <a:xfrm rot="10800000" flipV="1">
            <a:off x="8371423" y="5821456"/>
            <a:ext cx="1583110" cy="206705"/>
          </a:xfrm>
          <a:prstGeom prst="round2SameRect">
            <a:avLst/>
          </a:prstGeom>
          <a:solidFill>
            <a:srgbClr val="E3F8C8">
              <a:alpha val="53725"/>
            </a:srgbClr>
          </a:solidFill>
          <a:ln w="9525" cap="flat" cmpd="sng">
            <a:solidFill>
              <a:srgbClr val="7CA52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50" name="AutoShape 3990"/>
          <p:cNvSpPr>
            <a:spLocks noChangeArrowheads="1"/>
          </p:cNvSpPr>
          <p:nvPr/>
        </p:nvSpPr>
        <p:spPr bwMode="auto">
          <a:xfrm rot="10800000">
            <a:off x="3576182" y="6059193"/>
            <a:ext cx="3213077" cy="229328"/>
          </a:xfrm>
          <a:prstGeom prst="round2SameRect">
            <a:avLst/>
          </a:prstGeom>
          <a:solidFill>
            <a:srgbClr val="E3F8C8">
              <a:alpha val="53725"/>
            </a:srgbClr>
          </a:solidFill>
          <a:ln w="9525" cap="flat" cmpd="sng">
            <a:solidFill>
              <a:srgbClr val="7CA52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51" name="AutoShape 3990"/>
          <p:cNvSpPr>
            <a:spLocks noChangeArrowheads="1"/>
          </p:cNvSpPr>
          <p:nvPr/>
        </p:nvSpPr>
        <p:spPr bwMode="auto">
          <a:xfrm rot="10800000" flipV="1">
            <a:off x="1998667" y="5852489"/>
            <a:ext cx="1052116" cy="206705"/>
          </a:xfrm>
          <a:prstGeom prst="round2SameRect">
            <a:avLst/>
          </a:prstGeom>
          <a:solidFill>
            <a:srgbClr val="E3F8C8">
              <a:alpha val="53725"/>
            </a:srgbClr>
          </a:solidFill>
          <a:ln w="9525" cap="flat" cmpd="sng">
            <a:solidFill>
              <a:srgbClr val="7CA52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52" name="AutoShape 3990"/>
          <p:cNvSpPr>
            <a:spLocks noChangeArrowheads="1"/>
          </p:cNvSpPr>
          <p:nvPr/>
        </p:nvSpPr>
        <p:spPr bwMode="auto">
          <a:xfrm rot="10800000" flipV="1">
            <a:off x="2970369" y="5772846"/>
            <a:ext cx="786619" cy="286349"/>
          </a:xfrm>
          <a:prstGeom prst="round2SameRect">
            <a:avLst/>
          </a:prstGeom>
          <a:solidFill>
            <a:srgbClr val="E3F8C8">
              <a:alpha val="53725"/>
            </a:srgbClr>
          </a:solidFill>
          <a:ln w="9525" cap="flat" cmpd="sng">
            <a:solidFill>
              <a:srgbClr val="7CA52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53" name="AutoShape 3990"/>
          <p:cNvSpPr>
            <a:spLocks noChangeArrowheads="1"/>
          </p:cNvSpPr>
          <p:nvPr/>
        </p:nvSpPr>
        <p:spPr bwMode="auto">
          <a:xfrm rot="10800000" flipV="1">
            <a:off x="6770840" y="5852488"/>
            <a:ext cx="793251" cy="206705"/>
          </a:xfrm>
          <a:prstGeom prst="round2SameRect">
            <a:avLst/>
          </a:prstGeom>
          <a:solidFill>
            <a:srgbClr val="E3F8C8">
              <a:alpha val="53725"/>
            </a:srgbClr>
          </a:solidFill>
          <a:ln w="9525" cap="flat" cmpd="sng">
            <a:solidFill>
              <a:srgbClr val="7CA52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1981694" y="6028161"/>
            <a:ext cx="7928266" cy="75516"/>
          </a:xfrm>
          <a:prstGeom prst="rect">
            <a:avLst/>
          </a:prstGeom>
          <a:solidFill>
            <a:srgbClr val="7CA52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 latinLnBrk="0"/>
            <a:endParaRPr lang="ko-KR" altLang="en-US" sz="1400" kern="0" dirty="0">
              <a:solidFill>
                <a:prstClr val="white"/>
              </a:solidFill>
            </a:endParaRPr>
          </a:p>
        </p:txBody>
      </p:sp>
      <p:cxnSp>
        <p:nvCxnSpPr>
          <p:cNvPr id="155" name="직선 연결선 154"/>
          <p:cNvCxnSpPr/>
          <p:nvPr/>
        </p:nvCxnSpPr>
        <p:spPr>
          <a:xfrm>
            <a:off x="1968137" y="6062537"/>
            <a:ext cx="7928266" cy="0"/>
          </a:xfrm>
          <a:prstGeom prst="line">
            <a:avLst/>
          </a:prstGeom>
          <a:noFill/>
          <a:ln w="19050" cap="rnd">
            <a:solidFill>
              <a:schemeClr val="accent5">
                <a:lumMod val="60000"/>
                <a:lumOff val="4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6" name="Text Box 3518"/>
          <p:cNvSpPr txBox="1">
            <a:spLocks noChangeArrowheads="1"/>
          </p:cNvSpPr>
          <p:nvPr/>
        </p:nvSpPr>
        <p:spPr bwMode="auto">
          <a:xfrm>
            <a:off x="2315234" y="5844060"/>
            <a:ext cx="340084" cy="21513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분석</a:t>
            </a:r>
          </a:p>
        </p:txBody>
      </p:sp>
      <p:sp>
        <p:nvSpPr>
          <p:cNvPr id="157" name="Text Box 3518"/>
          <p:cNvSpPr txBox="1">
            <a:spLocks noChangeArrowheads="1"/>
          </p:cNvSpPr>
          <p:nvPr/>
        </p:nvSpPr>
        <p:spPr bwMode="auto">
          <a:xfrm>
            <a:off x="8972149" y="5808453"/>
            <a:ext cx="425399" cy="21513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안정화</a:t>
            </a:r>
          </a:p>
        </p:txBody>
      </p:sp>
      <p:sp>
        <p:nvSpPr>
          <p:cNvPr id="158" name="Text Box 3518"/>
          <p:cNvSpPr txBox="1">
            <a:spLocks noChangeArrowheads="1"/>
          </p:cNvSpPr>
          <p:nvPr/>
        </p:nvSpPr>
        <p:spPr bwMode="auto">
          <a:xfrm>
            <a:off x="3214992" y="5808453"/>
            <a:ext cx="340084" cy="21513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설계</a:t>
            </a:r>
          </a:p>
        </p:txBody>
      </p:sp>
      <p:sp>
        <p:nvSpPr>
          <p:cNvPr id="159" name="Text Box 3518"/>
          <p:cNvSpPr txBox="1">
            <a:spLocks noChangeArrowheads="1"/>
          </p:cNvSpPr>
          <p:nvPr/>
        </p:nvSpPr>
        <p:spPr bwMode="auto">
          <a:xfrm>
            <a:off x="4693457" y="6102406"/>
            <a:ext cx="941283" cy="215444"/>
          </a:xfrm>
          <a:prstGeom prst="rect">
            <a:avLst/>
          </a:prstGeom>
          <a:ln>
            <a:noFill/>
          </a:ln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구현 </a:t>
            </a:r>
            <a:r>
              <a:rPr kumimoji="0" lang="en-US" altLang="ko-KR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/ </a:t>
            </a: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단위테스트</a:t>
            </a:r>
          </a:p>
        </p:txBody>
      </p:sp>
      <p:sp>
        <p:nvSpPr>
          <p:cNvPr id="160" name="Text Box 3518"/>
          <p:cNvSpPr txBox="1">
            <a:spLocks noChangeArrowheads="1"/>
          </p:cNvSpPr>
          <p:nvPr/>
        </p:nvSpPr>
        <p:spPr bwMode="auto">
          <a:xfrm>
            <a:off x="6846730" y="5838681"/>
            <a:ext cx="676787" cy="21544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통합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> </a:t>
            </a: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테스트</a:t>
            </a:r>
          </a:p>
        </p:txBody>
      </p:sp>
      <p:sp>
        <p:nvSpPr>
          <p:cNvPr id="161" name="Oval 1468"/>
          <p:cNvSpPr>
            <a:spLocks noChangeArrowheads="1"/>
          </p:cNvSpPr>
          <p:nvPr/>
        </p:nvSpPr>
        <p:spPr bwMode="auto">
          <a:xfrm>
            <a:off x="1959143" y="6020696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7CA5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62" name="텍스트 개체 틀 2"/>
          <p:cNvSpPr txBox="1">
            <a:spLocks/>
          </p:cNvSpPr>
          <p:nvPr/>
        </p:nvSpPr>
        <p:spPr>
          <a:xfrm>
            <a:off x="880820" y="1415342"/>
            <a:ext cx="90730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defRPr sz="14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defRPr>
            </a:lvl1pPr>
          </a:lstStyle>
          <a:p>
            <a:pPr lvl="0" algn="l"/>
            <a:r>
              <a:rPr lang="ko-KR" altLang="en-US" sz="1300" dirty="0"/>
              <a:t>본 사업의 사업기간은 </a:t>
            </a:r>
            <a:r>
              <a:rPr lang="ko-KR" altLang="en-US" sz="1300" dirty="0">
                <a:solidFill>
                  <a:srgbClr val="FF0000"/>
                </a:solidFill>
              </a:rPr>
              <a:t>총 </a:t>
            </a:r>
            <a:r>
              <a:rPr lang="en-US" altLang="ko-KR" sz="1300" dirty="0">
                <a:solidFill>
                  <a:srgbClr val="FF0000"/>
                </a:solidFill>
              </a:rPr>
              <a:t>10</a:t>
            </a:r>
            <a:r>
              <a:rPr lang="ko-KR" altLang="en-US" sz="1300" dirty="0">
                <a:solidFill>
                  <a:srgbClr val="FF0000"/>
                </a:solidFill>
              </a:rPr>
              <a:t>개월</a:t>
            </a:r>
            <a:r>
              <a:rPr lang="ko-KR" altLang="en-US" sz="1300" dirty="0"/>
              <a:t>이며 </a:t>
            </a:r>
            <a:r>
              <a:rPr lang="en-US" altLang="ko-KR" sz="1300" dirty="0">
                <a:solidFill>
                  <a:srgbClr val="FF0000"/>
                </a:solidFill>
              </a:rPr>
              <a:t>2</a:t>
            </a:r>
            <a:r>
              <a:rPr lang="ko-KR" altLang="en-US" sz="1300" dirty="0">
                <a:solidFill>
                  <a:srgbClr val="FF0000"/>
                </a:solidFill>
              </a:rPr>
              <a:t>개월의 안정화</a:t>
            </a:r>
            <a:r>
              <a:rPr lang="ko-KR" altLang="en-US" sz="1300" dirty="0"/>
              <a:t> 기간을 통해 구축된 시스템이 안정적으로 안착될 수 있도록 진행하겠습니다</a:t>
            </a:r>
            <a:r>
              <a:rPr lang="en-US" altLang="ko-KR" sz="1300" dirty="0"/>
              <a:t>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43150" y="6949071"/>
            <a:ext cx="36256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262626"/>
                </a:solidFill>
              </a:rPr>
              <a:t>※ </a:t>
            </a:r>
            <a:r>
              <a:rPr lang="ko-KR" altLang="en-US" sz="800" dirty="0">
                <a:solidFill>
                  <a:srgbClr val="262626"/>
                </a:solidFill>
              </a:rPr>
              <a:t>일정은 고객과의 협의를 통해 변경될 수 있습니다</a:t>
            </a:r>
            <a:r>
              <a:rPr lang="en-US" altLang="ko-KR" sz="800" dirty="0">
                <a:solidFill>
                  <a:srgbClr val="262626"/>
                </a:solidFill>
              </a:rPr>
              <a:t>.</a:t>
            </a:r>
            <a:endParaRPr lang="ko-KR" altLang="en-US" sz="800" dirty="0">
              <a:solidFill>
                <a:srgbClr val="262626"/>
              </a:solidFill>
            </a:endParaRPr>
          </a:p>
        </p:txBody>
      </p:sp>
      <p:sp>
        <p:nvSpPr>
          <p:cNvPr id="164" name="AutoShape 3990"/>
          <p:cNvSpPr>
            <a:spLocks noChangeArrowheads="1"/>
          </p:cNvSpPr>
          <p:nvPr/>
        </p:nvSpPr>
        <p:spPr bwMode="auto">
          <a:xfrm rot="10800000" flipV="1">
            <a:off x="2008353" y="3770028"/>
            <a:ext cx="792000" cy="206705"/>
          </a:xfrm>
          <a:prstGeom prst="round2SameRect">
            <a:avLst/>
          </a:prstGeom>
          <a:solidFill>
            <a:srgbClr val="FFE89F">
              <a:alpha val="53725"/>
            </a:srgbClr>
          </a:solidFill>
          <a:ln w="9525" cap="flat" cmpd="sng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2038349" y="3942722"/>
            <a:ext cx="4748551" cy="80947"/>
          </a:xfrm>
          <a:prstGeom prst="rect">
            <a:avLst/>
          </a:prstGeom>
          <a:solidFill>
            <a:srgbClr val="F2B800">
              <a:alpha val="91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cxnSp>
        <p:nvCxnSpPr>
          <p:cNvPr id="166" name="직선 연결선 165"/>
          <p:cNvCxnSpPr/>
          <p:nvPr/>
        </p:nvCxnSpPr>
        <p:spPr>
          <a:xfrm>
            <a:off x="2008361" y="3983828"/>
            <a:ext cx="4752000" cy="0"/>
          </a:xfrm>
          <a:prstGeom prst="line">
            <a:avLst/>
          </a:prstGeom>
          <a:noFill/>
          <a:ln w="19050" cap="rnd">
            <a:solidFill>
              <a:srgbClr val="FFE89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7" name="Oval 1468"/>
          <p:cNvSpPr>
            <a:spLocks noChangeArrowheads="1"/>
          </p:cNvSpPr>
          <p:nvPr/>
        </p:nvSpPr>
        <p:spPr bwMode="auto">
          <a:xfrm>
            <a:off x="1962230" y="3941814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68" name="Oval 1468"/>
          <p:cNvSpPr>
            <a:spLocks noChangeArrowheads="1"/>
          </p:cNvSpPr>
          <p:nvPr/>
        </p:nvSpPr>
        <p:spPr bwMode="auto">
          <a:xfrm>
            <a:off x="3232532" y="3941815"/>
            <a:ext cx="78403" cy="77094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21" name="Oval 1468"/>
          <p:cNvSpPr>
            <a:spLocks noChangeArrowheads="1"/>
          </p:cNvSpPr>
          <p:nvPr/>
        </p:nvSpPr>
        <p:spPr bwMode="auto">
          <a:xfrm>
            <a:off x="6696172" y="3941814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23" name="Text Box 3518"/>
          <p:cNvSpPr txBox="1">
            <a:spLocks noChangeArrowheads="1"/>
          </p:cNvSpPr>
          <p:nvPr/>
        </p:nvSpPr>
        <p:spPr bwMode="auto">
          <a:xfrm>
            <a:off x="2881193" y="3741095"/>
            <a:ext cx="370614" cy="21544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>설계</a:t>
            </a:r>
            <a:endParaRPr kumimoji="0" lang="ko-KR" altLang="en-US" sz="800" b="0" i="0" u="none" strike="noStrike" kern="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61250">
                    <a:prstClr val="black">
                      <a:lumMod val="75000"/>
                      <a:lumOff val="25000"/>
                    </a:prstClr>
                  </a:gs>
                  <a:gs pos="53333">
                    <a:prstClr val="black">
                      <a:lumMod val="75000"/>
                      <a:lumOff val="25000"/>
                    </a:prstClr>
                  </a:gs>
                </a:gsLst>
                <a:lin ang="16200000" scaled="1"/>
              </a:gradFill>
              <a:effectLst/>
              <a:uLnTx/>
              <a:uFillTx/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224" name="Text Box 3518"/>
          <p:cNvSpPr txBox="1">
            <a:spLocks noChangeArrowheads="1"/>
          </p:cNvSpPr>
          <p:nvPr/>
        </p:nvSpPr>
        <p:spPr bwMode="auto">
          <a:xfrm>
            <a:off x="2229776" y="3761230"/>
            <a:ext cx="354666" cy="206173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분석</a:t>
            </a:r>
          </a:p>
        </p:txBody>
      </p:sp>
      <p:sp>
        <p:nvSpPr>
          <p:cNvPr id="225" name="Oval 1468"/>
          <p:cNvSpPr>
            <a:spLocks noChangeArrowheads="1"/>
          </p:cNvSpPr>
          <p:nvPr/>
        </p:nvSpPr>
        <p:spPr bwMode="auto">
          <a:xfrm>
            <a:off x="2780218" y="3941814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28" name="Text Box 3518"/>
          <p:cNvSpPr txBox="1">
            <a:spLocks noChangeArrowheads="1"/>
          </p:cNvSpPr>
          <p:nvPr/>
        </p:nvSpPr>
        <p:spPr bwMode="auto">
          <a:xfrm>
            <a:off x="6812376" y="4163754"/>
            <a:ext cx="676788" cy="21544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통합 테스트</a:t>
            </a:r>
          </a:p>
        </p:txBody>
      </p:sp>
      <p:sp>
        <p:nvSpPr>
          <p:cNvPr id="229" name="AutoShape 3990"/>
          <p:cNvSpPr>
            <a:spLocks noChangeArrowheads="1"/>
          </p:cNvSpPr>
          <p:nvPr/>
        </p:nvSpPr>
        <p:spPr bwMode="auto">
          <a:xfrm rot="10800000" flipV="1">
            <a:off x="2788845" y="4764585"/>
            <a:ext cx="286452" cy="206705"/>
          </a:xfrm>
          <a:prstGeom prst="round2SameRect">
            <a:avLst/>
          </a:prstGeom>
          <a:solidFill>
            <a:srgbClr val="FFE89F">
              <a:alpha val="53725"/>
            </a:srgbClr>
          </a:solidFill>
          <a:ln w="9525" cap="flat" cmpd="sng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30" name="AutoShape 3990"/>
          <p:cNvSpPr>
            <a:spLocks noChangeArrowheads="1"/>
          </p:cNvSpPr>
          <p:nvPr/>
        </p:nvSpPr>
        <p:spPr bwMode="auto">
          <a:xfrm rot="10800000" flipV="1">
            <a:off x="3077682" y="4640563"/>
            <a:ext cx="505327" cy="330728"/>
          </a:xfrm>
          <a:prstGeom prst="round2SameRect">
            <a:avLst/>
          </a:prstGeom>
          <a:solidFill>
            <a:srgbClr val="FFE89F">
              <a:alpha val="53725"/>
            </a:srgbClr>
          </a:solidFill>
          <a:ln w="9525" cap="flat" cmpd="sng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31" name="AutoShape 3990"/>
          <p:cNvSpPr>
            <a:spLocks noChangeArrowheads="1"/>
          </p:cNvSpPr>
          <p:nvPr/>
        </p:nvSpPr>
        <p:spPr bwMode="auto">
          <a:xfrm rot="10800000" flipV="1">
            <a:off x="3595661" y="4764585"/>
            <a:ext cx="3167239" cy="206705"/>
          </a:xfrm>
          <a:prstGeom prst="round2SameRect">
            <a:avLst/>
          </a:prstGeom>
          <a:solidFill>
            <a:srgbClr val="FFE89F">
              <a:alpha val="53725"/>
            </a:srgbClr>
          </a:solidFill>
          <a:ln w="9525" cap="flat" cmpd="sng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32" name="Text Box 3518"/>
          <p:cNvSpPr txBox="1">
            <a:spLocks noChangeArrowheads="1"/>
          </p:cNvSpPr>
          <p:nvPr/>
        </p:nvSpPr>
        <p:spPr bwMode="auto">
          <a:xfrm>
            <a:off x="2751098" y="4760006"/>
            <a:ext cx="354666" cy="206173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분석</a:t>
            </a:r>
          </a:p>
        </p:txBody>
      </p:sp>
      <p:sp>
        <p:nvSpPr>
          <p:cNvPr id="233" name="Text Box 3518"/>
          <p:cNvSpPr txBox="1">
            <a:spLocks noChangeArrowheads="1"/>
          </p:cNvSpPr>
          <p:nvPr/>
        </p:nvSpPr>
        <p:spPr bwMode="auto">
          <a:xfrm>
            <a:off x="4843138" y="4737701"/>
            <a:ext cx="370614" cy="21544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개발</a:t>
            </a:r>
          </a:p>
        </p:txBody>
      </p:sp>
      <p:sp>
        <p:nvSpPr>
          <p:cNvPr id="234" name="Text Box 3518"/>
          <p:cNvSpPr txBox="1">
            <a:spLocks noChangeArrowheads="1"/>
          </p:cNvSpPr>
          <p:nvPr/>
        </p:nvSpPr>
        <p:spPr bwMode="auto">
          <a:xfrm>
            <a:off x="3184288" y="4697391"/>
            <a:ext cx="354666" cy="206173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설계</a:t>
            </a:r>
          </a:p>
        </p:txBody>
      </p:sp>
      <p:sp>
        <p:nvSpPr>
          <p:cNvPr id="235" name="AutoShape 3990"/>
          <p:cNvSpPr>
            <a:spLocks noChangeArrowheads="1"/>
          </p:cNvSpPr>
          <p:nvPr/>
        </p:nvSpPr>
        <p:spPr bwMode="auto">
          <a:xfrm rot="10800000" flipV="1">
            <a:off x="6772350" y="4764585"/>
            <a:ext cx="802010" cy="227178"/>
          </a:xfrm>
          <a:prstGeom prst="round2SameRect">
            <a:avLst/>
          </a:prstGeom>
          <a:solidFill>
            <a:srgbClr val="FFD85D">
              <a:alpha val="52941"/>
            </a:srgbClr>
          </a:solidFill>
          <a:ln w="9525" cap="flat" cmpd="sng">
            <a:solidFill>
              <a:srgbClr val="F2B8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43" name="Text Box 3518"/>
          <p:cNvSpPr txBox="1">
            <a:spLocks noChangeArrowheads="1"/>
          </p:cNvSpPr>
          <p:nvPr/>
        </p:nvSpPr>
        <p:spPr bwMode="auto">
          <a:xfrm>
            <a:off x="6867535" y="4760477"/>
            <a:ext cx="676788" cy="21544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>통합</a:t>
            </a: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 테스트</a:t>
            </a:r>
          </a:p>
        </p:txBody>
      </p:sp>
      <p:sp>
        <p:nvSpPr>
          <p:cNvPr id="244" name="Oval 1468"/>
          <p:cNvSpPr>
            <a:spLocks noChangeArrowheads="1"/>
          </p:cNvSpPr>
          <p:nvPr/>
        </p:nvSpPr>
        <p:spPr bwMode="auto">
          <a:xfrm>
            <a:off x="1959633" y="5406875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47" name="Oval 1468"/>
          <p:cNvSpPr>
            <a:spLocks noChangeArrowheads="1"/>
          </p:cNvSpPr>
          <p:nvPr/>
        </p:nvSpPr>
        <p:spPr bwMode="auto">
          <a:xfrm>
            <a:off x="3732663" y="5406875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48" name="Oval 1468"/>
          <p:cNvSpPr>
            <a:spLocks noChangeArrowheads="1"/>
          </p:cNvSpPr>
          <p:nvPr/>
        </p:nvSpPr>
        <p:spPr bwMode="auto">
          <a:xfrm>
            <a:off x="3002351" y="5406875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49" name="Oval 1468"/>
          <p:cNvSpPr>
            <a:spLocks noChangeArrowheads="1"/>
          </p:cNvSpPr>
          <p:nvPr/>
        </p:nvSpPr>
        <p:spPr bwMode="auto">
          <a:xfrm>
            <a:off x="3538092" y="5406875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50" name="Oval 1468"/>
          <p:cNvSpPr>
            <a:spLocks noChangeArrowheads="1"/>
          </p:cNvSpPr>
          <p:nvPr/>
        </p:nvSpPr>
        <p:spPr bwMode="auto">
          <a:xfrm>
            <a:off x="6738547" y="5406875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51" name="Oval 1468"/>
          <p:cNvSpPr>
            <a:spLocks noChangeArrowheads="1"/>
          </p:cNvSpPr>
          <p:nvPr/>
        </p:nvSpPr>
        <p:spPr bwMode="auto">
          <a:xfrm>
            <a:off x="7536695" y="5406875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52" name="Oval 1468"/>
          <p:cNvSpPr>
            <a:spLocks noChangeArrowheads="1"/>
          </p:cNvSpPr>
          <p:nvPr/>
        </p:nvSpPr>
        <p:spPr bwMode="auto">
          <a:xfrm>
            <a:off x="8346823" y="5406875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53" name="Oval 1468"/>
          <p:cNvSpPr>
            <a:spLocks noChangeArrowheads="1"/>
          </p:cNvSpPr>
          <p:nvPr/>
        </p:nvSpPr>
        <p:spPr bwMode="auto">
          <a:xfrm>
            <a:off x="9901336" y="5406875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54" name="Oval 1468"/>
          <p:cNvSpPr>
            <a:spLocks noChangeArrowheads="1"/>
          </p:cNvSpPr>
          <p:nvPr/>
        </p:nvSpPr>
        <p:spPr bwMode="auto">
          <a:xfrm>
            <a:off x="3726905" y="6020696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7CA5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55" name="Oval 1468"/>
          <p:cNvSpPr>
            <a:spLocks noChangeArrowheads="1"/>
          </p:cNvSpPr>
          <p:nvPr/>
        </p:nvSpPr>
        <p:spPr bwMode="auto">
          <a:xfrm>
            <a:off x="3017802" y="6020696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7CA5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56" name="Oval 1468"/>
          <p:cNvSpPr>
            <a:spLocks noChangeArrowheads="1"/>
          </p:cNvSpPr>
          <p:nvPr/>
        </p:nvSpPr>
        <p:spPr bwMode="auto">
          <a:xfrm>
            <a:off x="3541143" y="6020696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7CA5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57" name="Text Box 3518"/>
          <p:cNvSpPr txBox="1">
            <a:spLocks noChangeArrowheads="1"/>
          </p:cNvSpPr>
          <p:nvPr/>
        </p:nvSpPr>
        <p:spPr bwMode="auto">
          <a:xfrm>
            <a:off x="7626636" y="5740951"/>
            <a:ext cx="700833" cy="33855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사용자</a:t>
            </a:r>
            <a:r>
              <a:rPr kumimoji="0" lang="en-US" altLang="ko-KR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/</a:t>
            </a: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성능</a:t>
            </a:r>
            <a:endParaRPr kumimoji="0" lang="en-US" altLang="ko-KR" sz="800" b="0" i="0" u="none" strike="noStrike" kern="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61250">
                    <a:prstClr val="black">
                      <a:lumMod val="75000"/>
                      <a:lumOff val="25000"/>
                    </a:prstClr>
                  </a:gs>
                  <a:gs pos="53333">
                    <a:prstClr val="black">
                      <a:lumMod val="75000"/>
                      <a:lumOff val="25000"/>
                    </a:prstClr>
                  </a:gs>
                </a:gsLst>
                <a:lin ang="16200000" scaled="1"/>
              </a:gradFill>
              <a:effectLst/>
              <a:uLnTx/>
              <a:uFillTx/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테스트</a:t>
            </a:r>
          </a:p>
        </p:txBody>
      </p:sp>
      <p:sp>
        <p:nvSpPr>
          <p:cNvPr id="258" name="Oval 1468"/>
          <p:cNvSpPr>
            <a:spLocks noChangeArrowheads="1"/>
          </p:cNvSpPr>
          <p:nvPr/>
        </p:nvSpPr>
        <p:spPr bwMode="auto">
          <a:xfrm>
            <a:off x="6741560" y="6028547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7CA5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59" name="Oval 1468"/>
          <p:cNvSpPr>
            <a:spLocks noChangeArrowheads="1"/>
          </p:cNvSpPr>
          <p:nvPr/>
        </p:nvSpPr>
        <p:spPr bwMode="auto">
          <a:xfrm>
            <a:off x="7538331" y="6028547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7CA5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60" name="Oval 1468"/>
          <p:cNvSpPr>
            <a:spLocks noChangeArrowheads="1"/>
          </p:cNvSpPr>
          <p:nvPr/>
        </p:nvSpPr>
        <p:spPr bwMode="auto">
          <a:xfrm>
            <a:off x="8338941" y="6028547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7CA5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61" name="Oval 1468"/>
          <p:cNvSpPr>
            <a:spLocks noChangeArrowheads="1"/>
          </p:cNvSpPr>
          <p:nvPr/>
        </p:nvSpPr>
        <p:spPr bwMode="auto">
          <a:xfrm>
            <a:off x="9901288" y="6028547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7CA5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62" name="Oval 1468"/>
          <p:cNvSpPr>
            <a:spLocks noChangeArrowheads="1"/>
          </p:cNvSpPr>
          <p:nvPr/>
        </p:nvSpPr>
        <p:spPr bwMode="auto">
          <a:xfrm>
            <a:off x="5946662" y="6721009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69" name="Text Box 3518"/>
          <p:cNvSpPr txBox="1">
            <a:spLocks noChangeArrowheads="1"/>
          </p:cNvSpPr>
          <p:nvPr/>
        </p:nvSpPr>
        <p:spPr bwMode="auto">
          <a:xfrm>
            <a:off x="2387357" y="2764451"/>
            <a:ext cx="423514" cy="21544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5/23</a:t>
            </a:r>
          </a:p>
        </p:txBody>
      </p:sp>
      <p:sp>
        <p:nvSpPr>
          <p:cNvPr id="171" name="Text Box 3518"/>
          <p:cNvSpPr txBox="1">
            <a:spLocks noChangeArrowheads="1"/>
          </p:cNvSpPr>
          <p:nvPr/>
        </p:nvSpPr>
        <p:spPr bwMode="auto">
          <a:xfrm>
            <a:off x="4529318" y="2773077"/>
            <a:ext cx="360996" cy="21544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8/8</a:t>
            </a:r>
          </a:p>
        </p:txBody>
      </p:sp>
      <p:sp>
        <p:nvSpPr>
          <p:cNvPr id="172" name="Text Box 3518"/>
          <p:cNvSpPr txBox="1">
            <a:spLocks noChangeArrowheads="1"/>
          </p:cNvSpPr>
          <p:nvPr/>
        </p:nvSpPr>
        <p:spPr bwMode="auto">
          <a:xfrm>
            <a:off x="9535429" y="2689337"/>
            <a:ext cx="423514" cy="21544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2/14</a:t>
            </a:r>
          </a:p>
        </p:txBody>
      </p:sp>
      <p:sp>
        <p:nvSpPr>
          <p:cNvPr id="3" name="이등변 삼각형 2"/>
          <p:cNvSpPr/>
          <p:nvPr/>
        </p:nvSpPr>
        <p:spPr>
          <a:xfrm>
            <a:off x="7579010" y="2556461"/>
            <a:ext cx="190610" cy="133126"/>
          </a:xfrm>
          <a:prstGeom prst="triangle">
            <a:avLst/>
          </a:prstGeom>
          <a:solidFill>
            <a:srgbClr val="DE24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이등변 삼각형 172"/>
          <p:cNvSpPr/>
          <p:nvPr/>
        </p:nvSpPr>
        <p:spPr>
          <a:xfrm>
            <a:off x="8083080" y="2783385"/>
            <a:ext cx="190610" cy="133126"/>
          </a:xfrm>
          <a:prstGeom prst="triangle">
            <a:avLst/>
          </a:prstGeom>
          <a:solidFill>
            <a:srgbClr val="DE24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Text Box 3518"/>
          <p:cNvSpPr txBox="1">
            <a:spLocks noChangeArrowheads="1"/>
          </p:cNvSpPr>
          <p:nvPr/>
        </p:nvSpPr>
        <p:spPr bwMode="auto">
          <a:xfrm>
            <a:off x="6977408" y="2522543"/>
            <a:ext cx="649538" cy="21544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사용자교육</a:t>
            </a:r>
            <a:endParaRPr kumimoji="0" lang="en-US" altLang="ko-KR" sz="800" b="0" i="0" u="none" strike="noStrike" kern="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61250">
                    <a:prstClr val="black">
                      <a:lumMod val="75000"/>
                      <a:lumOff val="25000"/>
                    </a:prstClr>
                  </a:gs>
                  <a:gs pos="53333">
                    <a:prstClr val="black">
                      <a:lumMod val="75000"/>
                      <a:lumOff val="25000"/>
                    </a:prstClr>
                  </a:gs>
                </a:gsLst>
                <a:lin ang="16200000" scaled="1"/>
              </a:gradFill>
              <a:effectLst/>
              <a:uLnTx/>
              <a:uFillTx/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75" name="Text Box 3518"/>
          <p:cNvSpPr txBox="1">
            <a:spLocks noChangeArrowheads="1"/>
          </p:cNvSpPr>
          <p:nvPr/>
        </p:nvSpPr>
        <p:spPr bwMode="auto">
          <a:xfrm>
            <a:off x="7531431" y="2743611"/>
            <a:ext cx="649537" cy="21544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>운영자</a:t>
            </a:r>
            <a:r>
              <a:rPr kumimoji="0" lang="ko-KR" altLang="en-US" sz="8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교육</a:t>
            </a:r>
            <a:endParaRPr kumimoji="0" lang="en-US" altLang="ko-KR" sz="800" b="0" i="0" u="none" strike="noStrike" kern="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61250">
                    <a:prstClr val="black">
                      <a:lumMod val="75000"/>
                      <a:lumOff val="25000"/>
                    </a:prstClr>
                  </a:gs>
                  <a:gs pos="53333">
                    <a:prstClr val="black">
                      <a:lumMod val="75000"/>
                      <a:lumOff val="25000"/>
                    </a:prstClr>
                  </a:gs>
                </a:gsLst>
                <a:lin ang="16200000" scaled="1"/>
              </a:gradFill>
              <a:effectLst/>
              <a:uLnTx/>
              <a:uFillTx/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78" name="AutoShape 3990"/>
          <p:cNvSpPr>
            <a:spLocks noChangeArrowheads="1"/>
          </p:cNvSpPr>
          <p:nvPr/>
        </p:nvSpPr>
        <p:spPr bwMode="auto">
          <a:xfrm rot="10800000" flipV="1">
            <a:off x="7579010" y="4640563"/>
            <a:ext cx="802010" cy="363758"/>
          </a:xfrm>
          <a:prstGeom prst="round2SameRect">
            <a:avLst/>
          </a:prstGeom>
          <a:solidFill>
            <a:srgbClr val="FFD85D">
              <a:alpha val="52941"/>
            </a:srgbClr>
          </a:solidFill>
          <a:ln w="9525" cap="flat" cmpd="sng">
            <a:solidFill>
              <a:srgbClr val="F2B8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79" name="Text Box 3518"/>
          <p:cNvSpPr txBox="1">
            <a:spLocks noChangeArrowheads="1"/>
          </p:cNvSpPr>
          <p:nvPr/>
        </p:nvSpPr>
        <p:spPr bwMode="auto">
          <a:xfrm>
            <a:off x="7627551" y="4655206"/>
            <a:ext cx="700834" cy="33855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lvl="0" defTabSz="914400" latinLnBrk="0">
              <a:defRPr/>
            </a:pP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>사용자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>/</a:t>
            </a: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>성능</a:t>
            </a: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</a:endParaRPr>
          </a:p>
          <a:p>
            <a:pPr lvl="0" defTabSz="914400" latinLnBrk="0">
              <a:defRPr/>
            </a:pP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>테스트</a:t>
            </a:r>
          </a:p>
        </p:txBody>
      </p:sp>
      <p:sp>
        <p:nvSpPr>
          <p:cNvPr id="180" name="Text Box 3518"/>
          <p:cNvSpPr txBox="1">
            <a:spLocks noChangeArrowheads="1"/>
          </p:cNvSpPr>
          <p:nvPr/>
        </p:nvSpPr>
        <p:spPr bwMode="auto">
          <a:xfrm>
            <a:off x="8650149" y="6270727"/>
            <a:ext cx="524504" cy="230832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12/30</a:t>
            </a:r>
          </a:p>
        </p:txBody>
      </p:sp>
      <p:sp>
        <p:nvSpPr>
          <p:cNvPr id="184" name="Oval 1468"/>
          <p:cNvSpPr>
            <a:spLocks noChangeArrowheads="1"/>
          </p:cNvSpPr>
          <p:nvPr/>
        </p:nvSpPr>
        <p:spPr bwMode="auto">
          <a:xfrm>
            <a:off x="2940553" y="5409992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85" name="Oval 1468"/>
          <p:cNvSpPr>
            <a:spLocks noChangeArrowheads="1"/>
          </p:cNvSpPr>
          <p:nvPr/>
        </p:nvSpPr>
        <p:spPr bwMode="auto">
          <a:xfrm>
            <a:off x="2928177" y="6022880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7CA5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86" name="AutoShape 3990"/>
          <p:cNvSpPr>
            <a:spLocks noChangeArrowheads="1"/>
          </p:cNvSpPr>
          <p:nvPr/>
        </p:nvSpPr>
        <p:spPr bwMode="auto">
          <a:xfrm rot="10800000" flipV="1">
            <a:off x="6307631" y="3072907"/>
            <a:ext cx="477246" cy="395833"/>
          </a:xfrm>
          <a:prstGeom prst="round2SameRect">
            <a:avLst/>
          </a:prstGeom>
          <a:solidFill>
            <a:srgbClr val="1F94A6">
              <a:lumMod val="20000"/>
              <a:lumOff val="80000"/>
              <a:alpha val="54117"/>
            </a:srgbClr>
          </a:solidFill>
          <a:ln w="9525" cap="flat" cmpd="sng">
            <a:solidFill>
              <a:srgbClr val="0E69A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87" name="Text Box 3518"/>
          <p:cNvSpPr txBox="1">
            <a:spLocks noChangeArrowheads="1"/>
          </p:cNvSpPr>
          <p:nvPr/>
        </p:nvSpPr>
        <p:spPr bwMode="auto">
          <a:xfrm>
            <a:off x="6272530" y="3101547"/>
            <a:ext cx="556563" cy="338554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>
            <a:defPPr>
              <a:defRPr lang="ko-KR"/>
            </a:defPPr>
            <a:lvl1pPr lvl="0" algn="ctr">
              <a:defRPr sz="800">
                <a:gradFill>
                  <a:gsLst>
                    <a:gs pos="61250">
                      <a:prstClr val="black">
                        <a:lumMod val="75000"/>
                        <a:lumOff val="25000"/>
                      </a:prstClr>
                    </a:gs>
                    <a:gs pos="53333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>운영환경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/>
            </a:r>
            <a:b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</a:b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</a:rPr>
              <a:t>구성</a:t>
            </a:r>
            <a:endParaRPr kumimoji="0" lang="en-US" altLang="ko-KR" sz="800" b="0" i="0" u="none" strike="noStrike" kern="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gradFill>
                <a:gsLst>
                  <a:gs pos="61250">
                    <a:prstClr val="black">
                      <a:lumMod val="75000"/>
                      <a:lumOff val="25000"/>
                    </a:prstClr>
                  </a:gs>
                  <a:gs pos="53333">
                    <a:prstClr val="black">
                      <a:lumMod val="75000"/>
                      <a:lumOff val="25000"/>
                    </a:prstClr>
                  </a:gs>
                </a:gsLst>
                <a:lin ang="16200000" scaled="1"/>
              </a:gradFill>
              <a:effectLst/>
              <a:uLnTx/>
              <a:uFillTx/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6320093" y="3443691"/>
            <a:ext cx="432000" cy="75516"/>
          </a:xfrm>
          <a:prstGeom prst="rect">
            <a:avLst/>
          </a:prstGeom>
          <a:solidFill>
            <a:srgbClr val="0E69AA">
              <a:alpha val="91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cxnSp>
        <p:nvCxnSpPr>
          <p:cNvPr id="189" name="직선 연결선 188"/>
          <p:cNvCxnSpPr/>
          <p:nvPr/>
        </p:nvCxnSpPr>
        <p:spPr>
          <a:xfrm>
            <a:off x="6324332" y="3477920"/>
            <a:ext cx="453445" cy="0"/>
          </a:xfrm>
          <a:prstGeom prst="line">
            <a:avLst/>
          </a:prstGeom>
          <a:noFill/>
          <a:ln w="19050" cap="rnd">
            <a:solidFill>
              <a:srgbClr val="0E69AA">
                <a:lumMod val="40000"/>
                <a:lumOff val="60000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0" name="Oval 1468"/>
          <p:cNvSpPr>
            <a:spLocks noChangeArrowheads="1"/>
          </p:cNvSpPr>
          <p:nvPr/>
        </p:nvSpPr>
        <p:spPr bwMode="auto">
          <a:xfrm>
            <a:off x="6280682" y="3430511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91" name="Oval 1468"/>
          <p:cNvSpPr>
            <a:spLocks noChangeArrowheads="1"/>
          </p:cNvSpPr>
          <p:nvPr/>
        </p:nvSpPr>
        <p:spPr bwMode="auto">
          <a:xfrm>
            <a:off x="6732964" y="3442287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0E69A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2817256" y="4963738"/>
            <a:ext cx="5544000" cy="65548"/>
          </a:xfrm>
          <a:prstGeom prst="rect">
            <a:avLst/>
          </a:prstGeom>
          <a:solidFill>
            <a:srgbClr val="F2B800">
              <a:alpha val="91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cxnSp>
        <p:nvCxnSpPr>
          <p:cNvPr id="193" name="직선 연결선 192"/>
          <p:cNvCxnSpPr/>
          <p:nvPr/>
        </p:nvCxnSpPr>
        <p:spPr>
          <a:xfrm>
            <a:off x="2826350" y="5003795"/>
            <a:ext cx="5544000" cy="0"/>
          </a:xfrm>
          <a:prstGeom prst="line">
            <a:avLst/>
          </a:prstGeom>
          <a:noFill/>
          <a:ln w="19050" cap="rnd">
            <a:solidFill>
              <a:srgbClr val="FFE89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0" name="Oval 1468"/>
          <p:cNvSpPr>
            <a:spLocks noChangeArrowheads="1"/>
          </p:cNvSpPr>
          <p:nvPr/>
        </p:nvSpPr>
        <p:spPr bwMode="auto">
          <a:xfrm>
            <a:off x="3047443" y="4955894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01" name="Oval 1468"/>
          <p:cNvSpPr>
            <a:spLocks noChangeArrowheads="1"/>
          </p:cNvSpPr>
          <p:nvPr/>
        </p:nvSpPr>
        <p:spPr bwMode="auto">
          <a:xfrm>
            <a:off x="3554702" y="4955894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02" name="Oval 1468"/>
          <p:cNvSpPr>
            <a:spLocks noChangeArrowheads="1"/>
          </p:cNvSpPr>
          <p:nvPr/>
        </p:nvSpPr>
        <p:spPr bwMode="auto">
          <a:xfrm>
            <a:off x="6729857" y="4955894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03" name="Oval 1468"/>
          <p:cNvSpPr>
            <a:spLocks noChangeArrowheads="1"/>
          </p:cNvSpPr>
          <p:nvPr/>
        </p:nvSpPr>
        <p:spPr bwMode="auto">
          <a:xfrm>
            <a:off x="8326269" y="4955894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04" name="Oval 1468"/>
          <p:cNvSpPr>
            <a:spLocks noChangeArrowheads="1"/>
          </p:cNvSpPr>
          <p:nvPr/>
        </p:nvSpPr>
        <p:spPr bwMode="auto">
          <a:xfrm>
            <a:off x="2745257" y="4955894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  <p:sp>
        <p:nvSpPr>
          <p:cNvPr id="205" name="Oval 1468"/>
          <p:cNvSpPr>
            <a:spLocks noChangeArrowheads="1"/>
          </p:cNvSpPr>
          <p:nvPr/>
        </p:nvSpPr>
        <p:spPr bwMode="auto">
          <a:xfrm>
            <a:off x="7553132" y="4955894"/>
            <a:ext cx="75331" cy="79001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F2B8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B"/>
              <a:ea typeface="Rix고딕 B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37009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533319" y="5351337"/>
            <a:ext cx="9757510" cy="159773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AutoShape 3990"/>
          <p:cNvSpPr>
            <a:spLocks noChangeArrowheads="1"/>
          </p:cNvSpPr>
          <p:nvPr/>
        </p:nvSpPr>
        <p:spPr bwMode="auto">
          <a:xfrm rot="10800000" flipV="1">
            <a:off x="2272848" y="5819234"/>
            <a:ext cx="1716992" cy="285905"/>
          </a:xfrm>
          <a:prstGeom prst="round2SameRect">
            <a:avLst/>
          </a:prstGeom>
          <a:solidFill>
            <a:srgbClr val="1F94A6">
              <a:lumMod val="20000"/>
              <a:lumOff val="80000"/>
              <a:alpha val="54117"/>
            </a:srgbClr>
          </a:solidFill>
          <a:ln w="9525" cap="flat" cmpd="sng">
            <a:solidFill>
              <a:srgbClr val="0E69AA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사업추진 일정 </a:t>
            </a:r>
            <a:r>
              <a:rPr lang="en-US" altLang="ko-KR" sz="1800" dirty="0"/>
              <a:t>(2/2) 3</a:t>
            </a:r>
            <a:r>
              <a:rPr lang="ko-KR" altLang="en-US" sz="1800" dirty="0"/>
              <a:t>안 추진 시</a:t>
            </a:r>
            <a:endParaRPr lang="ko-KR" altLang="en-US" dirty="0"/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/>
          </p:nvPr>
        </p:nvGraphicFramePr>
        <p:xfrm>
          <a:off x="582002" y="2124401"/>
          <a:ext cx="9445348" cy="408163"/>
        </p:xfrm>
        <a:graphic>
          <a:graphicData uri="http://schemas.openxmlformats.org/drawingml/2006/table">
            <a:tbl>
              <a:tblPr/>
              <a:tblGrid>
                <a:gridCol w="429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3611798803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3643590413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1808174463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2389257997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600153806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1798028447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2428750765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2026376661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4015071028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3872093441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3009319097"/>
                    </a:ext>
                  </a:extLst>
                </a:gridCol>
                <a:gridCol w="429334">
                  <a:extLst>
                    <a:ext uri="{9D8B030D-6E8A-4147-A177-3AD203B41FA5}">
                      <a16:colId xmlns:a16="http://schemas.microsoft.com/office/drawing/2014/main" val="418781428"/>
                    </a:ext>
                  </a:extLst>
                </a:gridCol>
              </a:tblGrid>
              <a:tr h="408163"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</a:rPr>
                        <a:t>5</a:t>
                      </a:r>
                      <a:r>
                        <a:rPr lang="ko-KR" alt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</a:rPr>
                        <a:t>6</a:t>
                      </a: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</a:rPr>
                        <a:t>월</a:t>
                      </a:r>
                      <a:endParaRPr lang="en-US" altLang="ko-KR" sz="1400" u="none" strike="noStrike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8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9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10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11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algn="ctr" defTabSz="995690" rtl="0" eaLnBrk="1" fontAlgn="ctr" latinLnBrk="1" hangingPunct="1"/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690" rtl="0" eaLnBrk="1" fontAlgn="ctr" latinLnBrk="1" hangingPunct="1"/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690" rtl="0" eaLnBrk="1" fontAlgn="ctr" latinLnBrk="1" hangingPunct="1"/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4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690" rtl="0" eaLnBrk="1" fontAlgn="ctr" latinLnBrk="1" hangingPunct="1"/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690" rtl="0" eaLnBrk="1" fontAlgn="ctr" latinLnBrk="1" hangingPunct="1"/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6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690" rtl="0" eaLnBrk="1" fontAlgn="ctr" latinLnBrk="1" hangingPunct="1"/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690" rtl="0" eaLnBrk="1" fontAlgn="ctr" latinLnBrk="1" hangingPunct="1"/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8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690" rtl="0" eaLnBrk="1" fontAlgn="ctr" latinLnBrk="1" hangingPunct="1"/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9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690" rtl="0" eaLnBrk="1" fontAlgn="ctr" latinLnBrk="1" hangingPunct="1"/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10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690" rtl="0" eaLnBrk="1" fontAlgn="ctr" latinLnBrk="1" hangingPunct="1"/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11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690" rtl="0" eaLnBrk="1" fontAlgn="ctr" latinLnBrk="1" hangingPunct="1"/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690" rtl="0" eaLnBrk="1" fontAlgn="ctr" latinLnBrk="1" hangingPunct="1"/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95690" rtl="0" eaLnBrk="1" fontAlgn="ctr" latinLnBrk="1" hangingPunct="1"/>
                      <a:r>
                        <a:rPr lang="en-US" altLang="ko-KR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400" u="none" strike="noStrike" kern="1200" dirty="0">
                          <a:solidFill>
                            <a:schemeClr val="bg1"/>
                          </a:solidFill>
                          <a:effectLst/>
                          <a:latin typeface="Rix고딕 EB" pitchFamily="18" charset="-127"/>
                          <a:ea typeface="Rix고딕 EB" pitchFamily="18" charset="-127"/>
                          <a:cs typeface="+mn-cs"/>
                        </a:rPr>
                        <a:t>월</a:t>
                      </a:r>
                      <a:endParaRPr lang="en-US" altLang="ko-KR" sz="1400" u="none" strike="noStrike" kern="1200" dirty="0">
                        <a:solidFill>
                          <a:schemeClr val="bg1"/>
                        </a:solidFill>
                        <a:effectLst/>
                        <a:latin typeface="Rix고딕 EB" pitchFamily="18" charset="-127"/>
                        <a:ea typeface="Rix고딕 EB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직선 화살표 연결선 23"/>
          <p:cNvCxnSpPr/>
          <p:nvPr/>
        </p:nvCxnSpPr>
        <p:spPr>
          <a:xfrm>
            <a:off x="699917" y="3121252"/>
            <a:ext cx="1118293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632653" y="1970153"/>
            <a:ext cx="3348000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>
            <a:off x="4009744" y="1753112"/>
            <a:ext cx="0" cy="3600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582751" y="1753112"/>
            <a:ext cx="0" cy="3600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88454" y="1653137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2019</a:t>
            </a:r>
            <a:r>
              <a:rPr lang="ko-KR" altLang="en-US" sz="1400" dirty="0"/>
              <a:t>년</a:t>
            </a:r>
          </a:p>
        </p:txBody>
      </p:sp>
      <p:cxnSp>
        <p:nvCxnSpPr>
          <p:cNvPr id="22" name="직선 연결선 21"/>
          <p:cNvCxnSpPr/>
          <p:nvPr/>
        </p:nvCxnSpPr>
        <p:spPr>
          <a:xfrm>
            <a:off x="9151941" y="1753112"/>
            <a:ext cx="0" cy="3600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9993483" y="1753112"/>
            <a:ext cx="0" cy="3600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4017143" y="1970153"/>
            <a:ext cx="5076000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50099" y="1642909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2020</a:t>
            </a:r>
            <a:r>
              <a:rPr lang="ko-KR" altLang="en-US" sz="1400" dirty="0"/>
              <a:t>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5808" y="1647185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2021</a:t>
            </a:r>
            <a:r>
              <a:rPr lang="ko-KR" altLang="en-US" sz="1400" dirty="0"/>
              <a:t>년</a:t>
            </a:r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9197097" y="1970153"/>
            <a:ext cx="756000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4876497" y="2566923"/>
            <a:ext cx="0" cy="6840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8"/>
          <p:cNvSpPr txBox="1"/>
          <p:nvPr/>
        </p:nvSpPr>
        <p:spPr>
          <a:xfrm>
            <a:off x="2216403" y="2806358"/>
            <a:ext cx="161743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defTabSz="457148" latinLnBrk="0">
              <a:defRPr b="0" spc="50">
                <a:ln w="0">
                  <a:solidFill>
                    <a:srgbClr val="002060">
                      <a:alpha val="6000"/>
                    </a:srgbClr>
                  </a:solidFill>
                  <a:prstDash val="solid"/>
                </a:ln>
                <a:gradFill>
                  <a:gsLst>
                    <a:gs pos="54583">
                      <a:schemeClr val="tx1">
                        <a:lumMod val="85000"/>
                        <a:lumOff val="15000"/>
                      </a:schemeClr>
                    </a:gs>
                    <a:gs pos="34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effectLst/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  <a:lvl2pPr marL="457148" defTabSz="457148" latinLnBrk="0">
              <a:defRPr sz="1800"/>
            </a:lvl2pPr>
            <a:lvl3pPr marL="914296" defTabSz="457148" latinLnBrk="0">
              <a:defRPr sz="1800"/>
            </a:lvl3pPr>
            <a:lvl4pPr marL="1371444" defTabSz="457148" latinLnBrk="0">
              <a:defRPr sz="1800"/>
            </a:lvl4pPr>
            <a:lvl5pPr marL="1828592" defTabSz="457148" latinLnBrk="0">
              <a:defRPr sz="1800"/>
            </a:lvl5pPr>
            <a:lvl6pPr marL="2285740" defTabSz="457148" latinLnBrk="0">
              <a:defRPr sz="1800"/>
            </a:lvl6pPr>
            <a:lvl7pPr marL="2742888" defTabSz="457148" latinLnBrk="0">
              <a:defRPr sz="1800"/>
            </a:lvl7pPr>
            <a:lvl8pPr marL="3200036" defTabSz="457148" latinLnBrk="0">
              <a:defRPr sz="1800"/>
            </a:lvl8pPr>
            <a:lvl9pPr marL="3657184" defTabSz="457148" latinLnBrk="0">
              <a:defRPr sz="1800"/>
            </a:lvl9pPr>
          </a:lstStyle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안 일정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(10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개월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)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594040" y="2566923"/>
            <a:ext cx="0" cy="6840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타원 44"/>
          <p:cNvSpPr/>
          <p:nvPr/>
        </p:nvSpPr>
        <p:spPr>
          <a:xfrm>
            <a:off x="533319" y="3037953"/>
            <a:ext cx="144172" cy="145236"/>
          </a:xfrm>
          <a:prstGeom prst="ellipse">
            <a:avLst/>
          </a:prstGeom>
          <a:solidFill>
            <a:srgbClr val="FFFFFF"/>
          </a:solidFill>
          <a:ln w="31750" cap="flat" cmpd="sng" algn="ctr">
            <a:solidFill>
              <a:srgbClr val="262626">
                <a:lumMod val="75000"/>
                <a:lumOff val="25000"/>
              </a:srgbClr>
            </a:solidFill>
            <a:prstDash val="solid"/>
          </a:ln>
          <a:effectLst>
            <a:outerShdw blurRad="38100" dist="25400" dir="2700000" algn="t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101764" tIns="50880" rIns="101764" bIns="50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13431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cxnSp>
        <p:nvCxnSpPr>
          <p:cNvPr id="46" name="직선 연결선 45"/>
          <p:cNvCxnSpPr/>
          <p:nvPr/>
        </p:nvCxnSpPr>
        <p:spPr>
          <a:xfrm>
            <a:off x="1856310" y="2532564"/>
            <a:ext cx="0" cy="2380494"/>
          </a:xfrm>
          <a:prstGeom prst="line">
            <a:avLst/>
          </a:prstGeom>
          <a:ln w="127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/>
          <p:cNvCxnSpPr/>
          <p:nvPr/>
        </p:nvCxnSpPr>
        <p:spPr>
          <a:xfrm>
            <a:off x="1819952" y="3128014"/>
            <a:ext cx="3051000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타원 113"/>
          <p:cNvSpPr/>
          <p:nvPr/>
        </p:nvSpPr>
        <p:spPr>
          <a:xfrm>
            <a:off x="1791907" y="3037953"/>
            <a:ext cx="144172" cy="145236"/>
          </a:xfrm>
          <a:prstGeom prst="ellipse">
            <a:avLst/>
          </a:prstGeom>
          <a:solidFill>
            <a:srgbClr val="FFFFFF"/>
          </a:solidFill>
          <a:ln w="31750" cap="flat" cmpd="sng" algn="ctr">
            <a:solidFill>
              <a:srgbClr val="262626">
                <a:lumMod val="75000"/>
                <a:lumOff val="25000"/>
              </a:srgbClr>
            </a:solidFill>
            <a:prstDash val="solid"/>
          </a:ln>
          <a:effectLst>
            <a:outerShdw blurRad="38100" dist="25400" dir="2700000" algn="t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101764" tIns="50880" rIns="101764" bIns="50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13431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1818208" y="6090208"/>
            <a:ext cx="6019404" cy="309937"/>
            <a:chOff x="1818208" y="4217948"/>
            <a:chExt cx="6019404" cy="309937"/>
          </a:xfrm>
        </p:grpSpPr>
        <p:sp>
          <p:nvSpPr>
            <p:cNvPr id="123" name="AutoShape 3990"/>
            <p:cNvSpPr>
              <a:spLocks noChangeArrowheads="1"/>
            </p:cNvSpPr>
            <p:nvPr/>
          </p:nvSpPr>
          <p:spPr bwMode="auto">
            <a:xfrm rot="10800000">
              <a:off x="1818208" y="4217948"/>
              <a:ext cx="904294" cy="285907"/>
            </a:xfrm>
            <a:prstGeom prst="round2SameRect">
              <a:avLst/>
            </a:prstGeom>
            <a:solidFill>
              <a:srgbClr val="1F94A6">
                <a:lumMod val="20000"/>
                <a:lumOff val="80000"/>
                <a:alpha val="54117"/>
              </a:srgbClr>
            </a:solidFill>
            <a:ln w="9525" cap="flat" cmpd="sng">
              <a:solidFill>
                <a:srgbClr val="0E69AA"/>
              </a:solidFill>
              <a:prstDash val="solid"/>
              <a:round/>
              <a:headEnd/>
              <a:tailEnd/>
            </a:ln>
          </p:spPr>
          <p:txBody>
            <a:bodyPr lIns="54000" rIns="540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127" name="AutoShape 3990"/>
            <p:cNvSpPr>
              <a:spLocks noChangeArrowheads="1"/>
            </p:cNvSpPr>
            <p:nvPr/>
          </p:nvSpPr>
          <p:spPr bwMode="auto">
            <a:xfrm rot="10800000">
              <a:off x="2721488" y="4225414"/>
              <a:ext cx="887095" cy="285907"/>
            </a:xfrm>
            <a:prstGeom prst="round2SameRect">
              <a:avLst/>
            </a:prstGeom>
            <a:solidFill>
              <a:srgbClr val="1F94A6">
                <a:lumMod val="20000"/>
                <a:lumOff val="80000"/>
                <a:alpha val="54117"/>
              </a:srgbClr>
            </a:solidFill>
            <a:ln w="9525" cap="flat" cmpd="sng">
              <a:solidFill>
                <a:srgbClr val="0E69AA"/>
              </a:solidFill>
              <a:prstDash val="solid"/>
              <a:round/>
              <a:headEnd/>
              <a:tailEnd/>
            </a:ln>
          </p:spPr>
          <p:txBody>
            <a:bodyPr lIns="54000" rIns="540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129" name="AutoShape 3990"/>
            <p:cNvSpPr>
              <a:spLocks noChangeArrowheads="1"/>
            </p:cNvSpPr>
            <p:nvPr/>
          </p:nvSpPr>
          <p:spPr bwMode="auto">
            <a:xfrm rot="10800000">
              <a:off x="3604837" y="4233461"/>
              <a:ext cx="1883590" cy="285907"/>
            </a:xfrm>
            <a:prstGeom prst="round2SameRect">
              <a:avLst/>
            </a:prstGeom>
            <a:solidFill>
              <a:srgbClr val="1F94A6">
                <a:lumMod val="20000"/>
                <a:lumOff val="80000"/>
                <a:alpha val="54117"/>
              </a:srgbClr>
            </a:solidFill>
            <a:ln w="9525" cap="flat" cmpd="sng">
              <a:solidFill>
                <a:srgbClr val="0E69AA"/>
              </a:solidFill>
              <a:prstDash val="solid"/>
              <a:round/>
              <a:headEnd/>
              <a:tailEnd/>
            </a:ln>
          </p:spPr>
          <p:txBody>
            <a:bodyPr lIns="54000" rIns="540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147" name="AutoShape 3990"/>
            <p:cNvSpPr>
              <a:spLocks noChangeArrowheads="1"/>
            </p:cNvSpPr>
            <p:nvPr/>
          </p:nvSpPr>
          <p:spPr bwMode="auto">
            <a:xfrm rot="10800000">
              <a:off x="5473443" y="4241978"/>
              <a:ext cx="1576146" cy="285907"/>
            </a:xfrm>
            <a:prstGeom prst="round2SameRect">
              <a:avLst/>
            </a:prstGeom>
            <a:solidFill>
              <a:srgbClr val="1F94A6">
                <a:lumMod val="20000"/>
                <a:lumOff val="80000"/>
                <a:alpha val="54117"/>
              </a:srgbClr>
            </a:solidFill>
            <a:ln w="9525" cap="flat" cmpd="sng">
              <a:solidFill>
                <a:srgbClr val="0E69AA"/>
              </a:solidFill>
              <a:prstDash val="solid"/>
              <a:round/>
              <a:headEnd/>
              <a:tailEnd/>
            </a:ln>
          </p:spPr>
          <p:txBody>
            <a:bodyPr lIns="54000" rIns="540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148" name="AutoShape 3990"/>
            <p:cNvSpPr>
              <a:spLocks noChangeArrowheads="1"/>
            </p:cNvSpPr>
            <p:nvPr/>
          </p:nvSpPr>
          <p:spPr bwMode="auto">
            <a:xfrm rot="10800000">
              <a:off x="7043646" y="4240060"/>
              <a:ext cx="793966" cy="285907"/>
            </a:xfrm>
            <a:prstGeom prst="round2SameRect">
              <a:avLst/>
            </a:prstGeom>
            <a:solidFill>
              <a:srgbClr val="1F94A6">
                <a:lumMod val="20000"/>
                <a:lumOff val="80000"/>
                <a:alpha val="54117"/>
              </a:srgbClr>
            </a:solidFill>
            <a:ln w="9525" cap="flat" cmpd="sng">
              <a:solidFill>
                <a:srgbClr val="0E69AA"/>
              </a:solidFill>
              <a:prstDash val="solid"/>
              <a:round/>
              <a:headEnd/>
              <a:tailEnd/>
            </a:ln>
          </p:spPr>
          <p:txBody>
            <a:bodyPr lIns="54000" rIns="540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</p:grpSp>
      <p:cxnSp>
        <p:nvCxnSpPr>
          <p:cNvPr id="26" name="직선 화살표 연결선 25"/>
          <p:cNvCxnSpPr/>
          <p:nvPr/>
        </p:nvCxnSpPr>
        <p:spPr>
          <a:xfrm>
            <a:off x="1818210" y="6109572"/>
            <a:ext cx="6048000" cy="0"/>
          </a:xfrm>
          <a:prstGeom prst="straightConnector1">
            <a:avLst/>
          </a:prstGeom>
          <a:ln w="57150">
            <a:solidFill>
              <a:schemeClr val="accent3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이등변 삼각형 33"/>
          <p:cNvSpPr/>
          <p:nvPr/>
        </p:nvSpPr>
        <p:spPr>
          <a:xfrm rot="10800000">
            <a:off x="6968346" y="5929247"/>
            <a:ext cx="190610" cy="133126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/>
          <p:cNvSpPr/>
          <p:nvPr/>
        </p:nvSpPr>
        <p:spPr>
          <a:xfrm>
            <a:off x="1746048" y="6025057"/>
            <a:ext cx="144172" cy="145236"/>
          </a:xfrm>
          <a:prstGeom prst="ellipse">
            <a:avLst/>
          </a:prstGeom>
          <a:solidFill>
            <a:srgbClr val="FFFFFF"/>
          </a:solidFill>
          <a:ln w="31750" cap="flat" cmpd="sng" algn="ctr">
            <a:solidFill>
              <a:schemeClr val="accent3"/>
            </a:solidFill>
            <a:prstDash val="solid"/>
          </a:ln>
          <a:effectLst>
            <a:outerShdw blurRad="38100" dist="25400" dir="2700000" algn="t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101764" tIns="50880" rIns="101764" bIns="50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13431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cxnSp>
        <p:nvCxnSpPr>
          <p:cNvPr id="50" name="직선 연결선 49"/>
          <p:cNvCxnSpPr/>
          <p:nvPr/>
        </p:nvCxnSpPr>
        <p:spPr>
          <a:xfrm>
            <a:off x="7889628" y="5580881"/>
            <a:ext cx="0" cy="1188000"/>
          </a:xfrm>
          <a:prstGeom prst="line">
            <a:avLst/>
          </a:prstGeom>
          <a:ln w="127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6335790" y="5673133"/>
            <a:ext cx="1459031" cy="215444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lvl="1" algn="ctr" defTabSz="957206" latinLnBrk="0">
              <a:buClr>
                <a:sysClr val="windowText" lastClr="000000"/>
              </a:buClr>
              <a:tabLst>
                <a:tab pos="5037002" algn="l"/>
              </a:tabLst>
              <a:defRPr/>
            </a:pPr>
            <a:r>
              <a:rPr lang="en-US" altLang="ko-KR" sz="1400" kern="0" dirty="0">
                <a:solidFill>
                  <a:schemeClr val="accent2"/>
                </a:solidFill>
              </a:rPr>
              <a:t>Open(</a:t>
            </a:r>
            <a:r>
              <a:rPr lang="ko-KR" altLang="en-US" sz="1400" kern="0" dirty="0">
                <a:solidFill>
                  <a:schemeClr val="accent2"/>
                </a:solidFill>
              </a:rPr>
              <a:t>여름방학</a:t>
            </a:r>
            <a:r>
              <a:rPr lang="en-US" altLang="ko-KR" sz="1400" kern="0" dirty="0">
                <a:solidFill>
                  <a:schemeClr val="accent2"/>
                </a:solidFill>
              </a:rPr>
              <a:t>)</a:t>
            </a:r>
            <a:endParaRPr lang="ko-KR" altLang="en-US" sz="1400" kern="0" dirty="0">
              <a:solidFill>
                <a:schemeClr val="accent2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062740" y="6411134"/>
            <a:ext cx="460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ko-KR" altLang="en-US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분석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2936503" y="6411134"/>
            <a:ext cx="460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ko-KR" altLang="en-US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설계</a:t>
            </a:r>
          </a:p>
        </p:txBody>
      </p:sp>
      <p:grpSp>
        <p:nvGrpSpPr>
          <p:cNvPr id="81" name="그룹 80"/>
          <p:cNvGrpSpPr/>
          <p:nvPr/>
        </p:nvGrpSpPr>
        <p:grpSpPr>
          <a:xfrm>
            <a:off x="8461049" y="5755723"/>
            <a:ext cx="1386553" cy="407123"/>
            <a:chOff x="499397" y="1630837"/>
            <a:chExt cx="1386553" cy="293381"/>
          </a:xfrm>
        </p:grpSpPr>
        <p:sp>
          <p:nvSpPr>
            <p:cNvPr id="82" name="AutoShape 219"/>
            <p:cNvSpPr>
              <a:spLocks noChangeArrowheads="1"/>
            </p:cNvSpPr>
            <p:nvPr/>
          </p:nvSpPr>
          <p:spPr bwMode="auto">
            <a:xfrm>
              <a:off x="499397" y="1630837"/>
              <a:ext cx="1386553" cy="293381"/>
            </a:xfrm>
            <a:prstGeom prst="roundRect">
              <a:avLst>
                <a:gd name="adj" fmla="val 10204"/>
              </a:avLst>
            </a:prstGeom>
            <a:solidFill>
              <a:srgbClr val="4BACC6"/>
            </a:solidFill>
            <a:ln w="38100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E2E2E2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830270" y="1633363"/>
              <a:ext cx="724806" cy="288327"/>
            </a:xfrm>
            <a:prstGeom prst="rect">
              <a:avLst/>
            </a:prstGeom>
            <a:noFill/>
            <a:ln w="3175" cap="flat" cmpd="sng" algn="ctr">
              <a:noFill/>
              <a:prstDash val="solid"/>
            </a:ln>
            <a:effectLst/>
          </p:spPr>
          <p:txBody>
            <a:bodyPr wrap="none" lIns="36000" rIns="36000" rtlCol="0" anchor="ctr">
              <a:spAutoFit/>
              <a:scene3d>
                <a:camera prst="orthographicFront"/>
                <a:lightRig rig="threePt" dir="t"/>
              </a:scene3d>
              <a:sp3d>
                <a:bevelT w="1270" h="38100"/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>
                    <a:lumMod val="50000"/>
                  </a:prstClr>
                </a:buClr>
                <a:buSzTx/>
                <a:buFontTx/>
                <a:buNone/>
                <a:tabLst/>
                <a:defRPr/>
              </a:pPr>
              <a:r>
                <a:rPr kumimoji="0" lang="en-US" altLang="ko-KR" b="1" i="0" u="none" strike="noStrike" kern="0" cap="none" spc="-6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3-2</a:t>
              </a:r>
              <a:r>
                <a:rPr kumimoji="0" lang="ko-KR" altLang="en-US" b="1" i="0" u="none" strike="noStrike" kern="0" cap="none" spc="-6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안</a:t>
              </a:r>
              <a:endParaRPr kumimoji="0" lang="en-US" altLang="ko-KR" sz="1200" b="1" i="0" u="none" strike="noStrike" kern="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101" name="직사각형 100"/>
          <p:cNvSpPr/>
          <p:nvPr/>
        </p:nvSpPr>
        <p:spPr>
          <a:xfrm>
            <a:off x="4211751" y="5686758"/>
            <a:ext cx="1722318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lvl="1" algn="ctr" defTabSz="457148" latinLnBrk="0"/>
            <a:r>
              <a:rPr lang="en-US" altLang="ko-KR" sz="1800" dirty="0"/>
              <a:t>14</a:t>
            </a:r>
            <a:r>
              <a:rPr lang="ko-KR" altLang="en-US" sz="1800" dirty="0"/>
              <a:t>개월</a:t>
            </a:r>
            <a:r>
              <a:rPr lang="en-US" altLang="ko-KR" sz="1800" dirty="0"/>
              <a:t> </a:t>
            </a:r>
            <a:r>
              <a:rPr lang="ko-KR" altLang="en-US" sz="1800" dirty="0"/>
              <a:t>일정</a:t>
            </a:r>
          </a:p>
        </p:txBody>
      </p:sp>
      <p:sp>
        <p:nvSpPr>
          <p:cNvPr id="121" name="직사각형 120"/>
          <p:cNvSpPr/>
          <p:nvPr/>
        </p:nvSpPr>
        <p:spPr>
          <a:xfrm>
            <a:off x="4410570" y="6411134"/>
            <a:ext cx="460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ko-KR" altLang="en-US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구현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5804508" y="6411134"/>
            <a:ext cx="9509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ko-KR" altLang="en-US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테스트</a:t>
            </a:r>
            <a:r>
              <a:rPr lang="en-US" altLang="ko-KR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/</a:t>
            </a:r>
            <a:r>
              <a:rPr lang="ko-KR" altLang="en-US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이행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7164489" y="6411134"/>
            <a:ext cx="5982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ko-KR" altLang="en-US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안정화</a:t>
            </a:r>
          </a:p>
        </p:txBody>
      </p:sp>
      <p:sp>
        <p:nvSpPr>
          <p:cNvPr id="162" name="TextBox 124"/>
          <p:cNvSpPr txBox="1"/>
          <p:nvPr/>
        </p:nvSpPr>
        <p:spPr bwMode="auto">
          <a:xfrm>
            <a:off x="7863098" y="6299921"/>
            <a:ext cx="2528022" cy="277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 anchor="ctr">
            <a:spAutoFit/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latinLnBrk="0">
              <a:lnSpc>
                <a:spcPct val="90000"/>
              </a:lnSpc>
            </a:pPr>
            <a:r>
              <a:rPr lang="ko-KR" altLang="en-US" spc="-100" dirty="0">
                <a:solidFill>
                  <a:schemeClr val="accent2"/>
                </a:solidFill>
                <a:latin typeface="Rix고딕 B" pitchFamily="18" charset="-127"/>
                <a:ea typeface="Rix고딕 B" pitchFamily="18" charset="-127"/>
              </a:rPr>
              <a:t>통합 오픈 방법</a:t>
            </a:r>
            <a:endParaRPr lang="en-US" altLang="ko-KR" sz="1800" dirty="0">
              <a:solidFill>
                <a:schemeClr val="accent2"/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2047505" y="6139956"/>
            <a:ext cx="5228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2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개월</a:t>
            </a:r>
          </a:p>
        </p:txBody>
      </p:sp>
      <p:sp>
        <p:nvSpPr>
          <p:cNvPr id="164" name="직사각형 163"/>
          <p:cNvSpPr/>
          <p:nvPr/>
        </p:nvSpPr>
        <p:spPr>
          <a:xfrm>
            <a:off x="2908106" y="6139956"/>
            <a:ext cx="5228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105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2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개월</a:t>
            </a:r>
          </a:p>
        </p:txBody>
      </p:sp>
      <p:sp>
        <p:nvSpPr>
          <p:cNvPr id="165" name="직사각형 164"/>
          <p:cNvSpPr/>
          <p:nvPr/>
        </p:nvSpPr>
        <p:spPr>
          <a:xfrm>
            <a:off x="4325127" y="6139956"/>
            <a:ext cx="62869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4.5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개월</a:t>
            </a:r>
          </a:p>
        </p:txBody>
      </p:sp>
      <p:sp>
        <p:nvSpPr>
          <p:cNvPr id="166" name="직사각형 165"/>
          <p:cNvSpPr/>
          <p:nvPr/>
        </p:nvSpPr>
        <p:spPr>
          <a:xfrm>
            <a:off x="5975740" y="6139956"/>
            <a:ext cx="62869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3.5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개월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7215785" y="6139956"/>
            <a:ext cx="510076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2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개월</a:t>
            </a:r>
          </a:p>
        </p:txBody>
      </p:sp>
      <p:sp>
        <p:nvSpPr>
          <p:cNvPr id="116" name="직사각형 115"/>
          <p:cNvSpPr/>
          <p:nvPr/>
        </p:nvSpPr>
        <p:spPr>
          <a:xfrm>
            <a:off x="1111374" y="5498378"/>
            <a:ext cx="606546" cy="430887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lvl="1" algn="ctr" defTabSz="957206" latinLnBrk="0">
              <a:buClr>
                <a:sysClr val="windowText" lastClr="000000"/>
              </a:buClr>
              <a:tabLst>
                <a:tab pos="5037002" algn="l"/>
              </a:tabLst>
              <a:defRPr/>
            </a:pPr>
            <a:r>
              <a:rPr lang="ko-KR" altLang="en-US" sz="1400" kern="0">
                <a:solidFill>
                  <a:schemeClr val="accent2"/>
                </a:solidFill>
              </a:rPr>
              <a:t>설계 연계</a:t>
            </a:r>
            <a:endParaRPr lang="ko-KR" altLang="en-US" sz="1400" kern="0" dirty="0">
              <a:solidFill>
                <a:schemeClr val="accent2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522030" y="3348571"/>
            <a:ext cx="9768799" cy="16562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AutoShape 3990"/>
          <p:cNvSpPr>
            <a:spLocks noChangeArrowheads="1"/>
          </p:cNvSpPr>
          <p:nvPr/>
        </p:nvSpPr>
        <p:spPr bwMode="auto">
          <a:xfrm rot="10800000">
            <a:off x="4038742" y="4224024"/>
            <a:ext cx="899668" cy="285907"/>
          </a:xfrm>
          <a:prstGeom prst="round2SameRect">
            <a:avLst/>
          </a:prstGeom>
          <a:solidFill>
            <a:srgbClr val="FFE89F">
              <a:alpha val="53725"/>
            </a:srgbClr>
          </a:solidFill>
          <a:ln w="9525" cap="flat" cmpd="sng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75" name="AutoShape 3990"/>
          <p:cNvSpPr>
            <a:spLocks noChangeArrowheads="1"/>
          </p:cNvSpPr>
          <p:nvPr/>
        </p:nvSpPr>
        <p:spPr bwMode="auto">
          <a:xfrm rot="10800000">
            <a:off x="4937401" y="4224024"/>
            <a:ext cx="882557" cy="285907"/>
          </a:xfrm>
          <a:prstGeom prst="round2SameRect">
            <a:avLst/>
          </a:prstGeom>
          <a:solidFill>
            <a:srgbClr val="FFE89F">
              <a:alpha val="53725"/>
            </a:srgbClr>
          </a:solidFill>
          <a:ln w="9525" cap="flat" cmpd="sng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76" name="AutoShape 3990"/>
          <p:cNvSpPr>
            <a:spLocks noChangeArrowheads="1"/>
          </p:cNvSpPr>
          <p:nvPr/>
        </p:nvSpPr>
        <p:spPr bwMode="auto">
          <a:xfrm rot="10800000">
            <a:off x="5816230" y="4224024"/>
            <a:ext cx="1873953" cy="285907"/>
          </a:xfrm>
          <a:prstGeom prst="round2SameRect">
            <a:avLst/>
          </a:prstGeom>
          <a:solidFill>
            <a:srgbClr val="FFE89F">
              <a:alpha val="53725"/>
            </a:srgbClr>
          </a:solidFill>
          <a:ln w="9525" cap="flat" cmpd="sng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77" name="AutoShape 3990"/>
          <p:cNvSpPr>
            <a:spLocks noChangeArrowheads="1"/>
          </p:cNvSpPr>
          <p:nvPr/>
        </p:nvSpPr>
        <p:spPr bwMode="auto">
          <a:xfrm rot="10800000">
            <a:off x="7675276" y="4224024"/>
            <a:ext cx="1568082" cy="285907"/>
          </a:xfrm>
          <a:prstGeom prst="round2SameRect">
            <a:avLst/>
          </a:prstGeom>
          <a:solidFill>
            <a:srgbClr val="FFE89F">
              <a:alpha val="53725"/>
            </a:srgbClr>
          </a:solidFill>
          <a:ln w="9525" cap="flat" cmpd="sng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78" name="AutoShape 3990"/>
          <p:cNvSpPr>
            <a:spLocks noChangeArrowheads="1"/>
          </p:cNvSpPr>
          <p:nvPr/>
        </p:nvSpPr>
        <p:spPr bwMode="auto">
          <a:xfrm rot="10800000">
            <a:off x="9237446" y="4224024"/>
            <a:ext cx="789904" cy="285907"/>
          </a:xfrm>
          <a:prstGeom prst="round2SameRect">
            <a:avLst/>
          </a:prstGeom>
          <a:solidFill>
            <a:srgbClr val="FFE89F">
              <a:alpha val="53725"/>
            </a:srgbClr>
          </a:solidFill>
          <a:ln w="9525" cap="flat" cmpd="sng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lIns="54000" rIns="54000" anchor="ctr"/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800" kern="0" dirty="0">
              <a:solidFill>
                <a:sysClr val="windowText" lastClr="000000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cxnSp>
        <p:nvCxnSpPr>
          <p:cNvPr id="62" name="직선 화살표 연결선 61"/>
          <p:cNvCxnSpPr/>
          <p:nvPr/>
        </p:nvCxnSpPr>
        <p:spPr>
          <a:xfrm>
            <a:off x="4027942" y="4222456"/>
            <a:ext cx="5999408" cy="1568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이등변 삼각형 62"/>
          <p:cNvSpPr/>
          <p:nvPr/>
        </p:nvSpPr>
        <p:spPr>
          <a:xfrm rot="10800000">
            <a:off x="9178078" y="4047308"/>
            <a:ext cx="190610" cy="133126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직선 연결선 63"/>
          <p:cNvCxnSpPr/>
          <p:nvPr/>
        </p:nvCxnSpPr>
        <p:spPr>
          <a:xfrm>
            <a:off x="4027942" y="3710202"/>
            <a:ext cx="0" cy="11160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타원 64"/>
          <p:cNvSpPr/>
          <p:nvPr/>
        </p:nvSpPr>
        <p:spPr>
          <a:xfrm>
            <a:off x="3955780" y="4137941"/>
            <a:ext cx="144172" cy="1452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0" cap="flat" cmpd="sng" algn="ctr">
            <a:solidFill>
              <a:srgbClr val="FF0000"/>
            </a:solidFill>
            <a:prstDash val="solid"/>
          </a:ln>
          <a:effectLst>
            <a:outerShdw blurRad="38100" dist="25400" dir="2700000" algn="t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101764" tIns="50880" rIns="101764" bIns="50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13431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5994790" y="3799622"/>
            <a:ext cx="1635064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457148" lvl="1" algn="ctr" defTabSz="457148" latinLnBrk="0"/>
            <a:r>
              <a:rPr lang="en-US" altLang="ko-KR" sz="1800"/>
              <a:t>14</a:t>
            </a:r>
            <a:r>
              <a:rPr lang="ko-KR" altLang="en-US" sz="1800" dirty="0"/>
              <a:t>개월</a:t>
            </a:r>
            <a:r>
              <a:rPr lang="en-US" altLang="ko-KR" sz="1800" dirty="0"/>
              <a:t> </a:t>
            </a:r>
            <a:r>
              <a:rPr lang="ko-KR" altLang="en-US" sz="1800" dirty="0"/>
              <a:t>일정</a:t>
            </a:r>
          </a:p>
        </p:txBody>
      </p:sp>
      <p:cxnSp>
        <p:nvCxnSpPr>
          <p:cNvPr id="67" name="직선 연결선 66"/>
          <p:cNvCxnSpPr/>
          <p:nvPr/>
        </p:nvCxnSpPr>
        <p:spPr>
          <a:xfrm>
            <a:off x="10027350" y="3632463"/>
            <a:ext cx="0" cy="11160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8568319" y="3761581"/>
            <a:ext cx="1459031" cy="215444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lvl="1" algn="ctr" defTabSz="957206" latinLnBrk="0">
              <a:buClr>
                <a:sysClr val="windowText" lastClr="000000"/>
              </a:buClr>
              <a:tabLst>
                <a:tab pos="5037002" algn="l"/>
              </a:tabLst>
              <a:defRPr/>
            </a:pPr>
            <a:r>
              <a:rPr lang="en-US" altLang="ko-KR" sz="1400" kern="0" dirty="0">
                <a:solidFill>
                  <a:srgbClr val="FF0000"/>
                </a:solidFill>
              </a:rPr>
              <a:t>Open(</a:t>
            </a:r>
            <a:r>
              <a:rPr lang="ko-KR" altLang="en-US" sz="1400" kern="0" dirty="0">
                <a:solidFill>
                  <a:srgbClr val="FF0000"/>
                </a:solidFill>
              </a:rPr>
              <a:t>겨울방학</a:t>
            </a:r>
            <a:r>
              <a:rPr lang="en-US" altLang="ko-KR" sz="1400" kern="0" dirty="0">
                <a:solidFill>
                  <a:srgbClr val="FF0000"/>
                </a:solidFill>
              </a:rPr>
              <a:t>)</a:t>
            </a:r>
            <a:endParaRPr lang="ko-KR" altLang="en-US" sz="1400" kern="0" dirty="0">
              <a:solidFill>
                <a:srgbClr val="FF0000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893328" y="3996660"/>
            <a:ext cx="10470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 fontAlgn="ctr"/>
            <a:r>
              <a:rPr lang="en-US" altLang="ko-KR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2</a:t>
            </a:r>
            <a:r>
              <a:rPr lang="ko-KR" altLang="en-US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안 안정화 시</a:t>
            </a:r>
            <a:r>
              <a:rPr lang="en-US" altLang="ko-KR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/>
            </a:r>
            <a:br>
              <a:rPr lang="en-US" altLang="ko-KR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en-US" altLang="ko-KR" sz="12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3</a:t>
            </a:r>
            <a:r>
              <a:rPr lang="ko-KR" altLang="en-US" sz="12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안 시작</a:t>
            </a:r>
            <a:endParaRPr lang="ko-KR" altLang="en-US" sz="12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5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28" name="AutoShape 219"/>
          <p:cNvSpPr>
            <a:spLocks noChangeArrowheads="1"/>
          </p:cNvSpPr>
          <p:nvPr/>
        </p:nvSpPr>
        <p:spPr bwMode="auto">
          <a:xfrm>
            <a:off x="1226539" y="3669498"/>
            <a:ext cx="1386553" cy="407123"/>
          </a:xfrm>
          <a:prstGeom prst="roundRect">
            <a:avLst>
              <a:gd name="adj" fmla="val 10204"/>
            </a:avLst>
          </a:prstGeom>
          <a:solidFill>
            <a:srgbClr val="C0504D"/>
          </a:solidFill>
          <a:ln w="38100" algn="ctr">
            <a:noFill/>
            <a:round/>
            <a:headEnd/>
            <a:tailEnd/>
          </a:ln>
          <a:effectLst>
            <a:outerShdw dist="17961" dir="2700000" algn="ctr" rotWithShape="0">
              <a:srgbClr val="E2E2E2">
                <a:alpha val="50000"/>
              </a:srgbClr>
            </a:outerShdw>
          </a:effectLst>
        </p:spPr>
        <p:txBody>
          <a:bodyPr wrap="none" anchor="ctr"/>
          <a:lstStyle/>
          <a:p>
            <a:pPr defTabSz="914400" latinLnBrk="0">
              <a:spcAft>
                <a:spcPct val="0"/>
              </a:spcAft>
            </a:pPr>
            <a:endParaRPr lang="ko-KR" altLang="ko-KR" sz="1050" b="1" ker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150" name="직사각형 149"/>
          <p:cNvSpPr/>
          <p:nvPr/>
        </p:nvSpPr>
        <p:spPr>
          <a:xfrm>
            <a:off x="1594678" y="3685185"/>
            <a:ext cx="724805" cy="400110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wrap="none" lIns="36000" rIns="36000" rtlCol="0" anchor="ctr">
            <a:spAutoFit/>
            <a:scene3d>
              <a:camera prst="orthographicFront"/>
              <a:lightRig rig="threePt" dir="t"/>
            </a:scene3d>
            <a:sp3d>
              <a:bevelT w="1270" h="38100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altLang="ko-KR" b="1" i="0" u="none" strike="noStrike" kern="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3-1</a:t>
            </a:r>
            <a:r>
              <a:rPr kumimoji="0" lang="ko-KR" altLang="en-US" b="1" i="0" u="none" strike="noStrike" kern="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안</a:t>
            </a:r>
            <a:endParaRPr kumimoji="0" lang="en-US" altLang="ko-KR" sz="1200" b="1" i="0" u="none" strike="noStrike" kern="0" cap="none" spc="-6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4270608" y="4557396"/>
            <a:ext cx="460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ko-KR" altLang="en-US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분석</a:t>
            </a:r>
          </a:p>
        </p:txBody>
      </p:sp>
      <p:sp>
        <p:nvSpPr>
          <p:cNvPr id="154" name="직사각형 153"/>
          <p:cNvSpPr/>
          <p:nvPr/>
        </p:nvSpPr>
        <p:spPr>
          <a:xfrm>
            <a:off x="5144371" y="4557396"/>
            <a:ext cx="460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ko-KR" altLang="en-US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설계</a:t>
            </a:r>
          </a:p>
        </p:txBody>
      </p:sp>
      <p:sp>
        <p:nvSpPr>
          <p:cNvPr id="156" name="직사각형 155"/>
          <p:cNvSpPr/>
          <p:nvPr/>
        </p:nvSpPr>
        <p:spPr>
          <a:xfrm>
            <a:off x="6618438" y="4557396"/>
            <a:ext cx="460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ko-KR" altLang="en-US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구현</a:t>
            </a:r>
          </a:p>
        </p:txBody>
      </p:sp>
      <p:sp>
        <p:nvSpPr>
          <p:cNvPr id="158" name="직사각형 157"/>
          <p:cNvSpPr/>
          <p:nvPr/>
        </p:nvSpPr>
        <p:spPr>
          <a:xfrm>
            <a:off x="8012376" y="4557396"/>
            <a:ext cx="9509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ko-KR" altLang="en-US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테스트</a:t>
            </a:r>
            <a:r>
              <a:rPr lang="en-US" altLang="ko-KR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/</a:t>
            </a:r>
            <a:r>
              <a:rPr lang="ko-KR" altLang="en-US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이행</a:t>
            </a:r>
          </a:p>
        </p:txBody>
      </p:sp>
      <p:sp>
        <p:nvSpPr>
          <p:cNvPr id="160" name="직사각형 159"/>
          <p:cNvSpPr/>
          <p:nvPr/>
        </p:nvSpPr>
        <p:spPr>
          <a:xfrm>
            <a:off x="9372357" y="4557396"/>
            <a:ext cx="5982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ko-KR" altLang="en-US" sz="1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안정화</a:t>
            </a:r>
          </a:p>
        </p:txBody>
      </p:sp>
      <p:sp>
        <p:nvSpPr>
          <p:cNvPr id="161" name="TextBox 124"/>
          <p:cNvSpPr txBox="1"/>
          <p:nvPr/>
        </p:nvSpPr>
        <p:spPr bwMode="auto">
          <a:xfrm>
            <a:off x="658378" y="4190463"/>
            <a:ext cx="2528022" cy="52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 anchor="ctr">
            <a:spAutoFit/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latinLnBrk="0">
              <a:lnSpc>
                <a:spcPct val="90000"/>
              </a:lnSpc>
            </a:pPr>
            <a:r>
              <a:rPr lang="ko-KR" altLang="en-US" spc="-100" dirty="0">
                <a:solidFill>
                  <a:srgbClr val="FF0000"/>
                </a:solidFill>
                <a:latin typeface="Rix고딕 B" pitchFamily="18" charset="-127"/>
                <a:ea typeface="Rix고딕 B" pitchFamily="18" charset="-127"/>
              </a:rPr>
              <a:t>점진적</a:t>
            </a:r>
            <a:r>
              <a:rPr lang="en-US" altLang="ko-KR" spc="-100" dirty="0">
                <a:solidFill>
                  <a:srgbClr val="FF0000"/>
                </a:solidFill>
                <a:latin typeface="Rix고딕 B" pitchFamily="18" charset="-127"/>
                <a:ea typeface="Rix고딕 B" pitchFamily="18" charset="-127"/>
              </a:rPr>
              <a:t>/</a:t>
            </a:r>
            <a:r>
              <a:rPr lang="ko-KR" altLang="en-US" spc="-100" dirty="0">
                <a:solidFill>
                  <a:srgbClr val="FF0000"/>
                </a:solidFill>
                <a:latin typeface="Rix고딕 B" pitchFamily="18" charset="-127"/>
                <a:ea typeface="Rix고딕 B" pitchFamily="18" charset="-127"/>
              </a:rPr>
              <a:t>단계적</a:t>
            </a:r>
            <a:endParaRPr lang="en-US" altLang="ko-KR" spc="-100" dirty="0">
              <a:solidFill>
                <a:srgbClr val="FF0000"/>
              </a:solidFill>
              <a:latin typeface="Rix고딕 B" pitchFamily="18" charset="-127"/>
              <a:ea typeface="Rix고딕 B" pitchFamily="18" charset="-127"/>
            </a:endParaRPr>
          </a:p>
          <a:p>
            <a:pPr latinLnBrk="0">
              <a:lnSpc>
                <a:spcPct val="90000"/>
              </a:lnSpc>
            </a:pPr>
            <a:r>
              <a:rPr lang="ko-KR" altLang="en-US" sz="1800" spc="-100" dirty="0">
                <a:solidFill>
                  <a:srgbClr val="FF0000"/>
                </a:solidFill>
                <a:latin typeface="Rix고딕 B" pitchFamily="18" charset="-127"/>
                <a:ea typeface="Rix고딕 B" pitchFamily="18" charset="-127"/>
              </a:rPr>
              <a:t>오픈 방법</a:t>
            </a:r>
            <a:endParaRPr lang="en-US" altLang="ko-KR" dirty="0">
              <a:gradFill>
                <a:gsLst>
                  <a:gs pos="100000">
                    <a:schemeClr val="tx1"/>
                  </a:gs>
                  <a:gs pos="0">
                    <a:schemeClr val="tx1"/>
                  </a:gs>
                </a:gsLst>
                <a:lin ang="16200000" scaled="1"/>
              </a:gra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4257934" y="4275175"/>
            <a:ext cx="5228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2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개월</a:t>
            </a:r>
          </a:p>
        </p:txBody>
      </p:sp>
      <p:sp>
        <p:nvSpPr>
          <p:cNvPr id="169" name="직사각형 168"/>
          <p:cNvSpPr/>
          <p:nvPr/>
        </p:nvSpPr>
        <p:spPr>
          <a:xfrm>
            <a:off x="5118535" y="4275175"/>
            <a:ext cx="5228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105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2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개월</a:t>
            </a:r>
          </a:p>
        </p:txBody>
      </p:sp>
      <p:sp>
        <p:nvSpPr>
          <p:cNvPr id="170" name="직사각형 169"/>
          <p:cNvSpPr/>
          <p:nvPr/>
        </p:nvSpPr>
        <p:spPr>
          <a:xfrm>
            <a:off x="6535556" y="4275175"/>
            <a:ext cx="62869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4.5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개월</a:t>
            </a:r>
          </a:p>
        </p:txBody>
      </p:sp>
      <p:sp>
        <p:nvSpPr>
          <p:cNvPr id="171" name="직사각형 170"/>
          <p:cNvSpPr/>
          <p:nvPr/>
        </p:nvSpPr>
        <p:spPr>
          <a:xfrm>
            <a:off x="8186169" y="4275175"/>
            <a:ext cx="62869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3.5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개월</a:t>
            </a:r>
          </a:p>
        </p:txBody>
      </p:sp>
      <p:sp>
        <p:nvSpPr>
          <p:cNvPr id="172" name="직사각형 171"/>
          <p:cNvSpPr/>
          <p:nvPr/>
        </p:nvSpPr>
        <p:spPr>
          <a:xfrm>
            <a:off x="9426214" y="4275175"/>
            <a:ext cx="510076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2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개월</a:t>
            </a:r>
          </a:p>
        </p:txBody>
      </p:sp>
      <p:sp>
        <p:nvSpPr>
          <p:cNvPr id="120" name="직사각형 119"/>
          <p:cNvSpPr/>
          <p:nvPr/>
        </p:nvSpPr>
        <p:spPr>
          <a:xfrm>
            <a:off x="4017143" y="3430245"/>
            <a:ext cx="1459031" cy="369332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lvl="1" algn="ctr" defTabSz="957206" latinLnBrk="0">
              <a:buClr>
                <a:sysClr val="windowText" lastClr="000000"/>
              </a:buClr>
              <a:tabLst>
                <a:tab pos="5037002" algn="l"/>
              </a:tabLst>
              <a:defRPr/>
            </a:pPr>
            <a:r>
              <a:rPr lang="en-US" altLang="ko-KR" sz="1200" kern="0" dirty="0">
                <a:solidFill>
                  <a:srgbClr val="FF0000"/>
                </a:solidFill>
              </a:rPr>
              <a:t>TMS </a:t>
            </a:r>
            <a:r>
              <a:rPr lang="ko-KR" altLang="en-US" sz="1200" kern="0" dirty="0">
                <a:solidFill>
                  <a:srgbClr val="FF0000"/>
                </a:solidFill>
              </a:rPr>
              <a:t>오픈 후</a:t>
            </a:r>
            <a:endParaRPr lang="en-US" altLang="ko-KR" sz="1200" kern="0" dirty="0">
              <a:solidFill>
                <a:srgbClr val="FF0000"/>
              </a:solidFill>
            </a:endParaRPr>
          </a:p>
          <a:p>
            <a:pPr marL="0" lvl="1" algn="ctr" defTabSz="957206" latinLnBrk="0">
              <a:buClr>
                <a:sysClr val="windowText" lastClr="000000"/>
              </a:buClr>
              <a:tabLst>
                <a:tab pos="5037002" algn="l"/>
              </a:tabLst>
              <a:defRPr/>
            </a:pPr>
            <a:r>
              <a:rPr lang="ko-KR" altLang="en-US" sz="1200" kern="0" dirty="0">
                <a:solidFill>
                  <a:srgbClr val="FF0000"/>
                </a:solidFill>
              </a:rPr>
              <a:t>서비스 개발</a:t>
            </a:r>
          </a:p>
        </p:txBody>
      </p:sp>
      <p:cxnSp>
        <p:nvCxnSpPr>
          <p:cNvPr id="117" name="직선 화살표 연결선 116"/>
          <p:cNvCxnSpPr/>
          <p:nvPr/>
        </p:nvCxnSpPr>
        <p:spPr>
          <a:xfrm flipH="1">
            <a:off x="4038741" y="3183189"/>
            <a:ext cx="1825" cy="527013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자유형 8"/>
          <p:cNvSpPr/>
          <p:nvPr/>
        </p:nvSpPr>
        <p:spPr>
          <a:xfrm>
            <a:off x="954089" y="3204552"/>
            <a:ext cx="730873" cy="2869838"/>
          </a:xfrm>
          <a:custGeom>
            <a:avLst/>
            <a:gdLst>
              <a:gd name="connsiteX0" fmla="*/ 0 w 544531"/>
              <a:gd name="connsiteY0" fmla="*/ 0 h 904126"/>
              <a:gd name="connsiteX1" fmla="*/ 0 w 544531"/>
              <a:gd name="connsiteY1" fmla="*/ 893852 h 904126"/>
              <a:gd name="connsiteX2" fmla="*/ 544531 w 544531"/>
              <a:gd name="connsiteY2" fmla="*/ 904126 h 904126"/>
              <a:gd name="connsiteX0" fmla="*/ 0 w 544531"/>
              <a:gd name="connsiteY0" fmla="*/ 0 h 904126"/>
              <a:gd name="connsiteX1" fmla="*/ 7655 w 544531"/>
              <a:gd name="connsiteY1" fmla="*/ 903563 h 904126"/>
              <a:gd name="connsiteX2" fmla="*/ 544531 w 544531"/>
              <a:gd name="connsiteY2" fmla="*/ 904126 h 904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4531" h="904126">
                <a:moveTo>
                  <a:pt x="0" y="0"/>
                </a:moveTo>
                <a:cubicBezTo>
                  <a:pt x="2552" y="301188"/>
                  <a:pt x="5103" y="602375"/>
                  <a:pt x="7655" y="903563"/>
                </a:cubicBezTo>
                <a:lnTo>
                  <a:pt x="544531" y="904126"/>
                </a:lnTo>
              </a:path>
            </a:pathLst>
          </a:custGeom>
          <a:ln w="57150">
            <a:solidFill>
              <a:schemeClr val="accent3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직사각형 179"/>
          <p:cNvSpPr/>
          <p:nvPr/>
        </p:nvSpPr>
        <p:spPr>
          <a:xfrm>
            <a:off x="2556011" y="5831132"/>
            <a:ext cx="101822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TMS </a:t>
            </a:r>
            <a:r>
              <a:rPr lang="ko-KR" altLang="en-US" sz="10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5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개발 병행</a:t>
            </a:r>
          </a:p>
        </p:txBody>
      </p:sp>
    </p:spTree>
    <p:extLst>
      <p:ext uri="{BB962C8B-B14F-4D97-AF65-F5344CB8AC3E}">
        <p14:creationId xmlns:p14="http://schemas.microsoft.com/office/powerpoint/2010/main" val="1276446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인력 투입 계획</a:t>
            </a:r>
            <a:endParaRPr lang="en-US" altLang="ko-KR" dirty="0"/>
          </a:p>
        </p:txBody>
      </p:sp>
      <p:sp>
        <p:nvSpPr>
          <p:cNvPr id="3" name="AutoShape 4" descr="ê´ë ¨ ì´ë¯¸ì§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AutoShape 6" descr="ê´ë ¨ ì´ë¯¸ì§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344700" y="1620331"/>
            <a:ext cx="3168346" cy="5425358"/>
            <a:chOff x="738188" y="1620331"/>
            <a:chExt cx="4304826" cy="5425358"/>
          </a:xfrm>
        </p:grpSpPr>
        <p:sp>
          <p:nvSpPr>
            <p:cNvPr id="112" name="직사각형 111"/>
            <p:cNvSpPr/>
            <p:nvPr/>
          </p:nvSpPr>
          <p:spPr bwMode="auto">
            <a:xfrm>
              <a:off x="738188" y="2071002"/>
              <a:ext cx="4304826" cy="4974687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7" name="직사각형 6"/>
            <p:cNvSpPr/>
            <p:nvPr/>
          </p:nvSpPr>
          <p:spPr bwMode="auto">
            <a:xfrm>
              <a:off x="738188" y="1620331"/>
              <a:ext cx="4304826" cy="450671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인력 투입 계획</a:t>
              </a:r>
              <a:r>
                <a:rPr lang="en-US" altLang="ko-KR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 – </a:t>
              </a:r>
              <a:r>
                <a:rPr lang="en-US" altLang="ko-KR" sz="14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4</a:t>
              </a:r>
              <a:r>
                <a:rPr lang="ko-KR" altLang="en-US" sz="14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월</a:t>
              </a:r>
              <a:r>
                <a:rPr lang="en-US" altLang="ko-KR" sz="14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23</a:t>
              </a:r>
              <a:r>
                <a:rPr lang="ko-KR" altLang="en-US" sz="14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일 보고</a:t>
              </a:r>
              <a:endParaRPr lang="en-US" altLang="ko-KR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endParaRPr>
            </a:p>
          </p:txBody>
        </p:sp>
        <p:sp>
          <p:nvSpPr>
            <p:cNvPr id="70" name="TextBox 8"/>
            <p:cNvSpPr txBox="1"/>
            <p:nvPr/>
          </p:nvSpPr>
          <p:spPr>
            <a:xfrm>
              <a:off x="1129419" y="2288793"/>
              <a:ext cx="122185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defTabSz="457148" latinLnBrk="0">
                <a:defRPr b="0" spc="50">
                  <a:ln w="0">
                    <a:solidFill>
                      <a:srgbClr val="002060">
                        <a:alpha val="6000"/>
                      </a:srgbClr>
                    </a:solidFill>
                    <a:prstDash val="solid"/>
                  </a:ln>
                  <a:gradFill>
                    <a:gsLst>
                      <a:gs pos="54583">
                        <a:schemeClr val="tx1">
                          <a:lumMod val="85000"/>
                          <a:lumOff val="15000"/>
                        </a:schemeClr>
                      </a:gs>
                      <a:gs pos="34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effectLst/>
                  <a:latin typeface="Rix고딕 M" panose="02020603020101020101" pitchFamily="18" charset="-127"/>
                  <a:ea typeface="Rix고딕 M" panose="02020603020101020101" pitchFamily="18" charset="-127"/>
                </a:defRPr>
              </a:lvl1pPr>
              <a:lvl2pPr marL="457148" defTabSz="457148" latinLnBrk="0">
                <a:defRPr sz="1800"/>
              </a:lvl2pPr>
              <a:lvl3pPr marL="914296" defTabSz="457148" latinLnBrk="0">
                <a:defRPr sz="1800"/>
              </a:lvl3pPr>
              <a:lvl4pPr marL="1371444" defTabSz="457148" latinLnBrk="0">
                <a:defRPr sz="1800"/>
              </a:lvl4pPr>
              <a:lvl5pPr marL="1828592" defTabSz="457148" latinLnBrk="0">
                <a:defRPr sz="1800"/>
              </a:lvl5pPr>
              <a:lvl6pPr marL="2285740" defTabSz="457148" latinLnBrk="0">
                <a:defRPr sz="1800"/>
              </a:lvl6pPr>
              <a:lvl7pPr marL="2742888" defTabSz="457148" latinLnBrk="0">
                <a:defRPr sz="1800"/>
              </a:lvl7pPr>
              <a:lvl8pPr marL="3200036" defTabSz="457148" latinLnBrk="0">
                <a:defRPr sz="1800"/>
              </a:lvl8pPr>
              <a:lvl9pPr marL="3657184" defTabSz="457148" latinLnBrk="0">
                <a:defRPr sz="1800"/>
              </a:lvl9pPr>
            </a:lstStyle>
            <a:p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 투입인력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: </a:t>
              </a:r>
              <a:endPara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2347960" y="2313918"/>
              <a:ext cx="1050829" cy="215444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 marL="0" lvl="1" algn="ctr" defTabSz="957206" latinLnBrk="0">
                <a:buClr>
                  <a:sysClr val="windowText" lastClr="000000"/>
                </a:buClr>
                <a:tabLst>
                  <a:tab pos="5037002" algn="l"/>
                </a:tabLst>
                <a:defRPr/>
              </a:pPr>
              <a:r>
                <a:rPr lang="en-US" altLang="ko-KR" sz="1400" kern="0" dirty="0">
                  <a:solidFill>
                    <a:schemeClr val="accent2"/>
                  </a:solidFill>
                  <a:latin typeface="+mj-ea"/>
                  <a:ea typeface="+mj-ea"/>
                </a:rPr>
                <a:t>20</a:t>
              </a:r>
              <a:r>
                <a:rPr lang="ko-KR" altLang="en-US" sz="1000" kern="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명</a:t>
              </a: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3168063" y="2313918"/>
              <a:ext cx="1479803" cy="215444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 marL="0" lvl="1" algn="ctr" defTabSz="957206" latinLnBrk="0">
                <a:buClr>
                  <a:sysClr val="windowText" lastClr="000000"/>
                </a:buClr>
                <a:tabLst>
                  <a:tab pos="5037002" algn="l"/>
                </a:tabLst>
                <a:defRPr/>
              </a:pPr>
              <a:r>
                <a:rPr lang="en-US" altLang="ko-KR" sz="1400" kern="0" dirty="0">
                  <a:solidFill>
                    <a:schemeClr val="accent2"/>
                  </a:solidFill>
                  <a:latin typeface="+mj-ea"/>
                  <a:ea typeface="+mj-ea"/>
                </a:rPr>
                <a:t>134.2</a:t>
              </a:r>
              <a:r>
                <a:rPr lang="en-US" altLang="ko-KR" sz="1000" kern="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M/M</a:t>
              </a:r>
              <a:endParaRPr lang="ko-KR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68" name="직선 연결선 67"/>
            <p:cNvCxnSpPr/>
            <p:nvPr/>
          </p:nvCxnSpPr>
          <p:spPr>
            <a:xfrm>
              <a:off x="3241384" y="2313918"/>
              <a:ext cx="0" cy="215444"/>
            </a:xfrm>
            <a:prstGeom prst="line">
              <a:avLst/>
            </a:prstGeom>
            <a:ln w="28575">
              <a:solidFill>
                <a:schemeClr val="bg2">
                  <a:lumMod val="9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/>
            <p:cNvCxnSpPr/>
            <p:nvPr/>
          </p:nvCxnSpPr>
          <p:spPr>
            <a:xfrm>
              <a:off x="778573" y="2656464"/>
              <a:ext cx="4154293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6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139452"/>
              </p:ext>
            </p:extLst>
          </p:nvPr>
        </p:nvGraphicFramePr>
        <p:xfrm>
          <a:off x="488626" y="2772956"/>
          <a:ext cx="2880399" cy="4064763"/>
        </p:xfrm>
        <a:graphic>
          <a:graphicData uri="http://schemas.openxmlformats.org/drawingml/2006/table">
            <a:tbl>
              <a:tblPr firstRow="1"/>
              <a:tblGrid>
                <a:gridCol w="930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077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역할</a:t>
                      </a:r>
                      <a:endParaRPr kumimoji="0" lang="ko-KR" sz="12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인원</a:t>
                      </a:r>
                      <a:endParaRPr kumimoji="0" lang="ko-KR" altLang="ko-KR" sz="12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M/M</a:t>
                      </a:r>
                      <a:endParaRPr kumimoji="0" lang="ko-KR" sz="12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PM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0">
                        <a:lnSpc>
                          <a:spcPct val="115000"/>
                        </a:lnSpc>
                        <a:spcAft>
                          <a:spcPts val="300"/>
                        </a:spcAft>
                        <a:buFont typeface="맑은 고딕"/>
                        <a:buNone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17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사업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품질</a:t>
                      </a:r>
                      <a:endParaRPr lang="en-US" alt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관리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0">
                        <a:lnSpc>
                          <a:spcPct val="115000"/>
                        </a:lnSpc>
                        <a:spcAft>
                          <a:spcPts val="300"/>
                        </a:spcAft>
                        <a:buFont typeface="맑은 고딕"/>
                        <a:buNone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10.7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969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아키텍처팀</a:t>
                      </a:r>
                      <a:endParaRPr lang="en-US" alt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(DA,</a:t>
                      </a:r>
                      <a:r>
                        <a:rPr lang="en-US" altLang="ko-KR" sz="1100" b="0" i="0" u="none" strike="noStrike" kern="1200" baseline="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 AA, TA)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0">
                        <a:lnSpc>
                          <a:spcPct val="115000"/>
                        </a:lnSpc>
                        <a:spcAft>
                          <a:spcPts val="300"/>
                        </a:spcAft>
                        <a:buFont typeface="맑은 고딕"/>
                        <a:buNone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33.5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3631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개발팀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latinLnBrk="0">
                        <a:lnSpc>
                          <a:spcPct val="115000"/>
                        </a:lnSpc>
                        <a:spcAft>
                          <a:spcPts val="300"/>
                        </a:spcAft>
                        <a:buFont typeface="맑은 고딕"/>
                        <a:buNone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64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5969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기타 지원</a:t>
                      </a:r>
                      <a:endParaRPr lang="en-US" alt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디자인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테스트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5" name="그룹 34"/>
          <p:cNvGrpSpPr/>
          <p:nvPr/>
        </p:nvGrpSpPr>
        <p:grpSpPr>
          <a:xfrm>
            <a:off x="3791241" y="1610667"/>
            <a:ext cx="3168346" cy="5425358"/>
            <a:chOff x="738188" y="1620331"/>
            <a:chExt cx="4304826" cy="5425358"/>
          </a:xfrm>
        </p:grpSpPr>
        <p:sp>
          <p:nvSpPr>
            <p:cNvPr id="36" name="직사각형 35"/>
            <p:cNvSpPr/>
            <p:nvPr/>
          </p:nvSpPr>
          <p:spPr bwMode="auto">
            <a:xfrm>
              <a:off x="738188" y="2071002"/>
              <a:ext cx="4304826" cy="4974687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37" name="직사각형 36"/>
            <p:cNvSpPr/>
            <p:nvPr/>
          </p:nvSpPr>
          <p:spPr bwMode="auto">
            <a:xfrm>
              <a:off x="738188" y="1620331"/>
              <a:ext cx="4304826" cy="450671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/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분석</a:t>
              </a:r>
              <a:r>
                <a:rPr lang="en-US" altLang="ko-KR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/</a:t>
              </a: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설계 단계 </a:t>
              </a:r>
              <a:r>
                <a:rPr lang="ko-KR" altLang="en-US" kern="0" dirty="0" smtClean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인력 투입</a:t>
              </a:r>
              <a:endParaRPr lang="en-US" altLang="ko-KR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endParaRPr>
            </a:p>
          </p:txBody>
        </p:sp>
        <p:sp>
          <p:nvSpPr>
            <p:cNvPr id="38" name="TextBox 8"/>
            <p:cNvSpPr txBox="1"/>
            <p:nvPr/>
          </p:nvSpPr>
          <p:spPr>
            <a:xfrm>
              <a:off x="1129419" y="2288793"/>
              <a:ext cx="122185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defTabSz="457148" latinLnBrk="0">
                <a:defRPr b="0" spc="50">
                  <a:ln w="0">
                    <a:solidFill>
                      <a:srgbClr val="002060">
                        <a:alpha val="6000"/>
                      </a:srgbClr>
                    </a:solidFill>
                    <a:prstDash val="solid"/>
                  </a:ln>
                  <a:gradFill>
                    <a:gsLst>
                      <a:gs pos="54583">
                        <a:schemeClr val="tx1">
                          <a:lumMod val="85000"/>
                          <a:lumOff val="15000"/>
                        </a:schemeClr>
                      </a:gs>
                      <a:gs pos="34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effectLst/>
                  <a:latin typeface="Rix고딕 M" panose="02020603020101020101" pitchFamily="18" charset="-127"/>
                  <a:ea typeface="Rix고딕 M" panose="02020603020101020101" pitchFamily="18" charset="-127"/>
                </a:defRPr>
              </a:lvl1pPr>
              <a:lvl2pPr marL="457148" defTabSz="457148" latinLnBrk="0">
                <a:defRPr sz="1800"/>
              </a:lvl2pPr>
              <a:lvl3pPr marL="914296" defTabSz="457148" latinLnBrk="0">
                <a:defRPr sz="1800"/>
              </a:lvl3pPr>
              <a:lvl4pPr marL="1371444" defTabSz="457148" latinLnBrk="0">
                <a:defRPr sz="1800"/>
              </a:lvl4pPr>
              <a:lvl5pPr marL="1828592" defTabSz="457148" latinLnBrk="0">
                <a:defRPr sz="1800"/>
              </a:lvl5pPr>
              <a:lvl6pPr marL="2285740" defTabSz="457148" latinLnBrk="0">
                <a:defRPr sz="1800"/>
              </a:lvl6pPr>
              <a:lvl7pPr marL="2742888" defTabSz="457148" latinLnBrk="0">
                <a:defRPr sz="1800"/>
              </a:lvl7pPr>
              <a:lvl8pPr marL="3200036" defTabSz="457148" latinLnBrk="0">
                <a:defRPr sz="1800"/>
              </a:lvl8pPr>
              <a:lvl9pPr marL="3657184" defTabSz="457148" latinLnBrk="0">
                <a:defRPr sz="1800"/>
              </a:lvl9pPr>
            </a:lstStyle>
            <a:p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 투입인력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: </a:t>
              </a:r>
              <a:endPara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2347960" y="2313918"/>
              <a:ext cx="1050829" cy="215444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 marL="0" lvl="1" algn="ctr" defTabSz="957206" latinLnBrk="0">
                <a:buClr>
                  <a:sysClr val="windowText" lastClr="000000"/>
                </a:buClr>
                <a:tabLst>
                  <a:tab pos="5037002" algn="l"/>
                </a:tabLst>
                <a:defRPr/>
              </a:pPr>
              <a:r>
                <a:rPr lang="en-US" altLang="ko-KR" sz="1400" kern="0" dirty="0">
                  <a:solidFill>
                    <a:schemeClr val="accent2"/>
                  </a:solidFill>
                  <a:latin typeface="+mj-ea"/>
                  <a:ea typeface="+mj-ea"/>
                </a:rPr>
                <a:t>14</a:t>
              </a:r>
              <a:r>
                <a:rPr lang="ko-KR" altLang="en-US" sz="1000" kern="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명</a:t>
              </a: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3168063" y="2313918"/>
              <a:ext cx="1479803" cy="215444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 marL="0" lvl="1" algn="ctr" defTabSz="957206" latinLnBrk="0">
                <a:buClr>
                  <a:sysClr val="windowText" lastClr="000000"/>
                </a:buClr>
                <a:tabLst>
                  <a:tab pos="5037002" algn="l"/>
                </a:tabLst>
                <a:defRPr/>
              </a:pPr>
              <a:r>
                <a:rPr lang="en-US" altLang="ko-KR" sz="1400" kern="0" dirty="0">
                  <a:solidFill>
                    <a:schemeClr val="accent2"/>
                  </a:solidFill>
                  <a:latin typeface="+mj-ea"/>
                  <a:ea typeface="+mj-ea"/>
                </a:rPr>
                <a:t>23.4</a:t>
              </a:r>
              <a:r>
                <a:rPr lang="en-US" altLang="ko-KR" sz="1000" kern="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M/M</a:t>
              </a:r>
              <a:endParaRPr lang="ko-KR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41" name="직선 연결선 40"/>
            <p:cNvCxnSpPr/>
            <p:nvPr/>
          </p:nvCxnSpPr>
          <p:spPr>
            <a:xfrm>
              <a:off x="3241384" y="2313918"/>
              <a:ext cx="0" cy="215444"/>
            </a:xfrm>
            <a:prstGeom prst="line">
              <a:avLst/>
            </a:prstGeom>
            <a:ln w="28575">
              <a:solidFill>
                <a:schemeClr val="bg2">
                  <a:lumMod val="9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/>
            <p:nvPr/>
          </p:nvCxnSpPr>
          <p:spPr>
            <a:xfrm>
              <a:off x="778573" y="2656464"/>
              <a:ext cx="4154293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4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632017"/>
              </p:ext>
            </p:extLst>
          </p:nvPr>
        </p:nvGraphicFramePr>
        <p:xfrm>
          <a:off x="3935262" y="2772955"/>
          <a:ext cx="2880399" cy="4064763"/>
        </p:xfrm>
        <a:graphic>
          <a:graphicData uri="http://schemas.openxmlformats.org/drawingml/2006/table">
            <a:tbl>
              <a:tblPr firstRow="1"/>
              <a:tblGrid>
                <a:gridCol w="930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077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역할</a:t>
                      </a:r>
                      <a:endParaRPr kumimoji="0" lang="ko-KR" sz="12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인원</a:t>
                      </a:r>
                      <a:endParaRPr kumimoji="0" lang="ko-KR" altLang="ko-KR" sz="12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명단</a:t>
                      </a:r>
                      <a:endParaRPr kumimoji="0" lang="ko-KR" sz="12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PM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이병도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17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사업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품질</a:t>
                      </a:r>
                      <a:endParaRPr lang="en-US" alt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관리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김흥한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박민우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969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아키텍처팀</a:t>
                      </a:r>
                      <a:endParaRPr lang="en-US" alt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(DA,</a:t>
                      </a:r>
                      <a:r>
                        <a:rPr lang="en-US" altLang="ko-KR" sz="1100" b="0" i="0" u="none" strike="noStrike" kern="1200" baseline="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 AA, TA)</a:t>
                      </a:r>
                      <a:endParaRPr lang="ko-KR" alt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방인화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이충원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주태영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김연배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비상주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3631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개발팀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노일래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윤정선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김혜란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모현정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성민석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정현종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권규호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5969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기타 지원</a:t>
                      </a:r>
                      <a:endParaRPr lang="en-US" alt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디자인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테스트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3" name="그룹 42"/>
          <p:cNvGrpSpPr/>
          <p:nvPr/>
        </p:nvGrpSpPr>
        <p:grpSpPr>
          <a:xfrm>
            <a:off x="7238510" y="1616173"/>
            <a:ext cx="3168346" cy="5425358"/>
            <a:chOff x="738188" y="1620331"/>
            <a:chExt cx="4304826" cy="5425358"/>
          </a:xfrm>
        </p:grpSpPr>
        <p:sp>
          <p:nvSpPr>
            <p:cNvPr id="44" name="직사각형 43"/>
            <p:cNvSpPr/>
            <p:nvPr/>
          </p:nvSpPr>
          <p:spPr bwMode="auto">
            <a:xfrm>
              <a:off x="738188" y="2071002"/>
              <a:ext cx="4304826" cy="4974687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45" name="직사각형 44"/>
            <p:cNvSpPr/>
            <p:nvPr/>
          </p:nvSpPr>
          <p:spPr bwMode="auto">
            <a:xfrm>
              <a:off x="738188" y="1620331"/>
              <a:ext cx="4304826" cy="450671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/>
              <a:r>
                <a:rPr lang="ko-KR" altLang="en-US" kern="0" dirty="0" smtClean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인력 투입 변경 안</a:t>
              </a:r>
              <a:endParaRPr lang="en-US" altLang="ko-KR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endParaRPr>
            </a:p>
          </p:txBody>
        </p:sp>
        <p:sp>
          <p:nvSpPr>
            <p:cNvPr id="46" name="TextBox 8"/>
            <p:cNvSpPr txBox="1"/>
            <p:nvPr/>
          </p:nvSpPr>
          <p:spPr>
            <a:xfrm>
              <a:off x="1129419" y="2288793"/>
              <a:ext cx="122185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defTabSz="457148" latinLnBrk="0">
                <a:defRPr b="0" spc="50">
                  <a:ln w="0">
                    <a:solidFill>
                      <a:srgbClr val="002060">
                        <a:alpha val="6000"/>
                      </a:srgbClr>
                    </a:solidFill>
                    <a:prstDash val="solid"/>
                  </a:ln>
                  <a:gradFill>
                    <a:gsLst>
                      <a:gs pos="54583">
                        <a:schemeClr val="tx1">
                          <a:lumMod val="85000"/>
                          <a:lumOff val="15000"/>
                        </a:schemeClr>
                      </a:gs>
                      <a:gs pos="34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effectLst/>
                  <a:latin typeface="Rix고딕 M" panose="02020603020101020101" pitchFamily="18" charset="-127"/>
                  <a:ea typeface="Rix고딕 M" panose="02020603020101020101" pitchFamily="18" charset="-127"/>
                </a:defRPr>
              </a:lvl1pPr>
              <a:lvl2pPr marL="457148" defTabSz="457148" latinLnBrk="0">
                <a:defRPr sz="1800"/>
              </a:lvl2pPr>
              <a:lvl3pPr marL="914296" defTabSz="457148" latinLnBrk="0">
                <a:defRPr sz="1800"/>
              </a:lvl3pPr>
              <a:lvl4pPr marL="1371444" defTabSz="457148" latinLnBrk="0">
                <a:defRPr sz="1800"/>
              </a:lvl4pPr>
              <a:lvl5pPr marL="1828592" defTabSz="457148" latinLnBrk="0">
                <a:defRPr sz="1800"/>
              </a:lvl5pPr>
              <a:lvl6pPr marL="2285740" defTabSz="457148" latinLnBrk="0">
                <a:defRPr sz="1800"/>
              </a:lvl6pPr>
              <a:lvl7pPr marL="2742888" defTabSz="457148" latinLnBrk="0">
                <a:defRPr sz="1800"/>
              </a:lvl7pPr>
              <a:lvl8pPr marL="3200036" defTabSz="457148" latinLnBrk="0">
                <a:defRPr sz="1800"/>
              </a:lvl8pPr>
              <a:lvl9pPr marL="3657184" defTabSz="457148" latinLnBrk="0">
                <a:defRPr sz="1800"/>
              </a:lvl9pPr>
            </a:lstStyle>
            <a:p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 투입인력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: </a:t>
              </a:r>
              <a:endPara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2347960" y="2313918"/>
              <a:ext cx="1050829" cy="215444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 marL="0" lvl="1" algn="ctr" defTabSz="957206" latinLnBrk="0">
                <a:buClr>
                  <a:sysClr val="windowText" lastClr="000000"/>
                </a:buClr>
                <a:tabLst>
                  <a:tab pos="5037002" algn="l"/>
                </a:tabLst>
                <a:defRPr/>
              </a:pPr>
              <a:r>
                <a:rPr lang="en-US" altLang="ko-KR" sz="1400" kern="0" dirty="0">
                  <a:solidFill>
                    <a:schemeClr val="accent2"/>
                  </a:solidFill>
                  <a:latin typeface="+mj-ea"/>
                  <a:ea typeface="+mj-ea"/>
                </a:rPr>
                <a:t>21</a:t>
              </a:r>
              <a:r>
                <a:rPr lang="ko-KR" altLang="en-US" sz="1000" kern="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명</a:t>
              </a: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168063" y="2313918"/>
              <a:ext cx="1479803" cy="215444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 marL="0" lvl="1" algn="ctr" defTabSz="957206" latinLnBrk="0">
                <a:buClr>
                  <a:sysClr val="windowText" lastClr="000000"/>
                </a:buClr>
                <a:tabLst>
                  <a:tab pos="5037002" algn="l"/>
                </a:tabLst>
                <a:defRPr/>
              </a:pPr>
              <a:r>
                <a:rPr lang="en-US" altLang="ko-KR" sz="1400" kern="0" dirty="0">
                  <a:solidFill>
                    <a:schemeClr val="accent2"/>
                  </a:solidFill>
                  <a:latin typeface="+mj-ea"/>
                  <a:ea typeface="+mj-ea"/>
                </a:rPr>
                <a:t>146.7</a:t>
              </a:r>
              <a:r>
                <a:rPr lang="en-US" altLang="ko-KR" sz="1000" kern="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M/M</a:t>
              </a:r>
              <a:endParaRPr lang="ko-KR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3241384" y="2313918"/>
              <a:ext cx="0" cy="215444"/>
            </a:xfrm>
            <a:prstGeom prst="line">
              <a:avLst/>
            </a:prstGeom>
            <a:ln w="28575">
              <a:solidFill>
                <a:schemeClr val="bg2">
                  <a:lumMod val="9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>
              <a:off x="778573" y="2656464"/>
              <a:ext cx="4154293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3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217444"/>
              </p:ext>
            </p:extLst>
          </p:nvPr>
        </p:nvGraphicFramePr>
        <p:xfrm>
          <a:off x="7387598" y="2776074"/>
          <a:ext cx="2835482" cy="4094310"/>
        </p:xfrm>
        <a:graphic>
          <a:graphicData uri="http://schemas.openxmlformats.org/drawingml/2006/table">
            <a:tbl>
              <a:tblPr firstRow="1"/>
              <a:tblGrid>
                <a:gridCol w="804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619">
                  <a:extLst>
                    <a:ext uri="{9D8B030D-6E8A-4147-A177-3AD203B41FA5}">
                      <a16:colId xmlns:a16="http://schemas.microsoft.com/office/drawing/2014/main" val="3335050107"/>
                    </a:ext>
                  </a:extLst>
                </a:gridCol>
              </a:tblGrid>
              <a:tr h="391077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변경</a:t>
                      </a:r>
                      <a:r>
                        <a:rPr kumimoji="0" lang="en-US" altLang="ko-KR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0" lang="en-US" altLang="ko-KR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</a:br>
                      <a:r>
                        <a:rPr kumimoji="0" lang="en-US" altLang="ko-KR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M/M</a:t>
                      </a:r>
                      <a:endParaRPr kumimoji="0" lang="ko-KR" altLang="ko-KR" sz="12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합계 </a:t>
                      </a:r>
                      <a:r>
                        <a:rPr kumimoji="0" lang="en-US" altLang="ko-KR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M/M</a:t>
                      </a:r>
                      <a:endParaRPr kumimoji="0" lang="ko-KR" sz="12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변경</a:t>
                      </a:r>
                      <a:r>
                        <a:rPr kumimoji="0" lang="ko-KR" altLang="en-US" sz="1200" b="0" kern="1200" baseline="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 사유</a:t>
                      </a:r>
                      <a:endParaRPr kumimoji="0" lang="ko-KR" sz="12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17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+2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12.7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설계</a:t>
                      </a:r>
                      <a:r>
                        <a:rPr lang="en-US" altLang="ko-KR" sz="1100" b="0" i="0" u="none" strike="noStrike" kern="1200" baseline="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baseline="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endParaRPr lang="en-US" altLang="ko-KR" sz="1100" b="0" i="0" u="none" strike="noStrike" kern="1200" baseline="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baseline="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지원인력 추가</a:t>
                      </a:r>
                      <a:endParaRPr lang="en-US" alt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969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-0.5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33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TA MM</a:t>
                      </a: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 축소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DA MM </a:t>
                      </a: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증가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3631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+11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75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설계 결과</a:t>
                      </a:r>
                      <a:endParaRPr lang="en-US" alt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기술요소에</a:t>
                      </a: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 따라</a:t>
                      </a:r>
                      <a:endParaRPr lang="en-US" alt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인력과 </a:t>
                      </a: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MM </a:t>
                      </a: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변경 예상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5969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sz="11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오른쪽 화살표 10"/>
          <p:cNvSpPr/>
          <p:nvPr/>
        </p:nvSpPr>
        <p:spPr>
          <a:xfrm>
            <a:off x="3513046" y="4399537"/>
            <a:ext cx="278195" cy="36005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오른쪽 화살표 50"/>
          <p:cNvSpPr/>
          <p:nvPr/>
        </p:nvSpPr>
        <p:spPr>
          <a:xfrm>
            <a:off x="6964510" y="4368656"/>
            <a:ext cx="278195" cy="36005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6319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 txBox="1">
            <a:spLocks/>
          </p:cNvSpPr>
          <p:nvPr/>
        </p:nvSpPr>
        <p:spPr>
          <a:xfrm>
            <a:off x="880820" y="1374696"/>
            <a:ext cx="9073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latinLnBrk="0">
              <a:defRPr sz="12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+mn-ea"/>
                <a:cs typeface="Arial" pitchFamily="34" charset="0"/>
              </a:defRPr>
            </a:lvl1pPr>
          </a:lstStyle>
          <a:p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산출물 계획은 </a:t>
            </a:r>
            <a:r>
              <a:rPr lang="ko-KR" altLang="en-US" sz="1400" dirty="0" smtClean="0">
                <a:latin typeface="Rix고딕 M" panose="02020603020101020101" pitchFamily="18" charset="-127"/>
                <a:ea typeface="Rix고딕 M" panose="02020603020101020101" pitchFamily="18" charset="-127"/>
              </a:rPr>
              <a:t>자사의</a:t>
            </a:r>
            <a:r>
              <a:rPr lang="en-US" altLang="ko-KR" sz="1400" dirty="0" smtClean="0">
                <a:latin typeface="Rix고딕 M" panose="02020603020101020101" pitchFamily="18" charset="-127"/>
                <a:ea typeface="Rix고딕 M" panose="02020603020101020101" pitchFamily="18" charset="-127"/>
              </a:rPr>
              <a:t>“DIDIM”</a:t>
            </a:r>
            <a:r>
              <a:rPr lang="ko-KR" altLang="en-US" sz="1400" dirty="0" smtClean="0">
                <a:latin typeface="Rix고딕 M" panose="02020603020101020101" pitchFamily="18" charset="-127"/>
                <a:ea typeface="Rix고딕 M" panose="02020603020101020101" pitchFamily="18" charset="-127"/>
              </a:rPr>
              <a:t>방법론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및 </a:t>
            </a:r>
            <a:r>
              <a:rPr lang="ko-KR" altLang="en-US" sz="14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이투스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 온라인 개발 사업에 근거하여 수행을 위한 주요 핵심 산출물들을 선정하고 작성하며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제출 산출물 종류는 운영자 및 사용자 현황에 따라 </a:t>
            </a:r>
            <a:r>
              <a:rPr lang="ko-KR" altLang="en-US" sz="14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교육지대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/</a:t>
            </a:r>
            <a:r>
              <a:rPr lang="ko-KR" altLang="en-US" sz="14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이투스교육과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 협의하여 조정하겠습니다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산출물 계획 </a:t>
            </a:r>
            <a:r>
              <a:rPr lang="en-US" altLang="ko-KR" sz="1600" dirty="0"/>
              <a:t>(1/2)</a:t>
            </a:r>
            <a:endParaRPr lang="ko-KR" altLang="en-US" sz="1600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342625"/>
              </p:ext>
            </p:extLst>
          </p:nvPr>
        </p:nvGraphicFramePr>
        <p:xfrm>
          <a:off x="736805" y="2045550"/>
          <a:ext cx="9216336" cy="4903523"/>
        </p:xfrm>
        <a:graphic>
          <a:graphicData uri="http://schemas.openxmlformats.org/drawingml/2006/table">
            <a:tbl>
              <a:tblPr firstRow="1">
                <a:tableStyleId>{5FD0F851-EC5A-4D38-B0AD-8093EC10F338}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1493712485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2000">
                  <a:extLst>
                    <a:ext uri="{9D8B030D-6E8A-4147-A177-3AD203B41FA5}">
                      <a16:colId xmlns:a16="http://schemas.microsoft.com/office/drawing/2014/main" val="707382593"/>
                    </a:ext>
                  </a:extLst>
                </a:gridCol>
              </a:tblGrid>
              <a:tr h="275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14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  <a:sym typeface="Monotype Sorts"/>
                        </a:rPr>
                        <a:t>단계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14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  <a:sym typeface="Monotype Sorts"/>
                        </a:rPr>
                        <a:t>태스크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14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  <a:sym typeface="Monotype Sorts"/>
                        </a:rPr>
                        <a:t>사업관리 산출물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416390"/>
                  </a:ext>
                </a:extLst>
              </a:tr>
              <a:tr h="330601">
                <a:tc rowSpan="3"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착수</a:t>
                      </a:r>
                      <a:endParaRPr lang="ko-KR" altLang="ko-KR" sz="12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계약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계약서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8227870"/>
                  </a:ext>
                </a:extLst>
              </a:tr>
              <a:tr h="330601">
                <a:tc vMerge="1"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착수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착수보고서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사업수행계획서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5602140"/>
                  </a:ext>
                </a:extLst>
              </a:tr>
              <a:tr h="330601">
                <a:tc vMerge="1"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프로젝트 표준수립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테일러링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기준서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테일러링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결과서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6687098"/>
                  </a:ext>
                </a:extLst>
              </a:tr>
              <a:tr h="330601">
                <a:tc rowSpan="9"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실행통제</a:t>
                      </a:r>
                      <a:endParaRPr lang="ko-KR" altLang="ko-KR" sz="12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범위관리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요구사항정의서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요구사항추적표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38119024"/>
                  </a:ext>
                </a:extLst>
              </a:tr>
              <a:tr h="330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일정 및 진척관리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일정 및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진척관리표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(WBS)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위험 및 이슈관리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위험 및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이슈관리표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의사소통관리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회의록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주간보고서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월간보고서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수시보고서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형상관리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변경관리표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교육관리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교육결과서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별첨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.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참석자명단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품질관리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단계말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품질검토결과서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2265365"/>
                  </a:ext>
                </a:extLst>
              </a:tr>
              <a:tr h="330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중간보고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중간보고서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8132840"/>
                  </a:ext>
                </a:extLst>
              </a:tr>
              <a:tr h="330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보안관리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주간보안점검표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월간보안교육결과서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보안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USB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관리대장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601">
                <a:tc rowSpan="2"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종료</a:t>
                      </a:r>
                      <a:endParaRPr lang="ko-KR" altLang="ko-KR" sz="12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안정화 계획 수립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하자보수계획서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안정화계획서</a:t>
                      </a:r>
                      <a:endParaRPr kumimoji="1" lang="pt-BR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행정적 종료 준비</a:t>
                      </a:r>
                      <a:endParaRPr kumimoji="1" lang="ko-KR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완료보고서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검사요청서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최종산출물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(CD),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인수인계 확인서</a:t>
                      </a:r>
                      <a:endParaRPr kumimoji="1" lang="pt-BR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12" name="그룹 11"/>
          <p:cNvGrpSpPr/>
          <p:nvPr/>
        </p:nvGrpSpPr>
        <p:grpSpPr>
          <a:xfrm>
            <a:off x="8918625" y="2124401"/>
            <a:ext cx="948840" cy="743658"/>
            <a:chOff x="3791442" y="1411129"/>
            <a:chExt cx="972680" cy="762346"/>
          </a:xfrm>
        </p:grpSpPr>
        <p:pic>
          <p:nvPicPr>
            <p:cNvPr id="13" name="Picture 2" descr="D:\19.전지수\1. 제안서\2. 일반제안\2019년 제안서\20190409_청와대_청와대 기록관리시스템 구축\제안설명회\jpg\딱지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2979" y="1411129"/>
              <a:ext cx="762346" cy="762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/>
            <p:cNvSpPr txBox="1"/>
            <p:nvPr/>
          </p:nvSpPr>
          <p:spPr>
            <a:xfrm>
              <a:off x="3791442" y="1577716"/>
              <a:ext cx="972680" cy="431305"/>
            </a:xfrm>
            <a:prstGeom prst="rect">
              <a:avLst/>
            </a:prstGeom>
          </p:spPr>
          <p:txBody>
            <a:bodyPr anchor="ctr"/>
            <a:lstStyle>
              <a:defPPr>
                <a:defRPr lang="ko-KR"/>
              </a:defPPr>
              <a:lvl1pPr marL="0" indent="0" defTabSz="914400" eaLnBrk="1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>
                  <a:gradFill>
                    <a:gsLst>
                      <a:gs pos="78333">
                        <a:schemeClr val="tx1"/>
                      </a:gs>
                      <a:gs pos="67500">
                        <a:schemeClr val="tx1"/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defRPr>
              </a:lvl1pPr>
              <a:lvl2pPr marL="6858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2pPr>
              <a:lvl3pPr marL="11430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3pPr>
              <a:lvl4pPr marL="16002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4pPr>
              <a:lvl5pPr marL="20574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9pPr>
            </a:lstStyle>
            <a:p>
              <a:pPr lvl="0" algn="ctr"/>
              <a:r>
                <a:rPr kumimoji="1" lang="en-US" altLang="ko-KR" sz="1400" dirty="0">
                  <a:gradFill>
                    <a:gsLst>
                      <a:gs pos="60833">
                        <a:prstClr val="white"/>
                      </a:gs>
                      <a:gs pos="75000">
                        <a:prstClr val="white"/>
                      </a:gs>
                    </a:gsLst>
                    <a:lin ang="5400000" scaled="0"/>
                  </a:gradFill>
                  <a:latin typeface="Rix고딕 B"/>
                  <a:ea typeface="Rix고딕 B"/>
                </a:rPr>
                <a:t>27 </a:t>
              </a:r>
              <a:r>
                <a:rPr kumimoji="1" lang="ko-KR" altLang="en-US" sz="1400" dirty="0">
                  <a:gradFill>
                    <a:gsLst>
                      <a:gs pos="60833">
                        <a:prstClr val="white"/>
                      </a:gs>
                      <a:gs pos="75000">
                        <a:prstClr val="white"/>
                      </a:gs>
                    </a:gsLst>
                    <a:lin ang="5400000" scaled="0"/>
                  </a:gradFill>
                  <a:latin typeface="Rix고딕 B"/>
                  <a:ea typeface="Rix고딕 B"/>
                </a:rPr>
                <a:t>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490602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산출물 계획 </a:t>
            </a:r>
            <a:r>
              <a:rPr lang="en-US" altLang="ko-KR" sz="1600" dirty="0"/>
              <a:t>(2/2)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587362"/>
              </p:ext>
            </p:extLst>
          </p:nvPr>
        </p:nvGraphicFramePr>
        <p:xfrm>
          <a:off x="738314" y="1592129"/>
          <a:ext cx="9217026" cy="5284931"/>
        </p:xfrm>
        <a:graphic>
          <a:graphicData uri="http://schemas.openxmlformats.org/drawingml/2006/table">
            <a:tbl>
              <a:tblPr firstRow="1">
                <a:tableStyleId>{5FD0F851-EC5A-4D38-B0AD-8093EC10F338}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1493712485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2690">
                  <a:extLst>
                    <a:ext uri="{9D8B030D-6E8A-4147-A177-3AD203B41FA5}">
                      <a16:colId xmlns:a16="http://schemas.microsoft.com/office/drawing/2014/main" val="707382593"/>
                    </a:ext>
                  </a:extLst>
                </a:gridCol>
              </a:tblGrid>
              <a:tr h="3025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14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  <a:sym typeface="Monotype Sorts"/>
                        </a:rPr>
                        <a:t>단계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14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  <a:sym typeface="Monotype Sorts"/>
                        </a:rPr>
                        <a:t>활동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14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  <a:sym typeface="Monotype Sorts"/>
                        </a:rPr>
                        <a:t>개발 산출물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416390"/>
                  </a:ext>
                </a:extLst>
              </a:tr>
              <a:tr h="262353">
                <a:tc rowSpan="4"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분석</a:t>
                      </a:r>
                      <a:endParaRPr lang="ko-KR" altLang="ko-KR" sz="12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요구정의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인터뷰계획서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인터뷰결과서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요구사항정의서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요구사항추적표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5602140"/>
                  </a:ext>
                </a:extLst>
              </a:tr>
              <a:tr h="2623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업무분석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현행 시스템 분석서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업무기능분해도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업무흐름도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기타 업무분석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한글콘트롤 분석서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전환범위 분석서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UI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분석 등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3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데이터베이스 기본 설계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표준데이터정의서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데이터전환계획서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3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시스템구조 기본설계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인터페이스설계서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596">
                <a:tc rowSpan="5"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설계</a:t>
                      </a:r>
                      <a:endParaRPr lang="ko-KR" altLang="ko-KR" sz="12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데이터베이스 상세 설계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15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데이터베이스 명명규칙 가이드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테이블정의서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논리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물리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ERD,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인덱스정의서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데이터전환계획서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데이터전환설계서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데이터전환컬럼매핑정의서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38119024"/>
                  </a:ext>
                </a:extLst>
              </a:tr>
              <a:tr h="4015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시스템구조 상세 설계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시스템인터페이스설계서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API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인터페이스매핑정의서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API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인터페이스설계서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아키텍처설계서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개발환경정의서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</a:p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로컬개발환경구성가이드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개발표준정의서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5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화면 상세 설계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사용자인터페이스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(UI)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화면설계서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8347743"/>
                  </a:ext>
                </a:extLst>
              </a:tr>
              <a:tr h="2845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어플리케이션 상세 설계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프로그램목록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배치프로그램설계서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5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테스트 계획 수립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총괄테스트계획서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성능테스트계획서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통합테스트계획서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사용자테스트계획서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523">
                <a:tc rowSpan="7"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구현 및 테스트</a:t>
                      </a:r>
                      <a:endParaRPr lang="ko-KR" altLang="ko-KR" sz="12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프로그램 개발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프로그램 소스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523">
                <a:tc vMerge="1"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단위테스트 수행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단위기능 테스트시나리오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단위기능 테스트결과서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*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별첨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.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단위테스트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결함관리표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5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통합테스트 수행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통합테스트시나리오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통합테스트결과서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*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별첨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.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통합테스트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결함관리표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5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성능테스트 수행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성능테스트시나리오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성능테스트결과서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45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사용자테스트 수행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사용자테스트시나리오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사용자테스트결과서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*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별첨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.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사용자테스트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결함관리표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5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 err="1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데이터전환</a:t>
                      </a: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 모의 수행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데이터전환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시나리오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데이터전환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결과서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763058"/>
                  </a:ext>
                </a:extLst>
              </a:tr>
              <a:tr h="2845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이행 계획 수립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이행계획서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이행시나리오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4523"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이행</a:t>
                      </a:r>
                      <a:endParaRPr lang="ko-KR" altLang="ko-KR" sz="12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F5F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이행</a:t>
                      </a:r>
                      <a:endParaRPr lang="ko-KR" altLang="ko-KR" sz="105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36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이행결과서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데이터전환 결과서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pSp>
        <p:nvGrpSpPr>
          <p:cNvPr id="9" name="그룹 8"/>
          <p:cNvGrpSpPr/>
          <p:nvPr/>
        </p:nvGrpSpPr>
        <p:grpSpPr>
          <a:xfrm>
            <a:off x="9006500" y="1280807"/>
            <a:ext cx="948840" cy="743658"/>
            <a:chOff x="3791442" y="1411129"/>
            <a:chExt cx="972680" cy="762346"/>
          </a:xfrm>
        </p:grpSpPr>
        <p:pic>
          <p:nvPicPr>
            <p:cNvPr id="11" name="Picture 2" descr="D:\19.전지수\1. 제안서\2. 일반제안\2019년 제안서\20190409_청와대_청와대 기록관리시스템 구축\제안설명회\jpg\딱지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2979" y="1411129"/>
              <a:ext cx="762346" cy="762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3791442" y="1577716"/>
              <a:ext cx="972680" cy="431305"/>
            </a:xfrm>
            <a:prstGeom prst="rect">
              <a:avLst/>
            </a:prstGeom>
          </p:spPr>
          <p:txBody>
            <a:bodyPr anchor="ctr"/>
            <a:lstStyle>
              <a:defPPr>
                <a:defRPr lang="ko-KR"/>
              </a:defPPr>
              <a:lvl1pPr marL="0" indent="0" defTabSz="914400" eaLnBrk="1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>
                  <a:gradFill>
                    <a:gsLst>
                      <a:gs pos="78333">
                        <a:schemeClr val="tx1"/>
                      </a:gs>
                      <a:gs pos="67500">
                        <a:schemeClr val="tx1"/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defRPr>
              </a:lvl1pPr>
              <a:lvl2pPr marL="6858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2pPr>
              <a:lvl3pPr marL="11430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3pPr>
              <a:lvl4pPr marL="16002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4pPr>
              <a:lvl5pPr marL="20574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9pPr>
            </a:lstStyle>
            <a:p>
              <a:pPr lvl="0" algn="ctr"/>
              <a:r>
                <a:rPr kumimoji="1" lang="en-US" altLang="ko-KR" sz="1400" dirty="0">
                  <a:gradFill>
                    <a:gsLst>
                      <a:gs pos="60833">
                        <a:prstClr val="white"/>
                      </a:gs>
                      <a:gs pos="75000">
                        <a:prstClr val="white"/>
                      </a:gs>
                    </a:gsLst>
                    <a:lin ang="5400000" scaled="0"/>
                  </a:gradFill>
                  <a:latin typeface="Rix고딕 B"/>
                  <a:ea typeface="Rix고딕 B"/>
                </a:rPr>
                <a:t>53</a:t>
              </a:r>
              <a:r>
                <a:rPr kumimoji="1" lang="ko-KR" altLang="en-US" sz="1400" dirty="0">
                  <a:gradFill>
                    <a:gsLst>
                      <a:gs pos="60833">
                        <a:prstClr val="white"/>
                      </a:gs>
                      <a:gs pos="75000">
                        <a:prstClr val="white"/>
                      </a:gs>
                    </a:gsLst>
                    <a:lin ang="5400000" scaled="0"/>
                  </a:gradFill>
                  <a:latin typeface="Rix고딕 B"/>
                  <a:ea typeface="Rix고딕 B"/>
                </a:rPr>
                <a:t>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556201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그룹 105"/>
          <p:cNvGrpSpPr/>
          <p:nvPr/>
        </p:nvGrpSpPr>
        <p:grpSpPr>
          <a:xfrm>
            <a:off x="738061" y="2414689"/>
            <a:ext cx="2607568" cy="4526506"/>
            <a:chOff x="727920" y="2750888"/>
            <a:chExt cx="3754660" cy="4526506"/>
          </a:xfrm>
        </p:grpSpPr>
        <p:sp>
          <p:nvSpPr>
            <p:cNvPr id="107" name="직사각형 106"/>
            <p:cNvSpPr/>
            <p:nvPr/>
          </p:nvSpPr>
          <p:spPr>
            <a:xfrm>
              <a:off x="727920" y="3121476"/>
              <a:ext cx="3754660" cy="415591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직사각형 107"/>
            <p:cNvSpPr/>
            <p:nvPr/>
          </p:nvSpPr>
          <p:spPr bwMode="auto">
            <a:xfrm>
              <a:off x="727920" y="2750888"/>
              <a:ext cx="3754660" cy="460375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/>
              <a:r>
                <a:rPr lang="ko-KR" altLang="en-US" sz="18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테스트 수행 특징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963258" y="4780255"/>
            <a:ext cx="2399435" cy="1992193"/>
            <a:chOff x="844923" y="4744688"/>
            <a:chExt cx="2399435" cy="1992193"/>
          </a:xfrm>
        </p:grpSpPr>
        <p:grpSp>
          <p:nvGrpSpPr>
            <p:cNvPr id="19" name="그룹 18"/>
            <p:cNvGrpSpPr/>
            <p:nvPr/>
          </p:nvGrpSpPr>
          <p:grpSpPr>
            <a:xfrm>
              <a:off x="844923" y="4744688"/>
              <a:ext cx="2399435" cy="1992193"/>
              <a:chOff x="422135" y="4347468"/>
              <a:chExt cx="2211453" cy="1992193"/>
            </a:xfrm>
          </p:grpSpPr>
          <p:sp>
            <p:nvSpPr>
              <p:cNvPr id="21" name="Text Box 113"/>
              <p:cNvSpPr txBox="1">
                <a:spLocks noChangeArrowheads="1"/>
              </p:cNvSpPr>
              <p:nvPr/>
            </p:nvSpPr>
            <p:spPr bwMode="auto">
              <a:xfrm>
                <a:off x="422135" y="4719452"/>
                <a:ext cx="2211453" cy="1620209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ko-KR"/>
                </a:defPPr>
                <a:lvl1pPr marL="90488" indent="-90488" latinLnBrk="0">
                  <a:lnSpc>
                    <a:spcPct val="110000"/>
                  </a:lnSpc>
                  <a:spcBef>
                    <a:spcPct val="20000"/>
                  </a:spcBef>
                  <a:buSzPct val="90000"/>
                  <a:buFont typeface="Arial" pitchFamily="34" charset="0"/>
                  <a:buChar char="•"/>
                  <a:defRPr sz="1400" kern="0">
                    <a:gradFill>
                      <a:gsLst>
                        <a:gs pos="38333">
                          <a:schemeClr val="tx1">
                            <a:lumMod val="85000"/>
                            <a:lumOff val="15000"/>
                          </a:schemeClr>
                        </a:gs>
                        <a:gs pos="51667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defRPr>
                </a:lvl1pPr>
                <a:lvl2pPr marL="90488" lvl="1" indent="-90488" latinLnBrk="0">
                  <a:lnSpc>
                    <a:spcPct val="110000"/>
                  </a:lnSpc>
                  <a:spcBef>
                    <a:spcPct val="20000"/>
                  </a:spcBef>
                  <a:buSzPct val="90000"/>
                  <a:buFont typeface="Arial" pitchFamily="34" charset="0"/>
                  <a:buChar char="•"/>
                  <a:defRPr sz="1400" kern="0">
                    <a:gradFill>
                      <a:gsLst>
                        <a:gs pos="38333">
                          <a:schemeClr val="tx1">
                            <a:lumMod val="85000"/>
                            <a:lumOff val="15000"/>
                          </a:schemeClr>
                        </a:gs>
                        <a:gs pos="51667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defRPr>
                </a:lvl2pPr>
              </a:lstStyle>
              <a:p>
                <a:pPr marL="149225" indent="-149225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ko-KR" altLang="en-US" sz="125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단계별 테스트 통한 </a:t>
                </a:r>
                <a:r>
                  <a:rPr lang="en-US" altLang="ko-KR" sz="125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/>
                </a:r>
                <a:br>
                  <a:rPr lang="en-US" altLang="ko-KR" sz="125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rPr>
                </a:br>
                <a:r>
                  <a:rPr lang="ko-KR" altLang="en-US" sz="125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시스템 안정성 확보</a:t>
                </a:r>
              </a:p>
              <a:p>
                <a:pPr marL="149225" indent="-149225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ko-KR" altLang="en-US" sz="125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총괄 테스트 계획수립 및  </a:t>
                </a:r>
                <a:r>
                  <a:rPr lang="en-US" altLang="ko-KR" sz="125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/>
                </a:r>
                <a:br>
                  <a:rPr lang="en-US" altLang="ko-KR" sz="125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rPr>
                </a:br>
                <a:r>
                  <a:rPr lang="ko-KR" altLang="en-US" sz="125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테스트 활동관리 수행</a:t>
                </a:r>
              </a:p>
              <a:p>
                <a:pPr marL="149225" indent="-149225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ko-KR" altLang="en-US" sz="125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시스템 별 특성 고려한</a:t>
                </a:r>
                <a:r>
                  <a:rPr lang="en-US" altLang="ko-KR" sz="125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/>
                </a:r>
                <a:br>
                  <a:rPr lang="en-US" altLang="ko-KR" sz="125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rPr>
                </a:br>
                <a:r>
                  <a:rPr lang="ko-KR" altLang="en-US" sz="1250" dirty="0">
                    <a:ln>
                      <a:solidFill>
                        <a:srgbClr val="87A884">
                          <a:lumMod val="75000"/>
                          <a:alpha val="0"/>
                        </a:srgbClr>
                      </a:solidFill>
                    </a:ln>
                    <a:gradFill>
                      <a:gsLst>
                        <a:gs pos="38333">
                          <a:prstClr val="black">
                            <a:lumMod val="85000"/>
                            <a:lumOff val="15000"/>
                          </a:prstClr>
                        </a:gs>
                        <a:gs pos="51667">
                          <a:prstClr val="black">
                            <a:lumMod val="85000"/>
                            <a:lumOff val="15000"/>
                          </a:prstClr>
                        </a:gs>
                      </a:gsLst>
                      <a:lin ang="5400000" scaled="0"/>
                    </a:gra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테스트 시나리오 작성</a:t>
                </a:r>
              </a:p>
            </p:txBody>
          </p:sp>
          <p:sp>
            <p:nvSpPr>
              <p:cNvPr id="24" name="모서리가 둥근 직사각형 23"/>
              <p:cNvSpPr/>
              <p:nvPr/>
            </p:nvSpPr>
            <p:spPr>
              <a:xfrm>
                <a:off x="423121" y="4347468"/>
                <a:ext cx="732895" cy="27998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endParaRPr lang="ko-KR" altLang="en-US" sz="360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solidFill>
                    <a:schemeClr val="accent3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endParaRPr>
              </a:p>
            </p:txBody>
          </p:sp>
        </p:grpSp>
        <p:sp>
          <p:nvSpPr>
            <p:cNvPr id="90" name="직사각형 89"/>
            <p:cNvSpPr/>
            <p:nvPr/>
          </p:nvSpPr>
          <p:spPr>
            <a:xfrm>
              <a:off x="994621" y="4767436"/>
              <a:ext cx="542911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contourClr>
                  <a:srgbClr val="1C3833"/>
                </a:contourClr>
              </a:sp3d>
            </a:bodyPr>
            <a:lstStyle/>
            <a:p>
              <a:pPr marL="1458" algn="ctr" defTabSz="957778" fontAlgn="base" latinLnBrk="0">
                <a:spcBef>
                  <a:spcPct val="0"/>
                </a:spcBef>
                <a:spcAft>
                  <a:spcPct val="0"/>
                </a:spcAft>
                <a:tabLst>
                  <a:tab pos="740563" algn="l"/>
                </a:tabLst>
              </a:pPr>
              <a:r>
                <a:rPr kumimoji="1" lang="ko-KR" altLang="en-US" sz="1400" kern="0" dirty="0">
                  <a:solidFill>
                    <a:schemeClr val="accent3"/>
                  </a:solidFill>
                  <a:latin typeface="Rix고딕 EB"/>
                  <a:ea typeface="Rix고딕 EB" panose="02020603020101020101" pitchFamily="18" charset="-127"/>
                </a:rPr>
                <a:t>방안</a:t>
              </a: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3345628" y="1980381"/>
            <a:ext cx="6609585" cy="4967534"/>
            <a:chOff x="732511" y="1709205"/>
            <a:chExt cx="6558459" cy="4967534"/>
          </a:xfrm>
        </p:grpSpPr>
        <p:sp>
          <p:nvSpPr>
            <p:cNvPr id="110" name="직사각형 109"/>
            <p:cNvSpPr/>
            <p:nvPr/>
          </p:nvSpPr>
          <p:spPr bwMode="auto">
            <a:xfrm>
              <a:off x="732511" y="1709205"/>
              <a:ext cx="6558459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sz="2100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체계적인 테스트 계획 및 수행으로 최상의 완성도 보장</a:t>
              </a:r>
            </a:p>
          </p:txBody>
        </p:sp>
        <p:sp>
          <p:nvSpPr>
            <p:cNvPr id="111" name="직사각형 110"/>
            <p:cNvSpPr/>
            <p:nvPr/>
          </p:nvSpPr>
          <p:spPr bwMode="auto">
            <a:xfrm>
              <a:off x="732511" y="2295524"/>
              <a:ext cx="6558459" cy="438121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테스트 계획 </a:t>
            </a:r>
            <a:r>
              <a:rPr lang="en-US" altLang="ko-KR" sz="1600" dirty="0"/>
              <a:t>(1/2)</a:t>
            </a:r>
          </a:p>
        </p:txBody>
      </p:sp>
      <p:sp>
        <p:nvSpPr>
          <p:cNvPr id="4" name="텍스트 개체 틀 2"/>
          <p:cNvSpPr txBox="1">
            <a:spLocks/>
          </p:cNvSpPr>
          <p:nvPr/>
        </p:nvSpPr>
        <p:spPr>
          <a:xfrm>
            <a:off x="785674" y="1337316"/>
            <a:ext cx="9073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latinLnBrk="0">
              <a:defRPr sz="12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+mn-ea"/>
                <a:cs typeface="Arial" pitchFamily="34" charset="0"/>
              </a:defRPr>
            </a:lvl1pPr>
          </a:lstStyle>
          <a:p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각 단계별 상세한 테스트 절차를 제공하고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체계적으로 지원 및 관리하여 이를 통해 구축된 시스템이 사용자의 요구사항을 완벽하게 만족시킬 수 있도록 완성도를 높이겠습니다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</p:txBody>
      </p:sp>
      <p:sp>
        <p:nvSpPr>
          <p:cNvPr id="15" name="직사각형 91"/>
          <p:cNvSpPr/>
          <p:nvPr/>
        </p:nvSpPr>
        <p:spPr>
          <a:xfrm>
            <a:off x="1283128" y="3054662"/>
            <a:ext cx="2058780" cy="385017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contourClr>
                <a:srgbClr val="005392"/>
              </a:contourClr>
            </a:sp3d>
          </a:bodyPr>
          <a:lstStyle/>
          <a:p>
            <a:pPr defTabSz="956508" latinLnBrk="0"/>
            <a:r>
              <a:rPr lang="ko-KR" altLang="en-US" sz="14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표준 시험 절차 적용</a:t>
            </a:r>
          </a:p>
        </p:txBody>
      </p:sp>
      <p:sp>
        <p:nvSpPr>
          <p:cNvPr id="16" name="직사각형 91"/>
          <p:cNvSpPr/>
          <p:nvPr/>
        </p:nvSpPr>
        <p:spPr>
          <a:xfrm>
            <a:off x="1283127" y="3453922"/>
            <a:ext cx="2058781" cy="358173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contourClr>
                <a:srgbClr val="005392"/>
              </a:contourClr>
            </a:sp3d>
          </a:bodyPr>
          <a:lstStyle/>
          <a:p>
            <a:pPr defTabSz="956508" latinLnBrk="0"/>
            <a:r>
              <a:rPr lang="ko-KR" altLang="en-US" sz="14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객관적</a:t>
            </a:r>
            <a:r>
              <a:rPr lang="en-US" altLang="ko-KR" sz="14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·</a:t>
            </a:r>
            <a:r>
              <a:rPr lang="ko-KR" altLang="en-US" sz="14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정량적 측정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283127" y="3826338"/>
            <a:ext cx="2058781" cy="344322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contourClr>
                <a:srgbClr val="005392"/>
              </a:contourClr>
            </a:sp3d>
          </a:bodyPr>
          <a:lstStyle/>
          <a:p>
            <a:pPr defTabSz="956508" latinLnBrk="0"/>
            <a:r>
              <a:rPr lang="ko-KR" altLang="en-US" sz="14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점진적</a:t>
            </a:r>
            <a:r>
              <a:rPr lang="en-US" altLang="ko-KR" sz="14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·</a:t>
            </a:r>
            <a:r>
              <a:rPr lang="ko-KR" altLang="en-US" sz="14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반복적 테스트 수행</a:t>
            </a:r>
          </a:p>
        </p:txBody>
      </p:sp>
      <p:sp>
        <p:nvSpPr>
          <p:cNvPr id="39" name="양쪽 모서리가 둥근 사각형 38"/>
          <p:cNvSpPr/>
          <p:nvPr/>
        </p:nvSpPr>
        <p:spPr>
          <a:xfrm>
            <a:off x="3572954" y="5578572"/>
            <a:ext cx="6210162" cy="1226479"/>
          </a:xfrm>
          <a:prstGeom prst="round2SameRect">
            <a:avLst>
              <a:gd name="adj1" fmla="val 0"/>
              <a:gd name="adj2" fmla="val 0"/>
            </a:avLst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lIns="83969" tIns="41985" rIns="83969" bIns="41985" rtlCol="0" anchor="ctr"/>
          <a:lstStyle/>
          <a:p>
            <a:pPr algn="ctr" defTabSz="957778" latinLnBrk="0">
              <a:defRPr/>
            </a:pPr>
            <a:endParaRPr lang="ko-KR" altLang="en-US" sz="1900" kern="0" dirty="0">
              <a:solidFill>
                <a:prstClr val="white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3572954" y="4808900"/>
            <a:ext cx="6210162" cy="334337"/>
            <a:chOff x="3386854" y="4175760"/>
            <a:chExt cx="6162049" cy="348154"/>
          </a:xfrm>
        </p:grpSpPr>
        <p:grpSp>
          <p:nvGrpSpPr>
            <p:cNvPr id="60" name="그룹 59"/>
            <p:cNvGrpSpPr/>
            <p:nvPr/>
          </p:nvGrpSpPr>
          <p:grpSpPr>
            <a:xfrm>
              <a:off x="3386854" y="4199191"/>
              <a:ext cx="6162049" cy="310161"/>
              <a:chOff x="3386855" y="4142041"/>
              <a:chExt cx="5543732" cy="310161"/>
            </a:xfrm>
          </p:grpSpPr>
          <p:grpSp>
            <p:nvGrpSpPr>
              <p:cNvPr id="64" name="그룹 63"/>
              <p:cNvGrpSpPr/>
              <p:nvPr/>
            </p:nvGrpSpPr>
            <p:grpSpPr>
              <a:xfrm>
                <a:off x="3386855" y="4142041"/>
                <a:ext cx="2833792" cy="310161"/>
                <a:chOff x="704850" y="3563759"/>
                <a:chExt cx="3925366" cy="805588"/>
              </a:xfrm>
            </p:grpSpPr>
            <p:sp>
              <p:nvSpPr>
                <p:cNvPr id="68" name="모서리가 둥근 직사각형 67"/>
                <p:cNvSpPr/>
                <p:nvPr/>
              </p:nvSpPr>
              <p:spPr>
                <a:xfrm>
                  <a:off x="704850" y="3563759"/>
                  <a:ext cx="3925366" cy="80558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 cap="flat" cmpd="sng" algn="ctr">
                  <a:noFill/>
                  <a:prstDash val="solid"/>
                </a:ln>
                <a:effectLst/>
              </p:spPr>
              <p:txBody>
                <a:bodyPr lIns="0" tIns="0" rIns="0" bIns="0" rtlCol="0" anchor="ctr"/>
                <a:lstStyle/>
                <a:p>
                  <a:pPr marL="1458" algn="ctr" defTabSz="957778" fontAlgn="base" latinLnBrk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400" kern="0" dirty="0">
                    <a:gradFill>
                      <a:gsLst>
                        <a:gs pos="10833">
                          <a:srgbClr val="679BB5">
                            <a:lumMod val="50000"/>
                          </a:srgbClr>
                        </a:gs>
                        <a:gs pos="20000">
                          <a:srgbClr val="679BB5">
                            <a:lumMod val="50000"/>
                          </a:srgbClr>
                        </a:gs>
                      </a:gsLst>
                      <a:lin ang="16200000" scaled="0"/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endParaRPr>
                </a:p>
              </p:txBody>
            </p:sp>
            <p:sp>
              <p:nvSpPr>
                <p:cNvPr id="69" name="직사각형 68"/>
                <p:cNvSpPr/>
                <p:nvPr/>
              </p:nvSpPr>
              <p:spPr>
                <a:xfrm>
                  <a:off x="859488" y="3675213"/>
                  <a:ext cx="3584442" cy="58270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contourClr>
                      <a:srgbClr val="1C3833"/>
                    </a:contourClr>
                  </a:sp3d>
                </a:bodyPr>
                <a:lstStyle/>
                <a:p>
                  <a:pPr marL="1458" algn="ctr" defTabSz="957778" fontAlgn="base" latinLnBrk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740563" algn="l"/>
                    </a:tabLst>
                  </a:pPr>
                  <a:r>
                    <a:rPr kumimoji="1" lang="ko-KR" altLang="en-US" sz="1400" kern="0" dirty="0">
                      <a:gradFill>
                        <a:gsLst>
                          <a:gs pos="4167">
                            <a:srgbClr val="0E69AA">
                              <a:lumMod val="75000"/>
                            </a:srgbClr>
                          </a:gs>
                          <a:gs pos="10833">
                            <a:srgbClr val="0E69AA">
                              <a:lumMod val="75000"/>
                            </a:srgbClr>
                          </a:gs>
                        </a:gsLst>
                        <a:lin ang="16200000" scaled="0"/>
                      </a:gradFill>
                      <a:latin typeface="Rix고딕 EB" panose="02020603020101020101" pitchFamily="18" charset="-127"/>
                      <a:ea typeface="Rix고딕 EB" panose="02020603020101020101" pitchFamily="18" charset="-127"/>
                    </a:rPr>
                    <a:t>테스트 도구 활용한 코드 점검</a:t>
                  </a:r>
                </a:p>
              </p:txBody>
            </p:sp>
          </p:grpSp>
          <p:grpSp>
            <p:nvGrpSpPr>
              <p:cNvPr id="65" name="그룹 64"/>
              <p:cNvGrpSpPr/>
              <p:nvPr/>
            </p:nvGrpSpPr>
            <p:grpSpPr>
              <a:xfrm>
                <a:off x="6348900" y="4142041"/>
                <a:ext cx="2581687" cy="310161"/>
                <a:chOff x="704854" y="3563759"/>
                <a:chExt cx="3925366" cy="805588"/>
              </a:xfrm>
            </p:grpSpPr>
            <p:sp>
              <p:nvSpPr>
                <p:cNvPr id="66" name="모서리가 둥근 직사각형 65"/>
                <p:cNvSpPr/>
                <p:nvPr/>
              </p:nvSpPr>
              <p:spPr>
                <a:xfrm>
                  <a:off x="704854" y="3563759"/>
                  <a:ext cx="3925366" cy="80558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 cap="flat" cmpd="sng" algn="ctr">
                  <a:noFill/>
                  <a:prstDash val="solid"/>
                </a:ln>
                <a:effectLst/>
              </p:spPr>
              <p:txBody>
                <a:bodyPr lIns="0" tIns="0" rIns="0" bIns="0" rtlCol="0" anchor="ctr"/>
                <a:lstStyle/>
                <a:p>
                  <a:pPr marL="1458" algn="ctr" defTabSz="957778" fontAlgn="base" latinLnBrk="0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400" kern="0" dirty="0">
                    <a:gradFill>
                      <a:gsLst>
                        <a:gs pos="10833">
                          <a:srgbClr val="679BB5">
                            <a:lumMod val="50000"/>
                          </a:srgbClr>
                        </a:gs>
                        <a:gs pos="20000">
                          <a:srgbClr val="679BB5">
                            <a:lumMod val="50000"/>
                          </a:srgbClr>
                        </a:gs>
                      </a:gsLst>
                      <a:lin ang="16200000" scaled="0"/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endParaRPr>
                </a:p>
              </p:txBody>
            </p:sp>
            <p:sp>
              <p:nvSpPr>
                <p:cNvPr id="67" name="직사각형 66"/>
                <p:cNvSpPr/>
                <p:nvPr/>
              </p:nvSpPr>
              <p:spPr>
                <a:xfrm>
                  <a:off x="1022419" y="3675212"/>
                  <a:ext cx="3494161" cy="58270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contourClr>
                      <a:srgbClr val="1C3833"/>
                    </a:contourClr>
                  </a:sp3d>
                </a:bodyPr>
                <a:lstStyle/>
                <a:p>
                  <a:pPr marL="1458" algn="ctr" defTabSz="957778" fontAlgn="base" latinLnBrk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740563" algn="l"/>
                    </a:tabLst>
                  </a:pPr>
                  <a:r>
                    <a:rPr kumimoji="1" lang="ko-KR" altLang="en-US" sz="1400" kern="0" dirty="0">
                      <a:gradFill>
                        <a:gsLst>
                          <a:gs pos="4167">
                            <a:srgbClr val="0E69AA">
                              <a:lumMod val="75000"/>
                            </a:srgbClr>
                          </a:gs>
                          <a:gs pos="10833">
                            <a:srgbClr val="0E69AA">
                              <a:lumMod val="75000"/>
                            </a:srgbClr>
                          </a:gs>
                        </a:gsLst>
                        <a:lin ang="16200000" scaled="0"/>
                      </a:gradFill>
                      <a:latin typeface="Rix고딕 EB" panose="02020603020101020101" pitchFamily="18" charset="-127"/>
                      <a:ea typeface="Rix고딕 EB" panose="02020603020101020101" pitchFamily="18" charset="-127"/>
                    </a:rPr>
                    <a:t>테스트 </a:t>
                  </a:r>
                  <a:r>
                    <a:rPr kumimoji="1" lang="ko-KR" altLang="en-US" sz="1400" kern="0" dirty="0" err="1">
                      <a:gradFill>
                        <a:gsLst>
                          <a:gs pos="4167">
                            <a:srgbClr val="0E69AA">
                              <a:lumMod val="75000"/>
                            </a:srgbClr>
                          </a:gs>
                          <a:gs pos="10833">
                            <a:srgbClr val="0E69AA">
                              <a:lumMod val="75000"/>
                            </a:srgbClr>
                          </a:gs>
                        </a:gsLst>
                        <a:lin ang="16200000" scaled="0"/>
                      </a:gradFill>
                      <a:latin typeface="Rix고딕 EB" panose="02020603020101020101" pitchFamily="18" charset="-127"/>
                      <a:ea typeface="Rix고딕 EB" panose="02020603020101020101" pitchFamily="18" charset="-127"/>
                    </a:rPr>
                    <a:t>전담팀을</a:t>
                  </a:r>
                  <a:r>
                    <a:rPr kumimoji="1" lang="ko-KR" altLang="en-US" sz="1400" kern="0" dirty="0">
                      <a:gradFill>
                        <a:gsLst>
                          <a:gs pos="4167">
                            <a:srgbClr val="0E69AA">
                              <a:lumMod val="75000"/>
                            </a:srgbClr>
                          </a:gs>
                          <a:gs pos="10833">
                            <a:srgbClr val="0E69AA">
                              <a:lumMod val="75000"/>
                            </a:srgbClr>
                          </a:gs>
                        </a:gsLst>
                        <a:lin ang="16200000" scaled="0"/>
                      </a:gradFill>
                      <a:latin typeface="Rix고딕 EB" panose="02020603020101020101" pitchFamily="18" charset="-127"/>
                      <a:ea typeface="Rix고딕 EB" panose="02020603020101020101" pitchFamily="18" charset="-127"/>
                    </a:rPr>
                    <a:t> 통한 케이스 개발</a:t>
                  </a:r>
                </a:p>
              </p:txBody>
            </p:sp>
          </p:grpSp>
        </p:grpSp>
        <p:grpSp>
          <p:nvGrpSpPr>
            <p:cNvPr id="61" name="그룹 60"/>
            <p:cNvGrpSpPr/>
            <p:nvPr/>
          </p:nvGrpSpPr>
          <p:grpSpPr>
            <a:xfrm>
              <a:off x="6419795" y="4175760"/>
              <a:ext cx="358080" cy="348154"/>
              <a:chOff x="5038670" y="3375660"/>
              <a:chExt cx="358080" cy="348154"/>
            </a:xfrm>
          </p:grpSpPr>
          <p:sp>
            <p:nvSpPr>
              <p:cNvPr id="62" name="타원 61"/>
              <p:cNvSpPr/>
              <p:nvPr/>
            </p:nvSpPr>
            <p:spPr>
              <a:xfrm>
                <a:off x="5038670" y="3375660"/>
                <a:ext cx="358080" cy="348154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  <a:effectLst>
                <a:outerShdw sx="116000" sy="116000" algn="ctr" rotWithShape="0">
                  <a:schemeClr val="accent2">
                    <a:lumMod val="40000"/>
                    <a:lumOff val="60000"/>
                    <a:alpha val="42000"/>
                  </a:schemeClr>
                </a:outerShdw>
              </a:effectLst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latinLnBrk="0"/>
                <a:endParaRPr lang="ko-KR" altLang="en-US" kern="0" spc="-138" dirty="0">
                  <a:solidFill>
                    <a:srgbClr val="003366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endParaRPr>
              </a:p>
            </p:txBody>
          </p:sp>
          <p:sp>
            <p:nvSpPr>
              <p:cNvPr id="63" name="덧셈 기호 62"/>
              <p:cNvSpPr/>
              <p:nvPr/>
            </p:nvSpPr>
            <p:spPr>
              <a:xfrm>
                <a:off x="5046776" y="3384975"/>
                <a:ext cx="341870" cy="329526"/>
              </a:xfrm>
              <a:prstGeom prst="mathPlus">
                <a:avLst>
                  <a:gd name="adj1" fmla="val 15641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latinLnBrk="0"/>
                <a:endParaRPr lang="ko-KR" altLang="en-US" kern="0" spc="-138" dirty="0">
                  <a:ln>
                    <a:solidFill>
                      <a:srgbClr val="E82802">
                        <a:alpha val="0"/>
                      </a:srgbClr>
                    </a:solidFill>
                  </a:ln>
                  <a:solidFill>
                    <a:srgbClr val="003366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endParaRPr>
              </a:p>
            </p:txBody>
          </p:sp>
        </p:grpSp>
      </p:grpSp>
      <p:pic>
        <p:nvPicPr>
          <p:cNvPr id="70" name="그림 6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395161" y="5130329"/>
            <a:ext cx="565750" cy="948251"/>
          </a:xfrm>
          <a:prstGeom prst="rect">
            <a:avLst/>
          </a:prstGeom>
        </p:spPr>
      </p:pic>
      <p:grpSp>
        <p:nvGrpSpPr>
          <p:cNvPr id="71" name="그룹 70"/>
          <p:cNvGrpSpPr/>
          <p:nvPr/>
        </p:nvGrpSpPr>
        <p:grpSpPr>
          <a:xfrm>
            <a:off x="3507592" y="5274103"/>
            <a:ext cx="3337291" cy="231154"/>
            <a:chOff x="504129" y="4412669"/>
            <a:chExt cx="3475205" cy="240706"/>
          </a:xfrm>
        </p:grpSpPr>
        <p:pic>
          <p:nvPicPr>
            <p:cNvPr id="72" name="Picture 3" descr="D:\19.전지수\1. 제안서\1. 표준제안\★2017_표준제안설명회\작업\버트2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129" y="4412669"/>
              <a:ext cx="255754" cy="2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3" name="직사각형 91"/>
            <p:cNvSpPr/>
            <p:nvPr/>
          </p:nvSpPr>
          <p:spPr>
            <a:xfrm>
              <a:off x="791787" y="4414796"/>
              <a:ext cx="3187547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/>
            <a:p>
              <a:pPr defTabSz="957778" fontAlgn="base" latinLnBrk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400" kern="0" dirty="0">
                  <a:ln>
                    <a:solidFill>
                      <a:srgbClr val="255A7B">
                        <a:lumMod val="20000"/>
                        <a:lumOff val="80000"/>
                        <a:alpha val="0"/>
                      </a:srgb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latin typeface="Rix고딕 EB" panose="02020603020101020101" pitchFamily="18" charset="-127"/>
                  <a:ea typeface="Rix고딕 EB" panose="02020603020101020101" pitchFamily="18" charset="-127"/>
                  <a:cs typeface="굴림" pitchFamily="50" charset="-127"/>
                </a:rPr>
                <a:t>테스트 대상 서비스</a:t>
              </a:r>
            </a:p>
          </p:txBody>
        </p:sp>
      </p:grpSp>
      <p:pic>
        <p:nvPicPr>
          <p:cNvPr id="74" name="Picture 21" descr="F:\업무\업무지원\표준제안\아이콘\아이콘PNG\29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782" y="5772982"/>
            <a:ext cx="410826" cy="581936"/>
          </a:xfrm>
          <a:prstGeom prst="rect">
            <a:avLst/>
          </a:prstGeom>
          <a:noFill/>
        </p:spPr>
      </p:pic>
      <p:pic>
        <p:nvPicPr>
          <p:cNvPr id="75" name="Picture 21" descr="F:\업무\업무지원\표준제안\아이콘\아이콘PNG\29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852" y="5772982"/>
            <a:ext cx="410826" cy="581936"/>
          </a:xfrm>
          <a:prstGeom prst="rect">
            <a:avLst/>
          </a:prstGeom>
          <a:noFill/>
        </p:spPr>
      </p:pic>
      <p:sp>
        <p:nvSpPr>
          <p:cNvPr id="77" name="직사각형 76"/>
          <p:cNvSpPr/>
          <p:nvPr/>
        </p:nvSpPr>
        <p:spPr>
          <a:xfrm>
            <a:off x="3561093" y="6356735"/>
            <a:ext cx="13584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5777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kern="0" dirty="0" err="1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  <a:t>이투스</a:t>
            </a:r>
            <a:r>
              <a:rPr kumimoji="1" lang="en-US" altLang="ko-KR" sz="10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  <a:t/>
            </a:r>
            <a:br>
              <a:rPr kumimoji="1" lang="en-US" altLang="ko-KR" sz="10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</a:br>
            <a:r>
              <a:rPr kumimoji="1" lang="en-US" altLang="ko-KR" sz="10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  <a:t>E-Bank</a:t>
            </a:r>
            <a:endParaRPr kumimoji="1" lang="ko-KR" altLang="en-US" sz="1000" kern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16200000" scaled="1"/>
              </a:gradFill>
              <a:cs typeface="굴림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4512382" y="6356735"/>
            <a:ext cx="14060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5777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kern="0" dirty="0" err="1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  <a:t>이투스</a:t>
            </a:r>
            <a:r>
              <a:rPr kumimoji="1" lang="en-US" altLang="ko-KR" sz="10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  <a:t/>
            </a:r>
            <a:br>
              <a:rPr kumimoji="1" lang="en-US" altLang="ko-KR" sz="10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</a:br>
            <a:r>
              <a:rPr kumimoji="1" lang="ko-KR" altLang="en-US" sz="10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  <a:t>미니테스트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6940633" y="6356735"/>
            <a:ext cx="13584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5777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  <a:t>TMS Web Application </a:t>
            </a:r>
            <a:r>
              <a:rPr kumimoji="1" lang="ko-KR" altLang="en-US" sz="10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  <a:t>시스템</a:t>
            </a:r>
          </a:p>
        </p:txBody>
      </p:sp>
      <p:pic>
        <p:nvPicPr>
          <p:cNvPr id="83" name="Picture 20" descr="F:\업무\업무지원\표준제안\아이콘\아이콘PNG\285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3266" y="5766680"/>
            <a:ext cx="412881" cy="602068"/>
          </a:xfrm>
          <a:prstGeom prst="rect">
            <a:avLst/>
          </a:prstGeom>
          <a:noFill/>
        </p:spPr>
      </p:pic>
      <p:sp>
        <p:nvSpPr>
          <p:cNvPr id="86" name="직사각형 85"/>
          <p:cNvSpPr/>
          <p:nvPr/>
        </p:nvSpPr>
        <p:spPr>
          <a:xfrm>
            <a:off x="1283622" y="4184903"/>
            <a:ext cx="2058781" cy="3852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contourClr>
                <a:srgbClr val="005392"/>
              </a:contourClr>
            </a:sp3d>
          </a:bodyPr>
          <a:lstStyle/>
          <a:p>
            <a:pPr defTabSz="956508" latinLnBrk="0"/>
            <a:r>
              <a:rPr lang="ko-KR" altLang="en-US" sz="14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테스트 </a:t>
            </a:r>
            <a:r>
              <a:rPr lang="ko-KR" altLang="en-US" sz="1400" kern="0" dirty="0" err="1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전담팀</a:t>
            </a:r>
            <a:r>
              <a:rPr lang="ko-KR" altLang="en-US" sz="1400" kern="0" dirty="0">
                <a:ln>
                  <a:solidFill>
                    <a:srgbClr val="87A884">
                      <a:lumMod val="75000"/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투입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663337" y="3100921"/>
            <a:ext cx="502477" cy="246946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vert="horz" lIns="0" tIns="0" rIns="0" bIns="0" rtlCol="0" anchor="ctr"/>
          <a:lstStyle/>
          <a:p>
            <a:pPr algn="ctr" defTabSz="914127" latinLnBrk="0">
              <a:spcAft>
                <a:spcPts val="150"/>
              </a:spcAft>
              <a:buClr>
                <a:srgbClr val="8B8F9E"/>
              </a:buClr>
              <a:buSzPct val="100000"/>
              <a:tabLst>
                <a:tab pos="1079500" algn="l"/>
              </a:tabLst>
            </a:pPr>
            <a:r>
              <a:rPr lang="ko-KR" altLang="en-US" sz="105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a typeface="Rix고딕 EB" panose="02020603020101020101" pitchFamily="18" charset="-127"/>
              </a:rPr>
              <a:t>주체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3663337" y="3652873"/>
            <a:ext cx="502477" cy="246946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vert="horz" lIns="0" tIns="0" rIns="0" bIns="0" rtlCol="0" anchor="ctr"/>
          <a:lstStyle/>
          <a:p>
            <a:pPr algn="ctr" defTabSz="914127" latinLnBrk="0">
              <a:spcAft>
                <a:spcPts val="150"/>
              </a:spcAft>
              <a:buClr>
                <a:srgbClr val="8B8F9E"/>
              </a:buClr>
              <a:buSzPct val="100000"/>
              <a:tabLst>
                <a:tab pos="1079500" algn="l"/>
              </a:tabLst>
            </a:pPr>
            <a:r>
              <a:rPr lang="ko-KR" altLang="en-US" sz="105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a typeface="Rix고딕 EB" panose="02020603020101020101" pitchFamily="18" charset="-127"/>
              </a:rPr>
              <a:t>방법</a:t>
            </a:r>
            <a:r>
              <a:rPr lang="en-US" altLang="ko-KR" sz="105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a typeface="Rix고딕 EB" panose="02020603020101020101" pitchFamily="18" charset="-127"/>
              </a:rPr>
              <a:t>/</a:t>
            </a:r>
          </a:p>
          <a:p>
            <a:pPr algn="ctr" defTabSz="914127" latinLnBrk="0">
              <a:spcAft>
                <a:spcPts val="150"/>
              </a:spcAft>
              <a:buClr>
                <a:srgbClr val="8B8F9E"/>
              </a:buClr>
              <a:buSzPct val="100000"/>
              <a:tabLst>
                <a:tab pos="1079500" algn="l"/>
              </a:tabLst>
            </a:pPr>
            <a:r>
              <a:rPr lang="ko-KR" altLang="en-US" sz="105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a typeface="Rix고딕 EB" panose="02020603020101020101" pitchFamily="18" charset="-127"/>
              </a:rPr>
              <a:t>절차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4161196" y="3117492"/>
            <a:ext cx="1725307" cy="219088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19050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/>
            <a:endParaRPr lang="ko-KR" altLang="en-US" kern="0" spc="-138" dirty="0">
              <a:solidFill>
                <a:srgbClr val="003366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4161196" y="3052256"/>
            <a:ext cx="1720619" cy="757768"/>
            <a:chOff x="3386231" y="2676525"/>
            <a:chExt cx="2009775" cy="761290"/>
          </a:xfrm>
        </p:grpSpPr>
        <p:cxnSp>
          <p:nvCxnSpPr>
            <p:cNvPr id="27" name="직선 연결선 26"/>
            <p:cNvCxnSpPr/>
            <p:nvPr/>
          </p:nvCxnSpPr>
          <p:spPr>
            <a:xfrm>
              <a:off x="3386231" y="2676525"/>
              <a:ext cx="0" cy="7612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>
              <a:off x="5396006" y="2676525"/>
              <a:ext cx="0" cy="7612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직사각형 91"/>
          <p:cNvSpPr/>
          <p:nvPr/>
        </p:nvSpPr>
        <p:spPr>
          <a:xfrm>
            <a:off x="4161730" y="3117297"/>
            <a:ext cx="1740391" cy="212216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vert="horz" lIns="0" tIns="0" rIns="0" bIns="0" rtlCol="0" anchor="ctr"/>
          <a:lstStyle/>
          <a:p>
            <a:pPr algn="ctr" defTabSz="914127" latinLnBrk="0">
              <a:spcAft>
                <a:spcPts val="150"/>
              </a:spcAft>
              <a:buClr>
                <a:srgbClr val="8B8F9E"/>
              </a:buClr>
              <a:buSzPct val="100000"/>
              <a:tabLst>
                <a:tab pos="1079500" algn="l"/>
              </a:tabLst>
            </a:pP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a typeface="Rix고딕 EB" panose="02020603020101020101" pitchFamily="18" charset="-127"/>
              </a:rPr>
              <a:t>프로젝트 </a:t>
            </a:r>
            <a:r>
              <a:rPr lang="ko-KR" altLang="en-US" sz="10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a typeface="Rix고딕 EB" panose="02020603020101020101" pitchFamily="18" charset="-127"/>
              </a:rPr>
              <a:t>수행팀</a:t>
            </a:r>
            <a:endParaRPr lang="ko-KR" altLang="en-US" sz="1000" kern="0" dirty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38333">
                    <a:prstClr val="black">
                      <a:lumMod val="85000"/>
                      <a:lumOff val="15000"/>
                    </a:prstClr>
                  </a:gs>
                  <a:gs pos="51667">
                    <a:prstClr val="black">
                      <a:lumMod val="85000"/>
                      <a:lumOff val="15000"/>
                    </a:prstClr>
                  </a:gs>
                </a:gsLst>
                <a:lin ang="5400000" scaled="0"/>
              </a:gradFill>
              <a:ea typeface="Rix고딕 EB" panose="02020603020101020101" pitchFamily="18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5963361" y="3052256"/>
            <a:ext cx="3473856" cy="757768"/>
            <a:chOff x="3386231" y="2676525"/>
            <a:chExt cx="4057650" cy="761290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3386231" y="2676525"/>
              <a:ext cx="0" cy="761290"/>
            </a:xfrm>
            <a:prstGeom prst="line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7443881" y="2676525"/>
              <a:ext cx="0" cy="761290"/>
            </a:xfrm>
            <a:prstGeom prst="line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그룹 32"/>
          <p:cNvGrpSpPr/>
          <p:nvPr/>
        </p:nvGrpSpPr>
        <p:grpSpPr>
          <a:xfrm>
            <a:off x="5971512" y="3117297"/>
            <a:ext cx="3476494" cy="219284"/>
            <a:chOff x="5500780" y="2628671"/>
            <a:chExt cx="2039827" cy="256136"/>
          </a:xfrm>
        </p:grpSpPr>
        <p:sp>
          <p:nvSpPr>
            <p:cNvPr id="34" name="직사각형 33"/>
            <p:cNvSpPr/>
            <p:nvPr/>
          </p:nvSpPr>
          <p:spPr>
            <a:xfrm>
              <a:off x="5500780" y="2628900"/>
              <a:ext cx="2039827" cy="255907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 w="19050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latinLnBrk="0"/>
              <a:endParaRPr lang="ko-KR" altLang="en-US" kern="0" spc="-138" dirty="0">
                <a:solidFill>
                  <a:srgbClr val="003366"/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  <p:sp>
          <p:nvSpPr>
            <p:cNvPr id="35" name="직사각형 91"/>
            <p:cNvSpPr/>
            <p:nvPr/>
          </p:nvSpPr>
          <p:spPr>
            <a:xfrm>
              <a:off x="5501405" y="2628671"/>
              <a:ext cx="2032870" cy="247880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ctr"/>
            <a:lstStyle/>
            <a:p>
              <a:pPr algn="ctr" defTabSz="914127" latinLnBrk="0">
                <a:spcAft>
                  <a:spcPts val="150"/>
                </a:spcAft>
                <a:buClr>
                  <a:srgbClr val="8B8F9E"/>
                </a:buClr>
                <a:buSzPct val="100000"/>
                <a:tabLst>
                  <a:tab pos="1079500" algn="l"/>
                </a:tabLst>
              </a:pPr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ea typeface="Rix고딕 EB" panose="02020603020101020101" pitchFamily="18" charset="-127"/>
                </a:rPr>
                <a:t>프로젝트 </a:t>
              </a:r>
              <a:r>
                <a:rPr lang="ko-KR" altLang="en-US" sz="1000" kern="0" dirty="0" err="1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ea typeface="Rix고딕 EB" panose="02020603020101020101" pitchFamily="18" charset="-127"/>
                </a:rPr>
                <a:t>수행팀</a:t>
              </a:r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ea typeface="Rix고딕 EB" panose="02020603020101020101" pitchFamily="18" charset="-127"/>
                </a:rPr>
                <a:t> </a:t>
              </a:r>
              <a:r>
                <a:rPr lang="en-US" altLang="ko-KR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ea typeface="Rix고딕 EB" panose="02020603020101020101" pitchFamily="18" charset="-127"/>
                </a:rPr>
                <a:t>+ </a:t>
              </a:r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ea typeface="Rix고딕 EB" panose="02020603020101020101" pitchFamily="18" charset="-127"/>
                </a:rPr>
                <a:t>사용자</a:t>
              </a:r>
              <a:r>
                <a:rPr lang="en-US" altLang="ko-KR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ea typeface="Rix고딕 EB" panose="02020603020101020101" pitchFamily="18" charset="-127"/>
                </a:rPr>
                <a:t>(</a:t>
              </a:r>
              <a:r>
                <a:rPr lang="ko-KR" altLang="en-US" sz="1000" kern="0" dirty="0" err="1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ea typeface="Rix고딕 EB" panose="02020603020101020101" pitchFamily="18" charset="-127"/>
                </a:rPr>
                <a:t>이투스교육</a:t>
              </a:r>
              <a:r>
                <a:rPr lang="en-US" altLang="ko-KR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ea typeface="Rix고딕 EB" panose="02020603020101020101" pitchFamily="18" charset="-127"/>
                </a:rPr>
                <a:t>/</a:t>
              </a:r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ea typeface="Rix고딕 EB" panose="02020603020101020101" pitchFamily="18" charset="-127"/>
                </a:rPr>
                <a:t>교육지대 </a:t>
              </a:r>
              <a:r>
                <a:rPr lang="ko-KR" altLang="en-US" sz="1000" kern="0" dirty="0" err="1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ea typeface="Rix고딕 EB" panose="02020603020101020101" pitchFamily="18" charset="-127"/>
                </a:rPr>
                <a:t>콘텐츠팀</a:t>
              </a:r>
              <a:r>
                <a:rPr lang="en-US" altLang="ko-KR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ea typeface="Rix고딕 EB" panose="02020603020101020101" pitchFamily="18" charset="-127"/>
                </a:rPr>
                <a:t> </a:t>
              </a:r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ea typeface="Rix고딕 EB" panose="02020603020101020101" pitchFamily="18" charset="-127"/>
                </a:rPr>
                <a:t>등</a:t>
              </a:r>
              <a:r>
                <a:rPr lang="en-US" altLang="ko-KR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ea typeface="Rix고딕 EB" panose="02020603020101020101" pitchFamily="18" charset="-127"/>
                </a:rPr>
                <a:t>)</a:t>
              </a:r>
              <a:endPara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a typeface="Rix고딕 EB" panose="02020603020101020101" pitchFamily="18" charset="-127"/>
              </a:endParaRPr>
            </a:p>
          </p:txBody>
        </p:sp>
      </p:grpSp>
      <p:pic>
        <p:nvPicPr>
          <p:cNvPr id="36" name="Picture 6" descr="D:\19.전지수\1. 제안서\1. 표준제안\★2017_표준제안설명회\작업\스티커\단단한-원-1-2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63096" y="3344885"/>
            <a:ext cx="984957" cy="98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6" descr="D:\19.전지수\1. 제안서\1. 표준제안\★2017_표준제안설명회\작업\스티커\단단한-원-1-2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68255" y="3344885"/>
            <a:ext cx="984957" cy="98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D:\19.전지수\1. 제안서\1. 표준제안\★2017_표준제안설명회\작업\스티커\단단한-원-1-2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65260" y="3344885"/>
            <a:ext cx="984957" cy="98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" name="그룹 39"/>
          <p:cNvGrpSpPr/>
          <p:nvPr/>
        </p:nvGrpSpPr>
        <p:grpSpPr>
          <a:xfrm>
            <a:off x="4105540" y="3362129"/>
            <a:ext cx="968609" cy="968608"/>
            <a:chOff x="3020232" y="2366634"/>
            <a:chExt cx="1216488" cy="1216488"/>
          </a:xfrm>
        </p:grpSpPr>
        <p:pic>
          <p:nvPicPr>
            <p:cNvPr id="41" name="Picture 8" descr="D:\19.전지수\1. 제안서\1. 표준제안\★2017_표준제안설명회\작업\스티커\뚫린원--1.png"/>
            <p:cNvPicPr>
              <a:picLocks noChangeAspect="1" noChangeArrowheads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0232" y="2366634"/>
              <a:ext cx="1216488" cy="12164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직사각형 41"/>
            <p:cNvSpPr/>
            <p:nvPr/>
          </p:nvSpPr>
          <p:spPr>
            <a:xfrm>
              <a:off x="3172915" y="2699061"/>
              <a:ext cx="869045" cy="516904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ts val="275"/>
                </a:spcBef>
                <a:spcAft>
                  <a:spcPct val="0"/>
                </a:spcAft>
                <a:defRPr/>
              </a:pPr>
              <a:r>
                <a:rPr lang="ko-KR" altLang="en-US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시험 계획</a:t>
              </a:r>
              <a:r>
                <a:rPr lang="en-US" altLang="ko-KR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/>
              </a:r>
              <a:br>
                <a:rPr lang="en-US" altLang="ko-KR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</a:br>
              <a:r>
                <a:rPr lang="ko-KR" altLang="en-US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수립</a:t>
              </a:r>
              <a:endParaRPr lang="en-US" altLang="ko-KR" sz="1200" dirty="0">
                <a:gradFill>
                  <a:gsLst>
                    <a:gs pos="59583">
                      <a:prstClr val="black">
                        <a:lumMod val="85000"/>
                        <a:lumOff val="15000"/>
                      </a:prstClr>
                    </a:gs>
                    <a:gs pos="45833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Rix고딕 EB"/>
                <a:ea typeface="Rix고딕 EB"/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4996021" y="3362129"/>
            <a:ext cx="968609" cy="968608"/>
            <a:chOff x="3020232" y="2366634"/>
            <a:chExt cx="1216488" cy="1216488"/>
          </a:xfrm>
        </p:grpSpPr>
        <p:pic>
          <p:nvPicPr>
            <p:cNvPr id="44" name="Picture 8" descr="D:\19.전지수\1. 제안서\1. 표준제안\★2017_표준제안설명회\작업\스티커\뚫린원--1.png"/>
            <p:cNvPicPr>
              <a:picLocks noChangeAspect="1" noChangeArrowheads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0232" y="2366634"/>
              <a:ext cx="1216488" cy="12164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직사각형 44"/>
            <p:cNvSpPr/>
            <p:nvPr/>
          </p:nvSpPr>
          <p:spPr>
            <a:xfrm>
              <a:off x="3127656" y="2699061"/>
              <a:ext cx="978527" cy="516904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ts val="275"/>
                </a:spcBef>
                <a:spcAft>
                  <a:spcPct val="0"/>
                </a:spcAft>
                <a:defRPr/>
              </a:pPr>
              <a:r>
                <a:rPr lang="ko-KR" altLang="en-US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시험케이스</a:t>
              </a:r>
              <a:r>
                <a:rPr lang="en-US" altLang="ko-KR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/>
              </a:r>
              <a:br>
                <a:rPr lang="en-US" altLang="ko-KR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</a:br>
              <a:r>
                <a:rPr lang="ko-KR" altLang="en-US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작성</a:t>
              </a:r>
              <a:endParaRPr lang="en-US" altLang="ko-KR" sz="1200" dirty="0">
                <a:gradFill>
                  <a:gsLst>
                    <a:gs pos="59583">
                      <a:prstClr val="black">
                        <a:lumMod val="85000"/>
                        <a:lumOff val="15000"/>
                      </a:prstClr>
                    </a:gs>
                    <a:gs pos="45833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Rix고딕 EB"/>
                <a:ea typeface="Rix고딕 EB"/>
              </a:endParaRPr>
            </a:p>
          </p:txBody>
        </p:sp>
      </p:grpSp>
      <p:sp>
        <p:nvSpPr>
          <p:cNvPr id="46" name="직사각형 45"/>
          <p:cNvSpPr/>
          <p:nvPr/>
        </p:nvSpPr>
        <p:spPr>
          <a:xfrm>
            <a:off x="6079232" y="3604174"/>
            <a:ext cx="533335" cy="41157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fontAlgn="base">
              <a:spcBef>
                <a:spcPts val="275"/>
              </a:spcBef>
              <a:spcAft>
                <a:spcPct val="0"/>
              </a:spcAft>
            </a:pPr>
            <a:r>
              <a:rPr lang="ko-KR" altLang="en-US" sz="1200" dirty="0">
                <a:gradFill>
                  <a:gsLst>
                    <a:gs pos="52083">
                      <a:prstClr val="white"/>
                    </a:gs>
                    <a:gs pos="45833">
                      <a:prstClr val="white"/>
                    </a:gs>
                  </a:gsLst>
                  <a:lin ang="5400000" scaled="0"/>
                </a:gradFill>
                <a:latin typeface="Rix고딕 EB"/>
                <a:ea typeface="Rix고딕 EB"/>
              </a:rPr>
              <a:t>단위</a:t>
            </a:r>
            <a:r>
              <a:rPr lang="en-US" altLang="ko-KR" sz="1200" dirty="0">
                <a:gradFill>
                  <a:gsLst>
                    <a:gs pos="52083">
                      <a:prstClr val="white"/>
                    </a:gs>
                    <a:gs pos="45833">
                      <a:prstClr val="white"/>
                    </a:gs>
                  </a:gsLst>
                  <a:lin ang="5400000" scaled="0"/>
                </a:gradFill>
                <a:latin typeface="Rix고딕 EB"/>
                <a:ea typeface="Rix고딕 EB"/>
              </a:rPr>
              <a:t/>
            </a:r>
            <a:br>
              <a:rPr lang="en-US" altLang="ko-KR" sz="1200" dirty="0">
                <a:gradFill>
                  <a:gsLst>
                    <a:gs pos="52083">
                      <a:prstClr val="white"/>
                    </a:gs>
                    <a:gs pos="45833">
                      <a:prstClr val="white"/>
                    </a:gs>
                  </a:gsLst>
                  <a:lin ang="5400000" scaled="0"/>
                </a:gradFill>
                <a:latin typeface="Rix고딕 EB"/>
                <a:ea typeface="Rix고딕 EB"/>
              </a:rPr>
            </a:br>
            <a:r>
              <a:rPr lang="ko-KR" altLang="en-US" sz="1200" dirty="0">
                <a:gradFill>
                  <a:gsLst>
                    <a:gs pos="52083">
                      <a:prstClr val="white"/>
                    </a:gs>
                    <a:gs pos="45833">
                      <a:prstClr val="white"/>
                    </a:gs>
                  </a:gsLst>
                  <a:lin ang="5400000" scaled="0"/>
                </a:gradFill>
                <a:latin typeface="Rix고딕 EB"/>
                <a:ea typeface="Rix고딕 EB"/>
              </a:rPr>
              <a:t>테스트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6986024" y="3604171"/>
            <a:ext cx="533335" cy="41157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fontAlgn="base">
              <a:spcBef>
                <a:spcPts val="275"/>
              </a:spcBef>
              <a:spcAft>
                <a:spcPct val="0"/>
              </a:spcAft>
            </a:pPr>
            <a:r>
              <a:rPr lang="ko-KR" altLang="en-US" sz="1200" dirty="0">
                <a:gradFill>
                  <a:gsLst>
                    <a:gs pos="52083">
                      <a:prstClr val="white"/>
                    </a:gs>
                    <a:gs pos="45833">
                      <a:prstClr val="white"/>
                    </a:gs>
                  </a:gsLst>
                  <a:lin ang="5400000" scaled="0"/>
                </a:gradFill>
                <a:latin typeface="Rix고딕 EB"/>
                <a:ea typeface="Rix고딕 EB"/>
              </a:rPr>
              <a:t>통합</a:t>
            </a:r>
            <a:br>
              <a:rPr lang="ko-KR" altLang="en-US" sz="1200" dirty="0">
                <a:gradFill>
                  <a:gsLst>
                    <a:gs pos="52083">
                      <a:prstClr val="white"/>
                    </a:gs>
                    <a:gs pos="45833">
                      <a:prstClr val="white"/>
                    </a:gs>
                  </a:gsLst>
                  <a:lin ang="5400000" scaled="0"/>
                </a:gradFill>
                <a:latin typeface="Rix고딕 EB"/>
                <a:ea typeface="Rix고딕 EB"/>
              </a:rPr>
            </a:br>
            <a:r>
              <a:rPr lang="ko-KR" altLang="en-US" sz="1200" dirty="0">
                <a:gradFill>
                  <a:gsLst>
                    <a:gs pos="52083">
                      <a:prstClr val="white"/>
                    </a:gs>
                    <a:gs pos="45833">
                      <a:prstClr val="white"/>
                    </a:gs>
                  </a:gsLst>
                  <a:lin ang="5400000" scaled="0"/>
                </a:gradFill>
                <a:latin typeface="Rix고딕 EB"/>
                <a:ea typeface="Rix고딕 EB"/>
              </a:rPr>
              <a:t>테스트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7876505" y="3604170"/>
            <a:ext cx="533335" cy="41157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fontAlgn="base">
              <a:spcBef>
                <a:spcPts val="275"/>
              </a:spcBef>
              <a:spcAft>
                <a:spcPct val="0"/>
              </a:spcAft>
            </a:pPr>
            <a:r>
              <a:rPr lang="ko-KR" altLang="en-US" sz="1200" dirty="0">
                <a:gradFill>
                  <a:gsLst>
                    <a:gs pos="52083">
                      <a:prstClr val="white"/>
                    </a:gs>
                    <a:gs pos="45833">
                      <a:prstClr val="white"/>
                    </a:gs>
                  </a:gsLst>
                  <a:lin ang="5400000" scaled="0"/>
                </a:gradFill>
                <a:latin typeface="Rix고딕 EB"/>
                <a:ea typeface="Rix고딕 EB"/>
              </a:rPr>
              <a:t>성능</a:t>
            </a:r>
            <a:r>
              <a:rPr lang="en-US" altLang="ko-KR" sz="1200" dirty="0">
                <a:gradFill>
                  <a:gsLst>
                    <a:gs pos="52083">
                      <a:prstClr val="white"/>
                    </a:gs>
                    <a:gs pos="45833">
                      <a:prstClr val="white"/>
                    </a:gs>
                  </a:gsLst>
                  <a:lin ang="5400000" scaled="0"/>
                </a:gradFill>
                <a:latin typeface="Rix고딕 EB"/>
                <a:ea typeface="Rix고딕 EB"/>
              </a:rPr>
              <a:t/>
            </a:r>
            <a:br>
              <a:rPr lang="en-US" altLang="ko-KR" sz="1200" dirty="0">
                <a:gradFill>
                  <a:gsLst>
                    <a:gs pos="52083">
                      <a:prstClr val="white"/>
                    </a:gs>
                    <a:gs pos="45833">
                      <a:prstClr val="white"/>
                    </a:gs>
                  </a:gsLst>
                  <a:lin ang="5400000" scaled="0"/>
                </a:gradFill>
                <a:latin typeface="Rix고딕 EB"/>
                <a:ea typeface="Rix고딕 EB"/>
              </a:rPr>
            </a:br>
            <a:r>
              <a:rPr lang="ko-KR" altLang="en-US" sz="1200" dirty="0">
                <a:gradFill>
                  <a:gsLst>
                    <a:gs pos="52083">
                      <a:prstClr val="white"/>
                    </a:gs>
                    <a:gs pos="45833">
                      <a:prstClr val="white"/>
                    </a:gs>
                  </a:gsLst>
                  <a:lin ang="5400000" scaled="0"/>
                </a:gradFill>
                <a:latin typeface="Rix고딕 EB"/>
                <a:ea typeface="Rix고딕 EB"/>
              </a:rPr>
              <a:t>테스트</a:t>
            </a:r>
          </a:p>
        </p:txBody>
      </p:sp>
      <p:grpSp>
        <p:nvGrpSpPr>
          <p:cNvPr id="49" name="그룹 48"/>
          <p:cNvGrpSpPr/>
          <p:nvPr/>
        </p:nvGrpSpPr>
        <p:grpSpPr>
          <a:xfrm>
            <a:off x="8557946" y="3362129"/>
            <a:ext cx="968609" cy="968608"/>
            <a:chOff x="3020232" y="2366634"/>
            <a:chExt cx="1216488" cy="1216488"/>
          </a:xfrm>
        </p:grpSpPr>
        <p:pic>
          <p:nvPicPr>
            <p:cNvPr id="50" name="Picture 8" descr="D:\19.전지수\1. 제안서\1. 표준제안\★2017_표준제안설명회\작업\스티커\뚫린원--1.png"/>
            <p:cNvPicPr>
              <a:picLocks noChangeAspect="1" noChangeArrowheads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0232" y="2366634"/>
              <a:ext cx="1216488" cy="12164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직사각형 50"/>
            <p:cNvSpPr/>
            <p:nvPr/>
          </p:nvSpPr>
          <p:spPr>
            <a:xfrm>
              <a:off x="3231767" y="2523205"/>
              <a:ext cx="751338" cy="811736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ts val="275"/>
                </a:spcBef>
                <a:spcAft>
                  <a:spcPct val="0"/>
                </a:spcAft>
                <a:defRPr/>
              </a:pPr>
              <a:r>
                <a:rPr lang="ko-KR" altLang="en-US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사용자</a:t>
              </a:r>
              <a:r>
                <a:rPr lang="en-US" altLang="ko-KR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/>
              </a:r>
              <a:br>
                <a:rPr lang="en-US" altLang="ko-KR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</a:br>
              <a:r>
                <a:rPr lang="en-US" altLang="ko-KR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(</a:t>
              </a:r>
              <a:r>
                <a:rPr lang="ko-KR" altLang="en-US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인수</a:t>
              </a:r>
              <a:r>
                <a:rPr lang="en-US" altLang="ko-KR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)</a:t>
              </a:r>
              <a:r>
                <a:rPr lang="ko-KR" altLang="en-US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/>
              </a:r>
              <a:br>
                <a:rPr lang="ko-KR" altLang="en-US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</a:br>
              <a:r>
                <a:rPr lang="ko-KR" altLang="en-US" sz="1200" dirty="0">
                  <a:gradFill>
                    <a:gsLst>
                      <a:gs pos="59583">
                        <a:prstClr val="black">
                          <a:lumMod val="85000"/>
                          <a:lumOff val="15000"/>
                        </a:prstClr>
                      </a:gs>
                      <a:gs pos="45833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테스트</a:t>
              </a:r>
            </a:p>
          </p:txBody>
        </p:sp>
      </p:grpSp>
      <p:sp>
        <p:nvSpPr>
          <p:cNvPr id="52" name="오른쪽 화살표 51"/>
          <p:cNvSpPr/>
          <p:nvPr/>
        </p:nvSpPr>
        <p:spPr>
          <a:xfrm>
            <a:off x="4850882" y="3690516"/>
            <a:ext cx="285411" cy="212019"/>
          </a:xfrm>
          <a:prstGeom prst="rightArrow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92083">
                <a:schemeClr val="tx1">
                  <a:lumMod val="65000"/>
                  <a:lumOff val="35000"/>
                  <a:alpha val="0"/>
                </a:schemeClr>
              </a:gs>
            </a:gsLst>
            <a:lin ang="10800000" scaled="1"/>
            <a:tileRect/>
          </a:gradFill>
          <a:ln w="19050">
            <a:gradFill flip="none" rotWithShape="1">
              <a:gsLst>
                <a:gs pos="55000">
                  <a:schemeClr val="bg1"/>
                </a:gs>
                <a:gs pos="71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/>
            <a:endParaRPr lang="ko-KR" altLang="en-US" kern="0" spc="-138" dirty="0">
              <a:solidFill>
                <a:srgbClr val="003366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53" name="오른쪽 화살표 52"/>
          <p:cNvSpPr/>
          <p:nvPr/>
        </p:nvSpPr>
        <p:spPr>
          <a:xfrm>
            <a:off x="5739733" y="3690516"/>
            <a:ext cx="285411" cy="212019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92083">
                <a:schemeClr val="tx1">
                  <a:lumMod val="65000"/>
                  <a:lumOff val="35000"/>
                  <a:alpha val="0"/>
                </a:schemeClr>
              </a:gs>
            </a:gsLst>
            <a:lin ang="10800000" scaled="1"/>
            <a:tileRect/>
          </a:gradFill>
          <a:ln w="19050">
            <a:gradFill flip="none" rotWithShape="1">
              <a:gsLst>
                <a:gs pos="55000">
                  <a:schemeClr val="bg1"/>
                </a:gs>
                <a:gs pos="71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/>
            <a:endParaRPr lang="ko-KR" altLang="en-US" kern="0" spc="-138" dirty="0">
              <a:solidFill>
                <a:srgbClr val="003366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54" name="오른쪽 화살표 53"/>
          <p:cNvSpPr/>
          <p:nvPr/>
        </p:nvSpPr>
        <p:spPr>
          <a:xfrm>
            <a:off x="6636738" y="3690516"/>
            <a:ext cx="285411" cy="212019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92083">
                <a:schemeClr val="tx1">
                  <a:lumMod val="65000"/>
                  <a:lumOff val="35000"/>
                  <a:alpha val="0"/>
                </a:schemeClr>
              </a:gs>
            </a:gsLst>
            <a:lin ang="10800000" scaled="1"/>
            <a:tileRect/>
          </a:gradFill>
          <a:ln w="19050">
            <a:gradFill flip="none" rotWithShape="1">
              <a:gsLst>
                <a:gs pos="55000">
                  <a:schemeClr val="bg1"/>
                </a:gs>
                <a:gs pos="71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/>
            <a:endParaRPr lang="ko-KR" altLang="en-US" kern="0" spc="-138" dirty="0">
              <a:solidFill>
                <a:srgbClr val="003366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55" name="오른쪽 화살표 54"/>
          <p:cNvSpPr/>
          <p:nvPr/>
        </p:nvSpPr>
        <p:spPr>
          <a:xfrm>
            <a:off x="7492970" y="3690516"/>
            <a:ext cx="285411" cy="212019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92083">
                <a:schemeClr val="tx1">
                  <a:lumMod val="65000"/>
                  <a:lumOff val="35000"/>
                  <a:alpha val="0"/>
                </a:schemeClr>
              </a:gs>
            </a:gsLst>
            <a:lin ang="10800000" scaled="1"/>
            <a:tileRect/>
          </a:gradFill>
          <a:ln w="19050">
            <a:gradFill flip="none" rotWithShape="1">
              <a:gsLst>
                <a:gs pos="55000">
                  <a:schemeClr val="bg1"/>
                </a:gs>
                <a:gs pos="71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/>
            <a:endParaRPr lang="ko-KR" altLang="en-US" kern="0" spc="-138" dirty="0">
              <a:solidFill>
                <a:srgbClr val="003366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56" name="오른쪽 화살표 55"/>
          <p:cNvSpPr/>
          <p:nvPr/>
        </p:nvSpPr>
        <p:spPr>
          <a:xfrm>
            <a:off x="8381820" y="3690516"/>
            <a:ext cx="285411" cy="212019"/>
          </a:xfrm>
          <a:prstGeom prst="rightArrow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92083">
                <a:schemeClr val="tx1">
                  <a:lumMod val="65000"/>
                  <a:lumOff val="35000"/>
                  <a:alpha val="0"/>
                </a:schemeClr>
              </a:gs>
            </a:gsLst>
            <a:lin ang="10800000" scaled="1"/>
            <a:tileRect/>
          </a:gradFill>
          <a:ln w="19050">
            <a:gradFill flip="none" rotWithShape="1">
              <a:gsLst>
                <a:gs pos="55000">
                  <a:schemeClr val="bg1"/>
                </a:gs>
                <a:gs pos="71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latinLnBrk="0"/>
            <a:endParaRPr lang="ko-KR" altLang="en-US" kern="0" spc="-138" dirty="0">
              <a:solidFill>
                <a:srgbClr val="003366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cxnSp>
        <p:nvCxnSpPr>
          <p:cNvPr id="57" name="꺾인 연결선 56"/>
          <p:cNvCxnSpPr/>
          <p:nvPr/>
        </p:nvCxnSpPr>
        <p:spPr>
          <a:xfrm rot="5400000">
            <a:off x="6816048" y="2913470"/>
            <a:ext cx="10873" cy="2671444"/>
          </a:xfrm>
          <a:prstGeom prst="bentConnector3">
            <a:avLst>
              <a:gd name="adj1" fmla="val 2816530"/>
            </a:avLst>
          </a:prstGeom>
          <a:ln w="28575" cap="sq">
            <a:solidFill>
              <a:schemeClr val="accent2"/>
            </a:solidFill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모서리가 둥근 직사각형 57"/>
          <p:cNvSpPr/>
          <p:nvPr/>
        </p:nvSpPr>
        <p:spPr>
          <a:xfrm>
            <a:off x="6335486" y="4415964"/>
            <a:ext cx="887440" cy="23714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</a:ln>
          <a:effectLst/>
        </p:spPr>
        <p:txBody>
          <a:bodyPr vert="horz" lIns="0" tIns="0" rIns="0" bIns="0" rtlCol="0" anchor="ctr"/>
          <a:lstStyle/>
          <a:p>
            <a:pPr algn="ctr" defTabSz="914127" latinLnBrk="0">
              <a:spcAft>
                <a:spcPts val="150"/>
              </a:spcAft>
              <a:buClr>
                <a:srgbClr val="8B8F9E"/>
              </a:buClr>
              <a:buSzPct val="100000"/>
              <a:tabLst>
                <a:tab pos="1079500" algn="l"/>
              </a:tabLst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피드백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89177" y="2687898"/>
            <a:ext cx="4165713" cy="346541"/>
          </a:xfrm>
          <a:prstGeom prst="rect">
            <a:avLst/>
          </a:prstGeom>
          <a:noFill/>
          <a:effectLst/>
        </p:spPr>
        <p:txBody>
          <a:bodyPr wrap="square" lIns="99350" tIns="49675" rIns="99350" bIns="49675" rtlCol="0">
            <a:spAutoFit/>
          </a:bodyPr>
          <a:lstStyle/>
          <a:p>
            <a:pPr algn="ctr" defTabSz="1042727" fontAlgn="base" latinLnBrk="0">
              <a:spcBef>
                <a:spcPct val="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90000"/>
              <a:tabLst>
                <a:tab pos="5646808" algn="l"/>
              </a:tabLst>
              <a:defRPr/>
            </a:pPr>
            <a:r>
              <a:rPr lang="ko-KR" altLang="en-US" sz="1600" kern="0" dirty="0">
                <a:gradFill>
                  <a:gsLst>
                    <a:gs pos="55833">
                      <a:prstClr val="black">
                        <a:lumMod val="85000"/>
                        <a:lumOff val="15000"/>
                      </a:prstClr>
                    </a:gs>
                    <a:gs pos="7200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0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단계별</a:t>
            </a:r>
            <a:r>
              <a:rPr lang="en-US" altLang="ko-KR" sz="1600" kern="0" dirty="0">
                <a:gradFill>
                  <a:gsLst>
                    <a:gs pos="55833">
                      <a:prstClr val="black">
                        <a:lumMod val="85000"/>
                        <a:lumOff val="15000"/>
                      </a:prstClr>
                    </a:gs>
                    <a:gs pos="7200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0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 </a:t>
            </a:r>
            <a:r>
              <a:rPr lang="ko-KR" altLang="en-US" sz="1600" kern="0" dirty="0">
                <a:gradFill>
                  <a:gsLst>
                    <a:gs pos="55833">
                      <a:prstClr val="black">
                        <a:lumMod val="85000"/>
                        <a:lumOff val="15000"/>
                      </a:prstClr>
                    </a:gs>
                    <a:gs pos="7200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0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테스트 실시</a:t>
            </a:r>
          </a:p>
        </p:txBody>
      </p:sp>
      <p:sp>
        <p:nvSpPr>
          <p:cNvPr id="104" name="직사각형 103"/>
          <p:cNvSpPr/>
          <p:nvPr/>
        </p:nvSpPr>
        <p:spPr>
          <a:xfrm>
            <a:off x="5594822" y="6342982"/>
            <a:ext cx="13584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5777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kern="0" dirty="0" err="1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  <a:t>족보닷컴</a:t>
            </a:r>
            <a:r>
              <a:rPr kumimoji="1" lang="en-US" altLang="ko-KR" sz="10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  <a:t/>
            </a:r>
            <a:br>
              <a:rPr kumimoji="1" lang="en-US" altLang="ko-KR" sz="10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</a:br>
            <a:r>
              <a:rPr kumimoji="1" lang="ko-KR" altLang="en-US" sz="1000" kern="0" dirty="0" err="1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  <a:t>바로테스트</a:t>
            </a:r>
            <a:endParaRPr kumimoji="1" lang="ko-KR" altLang="en-US" sz="1000" kern="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16200000" scaled="1"/>
              </a:gradFill>
              <a:cs typeface="굴림" pitchFamily="50" charset="-127"/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2394290" y="4415964"/>
            <a:ext cx="1291058" cy="1258780"/>
            <a:chOff x="3791442" y="1334154"/>
            <a:chExt cx="972680" cy="948368"/>
          </a:xfrm>
        </p:grpSpPr>
        <p:pic>
          <p:nvPicPr>
            <p:cNvPr id="112" name="Picture 2" descr="D:\19.전지수\1. 제안서\2. 일반제안\2019년 제안서\20190409_청와대_청와대 기록관리시스템 구축\제안설명회\jpg\딱지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1950" y="1334154"/>
              <a:ext cx="948369" cy="94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3" name="TextBox 112"/>
            <p:cNvSpPr txBox="1"/>
            <p:nvPr/>
          </p:nvSpPr>
          <p:spPr>
            <a:xfrm>
              <a:off x="3791442" y="1577716"/>
              <a:ext cx="972680" cy="431305"/>
            </a:xfrm>
            <a:prstGeom prst="rect">
              <a:avLst/>
            </a:prstGeom>
          </p:spPr>
          <p:txBody>
            <a:bodyPr anchor="ctr"/>
            <a:lstStyle>
              <a:defPPr>
                <a:defRPr lang="ko-KR"/>
              </a:defPPr>
              <a:lvl1pPr marL="0" indent="0" defTabSz="914400" eaLnBrk="1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>
                  <a:gradFill>
                    <a:gsLst>
                      <a:gs pos="78333">
                        <a:schemeClr val="tx1"/>
                      </a:gs>
                      <a:gs pos="67500">
                        <a:schemeClr val="tx1"/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defRPr>
              </a:lvl1pPr>
              <a:lvl2pPr marL="6858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2pPr>
              <a:lvl3pPr marL="11430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3pPr>
              <a:lvl4pPr marL="16002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4pPr>
              <a:lvl5pPr marL="20574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9pPr>
            </a:lstStyle>
            <a:p>
              <a:pPr lvl="0" algn="ctr"/>
              <a:r>
                <a:rPr kumimoji="1" lang="ko-KR" altLang="en-US" sz="1400" dirty="0">
                  <a:gradFill>
                    <a:gsLst>
                      <a:gs pos="60833">
                        <a:prstClr val="white"/>
                      </a:gs>
                      <a:gs pos="75000">
                        <a:prstClr val="white"/>
                      </a:gs>
                    </a:gsLst>
                    <a:lin ang="5400000" scaled="0"/>
                  </a:gradFill>
                  <a:latin typeface="Rix고딕 B"/>
                  <a:ea typeface="Rix고딕 B"/>
                </a:rPr>
                <a:t>반복적</a:t>
              </a:r>
              <a:br>
                <a:rPr kumimoji="1" lang="ko-KR" altLang="en-US" sz="1400" dirty="0">
                  <a:gradFill>
                    <a:gsLst>
                      <a:gs pos="60833">
                        <a:prstClr val="white"/>
                      </a:gs>
                      <a:gs pos="75000">
                        <a:prstClr val="white"/>
                      </a:gs>
                    </a:gsLst>
                    <a:lin ang="5400000" scaled="0"/>
                  </a:gradFill>
                  <a:latin typeface="Rix고딕 B"/>
                  <a:ea typeface="Rix고딕 B"/>
                </a:rPr>
              </a:br>
              <a:r>
                <a:rPr kumimoji="1" lang="ko-KR" altLang="en-US" sz="1400" dirty="0">
                  <a:gradFill>
                    <a:gsLst>
                      <a:gs pos="60833">
                        <a:prstClr val="white"/>
                      </a:gs>
                      <a:gs pos="75000">
                        <a:prstClr val="white"/>
                      </a:gs>
                    </a:gsLst>
                    <a:lin ang="5400000" scaled="0"/>
                  </a:gradFill>
                  <a:latin typeface="Rix고딕 B"/>
                  <a:ea typeface="Rix고딕 B"/>
                </a:rPr>
                <a:t>테스트를 통한</a:t>
              </a:r>
              <a:br>
                <a:rPr kumimoji="1" lang="ko-KR" altLang="en-US" sz="1400" dirty="0">
                  <a:gradFill>
                    <a:gsLst>
                      <a:gs pos="60833">
                        <a:prstClr val="white"/>
                      </a:gs>
                      <a:gs pos="75000">
                        <a:prstClr val="white"/>
                      </a:gs>
                    </a:gsLst>
                    <a:lin ang="5400000" scaled="0"/>
                  </a:gradFill>
                  <a:latin typeface="Rix고딕 B"/>
                  <a:ea typeface="Rix고딕 B"/>
                </a:rPr>
              </a:br>
              <a:r>
                <a:rPr kumimoji="1" lang="ko-KR" altLang="en-US" sz="1400" dirty="0">
                  <a:gradFill>
                    <a:gsLst>
                      <a:gs pos="60833">
                        <a:prstClr val="white"/>
                      </a:gs>
                      <a:gs pos="75000">
                        <a:prstClr val="white"/>
                      </a:gs>
                    </a:gsLst>
                    <a:lin ang="5400000" scaled="0"/>
                  </a:gradFill>
                  <a:latin typeface="Rix고딕 B"/>
                  <a:ea typeface="Rix고딕 B"/>
                </a:rPr>
                <a:t>품질 확보</a:t>
              </a:r>
            </a:p>
          </p:txBody>
        </p:sp>
      </p:grpSp>
      <p:sp>
        <p:nvSpPr>
          <p:cNvPr id="116" name="타원 115"/>
          <p:cNvSpPr/>
          <p:nvPr/>
        </p:nvSpPr>
        <p:spPr bwMode="auto">
          <a:xfrm>
            <a:off x="970281" y="3148790"/>
            <a:ext cx="196046" cy="195866"/>
          </a:xfrm>
          <a:prstGeom prst="ellipse">
            <a:avLst/>
          </a:prstGeom>
          <a:solidFill>
            <a:schemeClr val="accent3"/>
          </a:solidFill>
          <a:ln w="127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1042990" latinLnBrk="0"/>
            <a:r>
              <a:rPr lang="en-US" altLang="ko-KR" sz="1200" kern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rPr>
              <a:t>1</a:t>
            </a:r>
            <a:endParaRPr lang="ko-KR" altLang="en-US" sz="1200" kern="0" dirty="0">
              <a:gradFill>
                <a:gsLst>
                  <a:gs pos="48333">
                    <a:prstClr val="white"/>
                  </a:gs>
                  <a:gs pos="62000">
                    <a:prstClr val="white"/>
                  </a:gs>
                </a:gsLst>
                <a:path path="rect">
                  <a:fillToRect l="50000" t="50000" r="50000" b="50000"/>
                </a:path>
              </a:gradFill>
              <a:latin typeface="+mj-ea"/>
              <a:ea typeface="+mj-ea"/>
            </a:endParaRPr>
          </a:p>
        </p:txBody>
      </p:sp>
      <p:sp>
        <p:nvSpPr>
          <p:cNvPr id="117" name="타원 116"/>
          <p:cNvSpPr/>
          <p:nvPr/>
        </p:nvSpPr>
        <p:spPr bwMode="auto">
          <a:xfrm>
            <a:off x="970281" y="3540676"/>
            <a:ext cx="196046" cy="195866"/>
          </a:xfrm>
          <a:prstGeom prst="ellipse">
            <a:avLst/>
          </a:prstGeom>
          <a:solidFill>
            <a:schemeClr val="accent3"/>
          </a:solidFill>
          <a:ln w="127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1042990" latinLnBrk="0"/>
            <a:r>
              <a:rPr lang="en-US" altLang="ko-KR" sz="1200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rPr>
              <a:t>2</a:t>
            </a:r>
            <a:endParaRPr lang="ko-KR" altLang="en-US" sz="1200" kern="0" dirty="0">
              <a:gradFill>
                <a:gsLst>
                  <a:gs pos="48333">
                    <a:prstClr val="white"/>
                  </a:gs>
                  <a:gs pos="62000">
                    <a:prstClr val="white"/>
                  </a:gs>
                </a:gsLst>
                <a:path path="rect">
                  <a:fillToRect l="50000" t="50000" r="50000" b="50000"/>
                </a:path>
              </a:gradFill>
              <a:latin typeface="+mj-ea"/>
              <a:ea typeface="+mj-ea"/>
            </a:endParaRPr>
          </a:p>
        </p:txBody>
      </p:sp>
      <p:sp>
        <p:nvSpPr>
          <p:cNvPr id="118" name="타원 117"/>
          <p:cNvSpPr/>
          <p:nvPr/>
        </p:nvSpPr>
        <p:spPr bwMode="auto">
          <a:xfrm>
            <a:off x="970281" y="3932561"/>
            <a:ext cx="196046" cy="195866"/>
          </a:xfrm>
          <a:prstGeom prst="ellipse">
            <a:avLst/>
          </a:prstGeom>
          <a:solidFill>
            <a:schemeClr val="accent3"/>
          </a:solidFill>
          <a:ln w="127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1042990" latinLnBrk="0"/>
            <a:r>
              <a:rPr lang="en-US" altLang="ko-KR" sz="1200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rPr>
              <a:t>3</a:t>
            </a:r>
            <a:endParaRPr lang="ko-KR" altLang="en-US" sz="1200" kern="0" dirty="0">
              <a:gradFill>
                <a:gsLst>
                  <a:gs pos="48333">
                    <a:prstClr val="white"/>
                  </a:gs>
                  <a:gs pos="62000">
                    <a:prstClr val="white"/>
                  </a:gs>
                </a:gsLst>
                <a:path path="rect">
                  <a:fillToRect l="50000" t="50000" r="50000" b="50000"/>
                </a:path>
              </a:gradFill>
              <a:latin typeface="+mj-ea"/>
              <a:ea typeface="+mj-ea"/>
            </a:endParaRPr>
          </a:p>
        </p:txBody>
      </p:sp>
      <p:sp>
        <p:nvSpPr>
          <p:cNvPr id="119" name="타원 118"/>
          <p:cNvSpPr/>
          <p:nvPr/>
        </p:nvSpPr>
        <p:spPr bwMode="auto">
          <a:xfrm>
            <a:off x="970281" y="4287124"/>
            <a:ext cx="196046" cy="195866"/>
          </a:xfrm>
          <a:prstGeom prst="ellipse">
            <a:avLst/>
          </a:prstGeom>
          <a:solidFill>
            <a:schemeClr val="accent3"/>
          </a:solidFill>
          <a:ln w="127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 defTabSz="1042990" latinLnBrk="0"/>
            <a:r>
              <a:rPr lang="en-US" altLang="ko-KR" sz="1200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rPr>
              <a:t>4</a:t>
            </a:r>
            <a:endParaRPr lang="ko-KR" altLang="en-US" sz="1200" kern="0" dirty="0">
              <a:gradFill>
                <a:gsLst>
                  <a:gs pos="48333">
                    <a:prstClr val="white"/>
                  </a:gs>
                  <a:gs pos="62000">
                    <a:prstClr val="white"/>
                  </a:gs>
                </a:gsLst>
                <a:path path="rect">
                  <a:fillToRect l="50000" t="50000" r="50000" b="50000"/>
                </a:path>
              </a:gradFill>
              <a:latin typeface="+mj-ea"/>
              <a:ea typeface="+mj-ea"/>
            </a:endParaRPr>
          </a:p>
        </p:txBody>
      </p:sp>
      <p:pic>
        <p:nvPicPr>
          <p:cNvPr id="92" name="Picture 21" descr="F:\업무\업무지원\표준제안\아이콘\아이콘PNG\29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780" y="5773299"/>
            <a:ext cx="410826" cy="581936"/>
          </a:xfrm>
          <a:prstGeom prst="rect">
            <a:avLst/>
          </a:prstGeom>
          <a:noFill/>
        </p:spPr>
      </p:pic>
      <p:sp>
        <p:nvSpPr>
          <p:cNvPr id="93" name="직사각형 92"/>
          <p:cNvSpPr/>
          <p:nvPr/>
        </p:nvSpPr>
        <p:spPr>
          <a:xfrm>
            <a:off x="8227100" y="6356735"/>
            <a:ext cx="13584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5777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  <a:t>TMS </a:t>
            </a:r>
          </a:p>
          <a:p>
            <a:pPr algn="ctr" defTabSz="957778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  <a:t>API </a:t>
            </a:r>
            <a:r>
              <a:rPr kumimoji="1" lang="ko-KR" altLang="en-US" sz="10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cs typeface="굴림" pitchFamily="50" charset="-127"/>
              </a:rPr>
              <a:t>시스템</a:t>
            </a:r>
          </a:p>
        </p:txBody>
      </p:sp>
      <p:pic>
        <p:nvPicPr>
          <p:cNvPr id="94" name="Picture 20" descr="F:\업무\업무지원\표준제안\아이콘\아이콘PNG\285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074" y="5766680"/>
            <a:ext cx="412881" cy="6020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57497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테스트 계획 </a:t>
            </a:r>
            <a:r>
              <a:rPr lang="en-US" altLang="ko-KR" sz="1600" dirty="0"/>
              <a:t>(2/2)</a:t>
            </a:r>
          </a:p>
        </p:txBody>
      </p:sp>
      <p:graphicFrame>
        <p:nvGraphicFramePr>
          <p:cNvPr id="104" name="표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563278"/>
              </p:ext>
            </p:extLst>
          </p:nvPr>
        </p:nvGraphicFramePr>
        <p:xfrm>
          <a:off x="738314" y="1548051"/>
          <a:ext cx="9217026" cy="5400437"/>
        </p:xfrm>
        <a:graphic>
          <a:graphicData uri="http://schemas.openxmlformats.org/drawingml/2006/table">
            <a:tbl>
              <a:tblPr firstRow="1">
                <a:tableStyleId>{5FD0F851-EC5A-4D38-B0AD-8093EC10F338}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1493712485"/>
                    </a:ext>
                  </a:extLst>
                </a:gridCol>
                <a:gridCol w="1007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2660">
                  <a:extLst>
                    <a:ext uri="{9D8B030D-6E8A-4147-A177-3AD203B41FA5}">
                      <a16:colId xmlns:a16="http://schemas.microsoft.com/office/drawing/2014/main" val="707382593"/>
                    </a:ext>
                  </a:extLst>
                </a:gridCol>
                <a:gridCol w="1296214">
                  <a:extLst>
                    <a:ext uri="{9D8B030D-6E8A-4147-A177-3AD203B41FA5}">
                      <a16:colId xmlns:a16="http://schemas.microsoft.com/office/drawing/2014/main" val="299573206"/>
                    </a:ext>
                  </a:extLst>
                </a:gridCol>
                <a:gridCol w="1296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3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14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  <a:sym typeface="Monotype Sorts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14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  <a:sym typeface="Monotype Sorts"/>
                        </a:rPr>
                        <a:t>테스트환경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14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  <a:sym typeface="Monotype Sorts"/>
                        </a:rPr>
                        <a:t>수행목적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14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  <a:sym typeface="Monotype Sorts"/>
                        </a:rPr>
                        <a:t>테스트담당자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ct val="14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+mj-ea"/>
                          <a:ea typeface="+mj-ea"/>
                          <a:cs typeface="+mn-cs"/>
                          <a:sym typeface="Monotype Sorts"/>
                        </a:rPr>
                        <a:t>산출물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416390"/>
                  </a:ext>
                </a:extLst>
              </a:tr>
              <a:tr h="1230658"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단위</a:t>
                      </a:r>
                      <a:endParaRPr lang="en-US" altLang="ko-KR" sz="13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12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테스트</a:t>
                      </a:r>
                      <a:endParaRPr lang="en-US" altLang="ko-KR" sz="13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개발</a:t>
                      </a:r>
                      <a:endParaRPr lang="en-US" altLang="ko-KR" sz="13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개발자가 설계서에 정의된 바와 같이 프로그램을 개발했는지를 확인하고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프로그램의 결함을 최대한 발견하기 위함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단위 업무의 데이터가 다음 업무까지 정상적으로 전달됨을 보장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즉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업무 內 처리흐름이 완전한지 확인하는 수준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차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개발자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7313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차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담당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PL</a:t>
                      </a:r>
                    </a:p>
                    <a:p>
                      <a:pPr marL="87313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차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테스트담당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테스트시나리오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테스트결과서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결함관리대장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8227870"/>
                  </a:ext>
                </a:extLst>
              </a:tr>
              <a:tr h="922994"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통합</a:t>
                      </a:r>
                      <a:endParaRPr lang="en-US" altLang="ko-KR" sz="13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12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테스트</a:t>
                      </a:r>
                      <a:endParaRPr lang="ko-KR" altLang="ko-KR" sz="13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개발</a:t>
                      </a:r>
                      <a:endParaRPr lang="ko-KR" altLang="ko-KR" sz="13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개별 프로그램 간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도입된 상용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S/W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와 응용 모듈들간의 인터페이스가 정의된 업무 규칙대로 구현되었는지 확인하기 위함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차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개발자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7313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차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담당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PL</a:t>
                      </a:r>
                    </a:p>
                    <a:p>
                      <a:pPr marL="87313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차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테스트담당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테스트시나리오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테스트결과서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결함관리대장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5602140"/>
                  </a:ext>
                </a:extLst>
              </a:tr>
              <a:tr h="1230658"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성능</a:t>
                      </a:r>
                      <a:endParaRPr lang="en-US" altLang="ko-KR" sz="13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12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테스트</a:t>
                      </a:r>
                      <a:endParaRPr lang="ko-KR" altLang="ko-KR" sz="13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개발</a:t>
                      </a:r>
                      <a:endParaRPr lang="en-US" altLang="ko-KR" sz="13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12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및 운영</a:t>
                      </a:r>
                      <a:endParaRPr lang="ko-KR" altLang="ko-KR" sz="13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시스템의 안정적인 운영과 응답 지연시간 최소화를 위해 다양한 상황을 지정하여 성능테스트를 진행함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목표 성능 도달 시까지 시스템 및 어플리케이션 튜닝과정을 거쳐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운영시스템 최적화 및 안정성을 보장하기 위함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테스트담당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성능테스트시나리오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성능테스트결과서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6788"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사용자</a:t>
                      </a:r>
                      <a:endParaRPr lang="en-US" altLang="ko-KR" sz="13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12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인수</a:t>
                      </a:r>
                      <a:r>
                        <a:rPr lang="en-US" altLang="ko-KR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127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테스트</a:t>
                      </a:r>
                      <a:endParaRPr lang="ko-KR" altLang="ko-KR" sz="13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300" b="0" u="none" strike="noStrike" kern="1200" dirty="0">
                          <a:gradFill>
                            <a:gsLst>
                              <a:gs pos="1625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280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운영</a:t>
                      </a:r>
                      <a:endParaRPr lang="ko-KR" altLang="ko-KR" sz="1300" b="0" u="none" strike="noStrike" kern="1200" dirty="0">
                        <a:gradFill>
                          <a:gsLst>
                            <a:gs pos="1625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280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단위테스트와 통합테스트를 통해 검증된 시스템을 정식 오픈 전 운영환경에서 시험운영을 통해 사용자들의 시스템 검증을 유도하고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사용 후 오류사항 및 개선 의견을 시스템에 반영하기 위함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969696"/>
                        </a:buClr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사전에 협의된 기준과 규정된 방식에 따라 사용자의 승인이 가능한지 판단하기 위해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이투스교육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교육지대의 사용자로 구성된 테스트 담당자들이 검증을 수행하여 결과를 검토하고 오류 발생 시 즉시 수정하여 구축 시스템의 완성도를 높이기 위함</a:t>
                      </a:r>
                      <a:endParaRPr kumimoji="1" lang="pt-BR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이투스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교육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콘텐츠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팀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서비스개발팀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교육지대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콘텐츠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팀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- IT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개발실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테스트시나리오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테스트결과서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결함관리대장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6687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8972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슬라이드 번호 개체 틀 5"/>
          <p:cNvSpPr txBox="1">
            <a:spLocks/>
          </p:cNvSpPr>
          <p:nvPr/>
        </p:nvSpPr>
        <p:spPr>
          <a:xfrm>
            <a:off x="5276169" y="7285565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lang="ko-KR" altLang="en-US" sz="900" b="0" kern="1200" smtClean="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00711" latinLnBrk="0"/>
            <a:fld id="{F83005E4-C3F3-420A-8F83-CC0B60522D03}" type="slidenum">
              <a:rPr lang="en-US" altLang="ko-KR">
                <a:gradFill>
                  <a:gsLst>
                    <a:gs pos="0">
                      <a:srgbClr val="262626">
                        <a:lumMod val="50000"/>
                        <a:lumOff val="50000"/>
                      </a:srgbClr>
                    </a:gs>
                    <a:gs pos="100000">
                      <a:srgbClr val="262626">
                        <a:lumMod val="50000"/>
                        <a:lumOff val="50000"/>
                      </a:srgbClr>
                    </a:gs>
                  </a:gsLst>
                  <a:lin ang="5400000" scaled="0"/>
                </a:gradFill>
              </a:rPr>
              <a:pPr defTabSz="1000711" latinLnBrk="0"/>
              <a:t>33</a:t>
            </a:fld>
            <a:endParaRPr lang="en-US" altLang="ko-KR" dirty="0">
              <a:gradFill>
                <a:gsLst>
                  <a:gs pos="0">
                    <a:srgbClr val="262626">
                      <a:lumMod val="50000"/>
                      <a:lumOff val="50000"/>
                    </a:srgbClr>
                  </a:gs>
                  <a:gs pos="100000">
                    <a:srgbClr val="262626">
                      <a:lumMod val="50000"/>
                      <a:lumOff val="50000"/>
                    </a:srgbClr>
                  </a:gs>
                </a:gsLst>
                <a:lin ang="5400000" scaled="0"/>
              </a:gra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0" y="2124401"/>
            <a:ext cx="8659160" cy="4745336"/>
            <a:chOff x="0" y="2124401"/>
            <a:chExt cx="8659160" cy="4745336"/>
          </a:xfrm>
        </p:grpSpPr>
        <p:sp>
          <p:nvSpPr>
            <p:cNvPr id="11" name="TextBox 10"/>
            <p:cNvSpPr txBox="1"/>
            <p:nvPr/>
          </p:nvSpPr>
          <p:spPr>
            <a:xfrm>
              <a:off x="2933914" y="3564601"/>
              <a:ext cx="3060876" cy="33051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400"/>
                </a:spcBef>
              </a:pPr>
              <a:r>
                <a:rPr lang="en-US" altLang="ko-KR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1. </a:t>
              </a: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사업관리 개요</a:t>
              </a:r>
            </a:p>
            <a:p>
              <a:pPr>
                <a:lnSpc>
                  <a:spcPct val="130000"/>
                </a:lnSpc>
                <a:spcBef>
                  <a:spcPts val="400"/>
                </a:spcBef>
              </a:pPr>
              <a:r>
                <a:rPr lang="en-US" altLang="ko-KR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2. </a:t>
              </a: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일정 및 진척관리 계획</a:t>
              </a:r>
            </a:p>
            <a:p>
              <a:pPr>
                <a:lnSpc>
                  <a:spcPct val="130000"/>
                </a:lnSpc>
                <a:spcBef>
                  <a:spcPts val="400"/>
                </a:spcBef>
              </a:pPr>
              <a:r>
                <a:rPr lang="en-US" altLang="ko-KR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3. </a:t>
              </a: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위험관리 계획</a:t>
              </a:r>
            </a:p>
            <a:p>
              <a:pPr>
                <a:lnSpc>
                  <a:spcPct val="130000"/>
                </a:lnSpc>
                <a:spcBef>
                  <a:spcPts val="400"/>
                </a:spcBef>
              </a:pPr>
              <a:r>
                <a:rPr lang="en-US" altLang="ko-KR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4. </a:t>
              </a: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의사소통관리 계획</a:t>
              </a:r>
            </a:p>
            <a:p>
              <a:pPr>
                <a:lnSpc>
                  <a:spcPct val="130000"/>
                </a:lnSpc>
                <a:spcBef>
                  <a:spcPts val="400"/>
                </a:spcBef>
              </a:pPr>
              <a:r>
                <a:rPr lang="en-US" altLang="ko-KR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5. </a:t>
              </a: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형상관리 계획</a:t>
              </a:r>
            </a:p>
            <a:p>
              <a:pPr>
                <a:lnSpc>
                  <a:spcPct val="130000"/>
                </a:lnSpc>
                <a:spcBef>
                  <a:spcPts val="400"/>
                </a:spcBef>
              </a:pPr>
              <a:r>
                <a:rPr lang="en-US" altLang="ko-KR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6. </a:t>
              </a: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품질관리 계획</a:t>
              </a:r>
            </a:p>
            <a:p>
              <a:pPr>
                <a:lnSpc>
                  <a:spcPct val="130000"/>
                </a:lnSpc>
                <a:spcBef>
                  <a:spcPts val="400"/>
                </a:spcBef>
              </a:pPr>
              <a:r>
                <a:rPr lang="en-US" altLang="ko-KR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7. </a:t>
              </a: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보안관리 계획</a:t>
              </a:r>
            </a:p>
            <a:p>
              <a:pPr>
                <a:lnSpc>
                  <a:spcPct val="130000"/>
                </a:lnSpc>
                <a:spcBef>
                  <a:spcPts val="400"/>
                </a:spcBef>
              </a:pPr>
              <a:r>
                <a:rPr lang="en-US" altLang="ko-KR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8. </a:t>
              </a:r>
              <a:r>
                <a:rPr lang="ko-KR" altLang="en-U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교육 및 유지보수 계획</a:t>
              </a:r>
            </a:p>
          </p:txBody>
        </p:sp>
        <p:sp>
          <p:nvSpPr>
            <p:cNvPr id="17" name="TextBox 4"/>
            <p:cNvSpPr txBox="1"/>
            <p:nvPr/>
          </p:nvSpPr>
          <p:spPr>
            <a:xfrm>
              <a:off x="1530170" y="2124401"/>
              <a:ext cx="929742" cy="110799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defTabSz="457148" latinLnBrk="0">
                <a:defRPr sz="5400" spc="50">
                  <a:ln w="13500">
                    <a:solidFill>
                      <a:srgbClr val="002060">
                        <a:alpha val="6000"/>
                      </a:srgbClr>
                    </a:solidFill>
                    <a:prstDash val="solid"/>
                  </a:ln>
                  <a:solidFill>
                    <a:srgbClr val="FFFFFF"/>
                  </a:solidFill>
                  <a:effectLst/>
                  <a:latin typeface="HY견명조" panose="02030600000101010101" pitchFamily="18" charset="-127"/>
                  <a:ea typeface="HY견명조" panose="02030600000101010101" pitchFamily="18" charset="-127"/>
                </a:defRPr>
              </a:lvl1pPr>
              <a:lvl2pPr marL="457148" defTabSz="457148" latinLnBrk="0">
                <a:defRPr sz="1800"/>
              </a:lvl2pPr>
              <a:lvl3pPr marL="914296" defTabSz="457148" latinLnBrk="0">
                <a:defRPr sz="1800"/>
              </a:lvl3pPr>
              <a:lvl4pPr marL="1371444" defTabSz="457148" latinLnBrk="0">
                <a:defRPr sz="1800"/>
              </a:lvl4pPr>
              <a:lvl5pPr marL="1828592" defTabSz="457148" latinLnBrk="0">
                <a:defRPr sz="1800"/>
              </a:lvl5pPr>
              <a:lvl6pPr marL="2285740" defTabSz="457148" latinLnBrk="0">
                <a:defRPr sz="1800"/>
              </a:lvl6pPr>
              <a:lvl7pPr marL="2742888" defTabSz="457148" latinLnBrk="0">
                <a:defRPr sz="1800"/>
              </a:lvl7pPr>
              <a:lvl8pPr marL="3200036" defTabSz="457148" latinLnBrk="0">
                <a:defRPr sz="1800"/>
              </a:lvl8pPr>
              <a:lvl9pPr marL="3657184" defTabSz="457148" latinLnBrk="0">
                <a:defRPr sz="1800"/>
              </a:lvl9pPr>
            </a:lstStyle>
            <a:p>
              <a:r>
                <a:rPr lang="en-US" altLang="ko-KR" sz="7200" dirty="0">
                  <a:solidFill>
                    <a:schemeClr val="accent2"/>
                  </a:solidFill>
                </a:rPr>
                <a:t>Ⅳ</a:t>
              </a:r>
            </a:p>
          </p:txBody>
        </p:sp>
        <p:sp>
          <p:nvSpPr>
            <p:cNvPr id="19" name="TextBox 8"/>
            <p:cNvSpPr txBox="1"/>
            <p:nvPr/>
          </p:nvSpPr>
          <p:spPr>
            <a:xfrm>
              <a:off x="2979318" y="2650920"/>
              <a:ext cx="2657779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defTabSz="457148" latinLnBrk="0">
                <a:defRPr b="0" spc="50">
                  <a:ln w="0">
                    <a:solidFill>
                      <a:srgbClr val="002060">
                        <a:alpha val="6000"/>
                      </a:srgbClr>
                    </a:solidFill>
                    <a:prstDash val="solid"/>
                  </a:ln>
                  <a:gradFill>
                    <a:gsLst>
                      <a:gs pos="54583">
                        <a:schemeClr val="tx1">
                          <a:lumMod val="85000"/>
                          <a:lumOff val="15000"/>
                        </a:schemeClr>
                      </a:gs>
                      <a:gs pos="34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effectLst/>
                  <a:latin typeface="Rix고딕 M" panose="02020603020101020101" pitchFamily="18" charset="-127"/>
                  <a:ea typeface="Rix고딕 M" panose="02020603020101020101" pitchFamily="18" charset="-127"/>
                </a:defRPr>
              </a:lvl1pPr>
              <a:lvl2pPr marL="457148" defTabSz="457148" latinLnBrk="0">
                <a:defRPr sz="1800"/>
              </a:lvl2pPr>
              <a:lvl3pPr marL="914296" defTabSz="457148" latinLnBrk="0">
                <a:defRPr sz="1800"/>
              </a:lvl3pPr>
              <a:lvl4pPr marL="1371444" defTabSz="457148" latinLnBrk="0">
                <a:defRPr sz="1800"/>
              </a:lvl4pPr>
              <a:lvl5pPr marL="1828592" defTabSz="457148" latinLnBrk="0">
                <a:defRPr sz="1800"/>
              </a:lvl5pPr>
              <a:lvl6pPr marL="2285740" defTabSz="457148" latinLnBrk="0">
                <a:defRPr sz="1800"/>
              </a:lvl6pPr>
              <a:lvl7pPr marL="2742888" defTabSz="457148" latinLnBrk="0">
                <a:defRPr sz="1800"/>
              </a:lvl7pPr>
              <a:lvl8pPr marL="3200036" defTabSz="457148" latinLnBrk="0">
                <a:defRPr sz="1800"/>
              </a:lvl8pPr>
              <a:lvl9pPr marL="3657184" defTabSz="457148" latinLnBrk="0">
                <a:defRPr sz="1800"/>
              </a:lvl9pPr>
            </a:lstStyle>
            <a:p>
              <a:r>
                <a:rPr lang="ko-KR" altLang="en-US" sz="3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사업관리 방안</a:t>
              </a: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0" y="2772491"/>
              <a:ext cx="1386150" cy="0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제목 1"/>
            <p:cNvSpPr txBox="1">
              <a:spLocks/>
            </p:cNvSpPr>
            <p:nvPr/>
          </p:nvSpPr>
          <p:spPr>
            <a:xfrm>
              <a:off x="2979318" y="2377404"/>
              <a:ext cx="5679842" cy="203133"/>
            </a:xfrm>
            <a:prstGeom prst="rect">
              <a:avLst/>
            </a:prstGeom>
            <a:noFill/>
            <a:ln w="19050" algn="ctr">
              <a:noFill/>
              <a:round/>
              <a:headEnd/>
              <a:tailEnd/>
            </a:ln>
            <a:effectLst/>
          </p:spPr>
          <p:txBody>
            <a:bodyPr vert="horz"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 prstMaterial="softEdge">
                <a:bevelT w="0" h="0"/>
                <a:contourClr>
                  <a:schemeClr val="bg1"/>
                </a:contourClr>
              </a:sp3d>
            </a:bodyPr>
            <a:lstStyle>
              <a:lvl1pPr marL="0" indent="0" algn="l" defTabSz="914400" rtl="0" eaLnBrk="1" latinLnBrk="1" hangingPunct="1">
                <a:spcBef>
                  <a:spcPct val="0"/>
                </a:spcBef>
                <a:buFont typeface="Arial" pitchFamily="34" charset="0"/>
                <a:buNone/>
                <a:defRPr kumimoji="1" lang="ko-KR" altLang="en-US" sz="4400" b="0" i="0" u="none" strike="noStrike" kern="0" cap="none" spc="0" normalizeH="0" baseline="0">
                  <a:ln w="15875" cmpd="sng">
                    <a:noFill/>
                    <a:prstDash val="solid"/>
                  </a:ln>
                  <a:gradFill>
                    <a:gsLst>
                      <a:gs pos="0">
                        <a:schemeClr val="tx1">
                          <a:lumMod val="90000"/>
                          <a:lumOff val="10000"/>
                        </a:schemeClr>
                      </a:gs>
                      <a:gs pos="50000">
                        <a:schemeClr val="tx1">
                          <a:lumMod val="90000"/>
                          <a:lumOff val="10000"/>
                        </a:scheme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Rix고딕 EB" panose="02020603020101020101" pitchFamily="18" charset="-127"/>
                  <a:ea typeface="Rix고딕 EB" panose="02020603020101020101" pitchFamily="18" charset="-127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ko-KR" altLang="en-US" sz="1100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문제은행 </a:t>
              </a:r>
              <a:r>
                <a:rPr lang="en-US" altLang="ko-KR" sz="1100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DB</a:t>
              </a:r>
              <a:r>
                <a:rPr lang="ko-KR" altLang="en-US" sz="1100" dirty="0">
                  <a:ln w="15875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통합 프로젝트 │ 착수보고</a:t>
              </a:r>
              <a:endParaRPr lang="en-US" altLang="ko-KR" sz="11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641202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그룹 94"/>
          <p:cNvGrpSpPr/>
          <p:nvPr/>
        </p:nvGrpSpPr>
        <p:grpSpPr>
          <a:xfrm>
            <a:off x="738188" y="1970994"/>
            <a:ext cx="9217025" cy="4977494"/>
            <a:chOff x="3847798" y="1913923"/>
            <a:chExt cx="6107415" cy="4977494"/>
          </a:xfrm>
        </p:grpSpPr>
        <p:sp>
          <p:nvSpPr>
            <p:cNvPr id="96" name="직사각형 95"/>
            <p:cNvSpPr/>
            <p:nvPr/>
          </p:nvSpPr>
          <p:spPr bwMode="auto">
            <a:xfrm>
              <a:off x="3847798" y="1913923"/>
              <a:ext cx="2960322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 err="1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데이타솔루션</a:t>
              </a:r>
              <a:r>
                <a:rPr lang="en-US" altLang="ko-KR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 </a:t>
              </a: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사업관리 방법론</a:t>
              </a:r>
            </a:p>
          </p:txBody>
        </p:sp>
        <p:sp>
          <p:nvSpPr>
            <p:cNvPr id="97" name="직사각형 96"/>
            <p:cNvSpPr/>
            <p:nvPr/>
          </p:nvSpPr>
          <p:spPr bwMode="auto">
            <a:xfrm>
              <a:off x="3847798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98" name="직사각형 97"/>
            <p:cNvSpPr/>
            <p:nvPr/>
          </p:nvSpPr>
          <p:spPr bwMode="auto">
            <a:xfrm>
              <a:off x="6994891" y="1913923"/>
              <a:ext cx="2960322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적용목적 및 효과</a:t>
              </a:r>
            </a:p>
          </p:txBody>
        </p:sp>
        <p:sp>
          <p:nvSpPr>
            <p:cNvPr id="99" name="직사각형 98"/>
            <p:cNvSpPr/>
            <p:nvPr/>
          </p:nvSpPr>
          <p:spPr bwMode="auto">
            <a:xfrm>
              <a:off x="6994891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4" name="텍스트 개체 틀 2"/>
          <p:cNvSpPr txBox="1">
            <a:spLocks/>
          </p:cNvSpPr>
          <p:nvPr/>
        </p:nvSpPr>
        <p:spPr>
          <a:xfrm>
            <a:off x="897894" y="1374697"/>
            <a:ext cx="8928546" cy="523208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ko-KR"/>
            </a:defPPr>
            <a:lvl1pPr latinLnBrk="0">
              <a:defRPr sz="12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+mn-ea"/>
                <a:cs typeface="Arial" pitchFamily="34" charset="0"/>
              </a:defRPr>
            </a:lvl1pPr>
          </a:lstStyle>
          <a:p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당사의 방법론인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DIDIM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의 프로젝트 관리 방법론을 본 사업에 최적화하여 재정의하고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이를 기반으로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WBS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작성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,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Task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별 자원 할당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,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 각 관리영역 별 효율적이고 합리적인 프로세스를 적용하여 우수한 품질의 프로젝트를 이루어 나가겠습니다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  <a:endParaRPr lang="ko-KR" altLang="en-US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733112" y="2635623"/>
            <a:ext cx="4484054" cy="4270785"/>
            <a:chOff x="347790" y="1888067"/>
            <a:chExt cx="4484054" cy="4318233"/>
          </a:xfrm>
        </p:grpSpPr>
        <p:sp>
          <p:nvSpPr>
            <p:cNvPr id="13" name="직사각형 12"/>
            <p:cNvSpPr/>
            <p:nvPr/>
          </p:nvSpPr>
          <p:spPr>
            <a:xfrm rot="16200000">
              <a:off x="2276847" y="-36176"/>
              <a:ext cx="630754" cy="447924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995564" latinLnBrk="0">
                <a:defRPr/>
              </a:pPr>
              <a:endParaRPr lang="ko-KR" altLang="en-US" kern="0" spc="-150" dirty="0">
                <a:solidFill>
                  <a:srgbClr val="DE2452"/>
                </a:solidFill>
                <a:latin typeface="윤명조420"/>
                <a:ea typeface="Rix고딕 EB" panose="02020603020101020101" pitchFamily="18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 rot="16200000">
              <a:off x="1919043" y="1018208"/>
              <a:ext cx="1336961" cy="446931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995564" latinLnBrk="0"/>
              <a:endParaRPr lang="ko-KR" altLang="en-US" kern="0" spc="-150" dirty="0">
                <a:solidFill>
                  <a:srgbClr val="DE2452"/>
                </a:solidFill>
                <a:latin typeface="윤명조420"/>
                <a:ea typeface="Rix고딕 EB" panose="02020603020101020101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 rot="16200000">
              <a:off x="1885003" y="2454779"/>
              <a:ext cx="1405041" cy="446931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995564" latinLnBrk="0"/>
              <a:endParaRPr lang="ko-KR" altLang="en-US" kern="0" spc="-150" dirty="0">
                <a:solidFill>
                  <a:srgbClr val="DE2452"/>
                </a:solidFill>
                <a:latin typeface="윤명조420"/>
                <a:ea typeface="Rix고딕 EB" panose="0202060302010102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 rot="16200000">
              <a:off x="2209730" y="3595583"/>
              <a:ext cx="748777" cy="447265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995564" latinLnBrk="0"/>
              <a:endParaRPr lang="ko-KR" altLang="en-US" kern="0" spc="-150" dirty="0">
                <a:solidFill>
                  <a:srgbClr val="DE2452"/>
                </a:solidFill>
                <a:latin typeface="윤명조420"/>
                <a:ea typeface="Rix고딕 EB" panose="02020603020101020101" pitchFamily="18" charset="-127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595359" y="2014111"/>
              <a:ext cx="548197" cy="4009155"/>
              <a:chOff x="487079" y="1930292"/>
              <a:chExt cx="555868" cy="4325422"/>
            </a:xfrm>
          </p:grpSpPr>
          <p:sp>
            <p:nvSpPr>
              <p:cNvPr id="39" name="직사각형 38"/>
              <p:cNvSpPr/>
              <p:nvPr/>
            </p:nvSpPr>
            <p:spPr>
              <a:xfrm>
                <a:off x="624252" y="1930292"/>
                <a:ext cx="281525" cy="408541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marL="1588" algn="ctr" defTabSz="995564" latinLnBrk="0">
                  <a:defRPr/>
                </a:pPr>
                <a:r>
                  <a:rPr lang="ko-KR" altLang="en-US" sz="1200" kern="0" dirty="0">
                    <a:gradFill>
                      <a:gsLst>
                        <a:gs pos="21250">
                          <a:prstClr val="black">
                            <a:lumMod val="75000"/>
                            <a:lumOff val="25000"/>
                          </a:prstClr>
                        </a:gs>
                        <a:gs pos="3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atin typeface="윤명조420"/>
                    <a:ea typeface="Rix고딕 EB" panose="02020603020101020101" pitchFamily="18" charset="-127"/>
                  </a:rPr>
                  <a:t>구성</a:t>
                </a:r>
                <a:endParaRPr lang="en-US" altLang="ko-KR" sz="1200" kern="0" dirty="0">
                  <a:gradFill>
                    <a:gsLst>
                      <a:gs pos="21250">
                        <a:prstClr val="black">
                          <a:lumMod val="75000"/>
                          <a:lumOff val="25000"/>
                        </a:prstClr>
                      </a:gs>
                      <a:gs pos="34000">
                        <a:prstClr val="black">
                          <a:lumMod val="75000"/>
                          <a:lumOff val="25000"/>
                        </a:prstClr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윤명조420"/>
                  <a:ea typeface="Rix고딕 EB" panose="02020603020101020101" pitchFamily="18" charset="-127"/>
                </a:endParaRPr>
              </a:p>
              <a:p>
                <a:pPr marL="1588" algn="ctr" defTabSz="995564" latinLnBrk="0">
                  <a:defRPr/>
                </a:pPr>
                <a:r>
                  <a:rPr lang="ko-KR" altLang="en-US" sz="1200" kern="0" dirty="0">
                    <a:gradFill>
                      <a:gsLst>
                        <a:gs pos="21250">
                          <a:prstClr val="black">
                            <a:lumMod val="75000"/>
                            <a:lumOff val="25000"/>
                          </a:prstClr>
                        </a:gs>
                        <a:gs pos="3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atin typeface="윤명조420"/>
                    <a:ea typeface="Rix고딕 EB" panose="02020603020101020101" pitchFamily="18" charset="-127"/>
                  </a:rPr>
                  <a:t>요소</a:t>
                </a:r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556385" y="3078733"/>
                <a:ext cx="417253" cy="412899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marL="1588" algn="ctr" defTabSz="995564" latinLnBrk="0">
                  <a:defRPr/>
                </a:pPr>
                <a:r>
                  <a:rPr lang="ko-KR" altLang="en-US" sz="1200" kern="0" dirty="0">
                    <a:gradFill>
                      <a:gsLst>
                        <a:gs pos="21250">
                          <a:prstClr val="black">
                            <a:lumMod val="75000"/>
                            <a:lumOff val="25000"/>
                          </a:prstClr>
                        </a:gs>
                        <a:gs pos="3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atin typeface="윤명조420"/>
                    <a:ea typeface="Rix고딕 EB" panose="02020603020101020101" pitchFamily="18" charset="-127"/>
                  </a:rPr>
                  <a:t>수행</a:t>
                </a:r>
                <a:endParaRPr lang="en-US" altLang="ko-KR" sz="1200" kern="0" dirty="0">
                  <a:gradFill>
                    <a:gsLst>
                      <a:gs pos="21250">
                        <a:prstClr val="black">
                          <a:lumMod val="75000"/>
                          <a:lumOff val="25000"/>
                        </a:prstClr>
                      </a:gs>
                      <a:gs pos="34000">
                        <a:prstClr val="black">
                          <a:lumMod val="75000"/>
                          <a:lumOff val="25000"/>
                        </a:prstClr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윤명조420"/>
                  <a:ea typeface="Rix고딕 EB" panose="02020603020101020101" pitchFamily="18" charset="-127"/>
                </a:endParaRPr>
              </a:p>
              <a:p>
                <a:pPr marL="1588" algn="ctr" defTabSz="995564" latinLnBrk="0">
                  <a:defRPr/>
                </a:pPr>
                <a:r>
                  <a:rPr lang="ko-KR" altLang="en-US" sz="1200" kern="0" dirty="0">
                    <a:gradFill>
                      <a:gsLst>
                        <a:gs pos="21250">
                          <a:prstClr val="black">
                            <a:lumMod val="75000"/>
                            <a:lumOff val="25000"/>
                          </a:prstClr>
                        </a:gs>
                        <a:gs pos="3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atin typeface="윤명조420"/>
                    <a:ea typeface="Rix고딕 EB" panose="02020603020101020101" pitchFamily="18" charset="-127"/>
                  </a:rPr>
                  <a:t>가이드</a:t>
                </a: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556385" y="4709776"/>
                <a:ext cx="417253" cy="206449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marL="1588" algn="ctr" defTabSz="995564" latinLnBrk="0">
                  <a:defRPr/>
                </a:pPr>
                <a:r>
                  <a:rPr lang="ko-KR" altLang="en-US" sz="1200" kern="0" dirty="0">
                    <a:gradFill>
                      <a:gsLst>
                        <a:gs pos="21250">
                          <a:prstClr val="black">
                            <a:lumMod val="75000"/>
                            <a:lumOff val="25000"/>
                          </a:prstClr>
                        </a:gs>
                        <a:gs pos="3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atin typeface="윤명조420"/>
                    <a:ea typeface="Rix고딕 EB" panose="02020603020101020101" pitchFamily="18" charset="-127"/>
                  </a:rPr>
                  <a:t>참조물</a:t>
                </a:r>
              </a:p>
            </p:txBody>
          </p:sp>
          <p:sp>
            <p:nvSpPr>
              <p:cNvPr id="42" name="직사각형 41"/>
              <p:cNvSpPr/>
              <p:nvPr/>
            </p:nvSpPr>
            <p:spPr>
              <a:xfrm>
                <a:off x="487079" y="5842815"/>
                <a:ext cx="555868" cy="412899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marL="1588" algn="ctr" defTabSz="995564" latinLnBrk="0">
                  <a:defRPr/>
                </a:pPr>
                <a:r>
                  <a:rPr lang="ko-KR" altLang="en-US" sz="1200" kern="0" dirty="0">
                    <a:gradFill>
                      <a:gsLst>
                        <a:gs pos="21250">
                          <a:prstClr val="black">
                            <a:lumMod val="75000"/>
                            <a:lumOff val="25000"/>
                          </a:prstClr>
                        </a:gs>
                        <a:gs pos="3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atin typeface="윤명조420"/>
                    <a:ea typeface="Rix고딕 EB" panose="02020603020101020101" pitchFamily="18" charset="-127"/>
                  </a:rPr>
                  <a:t>사업관리</a:t>
                </a:r>
                <a:r>
                  <a:rPr lang="en-US" altLang="ko-KR" sz="1200" kern="0" dirty="0">
                    <a:gradFill>
                      <a:gsLst>
                        <a:gs pos="21250">
                          <a:prstClr val="black">
                            <a:lumMod val="75000"/>
                            <a:lumOff val="25000"/>
                          </a:prstClr>
                        </a:gs>
                        <a:gs pos="3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atin typeface="윤명조420"/>
                    <a:ea typeface="Rix고딕 EB" panose="02020603020101020101" pitchFamily="18" charset="-127"/>
                  </a:rPr>
                  <a:t/>
                </a:r>
                <a:br>
                  <a:rPr lang="en-US" altLang="ko-KR" sz="1200" kern="0" dirty="0">
                    <a:gradFill>
                      <a:gsLst>
                        <a:gs pos="21250">
                          <a:prstClr val="black">
                            <a:lumMod val="75000"/>
                            <a:lumOff val="25000"/>
                          </a:prstClr>
                        </a:gs>
                        <a:gs pos="3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atin typeface="윤명조420"/>
                    <a:ea typeface="Rix고딕 EB" panose="02020603020101020101" pitchFamily="18" charset="-127"/>
                  </a:rPr>
                </a:br>
                <a:r>
                  <a:rPr lang="ko-KR" altLang="en-US" sz="1200" kern="0" dirty="0">
                    <a:gradFill>
                      <a:gsLst>
                        <a:gs pos="21250">
                          <a:prstClr val="black">
                            <a:lumMod val="75000"/>
                            <a:lumOff val="25000"/>
                          </a:prstClr>
                        </a:gs>
                        <a:gs pos="3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  <a:latin typeface="윤명조420"/>
                    <a:ea typeface="Rix고딕 EB" panose="02020603020101020101" pitchFamily="18" charset="-127"/>
                  </a:rPr>
                  <a:t>지원도구</a:t>
                </a:r>
              </a:p>
            </p:txBody>
          </p:sp>
        </p:grpSp>
        <p:grpSp>
          <p:nvGrpSpPr>
            <p:cNvPr id="18" name="그룹 17"/>
            <p:cNvGrpSpPr/>
            <p:nvPr/>
          </p:nvGrpSpPr>
          <p:grpSpPr>
            <a:xfrm>
              <a:off x="1261533" y="2006317"/>
              <a:ext cx="3334135" cy="4116806"/>
              <a:chOff x="1225597" y="2006317"/>
              <a:chExt cx="3370072" cy="4116806"/>
            </a:xfrm>
          </p:grpSpPr>
          <p:grpSp>
            <p:nvGrpSpPr>
              <p:cNvPr id="19" name="그룹 18"/>
              <p:cNvGrpSpPr/>
              <p:nvPr/>
            </p:nvGrpSpPr>
            <p:grpSpPr>
              <a:xfrm>
                <a:off x="1230298" y="2006317"/>
                <a:ext cx="3365371" cy="394258"/>
                <a:chOff x="1503575" y="1955638"/>
                <a:chExt cx="2392062" cy="343610"/>
              </a:xfrm>
              <a:solidFill>
                <a:schemeClr val="bg1"/>
              </a:solidFill>
            </p:grpSpPr>
            <p:sp>
              <p:nvSpPr>
                <p:cNvPr id="35" name="모서리가 둥근 직사각형 34"/>
                <p:cNvSpPr/>
                <p:nvPr/>
              </p:nvSpPr>
              <p:spPr>
                <a:xfrm>
                  <a:off x="1503575" y="1955638"/>
                  <a:ext cx="573089" cy="343610"/>
                </a:xfrm>
                <a:prstGeom prst="roundRect">
                  <a:avLst>
                    <a:gd name="adj" fmla="val 2028"/>
                  </a:avLst>
                </a:prstGeom>
                <a:grpFill/>
                <a:ln w="9525" cap="flat" cmpd="sng" algn="ctr">
                  <a:noFill/>
                  <a:prstDash val="solid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/>
                <a:p>
                  <a:pPr algn="ctr" defTabSz="1042856" eaLnBrk="0" latinLnBrk="0" hangingPunct="0">
                    <a:lnSpc>
                      <a:spcPct val="90000"/>
                    </a:lnSpc>
                    <a:buClr>
                      <a:srgbClr val="3271AA"/>
                    </a:buClr>
                    <a:buSzPct val="140000"/>
                    <a:tabLst>
                      <a:tab pos="5647613" algn="l"/>
                    </a:tabLst>
                    <a:defRPr/>
                  </a:pPr>
                  <a:r>
                    <a:rPr lang="ko-KR" altLang="en-US" sz="1000" kern="0" dirty="0">
                      <a:gradFill>
                        <a:gsLst>
                          <a:gs pos="7083">
                            <a:prstClr val="black">
                              <a:lumMod val="65000"/>
                              <a:lumOff val="35000"/>
                            </a:prstClr>
                          </a:gs>
                          <a:gs pos="17083">
                            <a:prstClr val="black">
                              <a:lumMod val="65000"/>
                              <a:lumOff val="35000"/>
                            </a:prstClr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</a:rPr>
                    <a:t>산출물</a:t>
                  </a:r>
                </a:p>
              </p:txBody>
            </p:sp>
            <p:sp>
              <p:nvSpPr>
                <p:cNvPr id="36" name="모서리가 둥근 직사각형 35"/>
                <p:cNvSpPr/>
                <p:nvPr/>
              </p:nvSpPr>
              <p:spPr>
                <a:xfrm>
                  <a:off x="2109900" y="1955638"/>
                  <a:ext cx="573089" cy="343610"/>
                </a:xfrm>
                <a:prstGeom prst="roundRect">
                  <a:avLst>
                    <a:gd name="adj" fmla="val 2028"/>
                  </a:avLst>
                </a:prstGeom>
                <a:grpFill/>
                <a:ln w="9525" cap="flat" cmpd="sng" algn="ctr">
                  <a:noFill/>
                  <a:prstDash val="solid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/>
                <a:p>
                  <a:pPr algn="ctr" defTabSz="1042856" eaLnBrk="0" latinLnBrk="0" hangingPunct="0">
                    <a:lnSpc>
                      <a:spcPct val="90000"/>
                    </a:lnSpc>
                    <a:buClr>
                      <a:srgbClr val="3271AA"/>
                    </a:buClr>
                    <a:buSzPct val="140000"/>
                    <a:tabLst>
                      <a:tab pos="5647613" algn="l"/>
                    </a:tabLst>
                    <a:defRPr/>
                  </a:pPr>
                  <a:r>
                    <a:rPr lang="ko-KR" altLang="en-US" sz="1000" kern="0" dirty="0">
                      <a:gradFill>
                        <a:gsLst>
                          <a:gs pos="7083">
                            <a:prstClr val="black">
                              <a:lumMod val="65000"/>
                              <a:lumOff val="35000"/>
                            </a:prstClr>
                          </a:gs>
                          <a:gs pos="17083">
                            <a:prstClr val="black">
                              <a:lumMod val="65000"/>
                              <a:lumOff val="35000"/>
                            </a:prstClr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</a:rPr>
                    <a:t>기법</a:t>
                  </a:r>
                </a:p>
              </p:txBody>
            </p:sp>
            <p:sp>
              <p:nvSpPr>
                <p:cNvPr id="37" name="모서리가 둥근 직사각형 36"/>
                <p:cNvSpPr/>
                <p:nvPr/>
              </p:nvSpPr>
              <p:spPr>
                <a:xfrm>
                  <a:off x="2716224" y="1955638"/>
                  <a:ext cx="573089" cy="343610"/>
                </a:xfrm>
                <a:prstGeom prst="roundRect">
                  <a:avLst>
                    <a:gd name="adj" fmla="val 2028"/>
                  </a:avLst>
                </a:prstGeom>
                <a:grpFill/>
                <a:ln w="9525" cap="flat" cmpd="sng" algn="ctr">
                  <a:noFill/>
                  <a:prstDash val="solid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/>
                <a:p>
                  <a:pPr algn="ctr" defTabSz="1042856" eaLnBrk="0" latinLnBrk="0" hangingPunct="0">
                    <a:lnSpc>
                      <a:spcPct val="90000"/>
                    </a:lnSpc>
                    <a:buClr>
                      <a:srgbClr val="3271AA"/>
                    </a:buClr>
                    <a:buSzPct val="140000"/>
                    <a:tabLst>
                      <a:tab pos="5647613" algn="l"/>
                    </a:tabLst>
                    <a:defRPr/>
                  </a:pPr>
                  <a:r>
                    <a:rPr lang="ko-KR" altLang="en-US" sz="1000" kern="0" dirty="0">
                      <a:gradFill>
                        <a:gsLst>
                          <a:gs pos="7083">
                            <a:prstClr val="black">
                              <a:lumMod val="65000"/>
                              <a:lumOff val="35000"/>
                            </a:prstClr>
                          </a:gs>
                          <a:gs pos="17083">
                            <a:prstClr val="black">
                              <a:lumMod val="65000"/>
                              <a:lumOff val="35000"/>
                            </a:prstClr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</a:rPr>
                    <a:t>역할</a:t>
                  </a:r>
                </a:p>
              </p:txBody>
            </p:sp>
            <p:sp>
              <p:nvSpPr>
                <p:cNvPr id="38" name="모서리가 둥근 직사각형 37"/>
                <p:cNvSpPr/>
                <p:nvPr/>
              </p:nvSpPr>
              <p:spPr>
                <a:xfrm>
                  <a:off x="3322548" y="1955638"/>
                  <a:ext cx="573089" cy="343610"/>
                </a:xfrm>
                <a:prstGeom prst="roundRect">
                  <a:avLst>
                    <a:gd name="adj" fmla="val 2028"/>
                  </a:avLst>
                </a:prstGeom>
                <a:grpFill/>
                <a:ln w="9525" cap="flat" cmpd="sng" algn="ctr">
                  <a:noFill/>
                  <a:prstDash val="solid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/>
                <a:p>
                  <a:pPr algn="ctr" defTabSz="1042856" eaLnBrk="0" latinLnBrk="0" hangingPunct="0">
                    <a:lnSpc>
                      <a:spcPct val="90000"/>
                    </a:lnSpc>
                    <a:buClr>
                      <a:srgbClr val="3271AA"/>
                    </a:buClr>
                    <a:buSzPct val="140000"/>
                    <a:tabLst>
                      <a:tab pos="5647613" algn="l"/>
                    </a:tabLst>
                    <a:defRPr/>
                  </a:pPr>
                  <a:r>
                    <a:rPr lang="ko-KR" altLang="en-US" sz="1000" kern="0" dirty="0">
                      <a:gradFill>
                        <a:gsLst>
                          <a:gs pos="7083">
                            <a:prstClr val="black">
                              <a:lumMod val="65000"/>
                              <a:lumOff val="35000"/>
                            </a:prstClr>
                          </a:gs>
                          <a:gs pos="17083">
                            <a:prstClr val="black">
                              <a:lumMod val="65000"/>
                              <a:lumOff val="35000"/>
                            </a:prstClr>
                          </a:gs>
                        </a:gsLst>
                        <a:path path="rect">
                          <a:fillToRect l="50000" t="50000" r="50000" b="50000"/>
                        </a:path>
                      </a:gradFill>
                    </a:rPr>
                    <a:t>지원도구</a:t>
                  </a:r>
                </a:p>
              </p:txBody>
            </p:sp>
          </p:grpSp>
          <p:sp>
            <p:nvSpPr>
              <p:cNvPr id="20" name="모서리가 둥근 직사각형 19"/>
              <p:cNvSpPr/>
              <p:nvPr/>
            </p:nvSpPr>
            <p:spPr>
              <a:xfrm>
                <a:off x="1225599" y="2687217"/>
                <a:ext cx="623935" cy="344416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단계</a:t>
                </a:r>
                <a:r>
                  <a:rPr lang="en-US" altLang="ko-KR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/>
                </a:r>
                <a:br>
                  <a:rPr lang="en-US" altLang="ko-KR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</a:b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가이드</a:t>
                </a:r>
              </a:p>
            </p:txBody>
          </p:sp>
          <p:sp>
            <p:nvSpPr>
              <p:cNvPr id="21" name="모서리가 둥근 직사각형 20"/>
              <p:cNvSpPr/>
              <p:nvPr/>
            </p:nvSpPr>
            <p:spPr>
              <a:xfrm>
                <a:off x="1885718" y="2687216"/>
                <a:ext cx="623935" cy="344415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엑티비티</a:t>
                </a:r>
                <a:r>
                  <a:rPr lang="en-US" altLang="ko-KR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/>
                </a:r>
                <a:br>
                  <a:rPr lang="en-US" altLang="ko-KR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</a:b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가이드</a:t>
                </a:r>
              </a:p>
            </p:txBody>
          </p:sp>
          <p:sp>
            <p:nvSpPr>
              <p:cNvPr id="22" name="모서리가 둥근 직사각형 21"/>
              <p:cNvSpPr/>
              <p:nvPr/>
            </p:nvSpPr>
            <p:spPr>
              <a:xfrm>
                <a:off x="2545837" y="2687216"/>
                <a:ext cx="1987075" cy="344415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marL="92063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태스크</a:t>
                </a:r>
                <a:r>
                  <a:rPr lang="en-US" altLang="ko-KR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 </a:t>
                </a: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가이드</a:t>
                </a:r>
              </a:p>
            </p:txBody>
          </p:sp>
          <p:sp>
            <p:nvSpPr>
              <p:cNvPr id="23" name="모서리가 둥근 직사각형 22"/>
              <p:cNvSpPr/>
              <p:nvPr/>
            </p:nvSpPr>
            <p:spPr>
              <a:xfrm>
                <a:off x="1225599" y="3466768"/>
                <a:ext cx="2369777" cy="344415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산출물가이드</a:t>
                </a:r>
              </a:p>
            </p:txBody>
          </p:sp>
          <p:sp>
            <p:nvSpPr>
              <p:cNvPr id="24" name="모서리가 둥근 직사각형 23"/>
              <p:cNvSpPr/>
              <p:nvPr/>
            </p:nvSpPr>
            <p:spPr>
              <a:xfrm>
                <a:off x="1225599" y="3076993"/>
                <a:ext cx="623935" cy="344415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기법</a:t>
                </a:r>
                <a:r>
                  <a:rPr lang="en-US" altLang="ko-KR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/>
                </a:r>
                <a:br>
                  <a:rPr lang="en-US" altLang="ko-KR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</a:b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가이드</a:t>
                </a:r>
              </a:p>
            </p:txBody>
          </p:sp>
          <p:sp>
            <p:nvSpPr>
              <p:cNvPr id="25" name="모서리가 둥근 직사각형 24"/>
              <p:cNvSpPr/>
              <p:nvPr/>
            </p:nvSpPr>
            <p:spPr>
              <a:xfrm>
                <a:off x="1885718" y="3076993"/>
                <a:ext cx="623935" cy="344415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역할</a:t>
                </a:r>
                <a:r>
                  <a:rPr lang="en-US" altLang="ko-KR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/>
                </a:r>
                <a:br>
                  <a:rPr lang="en-US" altLang="ko-KR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</a:b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가이드</a:t>
                </a:r>
              </a:p>
            </p:txBody>
          </p:sp>
          <p:sp>
            <p:nvSpPr>
              <p:cNvPr id="26" name="모서리가 둥근 직사각형 25"/>
              <p:cNvSpPr/>
              <p:nvPr/>
            </p:nvSpPr>
            <p:spPr>
              <a:xfrm>
                <a:off x="2545836" y="3076993"/>
                <a:ext cx="1265524" cy="344415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marL="92063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지원도구 가이드</a:t>
                </a:r>
              </a:p>
            </p:txBody>
          </p:sp>
          <p:sp>
            <p:nvSpPr>
              <p:cNvPr id="27" name="모서리가 둥근 직사각형 26"/>
              <p:cNvSpPr/>
              <p:nvPr/>
            </p:nvSpPr>
            <p:spPr>
              <a:xfrm>
                <a:off x="1225598" y="4101521"/>
                <a:ext cx="623935" cy="344415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작성</a:t>
                </a:r>
                <a:r>
                  <a:rPr lang="en-US" altLang="ko-KR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/>
                </a:r>
                <a:br>
                  <a:rPr lang="en-US" altLang="ko-KR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</a:b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표준</a:t>
                </a:r>
              </a:p>
            </p:txBody>
          </p:sp>
          <p:sp>
            <p:nvSpPr>
              <p:cNvPr id="28" name="모서리가 둥근 직사각형 27"/>
              <p:cNvSpPr/>
              <p:nvPr/>
            </p:nvSpPr>
            <p:spPr>
              <a:xfrm>
                <a:off x="1885718" y="4101521"/>
                <a:ext cx="623935" cy="344415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양식</a:t>
                </a:r>
                <a:r>
                  <a:rPr lang="en-US" altLang="ko-KR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/</a:t>
                </a:r>
                <a:br>
                  <a:rPr lang="en-US" altLang="ko-KR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</a:b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템플릿</a:t>
                </a:r>
              </a:p>
            </p:txBody>
          </p:sp>
          <p:sp>
            <p:nvSpPr>
              <p:cNvPr id="29" name="모서리가 둥근 직사각형 28"/>
              <p:cNvSpPr/>
              <p:nvPr/>
            </p:nvSpPr>
            <p:spPr>
              <a:xfrm>
                <a:off x="2545839" y="4101521"/>
                <a:ext cx="1769710" cy="344415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marL="92063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업무절차</a:t>
                </a:r>
              </a:p>
            </p:txBody>
          </p:sp>
          <p:sp>
            <p:nvSpPr>
              <p:cNvPr id="30" name="모서리가 둥근 직사각형 29"/>
              <p:cNvSpPr/>
              <p:nvPr/>
            </p:nvSpPr>
            <p:spPr>
              <a:xfrm>
                <a:off x="1225598" y="4918271"/>
                <a:ext cx="3370071" cy="377826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지원툴매뉴얼</a:t>
                </a:r>
              </a:p>
            </p:txBody>
          </p:sp>
          <p:sp>
            <p:nvSpPr>
              <p:cNvPr id="31" name="모서리가 둥근 직사각형 30"/>
              <p:cNvSpPr/>
              <p:nvPr/>
            </p:nvSpPr>
            <p:spPr>
              <a:xfrm>
                <a:off x="1885718" y="4509892"/>
                <a:ext cx="623935" cy="344416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참조물</a:t>
                </a:r>
              </a:p>
            </p:txBody>
          </p:sp>
          <p:sp>
            <p:nvSpPr>
              <p:cNvPr id="32" name="모서리가 둥근 직사각형 31"/>
              <p:cNvSpPr/>
              <p:nvPr/>
            </p:nvSpPr>
            <p:spPr>
              <a:xfrm>
                <a:off x="2545836" y="4509895"/>
                <a:ext cx="1769710" cy="344416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marL="92063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기법</a:t>
                </a:r>
              </a:p>
            </p:txBody>
          </p:sp>
          <p:sp>
            <p:nvSpPr>
              <p:cNvPr id="33" name="모서리가 둥근 직사각형 32"/>
              <p:cNvSpPr/>
              <p:nvPr/>
            </p:nvSpPr>
            <p:spPr>
              <a:xfrm>
                <a:off x="1225599" y="4509899"/>
                <a:ext cx="623935" cy="344415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ko-KR" altLang="en-US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사례</a:t>
                </a:r>
              </a:p>
            </p:txBody>
          </p:sp>
          <p:sp>
            <p:nvSpPr>
              <p:cNvPr id="34" name="모서리가 둥근 직사각형 33"/>
              <p:cNvSpPr/>
              <p:nvPr/>
            </p:nvSpPr>
            <p:spPr>
              <a:xfrm>
                <a:off x="1225597" y="5540701"/>
                <a:ext cx="3370072" cy="582422"/>
              </a:xfrm>
              <a:prstGeom prst="roundRect">
                <a:avLst>
                  <a:gd name="adj" fmla="val 2028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856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5647613" algn="l"/>
                  </a:tabLst>
                  <a:defRPr/>
                </a:pPr>
                <a:r>
                  <a:rPr lang="en-US" altLang="ko-KR" sz="1000" kern="0" dirty="0">
                    <a:gradFill>
                      <a:gsLst>
                        <a:gs pos="7083">
                          <a:prstClr val="black">
                            <a:lumMod val="65000"/>
                            <a:lumOff val="35000"/>
                          </a:prstClr>
                        </a:gs>
                        <a:gs pos="17083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path path="rect">
                        <a:fillToRect l="50000" t="50000" r="50000" b="50000"/>
                      </a:path>
                    </a:gradFill>
                  </a:rPr>
                  <a:t>WBS</a:t>
                </a:r>
              </a:p>
            </p:txBody>
          </p:sp>
        </p:grpSp>
      </p:grpSp>
      <p:grpSp>
        <p:nvGrpSpPr>
          <p:cNvPr id="43" name="그룹 42"/>
          <p:cNvGrpSpPr/>
          <p:nvPr/>
        </p:nvGrpSpPr>
        <p:grpSpPr>
          <a:xfrm>
            <a:off x="6471963" y="2733839"/>
            <a:ext cx="3211669" cy="485707"/>
            <a:chOff x="6161024" y="1979548"/>
            <a:chExt cx="3093006" cy="529815"/>
          </a:xfrm>
        </p:grpSpPr>
        <p:sp>
          <p:nvSpPr>
            <p:cNvPr id="44" name="TextBox 43"/>
            <p:cNvSpPr txBox="1"/>
            <p:nvPr/>
          </p:nvSpPr>
          <p:spPr>
            <a:xfrm>
              <a:off x="6221137" y="1979548"/>
              <a:ext cx="3032893" cy="36933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72000" tIns="0" rIns="0" bIns="0" rtlCol="0" anchor="ctr" anchorCtr="0">
              <a:noAutofit/>
            </a:bodyPr>
            <a:lstStyle>
              <a:defPPr>
                <a:defRPr lang="ko-KR"/>
              </a:defPPr>
              <a:lvl1pPr marL="88900" indent="-88900" algn="l" latinLnBrk="0">
                <a:lnSpc>
                  <a:spcPct val="100000"/>
                </a:lnSpc>
                <a:spcBef>
                  <a:spcPts val="0"/>
                </a:spcBef>
                <a:buClr>
                  <a:srgbClr val="A1A1A1"/>
                </a:buClr>
                <a:buSzPct val="60000"/>
                <a:buFont typeface="Arial" pitchFamily="34" charset="0"/>
                <a:buChar char="•"/>
                <a:defRPr sz="2400" kern="0" spc="0">
                  <a:gradFill flip="none" rotWithShape="1"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16200000" scaled="1"/>
                    <a:tileRect/>
                  </a:gradFill>
                  <a:latin typeface="나눔손글씨 펜" panose="03040600000000000000" pitchFamily="66" charset="-127"/>
                  <a:ea typeface="나눔손글씨 펜" panose="03040600000000000000" pitchFamily="66" charset="-127"/>
                </a:defRPr>
              </a:lvl1pPr>
            </a:lstStyle>
            <a:p>
              <a:pPr marL="0" indent="0" algn="r" defTabSz="995564" fontAlgn="base">
                <a:spcAft>
                  <a:spcPct val="0"/>
                </a:spcAft>
                <a:buFont typeface="Arial" pitchFamily="34" charset="0"/>
                <a:buNone/>
              </a:pPr>
              <a:r>
                <a:rPr kumimoji="1" lang="ko-KR" altLang="en-US" sz="1900" dirty="0">
                  <a:gradFill flip="none" rotWithShape="1"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  <a:tileRect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유연성 확보</a:t>
              </a: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6161024" y="2326137"/>
              <a:ext cx="3075941" cy="183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 defTabSz="1042856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5647613" algn="l"/>
                </a:tabLst>
                <a:defRPr/>
              </a:pPr>
              <a:r>
                <a:rPr lang="ko-KR" altLang="en-US" sz="1200" kern="0" dirty="0">
                  <a:gradFill>
                    <a:gsLst>
                      <a:gs pos="7083">
                        <a:prstClr val="black">
                          <a:lumMod val="65000"/>
                          <a:lumOff val="35000"/>
                        </a:prstClr>
                      </a:gs>
                      <a:gs pos="17083">
                        <a:prstClr val="black">
                          <a:lumMod val="65000"/>
                          <a:lumOff val="35000"/>
                        </a:prstClr>
                      </a:gs>
                    </a:gsLst>
                    <a:path path="rect">
                      <a:fillToRect l="50000" t="50000" r="50000" b="50000"/>
                    </a:path>
                  </a:gradFill>
                </a:rPr>
                <a:t>제품 연계에 필요한 유연성 확보</a:t>
              </a:r>
            </a:p>
          </p:txBody>
        </p:sp>
      </p:grpSp>
      <p:cxnSp>
        <p:nvCxnSpPr>
          <p:cNvPr id="46" name="직선 연결선 45"/>
          <p:cNvCxnSpPr/>
          <p:nvPr/>
        </p:nvCxnSpPr>
        <p:spPr bwMode="auto">
          <a:xfrm>
            <a:off x="5995267" y="3351064"/>
            <a:ext cx="3875842" cy="0"/>
          </a:xfrm>
          <a:prstGeom prst="line">
            <a:avLst/>
          </a:prstGeom>
          <a:solidFill>
            <a:srgbClr val="4F81BD"/>
          </a:solidFill>
          <a:ln w="12700" cap="flat" cmpd="sng" algn="ctr">
            <a:solidFill>
              <a:schemeClr val="bg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2700" dir="7800000" algn="ctr" rotWithShape="0">
              <a:sysClr val="window" lastClr="FFFFFF"/>
            </a:outerShdw>
          </a:effectLst>
        </p:spPr>
      </p:cxnSp>
      <p:grpSp>
        <p:nvGrpSpPr>
          <p:cNvPr id="47" name="그룹 46"/>
          <p:cNvGrpSpPr/>
          <p:nvPr/>
        </p:nvGrpSpPr>
        <p:grpSpPr>
          <a:xfrm>
            <a:off x="6932782" y="3618336"/>
            <a:ext cx="2750849" cy="477078"/>
            <a:chOff x="6604817" y="1449438"/>
            <a:chExt cx="2649212" cy="520403"/>
          </a:xfrm>
        </p:grpSpPr>
        <p:sp>
          <p:nvSpPr>
            <p:cNvPr id="48" name="TextBox 47"/>
            <p:cNvSpPr txBox="1"/>
            <p:nvPr/>
          </p:nvSpPr>
          <p:spPr>
            <a:xfrm>
              <a:off x="7320571" y="1449438"/>
              <a:ext cx="1933458" cy="36933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72000" tIns="0" rIns="0" bIns="0" rtlCol="0" anchor="ctr" anchorCtr="0">
              <a:noAutofit/>
            </a:bodyPr>
            <a:lstStyle>
              <a:defPPr>
                <a:defRPr lang="ko-KR"/>
              </a:defPPr>
              <a:lvl1pPr marL="88900" indent="-88900" algn="l" latinLnBrk="0">
                <a:lnSpc>
                  <a:spcPct val="100000"/>
                </a:lnSpc>
                <a:spcBef>
                  <a:spcPts val="0"/>
                </a:spcBef>
                <a:buClr>
                  <a:srgbClr val="A1A1A1"/>
                </a:buClr>
                <a:buSzPct val="60000"/>
                <a:buFont typeface="Arial" pitchFamily="34" charset="0"/>
                <a:buChar char="•"/>
                <a:defRPr sz="2400" kern="0" spc="0">
                  <a:gradFill flip="none" rotWithShape="1"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16200000" scaled="1"/>
                    <a:tileRect/>
                  </a:gradFill>
                  <a:latin typeface="나눔손글씨 펜" panose="03040600000000000000" pitchFamily="66" charset="-127"/>
                  <a:ea typeface="나눔손글씨 펜" panose="03040600000000000000" pitchFamily="66" charset="-127"/>
                </a:defRPr>
              </a:lvl1pPr>
            </a:lstStyle>
            <a:p>
              <a:pPr marL="0" indent="0" algn="r" defTabSz="995564" fontAlgn="base">
                <a:spcAft>
                  <a:spcPct val="0"/>
                </a:spcAft>
                <a:buFont typeface="Arial" pitchFamily="34" charset="0"/>
                <a:buNone/>
              </a:pPr>
              <a:r>
                <a:rPr kumimoji="1" lang="ko-KR" altLang="en-US" sz="1900" dirty="0">
                  <a:gradFill flip="none" rotWithShape="1"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  <a:tileRect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일관성 확보</a:t>
              </a: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6604817" y="1786615"/>
              <a:ext cx="2632148" cy="183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 defTabSz="1042856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5647613" algn="l"/>
                </a:tabLst>
              </a:pPr>
              <a:r>
                <a:rPr lang="ko-KR" altLang="en-US" sz="1200" kern="0" dirty="0">
                  <a:gradFill>
                    <a:gsLst>
                      <a:gs pos="7083">
                        <a:prstClr val="black">
                          <a:lumMod val="65000"/>
                          <a:lumOff val="35000"/>
                        </a:prstClr>
                      </a:gs>
                      <a:gs pos="17083">
                        <a:prstClr val="black">
                          <a:lumMod val="65000"/>
                          <a:lumOff val="35000"/>
                        </a:prstClr>
                      </a:gs>
                    </a:gsLst>
                    <a:path path="rect">
                      <a:fillToRect l="50000" t="50000" r="50000" b="50000"/>
                    </a:path>
                  </a:gradFill>
                </a:rPr>
                <a:t>사업수행 과정 속에 일관성 유지</a:t>
              </a:r>
            </a:p>
          </p:txBody>
        </p:sp>
      </p:grpSp>
      <p:cxnSp>
        <p:nvCxnSpPr>
          <p:cNvPr id="50" name="직선 연결선 49"/>
          <p:cNvCxnSpPr/>
          <p:nvPr/>
        </p:nvCxnSpPr>
        <p:spPr bwMode="auto">
          <a:xfrm>
            <a:off x="5995267" y="4288814"/>
            <a:ext cx="3875842" cy="0"/>
          </a:xfrm>
          <a:prstGeom prst="line">
            <a:avLst/>
          </a:prstGeom>
          <a:solidFill>
            <a:srgbClr val="4F81BD"/>
          </a:solidFill>
          <a:ln w="12700" cap="flat" cmpd="sng" algn="ctr">
            <a:solidFill>
              <a:schemeClr val="bg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2700" dir="7800000" algn="ctr" rotWithShape="0">
              <a:sysClr val="window" lastClr="FFFFFF"/>
            </a:outerShdw>
          </a:effectLst>
        </p:spPr>
      </p:cxnSp>
      <p:cxnSp>
        <p:nvCxnSpPr>
          <p:cNvPr id="51" name="직선 연결선 50"/>
          <p:cNvCxnSpPr/>
          <p:nvPr/>
        </p:nvCxnSpPr>
        <p:spPr bwMode="auto">
          <a:xfrm>
            <a:off x="5995267" y="5226563"/>
            <a:ext cx="3875842" cy="0"/>
          </a:xfrm>
          <a:prstGeom prst="line">
            <a:avLst/>
          </a:prstGeom>
          <a:solidFill>
            <a:srgbClr val="4F81BD"/>
          </a:solidFill>
          <a:ln w="12700" cap="flat" cmpd="sng" algn="ctr">
            <a:solidFill>
              <a:schemeClr val="bg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2700" dir="7800000" algn="ctr" rotWithShape="0">
              <a:sysClr val="window" lastClr="FFFFFF"/>
            </a:outerShdw>
          </a:effectLst>
        </p:spPr>
      </p:cxnSp>
      <p:cxnSp>
        <p:nvCxnSpPr>
          <p:cNvPr id="52" name="직선 연결선 51"/>
          <p:cNvCxnSpPr/>
          <p:nvPr/>
        </p:nvCxnSpPr>
        <p:spPr bwMode="auto">
          <a:xfrm>
            <a:off x="5995267" y="6164313"/>
            <a:ext cx="3875842" cy="0"/>
          </a:xfrm>
          <a:prstGeom prst="line">
            <a:avLst/>
          </a:prstGeom>
          <a:solidFill>
            <a:srgbClr val="4F81BD"/>
          </a:solidFill>
          <a:ln w="12700" cap="flat" cmpd="sng" algn="ctr">
            <a:solidFill>
              <a:schemeClr val="bg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>
            <a:outerShdw dist="12700" dir="7800000" algn="ctr" rotWithShape="0">
              <a:sysClr val="window" lastClr="FFFFFF"/>
            </a:outerShdw>
          </a:effectLst>
        </p:spPr>
      </p:cxnSp>
      <p:grpSp>
        <p:nvGrpSpPr>
          <p:cNvPr id="53" name="그룹 52"/>
          <p:cNvGrpSpPr/>
          <p:nvPr/>
        </p:nvGrpSpPr>
        <p:grpSpPr>
          <a:xfrm>
            <a:off x="6471965" y="4494205"/>
            <a:ext cx="3211668" cy="504420"/>
            <a:chOff x="5124492" y="3038742"/>
            <a:chExt cx="2370194" cy="532030"/>
          </a:xfrm>
        </p:grpSpPr>
        <p:sp>
          <p:nvSpPr>
            <p:cNvPr id="54" name="TextBox 53"/>
            <p:cNvSpPr txBox="1"/>
            <p:nvPr/>
          </p:nvSpPr>
          <p:spPr>
            <a:xfrm>
              <a:off x="6013062" y="3038742"/>
              <a:ext cx="1481624" cy="357116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72000" tIns="0" rIns="0" bIns="0" rtlCol="0" anchor="ctr" anchorCtr="0">
              <a:noAutofit/>
            </a:bodyPr>
            <a:lstStyle>
              <a:defPPr>
                <a:defRPr lang="ko-KR"/>
              </a:defPPr>
              <a:lvl1pPr marL="88900" indent="-88900" algn="l" latinLnBrk="0">
                <a:lnSpc>
                  <a:spcPct val="100000"/>
                </a:lnSpc>
                <a:spcBef>
                  <a:spcPts val="0"/>
                </a:spcBef>
                <a:buClr>
                  <a:srgbClr val="A1A1A1"/>
                </a:buClr>
                <a:buSzPct val="60000"/>
                <a:buFont typeface="Arial" pitchFamily="34" charset="0"/>
                <a:buChar char="•"/>
                <a:defRPr sz="2400" kern="0" spc="0">
                  <a:gradFill flip="none" rotWithShape="1"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16200000" scaled="1"/>
                    <a:tileRect/>
                  </a:gradFill>
                  <a:latin typeface="나눔손글씨 펜" panose="03040600000000000000" pitchFamily="66" charset="-127"/>
                  <a:ea typeface="나눔손글씨 펜" panose="03040600000000000000" pitchFamily="66" charset="-127"/>
                </a:defRPr>
              </a:lvl1pPr>
            </a:lstStyle>
            <a:p>
              <a:pPr marL="0" indent="0" algn="r" defTabSz="995564" fontAlgn="base">
                <a:spcAft>
                  <a:spcPct val="0"/>
                </a:spcAft>
                <a:buFont typeface="Arial" pitchFamily="34" charset="0"/>
                <a:buNone/>
              </a:pPr>
              <a:r>
                <a:rPr kumimoji="1" lang="ko-KR" altLang="en-US" sz="1900" dirty="0">
                  <a:gradFill flip="none" rotWithShape="1"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  <a:tileRect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생산성 확보</a:t>
              </a: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5124492" y="3393606"/>
              <a:ext cx="2357118" cy="177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 defTabSz="1042856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5647613" algn="l"/>
                </a:tabLst>
              </a:pPr>
              <a:r>
                <a:rPr lang="ko-KR" altLang="en-US" sz="1200" kern="0" dirty="0">
                  <a:gradFill>
                    <a:gsLst>
                      <a:gs pos="7083">
                        <a:prstClr val="black">
                          <a:lumMod val="65000"/>
                          <a:lumOff val="35000"/>
                        </a:prstClr>
                      </a:gs>
                      <a:gs pos="17083">
                        <a:prstClr val="black">
                          <a:lumMod val="65000"/>
                          <a:lumOff val="35000"/>
                        </a:prstClr>
                      </a:gs>
                    </a:gsLst>
                    <a:path path="rect">
                      <a:fillToRect l="50000" t="50000" r="50000" b="50000"/>
                    </a:path>
                  </a:gradFill>
                </a:rPr>
                <a:t>자원</a:t>
              </a:r>
              <a:r>
                <a:rPr lang="en-US" altLang="ko-KR" sz="1200" kern="0" dirty="0">
                  <a:gradFill>
                    <a:gsLst>
                      <a:gs pos="7083">
                        <a:prstClr val="black">
                          <a:lumMod val="65000"/>
                          <a:lumOff val="35000"/>
                        </a:prstClr>
                      </a:gs>
                      <a:gs pos="17083">
                        <a:prstClr val="black">
                          <a:lumMod val="65000"/>
                          <a:lumOff val="35000"/>
                        </a:prstClr>
                      </a:gs>
                    </a:gsLst>
                    <a:path path="rect">
                      <a:fillToRect l="50000" t="50000" r="50000" b="50000"/>
                    </a:path>
                  </a:gradFill>
                </a:rPr>
                <a:t>, </a:t>
              </a:r>
              <a:r>
                <a:rPr lang="ko-KR" altLang="en-US" sz="1200" kern="0" dirty="0">
                  <a:gradFill>
                    <a:gsLst>
                      <a:gs pos="7083">
                        <a:prstClr val="black">
                          <a:lumMod val="65000"/>
                          <a:lumOff val="35000"/>
                        </a:prstClr>
                      </a:gs>
                      <a:gs pos="17083">
                        <a:prstClr val="black">
                          <a:lumMod val="65000"/>
                          <a:lumOff val="35000"/>
                        </a:prstClr>
                      </a:gs>
                    </a:gsLst>
                    <a:path path="rect">
                      <a:fillToRect l="50000" t="50000" r="50000" b="50000"/>
                    </a:path>
                  </a:gradFill>
                </a:rPr>
                <a:t>진도관리를 통한 생산성 향상</a:t>
              </a:r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6471965" y="5397412"/>
            <a:ext cx="3211668" cy="504419"/>
            <a:chOff x="5124492" y="3836392"/>
            <a:chExt cx="2370194" cy="532028"/>
          </a:xfrm>
        </p:grpSpPr>
        <p:sp>
          <p:nvSpPr>
            <p:cNvPr id="57" name="TextBox 56"/>
            <p:cNvSpPr txBox="1"/>
            <p:nvPr/>
          </p:nvSpPr>
          <p:spPr>
            <a:xfrm>
              <a:off x="6013062" y="3836392"/>
              <a:ext cx="1481624" cy="357116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72000" tIns="0" rIns="0" bIns="0" rtlCol="0" anchor="ctr" anchorCtr="0">
              <a:noAutofit/>
            </a:bodyPr>
            <a:lstStyle>
              <a:defPPr>
                <a:defRPr lang="ko-KR"/>
              </a:defPPr>
              <a:lvl1pPr marL="88900" indent="-88900" algn="l" latinLnBrk="0">
                <a:lnSpc>
                  <a:spcPct val="100000"/>
                </a:lnSpc>
                <a:spcBef>
                  <a:spcPts val="0"/>
                </a:spcBef>
                <a:buClr>
                  <a:srgbClr val="A1A1A1"/>
                </a:buClr>
                <a:buSzPct val="60000"/>
                <a:buFont typeface="Arial" pitchFamily="34" charset="0"/>
                <a:buChar char="•"/>
                <a:defRPr sz="2400" kern="0" spc="0">
                  <a:gradFill flip="none" rotWithShape="1"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16200000" scaled="1"/>
                    <a:tileRect/>
                  </a:gradFill>
                  <a:latin typeface="나눔손글씨 펜" panose="03040600000000000000" pitchFamily="66" charset="-127"/>
                  <a:ea typeface="나눔손글씨 펜" panose="03040600000000000000" pitchFamily="66" charset="-127"/>
                </a:defRPr>
              </a:lvl1pPr>
            </a:lstStyle>
            <a:p>
              <a:pPr marL="0" indent="0" algn="r" defTabSz="995564" fontAlgn="base">
                <a:spcAft>
                  <a:spcPct val="0"/>
                </a:spcAft>
                <a:buFont typeface="Arial" pitchFamily="34" charset="0"/>
                <a:buNone/>
              </a:pPr>
              <a:r>
                <a:rPr kumimoji="1" lang="ko-KR" altLang="en-US" sz="1900" dirty="0">
                  <a:gradFill flip="none" rotWithShape="1"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  <a:tileRect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품질확보</a:t>
              </a: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5124492" y="4191255"/>
              <a:ext cx="2357118" cy="177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 defTabSz="1042856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5647613" algn="l"/>
                </a:tabLst>
              </a:pPr>
              <a:r>
                <a:rPr lang="ko-KR" altLang="en-US" sz="1200" kern="0" dirty="0">
                  <a:gradFill>
                    <a:gsLst>
                      <a:gs pos="7083">
                        <a:prstClr val="black">
                          <a:lumMod val="65000"/>
                          <a:lumOff val="35000"/>
                        </a:prstClr>
                      </a:gs>
                      <a:gs pos="17083">
                        <a:prstClr val="black">
                          <a:lumMod val="65000"/>
                          <a:lumOff val="35000"/>
                        </a:prstClr>
                      </a:gs>
                    </a:gsLst>
                    <a:path path="rect">
                      <a:fillToRect l="50000" t="50000" r="50000" b="50000"/>
                    </a:path>
                  </a:gradFill>
                </a:rPr>
                <a:t>문서 및 형상관리를 통한 품질 보증</a:t>
              </a: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6471965" y="6300631"/>
            <a:ext cx="3211668" cy="504420"/>
            <a:chOff x="5124492" y="4628858"/>
            <a:chExt cx="2370194" cy="532029"/>
          </a:xfrm>
        </p:grpSpPr>
        <p:sp>
          <p:nvSpPr>
            <p:cNvPr id="60" name="TextBox 59"/>
            <p:cNvSpPr txBox="1"/>
            <p:nvPr/>
          </p:nvSpPr>
          <p:spPr>
            <a:xfrm>
              <a:off x="6013062" y="4628858"/>
              <a:ext cx="1481624" cy="357116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wrap="square" lIns="72000" tIns="0" rIns="0" bIns="0" rtlCol="0" anchor="ctr" anchorCtr="0">
              <a:noAutofit/>
            </a:bodyPr>
            <a:lstStyle>
              <a:defPPr>
                <a:defRPr lang="ko-KR"/>
              </a:defPPr>
              <a:lvl1pPr marL="88900" indent="-88900" algn="l" latinLnBrk="0">
                <a:lnSpc>
                  <a:spcPct val="100000"/>
                </a:lnSpc>
                <a:spcBef>
                  <a:spcPts val="0"/>
                </a:spcBef>
                <a:buClr>
                  <a:srgbClr val="A1A1A1"/>
                </a:buClr>
                <a:buSzPct val="60000"/>
                <a:buFont typeface="Arial" pitchFamily="34" charset="0"/>
                <a:buChar char="•"/>
                <a:defRPr sz="2400" kern="0" spc="0">
                  <a:gradFill flip="none" rotWithShape="1"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16200000" scaled="1"/>
                    <a:tileRect/>
                  </a:gradFill>
                  <a:latin typeface="나눔손글씨 펜" panose="03040600000000000000" pitchFamily="66" charset="-127"/>
                  <a:ea typeface="나눔손글씨 펜" panose="03040600000000000000" pitchFamily="66" charset="-127"/>
                </a:defRPr>
              </a:lvl1pPr>
            </a:lstStyle>
            <a:p>
              <a:pPr marL="0" indent="0" algn="r" defTabSz="995564" fontAlgn="base">
                <a:spcAft>
                  <a:spcPct val="0"/>
                </a:spcAft>
                <a:buFont typeface="Arial" pitchFamily="34" charset="0"/>
                <a:buNone/>
              </a:pPr>
              <a:r>
                <a:rPr kumimoji="1" lang="ko-KR" altLang="en-US" sz="1900" dirty="0">
                  <a:gradFill flip="none" rotWithShape="1"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  <a:tileRect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납기일 준수</a:t>
              </a: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5124492" y="4983721"/>
              <a:ext cx="2357118" cy="177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 defTabSz="1042856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5647613" algn="l"/>
                </a:tabLst>
              </a:pPr>
              <a:r>
                <a:rPr lang="ko-KR" altLang="en-US" sz="1200" kern="0" dirty="0">
                  <a:gradFill>
                    <a:gsLst>
                      <a:gs pos="7083">
                        <a:prstClr val="black">
                          <a:lumMod val="65000"/>
                          <a:lumOff val="35000"/>
                        </a:prstClr>
                      </a:gs>
                      <a:gs pos="17083">
                        <a:prstClr val="black">
                          <a:lumMod val="65000"/>
                          <a:lumOff val="35000"/>
                        </a:prstClr>
                      </a:gs>
                    </a:gsLst>
                    <a:path path="rect">
                      <a:fillToRect l="50000" t="50000" r="50000" b="50000"/>
                    </a:path>
                  </a:gradFill>
                </a:rPr>
                <a:t>일정관리 및 프로젝트 관리를 통한 납기 준수</a:t>
              </a:r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3579797" y="2916511"/>
            <a:ext cx="3495143" cy="3434464"/>
            <a:chOff x="594040" y="2218427"/>
            <a:chExt cx="3495143" cy="3434464"/>
          </a:xfrm>
        </p:grpSpPr>
        <p:sp>
          <p:nvSpPr>
            <p:cNvPr id="77" name="타원 76"/>
            <p:cNvSpPr/>
            <p:nvPr/>
          </p:nvSpPr>
          <p:spPr>
            <a:xfrm>
              <a:off x="929930" y="2571704"/>
              <a:ext cx="2809654" cy="2747377"/>
            </a:xfrm>
            <a:prstGeom prst="ellipse">
              <a:avLst/>
            </a:prstGeom>
            <a:solidFill>
              <a:sysClr val="window" lastClr="FFFFFF"/>
            </a:solidFill>
            <a:ln w="57150" cap="flat" cmpd="sng" algn="ctr">
              <a:noFill/>
              <a:prstDash val="solid"/>
            </a:ln>
            <a:effectLst>
              <a:outerShdw sx="110000" sy="110000" algn="ctr" rotWithShape="0">
                <a:schemeClr val="accent2">
                  <a:lumMod val="20000"/>
                  <a:lumOff val="80000"/>
                  <a:alpha val="31000"/>
                </a:schemeClr>
              </a:outerShdw>
            </a:effectLst>
          </p:spPr>
          <p:txBody>
            <a:bodyPr rtlCol="0" anchor="ctr"/>
            <a:lstStyle/>
            <a:p>
              <a:pPr algn="ctr" defTabSz="995564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2400" b="1" kern="0" dirty="0">
                <a:solidFill>
                  <a:prstClr val="black"/>
                </a:solidFill>
              </a:endParaRPr>
            </a:p>
          </p:txBody>
        </p:sp>
        <p:grpSp>
          <p:nvGrpSpPr>
            <p:cNvPr id="78" name="그룹 77"/>
            <p:cNvGrpSpPr/>
            <p:nvPr/>
          </p:nvGrpSpPr>
          <p:grpSpPr>
            <a:xfrm>
              <a:off x="594040" y="2218427"/>
              <a:ext cx="3495143" cy="3434464"/>
              <a:chOff x="7921154" y="2290437"/>
              <a:chExt cx="3495143" cy="3434464"/>
            </a:xfrm>
          </p:grpSpPr>
          <p:grpSp>
            <p:nvGrpSpPr>
              <p:cNvPr id="79" name="그룹 78"/>
              <p:cNvGrpSpPr/>
              <p:nvPr/>
            </p:nvGrpSpPr>
            <p:grpSpPr>
              <a:xfrm>
                <a:off x="7921154" y="2290437"/>
                <a:ext cx="3495143" cy="3434464"/>
                <a:chOff x="8096482" y="2290437"/>
                <a:chExt cx="3495143" cy="3434464"/>
              </a:xfrm>
            </p:grpSpPr>
            <p:pic>
              <p:nvPicPr>
                <p:cNvPr id="87" name="그림 86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096482" y="2290437"/>
                  <a:ext cx="3495143" cy="3434464"/>
                </a:xfrm>
                <a:prstGeom prst="rect">
                  <a:avLst/>
                </a:prstGeom>
              </p:spPr>
            </p:pic>
            <p:sp>
              <p:nvSpPr>
                <p:cNvPr id="88" name="TextBox 87"/>
                <p:cNvSpPr txBox="1"/>
                <p:nvPr/>
              </p:nvSpPr>
              <p:spPr>
                <a:xfrm rot="1403759">
                  <a:off x="9954436" y="2832810"/>
                  <a:ext cx="83227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95564"/>
                  <a:r>
                    <a:rPr lang="ko-KR" altLang="en-US" sz="1400" dirty="0">
                      <a:solidFill>
                        <a:srgbClr val="FFFFFF"/>
                      </a:solidFill>
                    </a:rPr>
                    <a:t>일정관리</a:t>
                  </a:r>
                </a:p>
              </p:txBody>
            </p:sp>
            <p:sp>
              <p:nvSpPr>
                <p:cNvPr id="89" name="TextBox 88"/>
                <p:cNvSpPr txBox="1"/>
                <p:nvPr/>
              </p:nvSpPr>
              <p:spPr>
                <a:xfrm rot="20010499">
                  <a:off x="8866958" y="2847662"/>
                  <a:ext cx="83227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95564"/>
                  <a:r>
                    <a:rPr lang="ko-KR" altLang="en-US" sz="1400" dirty="0">
                      <a:solidFill>
                        <a:srgbClr val="FFFFFF"/>
                      </a:solidFill>
                    </a:rPr>
                    <a:t>자원관리</a:t>
                  </a:r>
                </a:p>
              </p:txBody>
            </p:sp>
            <p:sp>
              <p:nvSpPr>
                <p:cNvPr id="90" name="TextBox 89"/>
                <p:cNvSpPr txBox="1"/>
                <p:nvPr/>
              </p:nvSpPr>
              <p:spPr>
                <a:xfrm rot="17038921">
                  <a:off x="8276867" y="3608077"/>
                  <a:ext cx="83227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95564"/>
                  <a:r>
                    <a:rPr lang="ko-KR" altLang="en-US" sz="1400" dirty="0">
                      <a:solidFill>
                        <a:srgbClr val="FFFFFF"/>
                      </a:solidFill>
                    </a:rPr>
                    <a:t>위험관리</a:t>
                  </a:r>
                </a:p>
              </p:txBody>
            </p:sp>
            <p:sp>
              <p:nvSpPr>
                <p:cNvPr id="91" name="TextBox 90"/>
                <p:cNvSpPr txBox="1"/>
                <p:nvPr/>
              </p:nvSpPr>
              <p:spPr>
                <a:xfrm rot="2913313">
                  <a:off x="8458537" y="4534874"/>
                  <a:ext cx="83227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95564"/>
                  <a:r>
                    <a:rPr lang="ko-KR" altLang="en-US" sz="1400" dirty="0">
                      <a:solidFill>
                        <a:srgbClr val="FFFFFF"/>
                      </a:solidFill>
                    </a:rPr>
                    <a:t>보안관리</a:t>
                  </a:r>
                </a:p>
              </p:txBody>
            </p:sp>
            <p:sp>
              <p:nvSpPr>
                <p:cNvPr id="92" name="TextBox 91"/>
                <p:cNvSpPr txBox="1"/>
                <p:nvPr/>
              </p:nvSpPr>
              <p:spPr>
                <a:xfrm>
                  <a:off x="9303575" y="5025972"/>
                  <a:ext cx="10118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95564"/>
                  <a:r>
                    <a:rPr lang="ko-KR" altLang="en-US" sz="1200" dirty="0">
                      <a:solidFill>
                        <a:srgbClr val="FFFFFF"/>
                      </a:solidFill>
                    </a:rPr>
                    <a:t>의사소통관리</a:t>
                  </a:r>
                </a:p>
              </p:txBody>
            </p:sp>
            <p:sp>
              <p:nvSpPr>
                <p:cNvPr id="93" name="TextBox 92"/>
                <p:cNvSpPr txBox="1"/>
                <p:nvPr/>
              </p:nvSpPr>
              <p:spPr>
                <a:xfrm rot="18768762">
                  <a:off x="10294950" y="4602945"/>
                  <a:ext cx="83227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95564"/>
                  <a:r>
                    <a:rPr lang="ko-KR" altLang="en-US" sz="1400" dirty="0">
                      <a:solidFill>
                        <a:srgbClr val="FFFFFF"/>
                      </a:solidFill>
                    </a:rPr>
                    <a:t>형상관리</a:t>
                  </a:r>
                </a:p>
              </p:txBody>
            </p:sp>
            <p:sp>
              <p:nvSpPr>
                <p:cNvPr id="94" name="TextBox 93"/>
                <p:cNvSpPr txBox="1"/>
                <p:nvPr/>
              </p:nvSpPr>
              <p:spPr>
                <a:xfrm rot="4425378">
                  <a:off x="10574333" y="3678505"/>
                  <a:ext cx="83227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95564"/>
                  <a:r>
                    <a:rPr lang="ko-KR" altLang="en-US" sz="1400" dirty="0">
                      <a:solidFill>
                        <a:srgbClr val="FFFFFF"/>
                      </a:solidFill>
                    </a:rPr>
                    <a:t>품질관리</a:t>
                  </a:r>
                </a:p>
              </p:txBody>
            </p:sp>
          </p:grpSp>
          <p:grpSp>
            <p:nvGrpSpPr>
              <p:cNvPr id="80" name="그룹 79"/>
              <p:cNvGrpSpPr/>
              <p:nvPr/>
            </p:nvGrpSpPr>
            <p:grpSpPr>
              <a:xfrm>
                <a:off x="8587150" y="3272221"/>
                <a:ext cx="2163154" cy="1516550"/>
                <a:chOff x="3860110" y="3168943"/>
                <a:chExt cx="2163154" cy="1544338"/>
              </a:xfrm>
            </p:grpSpPr>
            <p:grpSp>
              <p:nvGrpSpPr>
                <p:cNvPr id="81" name="그룹 80"/>
                <p:cNvGrpSpPr/>
                <p:nvPr/>
              </p:nvGrpSpPr>
              <p:grpSpPr>
                <a:xfrm>
                  <a:off x="3860110" y="3168943"/>
                  <a:ext cx="2163154" cy="1544338"/>
                  <a:chOff x="3869334" y="2957397"/>
                  <a:chExt cx="1997974" cy="1352000"/>
                </a:xfrm>
              </p:grpSpPr>
              <p:sp>
                <p:nvSpPr>
                  <p:cNvPr id="83" name="TextBox 82"/>
                  <p:cNvSpPr txBox="1"/>
                  <p:nvPr/>
                </p:nvSpPr>
                <p:spPr>
                  <a:xfrm>
                    <a:off x="3869334" y="2957397"/>
                    <a:ext cx="1997974" cy="7562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 defTabSz="995564"/>
                    <a:r>
                      <a:rPr lang="ko-KR" altLang="en-US" sz="2400" dirty="0">
                        <a:gradFill>
                          <a:gsLst>
                            <a:gs pos="2125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34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</a:rPr>
                      <a:t>핵심영역</a:t>
                    </a:r>
                  </a:p>
                  <a:p>
                    <a:pPr algn="ctr" defTabSz="995564"/>
                    <a:r>
                      <a:rPr lang="ko-KR" altLang="en-US" sz="2400" dirty="0">
                        <a:gradFill>
                          <a:gsLst>
                            <a:gs pos="2125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34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path path="rect">
                            <a:fillToRect l="50000" t="50000" r="50000" b="50000"/>
                          </a:path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</a:rPr>
                      <a:t>중점관리</a:t>
                    </a:r>
                  </a:p>
                </p:txBody>
              </p:sp>
              <p:grpSp>
                <p:nvGrpSpPr>
                  <p:cNvPr id="84" name="그룹 83"/>
                  <p:cNvGrpSpPr/>
                  <p:nvPr/>
                </p:nvGrpSpPr>
                <p:grpSpPr>
                  <a:xfrm>
                    <a:off x="3989821" y="3723022"/>
                    <a:ext cx="1771077" cy="586375"/>
                    <a:chOff x="3989821" y="3723022"/>
                    <a:chExt cx="1771077" cy="586375"/>
                  </a:xfrm>
                </p:grpSpPr>
                <p:sp>
                  <p:nvSpPr>
                    <p:cNvPr id="85" name="직사각형 84"/>
                    <p:cNvSpPr/>
                    <p:nvPr/>
                  </p:nvSpPr>
                  <p:spPr>
                    <a:xfrm>
                      <a:off x="3989821" y="3946374"/>
                      <a:ext cx="1771077" cy="363023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algn="ctr" defTabSz="1042856" eaLnBrk="0" latinLnBrk="0" hangingPunct="0">
                        <a:lnSpc>
                          <a:spcPct val="90000"/>
                        </a:lnSpc>
                        <a:buClr>
                          <a:srgbClr val="3271AA"/>
                        </a:buClr>
                        <a:buSzPct val="140000"/>
                        <a:tabLst>
                          <a:tab pos="5647613" algn="l"/>
                        </a:tabLst>
                        <a:defRPr/>
                      </a:pPr>
                      <a:r>
                        <a:rPr lang="ko-KR" altLang="en-US" sz="1100" b="1" kern="0" dirty="0">
                          <a:gradFill flip="none" rotWithShape="1"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  <a:shade val="30000"/>
                                  <a:satMod val="115000"/>
                                </a:prstClr>
                              </a:gs>
                              <a:gs pos="50000">
                                <a:prstClr val="black">
                                  <a:lumMod val="75000"/>
                                  <a:lumOff val="25000"/>
                                  <a:shade val="67500"/>
                                  <a:satMod val="11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  <a:shade val="100000"/>
                                  <a:satMod val="115000"/>
                                </a:prstClr>
                              </a:gs>
                            </a:gsLst>
                            <a:lin ang="16200000" scaled="1"/>
                            <a:tileRect/>
                          </a:gradFill>
                        </a:rPr>
                        <a:t>국제표준 사업관리 </a:t>
                      </a:r>
                      <a:endParaRPr lang="en-US" altLang="ko-KR" sz="1100" b="1" kern="0" dirty="0">
                        <a:gradFill flip="none" rotWithShape="1">
                          <a:gsLst>
                            <a:gs pos="0">
                              <a:prstClr val="black">
                                <a:lumMod val="75000"/>
                                <a:lumOff val="25000"/>
                                <a:shade val="30000"/>
                                <a:satMod val="115000"/>
                              </a:prstClr>
                            </a:gs>
                            <a:gs pos="50000">
                              <a:prstClr val="black">
                                <a:lumMod val="75000"/>
                                <a:lumOff val="25000"/>
                                <a:shade val="67500"/>
                                <a:satMod val="11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  <a:shade val="100000"/>
                                <a:satMod val="115000"/>
                              </a:prstClr>
                            </a:gs>
                          </a:gsLst>
                          <a:lin ang="16200000" scaled="1"/>
                          <a:tileRect/>
                        </a:gradFill>
                      </a:endParaRPr>
                    </a:p>
                    <a:p>
                      <a:pPr algn="ctr" defTabSz="1042856" eaLnBrk="0" latinLnBrk="0" hangingPunct="0">
                        <a:lnSpc>
                          <a:spcPct val="90000"/>
                        </a:lnSpc>
                        <a:buClr>
                          <a:srgbClr val="3271AA"/>
                        </a:buClr>
                        <a:buSzPct val="140000"/>
                        <a:tabLst>
                          <a:tab pos="5647613" algn="l"/>
                        </a:tabLst>
                        <a:defRPr/>
                      </a:pPr>
                      <a:r>
                        <a:rPr lang="ko-KR" altLang="en-US" sz="1100" b="1" kern="0" dirty="0">
                          <a:gradFill flip="none" rotWithShape="1"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  <a:shade val="30000"/>
                                  <a:satMod val="115000"/>
                                </a:prstClr>
                              </a:gs>
                              <a:gs pos="50000">
                                <a:prstClr val="black">
                                  <a:lumMod val="75000"/>
                                  <a:lumOff val="25000"/>
                                  <a:shade val="67500"/>
                                  <a:satMod val="11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  <a:shade val="100000"/>
                                  <a:satMod val="115000"/>
                                </a:prstClr>
                              </a:gs>
                            </a:gsLst>
                            <a:lin ang="16200000" scaled="1"/>
                            <a:tileRect/>
                          </a:gradFill>
                        </a:rPr>
                        <a:t>요구사항 준수</a:t>
                      </a:r>
                      <a:endParaRPr lang="en-US" altLang="ko-KR" sz="1100" b="1" kern="0" dirty="0">
                        <a:gradFill flip="none" rotWithShape="1">
                          <a:gsLst>
                            <a:gs pos="0">
                              <a:prstClr val="black">
                                <a:lumMod val="75000"/>
                                <a:lumOff val="25000"/>
                                <a:shade val="30000"/>
                                <a:satMod val="115000"/>
                              </a:prstClr>
                            </a:gs>
                            <a:gs pos="50000">
                              <a:prstClr val="black">
                                <a:lumMod val="75000"/>
                                <a:lumOff val="25000"/>
                                <a:shade val="67500"/>
                                <a:satMod val="11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  <a:shade val="100000"/>
                                <a:satMod val="115000"/>
                              </a:prstClr>
                            </a:gs>
                          </a:gsLst>
                          <a:lin ang="16200000" scaled="1"/>
                          <a:tileRect/>
                        </a:gradFill>
                      </a:endParaRPr>
                    </a:p>
                  </p:txBody>
                </p:sp>
                <p:cxnSp>
                  <p:nvCxnSpPr>
                    <p:cNvPr id="86" name="직선 연결선 85"/>
                    <p:cNvCxnSpPr/>
                    <p:nvPr/>
                  </p:nvCxnSpPr>
                  <p:spPr>
                    <a:xfrm>
                      <a:off x="4150570" y="3723022"/>
                      <a:ext cx="1435500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pic>
              <p:nvPicPr>
                <p:cNvPr id="82" name="Picture 2" descr="D:\19.전지수\2. 업무지원디자인\1. 오픈SNS\설명회 템플릿 디자인\22808 DEV Color.png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422140" y="4094232"/>
                  <a:ext cx="1058264" cy="21639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사업관리 개요</a:t>
            </a:r>
          </a:p>
        </p:txBody>
      </p:sp>
    </p:spTree>
    <p:extLst>
      <p:ext uri="{BB962C8B-B14F-4D97-AF65-F5344CB8AC3E}">
        <p14:creationId xmlns:p14="http://schemas.microsoft.com/office/powerpoint/2010/main" val="32095242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738188" y="1970994"/>
            <a:ext cx="9217025" cy="4977494"/>
            <a:chOff x="3847798" y="1913923"/>
            <a:chExt cx="6107415" cy="4977494"/>
          </a:xfrm>
        </p:grpSpPr>
        <p:sp>
          <p:nvSpPr>
            <p:cNvPr id="16" name="직사각형 15"/>
            <p:cNvSpPr/>
            <p:nvPr/>
          </p:nvSpPr>
          <p:spPr bwMode="auto">
            <a:xfrm>
              <a:off x="3847798" y="1913923"/>
              <a:ext cx="2960322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개요</a:t>
              </a:r>
            </a:p>
          </p:txBody>
        </p:sp>
        <p:sp>
          <p:nvSpPr>
            <p:cNvPr id="17" name="직사각형 16"/>
            <p:cNvSpPr/>
            <p:nvPr/>
          </p:nvSpPr>
          <p:spPr bwMode="auto">
            <a:xfrm>
              <a:off x="3847798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18" name="직사각형 17"/>
            <p:cNvSpPr/>
            <p:nvPr/>
          </p:nvSpPr>
          <p:spPr bwMode="auto">
            <a:xfrm>
              <a:off x="6994891" y="1913923"/>
              <a:ext cx="2960322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절차 및 예시</a:t>
              </a: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6994891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4" name="텍스트 개체 틀 2"/>
          <p:cNvSpPr txBox="1">
            <a:spLocks/>
          </p:cNvSpPr>
          <p:nvPr/>
        </p:nvSpPr>
        <p:spPr>
          <a:xfrm>
            <a:off x="876378" y="1374697"/>
            <a:ext cx="8928546" cy="523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defRPr sz="14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defRPr>
            </a:lvl1pPr>
          </a:lstStyle>
          <a:p>
            <a:pPr algn="l"/>
            <a:r>
              <a:rPr lang="ko-KR" altLang="en-US" dirty="0"/>
              <a:t>프로젝트를 성공적으로 수행하기 위해 </a:t>
            </a:r>
            <a:r>
              <a:rPr lang="ko-KR" altLang="en-US" dirty="0">
                <a:solidFill>
                  <a:schemeClr val="accent1"/>
                </a:solidFill>
              </a:rPr>
              <a:t>일정 및 </a:t>
            </a:r>
            <a:r>
              <a:rPr lang="ko-KR" altLang="en-US" dirty="0" err="1">
                <a:solidFill>
                  <a:schemeClr val="accent1"/>
                </a:solidFill>
              </a:rPr>
              <a:t>진척관리표</a:t>
            </a:r>
            <a:r>
              <a:rPr lang="en-US" altLang="ko-KR" dirty="0">
                <a:solidFill>
                  <a:schemeClr val="accent1"/>
                </a:solidFill>
              </a:rPr>
              <a:t>(WBS)</a:t>
            </a:r>
            <a:r>
              <a:rPr lang="ko-KR" altLang="en-US" dirty="0">
                <a:solidFill>
                  <a:schemeClr val="accent1"/>
                </a:solidFill>
              </a:rPr>
              <a:t>를 바탕으로 </a:t>
            </a:r>
            <a:r>
              <a:rPr lang="ko-KR" altLang="en-US" dirty="0"/>
              <a:t>사업관리도구를 활용하여 실시간 진척상황을 파악함으로써 지연 없는 공정 목표를 달성합니다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pic>
        <p:nvPicPr>
          <p:cNvPr id="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042" y="2700169"/>
            <a:ext cx="4104455" cy="4152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1037971" y="2760429"/>
            <a:ext cx="3924158" cy="4128250"/>
            <a:chOff x="949785" y="2550740"/>
            <a:chExt cx="4180885" cy="4398331"/>
          </a:xfrm>
        </p:grpSpPr>
        <p:pic>
          <p:nvPicPr>
            <p:cNvPr id="8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9785" y="2550740"/>
              <a:ext cx="4180885" cy="4398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직사각형 13"/>
            <p:cNvSpPr/>
            <p:nvPr/>
          </p:nvSpPr>
          <p:spPr>
            <a:xfrm>
              <a:off x="1363803" y="3885232"/>
              <a:ext cx="1174507" cy="327459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+mn-ea"/>
                </a:rPr>
                <a:t>일정관리</a:t>
              </a:r>
              <a:r>
                <a:rPr lang="en-US" altLang="ko-KR" sz="9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</a:rPr>
                <a:t>형상관리</a:t>
              </a:r>
              <a:r>
                <a:rPr lang="en-US" altLang="ko-KR" sz="900" dirty="0">
                  <a:solidFill>
                    <a:schemeClr val="tx1"/>
                  </a:solidFill>
                  <a:latin typeface="+mn-ea"/>
                </a:rPr>
                <a:t>, </a:t>
              </a:r>
            </a:p>
            <a:p>
              <a:pPr algn="ctr"/>
              <a:r>
                <a:rPr lang="ko-KR" altLang="en-US" sz="900" dirty="0" err="1">
                  <a:solidFill>
                    <a:schemeClr val="tx1"/>
                  </a:solidFill>
                  <a:latin typeface="+mn-ea"/>
                </a:rPr>
                <a:t>위험및이슈관리</a:t>
              </a:r>
              <a:endParaRPr lang="ko-KR" altLang="en-US" sz="90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일정 및 진척관리 계획</a:t>
            </a:r>
          </a:p>
        </p:txBody>
      </p:sp>
    </p:spTree>
    <p:extLst>
      <p:ext uri="{BB962C8B-B14F-4D97-AF65-F5344CB8AC3E}">
        <p14:creationId xmlns:p14="http://schemas.microsoft.com/office/powerpoint/2010/main" val="427038027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위험관리 계획</a:t>
            </a:r>
            <a:endParaRPr lang="en-US" altLang="ko-KR" dirty="0"/>
          </a:p>
        </p:txBody>
      </p:sp>
      <p:grpSp>
        <p:nvGrpSpPr>
          <p:cNvPr id="61" name="그룹 60"/>
          <p:cNvGrpSpPr/>
          <p:nvPr/>
        </p:nvGrpSpPr>
        <p:grpSpPr>
          <a:xfrm>
            <a:off x="738188" y="1970994"/>
            <a:ext cx="9217025" cy="4977494"/>
            <a:chOff x="3847798" y="1913923"/>
            <a:chExt cx="6107415" cy="4977494"/>
          </a:xfrm>
        </p:grpSpPr>
        <p:sp>
          <p:nvSpPr>
            <p:cNvPr id="62" name="직사각형 61"/>
            <p:cNvSpPr/>
            <p:nvPr/>
          </p:nvSpPr>
          <p:spPr bwMode="auto">
            <a:xfrm>
              <a:off x="3847798" y="1913923"/>
              <a:ext cx="2960322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위험 및 이슈 평가방안</a:t>
              </a:r>
            </a:p>
          </p:txBody>
        </p:sp>
        <p:sp>
          <p:nvSpPr>
            <p:cNvPr id="63" name="직사각형 62"/>
            <p:cNvSpPr/>
            <p:nvPr/>
          </p:nvSpPr>
          <p:spPr bwMode="auto">
            <a:xfrm>
              <a:off x="3847798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64" name="직사각형 63"/>
            <p:cNvSpPr/>
            <p:nvPr/>
          </p:nvSpPr>
          <p:spPr bwMode="auto">
            <a:xfrm>
              <a:off x="6994891" y="1913923"/>
              <a:ext cx="2960322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초기 주요 </a:t>
              </a:r>
              <a:r>
                <a:rPr lang="ko-KR" altLang="en-US" kern="0" dirty="0" err="1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이슈사항</a:t>
              </a:r>
              <a:endParaRPr lang="ko-KR" altLang="en-US" kern="0" dirty="0"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latin typeface="+mj-ea"/>
                <a:ea typeface="+mj-ea"/>
              </a:endParaRPr>
            </a:p>
          </p:txBody>
        </p:sp>
        <p:sp>
          <p:nvSpPr>
            <p:cNvPr id="66" name="직사각형 65"/>
            <p:cNvSpPr/>
            <p:nvPr/>
          </p:nvSpPr>
          <p:spPr bwMode="auto">
            <a:xfrm>
              <a:off x="6994891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69" name="텍스트 개체 틀 2"/>
          <p:cNvSpPr txBox="1">
            <a:spLocks/>
          </p:cNvSpPr>
          <p:nvPr/>
        </p:nvSpPr>
        <p:spPr>
          <a:xfrm>
            <a:off x="779559" y="1374697"/>
            <a:ext cx="9129457" cy="523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defRPr sz="14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defRPr>
            </a:lvl1pPr>
          </a:lstStyle>
          <a:p>
            <a:pPr algn="l"/>
            <a:r>
              <a:rPr lang="ko-KR" altLang="en-US" dirty="0"/>
              <a:t>다양한 사업 경험을 바탕으로 프로젝트 수행 전 과정에서 발생할 수 있는 </a:t>
            </a:r>
            <a:r>
              <a:rPr lang="ko-KR" altLang="en-US" dirty="0">
                <a:solidFill>
                  <a:schemeClr val="accent1"/>
                </a:solidFill>
              </a:rPr>
              <a:t>위험요소를 예측하여 적절한 예방대책을 사전 계획하고 신속하게 대응하며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ko-KR" altLang="en-US" dirty="0"/>
              <a:t>계획에 따른 모니터링 및 통제활동으로 안정적인 사업수행을 보장합니다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18" y="2786764"/>
            <a:ext cx="4103636" cy="188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18" y="5533487"/>
            <a:ext cx="4103636" cy="1368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3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89" y="4758958"/>
            <a:ext cx="4055634" cy="705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0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778881"/>
              </p:ext>
            </p:extLst>
          </p:nvPr>
        </p:nvGraphicFramePr>
        <p:xfrm>
          <a:off x="5641772" y="2637380"/>
          <a:ext cx="4169549" cy="4191434"/>
        </p:xfrm>
        <a:graphic>
          <a:graphicData uri="http://schemas.openxmlformats.org/drawingml/2006/table">
            <a:tbl>
              <a:tblPr firstRow="1"/>
              <a:tblGrid>
                <a:gridCol w="641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172">
                <a:tc gridSpan="2"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구분</a:t>
                      </a:r>
                      <a:endParaRPr kumimoji="0" 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이슈내용</a:t>
                      </a:r>
                      <a:endParaRPr kumimoji="0" lang="ko-KR" alt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389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DB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I-System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E-Bank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E-Bank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의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주요문항만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이관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→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사용이력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충돌</a:t>
                      </a: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통합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이관 시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문항번호 동일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→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사용이력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충돌</a:t>
                      </a: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ERD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및 테이블 정의서 미비</a:t>
                      </a: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893666"/>
                  </a:ext>
                </a:extLst>
              </a:tr>
              <a:tr h="227389">
                <a:tc rowSpan="7">
                  <a:txBody>
                    <a:bodyPr/>
                    <a:lstStyle/>
                    <a:p>
                      <a:pPr marL="0" marR="0" indent="0" algn="ctr" defTabSz="99569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9569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바로테스트</a:t>
                      </a:r>
                      <a:endParaRPr lang="ko-KR" alt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족보닷컴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DB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기록 부분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R&amp;R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협의 필요</a:t>
                      </a: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389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API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관련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족보닷컴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수정사항의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R&amp;R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확정 필요</a:t>
                      </a: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86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E-Bank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9569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EduBase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솔루션 기능을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i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-System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기반으로 통합 시 웹 인쇄 뷰어 등의 기능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대체 안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마련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7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9569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팝업 시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보안성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검토 필요</a:t>
                      </a: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7389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I-System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한꺼번에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수천개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문항의 동시 업로드 처리</a:t>
                      </a: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389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 이후 변경사항에 대한 동기화 문제</a:t>
                      </a: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7386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한글 컨트롤 및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C/S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의 의존성 기술이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개방형 기술로 구현 가능 여부 검토</a:t>
                      </a: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7378">
                <a:tc gridSpan="2">
                  <a:txBody>
                    <a:bodyPr/>
                    <a:lstStyle/>
                    <a:p>
                      <a:pPr marL="0" marR="0" indent="0" algn="ctr" defTabSz="99569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아키텍처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9569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NAS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미 이관 시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속도 문제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71450" indent="-171450" algn="l" defTabSz="99569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CS → Web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전환 시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이용 흐름 변경 혼란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71450" indent="-171450" algn="l" defTabSz="99569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CS → Web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전환 시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업로드 등 제약사항 존재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71450" indent="-171450" algn="l" defTabSz="99569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이투스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선도사업보다 빠른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설계 종료로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인한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통합 표준화 이슈 </a:t>
                      </a: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387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1167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738188" y="1970994"/>
            <a:ext cx="9217025" cy="4977494"/>
            <a:chOff x="3847798" y="1913923"/>
            <a:chExt cx="6107415" cy="4977494"/>
          </a:xfrm>
        </p:grpSpPr>
        <p:sp>
          <p:nvSpPr>
            <p:cNvPr id="14" name="직사각형 13"/>
            <p:cNvSpPr/>
            <p:nvPr/>
          </p:nvSpPr>
          <p:spPr bwMode="auto">
            <a:xfrm>
              <a:off x="3847798" y="1913923"/>
              <a:ext cx="2960322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개요 및 절차</a:t>
              </a:r>
            </a:p>
          </p:txBody>
        </p:sp>
        <p:sp>
          <p:nvSpPr>
            <p:cNvPr id="15" name="직사각형 14"/>
            <p:cNvSpPr/>
            <p:nvPr/>
          </p:nvSpPr>
          <p:spPr bwMode="auto">
            <a:xfrm>
              <a:off x="3847798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16" name="직사각형 15"/>
            <p:cNvSpPr/>
            <p:nvPr/>
          </p:nvSpPr>
          <p:spPr bwMode="auto">
            <a:xfrm>
              <a:off x="6994891" y="1913923"/>
              <a:ext cx="2960322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주요 보고 및 협의체</a:t>
              </a:r>
            </a:p>
          </p:txBody>
        </p:sp>
        <p:sp>
          <p:nvSpPr>
            <p:cNvPr id="17" name="직사각형 16"/>
            <p:cNvSpPr/>
            <p:nvPr/>
          </p:nvSpPr>
          <p:spPr bwMode="auto">
            <a:xfrm>
              <a:off x="6994891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4" name="텍스트 개체 틀 2"/>
          <p:cNvSpPr txBox="1">
            <a:spLocks/>
          </p:cNvSpPr>
          <p:nvPr/>
        </p:nvSpPr>
        <p:spPr>
          <a:xfrm>
            <a:off x="897894" y="1374697"/>
            <a:ext cx="8928546" cy="523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defRPr sz="14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defRPr>
            </a:lvl1pPr>
          </a:lstStyle>
          <a:p>
            <a:pPr algn="l"/>
            <a:r>
              <a:rPr lang="ko-KR" altLang="en-US" dirty="0"/>
              <a:t>사업에 참여한 이해관계자들 간 협조</a:t>
            </a:r>
            <a:r>
              <a:rPr lang="en-US" altLang="ko-KR" dirty="0"/>
              <a:t>, </a:t>
            </a:r>
            <a:r>
              <a:rPr lang="ko-KR" altLang="en-US" dirty="0"/>
              <a:t>조정</a:t>
            </a:r>
            <a:r>
              <a:rPr lang="en-US" altLang="ko-KR" dirty="0"/>
              <a:t>, </a:t>
            </a:r>
            <a:r>
              <a:rPr lang="ko-KR" altLang="en-US" dirty="0"/>
              <a:t>정보공유를 효율적으로 할 수 있는 의사소통체계를 수립함으로써 원활한 의사소통을 바탕으로 성공적인 프로젝트를 수행할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944" y="2650078"/>
            <a:ext cx="4062146" cy="4226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398685"/>
              </p:ext>
            </p:extLst>
          </p:nvPr>
        </p:nvGraphicFramePr>
        <p:xfrm>
          <a:off x="5595730" y="2695576"/>
          <a:ext cx="4253351" cy="4195262"/>
        </p:xfrm>
        <a:graphic>
          <a:graphicData uri="http://schemas.openxmlformats.org/drawingml/2006/table">
            <a:tbl>
              <a:tblPr firstRow="1"/>
              <a:tblGrid>
                <a:gridCol w="488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557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산돌고딕 M"/>
                          <a:ea typeface="산돌고딕 M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산돌고딕 M"/>
                          <a:ea typeface="산돌고딕 M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산돌고딕 M"/>
                          <a:ea typeface="산돌고딕 M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산돌고딕 M"/>
                          <a:ea typeface="산돌고딕 M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산돌고딕 M"/>
                          <a:ea typeface="산돌고딕 M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산돌고딕 M"/>
                          <a:ea typeface="산돌고딕 M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산돌고딕 M"/>
                          <a:ea typeface="산돌고딕 M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산돌고딕 M"/>
                          <a:ea typeface="산돌고딕 M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산돌고딕 M"/>
                          <a:ea typeface="산돌고딕 M"/>
                        </a:defRPr>
                      </a:lvl9pPr>
                    </a:lstStyle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91461" marR="91461" marT="45735" marB="45735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kern="1200" baseline="0" dirty="0">
                        <a:solidFill>
                          <a:schemeClr val="tx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  <a:cs typeface="+mn-cs"/>
                      </a:endParaRPr>
                    </a:p>
                  </a:txBody>
                  <a:tcPr marL="91461" marR="91461" marT="45735" marB="45735" anchor="ctr" horzOverflow="overflow">
                    <a:lnL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내용</a:t>
                      </a:r>
                    </a:p>
                  </a:txBody>
                  <a:tcPr marL="91461" marR="91461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참석 대상</a:t>
                      </a:r>
                    </a:p>
                  </a:txBody>
                  <a:tcPr marL="91461" marR="91461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61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정기</a:t>
                      </a:r>
                      <a:endParaRPr lang="en-US" alt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보고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57200" algn="l" defTabSz="914400" rtl="0" eaLnBrk="1" latinLnBrk="1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14400" algn="l" defTabSz="914400" rtl="0" eaLnBrk="1" latinLnBrk="1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3716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8288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2860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7432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004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6576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주간보고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914400" rtl="0" eaLnBrk="1" latinLnBrk="1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190500" indent="-100013" algn="l" defTabSz="914400" rtl="0" eaLnBrk="1" latinLnBrk="1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14400" algn="l" defTabSz="914400" rtl="0" eaLnBrk="1" latinLnBrk="1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3716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8288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2860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7432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004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6576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주간 업무계획 대비 실적 분석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차주 공정계획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업무 추진상 문제점 및 대응방안 보고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57200" algn="l" defTabSz="914400" rtl="0" eaLnBrk="1" latinLnBrk="1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14400" algn="l" defTabSz="914400" rtl="0" eaLnBrk="1" latinLnBrk="1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3716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8288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2860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7432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004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6576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chemeClr val="tx1"/>
                        </a:buClr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이투스교육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chemeClr val="tx1"/>
                        </a:buClr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교육지대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chemeClr val="tx1"/>
                        </a:buClr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PM, PL,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사업관리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6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월간보고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월간 업무계획 대비 실적 분석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차월 공정계획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업무 추진상 문제점 및 대응방안 보고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994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주요</a:t>
                      </a:r>
                      <a:endParaRPr lang="en-US" alt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보고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57200" algn="l" defTabSz="914400" rtl="0" eaLnBrk="1" latinLnBrk="1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14400" algn="l" defTabSz="914400" rtl="0" eaLnBrk="1" latinLnBrk="1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3716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8288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2860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7432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004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6576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착수보고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914400" rtl="0" eaLnBrk="1" latinLnBrk="1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190500" indent="-100013" algn="l" defTabSz="914400" rtl="0" eaLnBrk="1" latinLnBrk="1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14400" algn="l" defTabSz="914400" rtl="0" eaLnBrk="1" latinLnBrk="1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3716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8288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2860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7432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004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6576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 목적 및 범위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 관리 방안 및 계획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일정 및 인력투입 계획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협조 요청사항 및 선행되어야 할 사항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57200" algn="l" defTabSz="914400" rtl="0" eaLnBrk="1" latinLnBrk="1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14400" algn="l" defTabSz="914400" rtl="0" eaLnBrk="1" latinLnBrk="1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3716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8288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2860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7432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004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6576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chemeClr val="tx1"/>
                        </a:buClr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이투스교육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chemeClr val="tx1"/>
                        </a:buClr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교육지대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chemeClr val="tx1"/>
                        </a:buClr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PM, PL,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사업관리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93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중간보고 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5725" marR="0" lvl="0" indent="-85725" algn="l" defTabSz="9956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 진행상황</a:t>
                      </a:r>
                      <a:endParaRPr kumimoji="1" lang="en-US" altLang="ko-KR" sz="800" b="0" i="0" u="none" strike="noStrike" kern="1200" cap="none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위험 및 이슈 사항</a:t>
                      </a:r>
                      <a:endParaRPr kumimoji="1" lang="en-US" altLang="ko-KR" sz="800" b="0" i="0" u="none" strike="noStrike" kern="1200" cap="none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프로젝트 관련 협조 요청사항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61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57200" algn="l" defTabSz="914400" rtl="0" eaLnBrk="1" latinLnBrk="1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14400" algn="l" defTabSz="914400" rtl="0" eaLnBrk="1" latinLnBrk="1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3716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8288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2860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7432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004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6576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완료보고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914400" rtl="0" eaLnBrk="1" latinLnBrk="1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190500" indent="-100013" algn="l" defTabSz="914400" rtl="0" eaLnBrk="1" latinLnBrk="1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14400" algn="l" defTabSz="914400" rtl="0" eaLnBrk="1" latinLnBrk="1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3716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8288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2860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7432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004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6576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 내용 및 추진 결과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개발시스템 내용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유지보수 계획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57200" algn="l" defTabSz="914400" rtl="0" eaLnBrk="1" latinLnBrk="1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914400" algn="l" defTabSz="914400" rtl="0" eaLnBrk="1" latinLnBrk="1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3716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828800" algn="l" defTabSz="914400" rtl="0" eaLnBrk="1" latinLnBrk="1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2860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7432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2004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657600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40003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단계말</a:t>
                      </a: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보고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단계말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산출물 제출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 검토 및 공식 승인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회의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서면보고 등을 통해 보고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chemeClr val="tx1"/>
                        </a:buClr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이투스교육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chemeClr val="tx1"/>
                        </a:buClr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교육지대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chemeClr val="tx1"/>
                        </a:buClr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PM, PL,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사업관리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2641">
                <a:tc rowSpan="3"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상시운영</a:t>
                      </a:r>
                      <a:endParaRPr lang="en-US" alt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협의체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수시 회의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업무 상 필요한 의사결정 및 정보 공유를 위한 수시 회의 및 서면 보고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chemeClr val="tx1"/>
                        </a:buClr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사안에 따라 결정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325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indent="0" algn="ctr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의사결정</a:t>
                      </a:r>
                      <a:endParaRPr lang="en-US" alt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협의체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프로젝트 수행의 기본 방향 합의 및 의사결정</a:t>
                      </a: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핵심 이슈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위험요소의 모니터링 및 의사결정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chemeClr val="tx1"/>
                        </a:buClr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의사결정 협의체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8204">
                <a:tc vMerge="1">
                  <a:txBody>
                    <a:bodyPr/>
                    <a:lstStyle/>
                    <a:p>
                      <a:pPr marL="0" indent="0" algn="ctr" defTabSz="914400" rtl="0" eaLnBrk="1" latinLnBrk="1" hangingPunct="1"/>
                      <a:endParaRPr lang="ko-KR" altLang="en-US" sz="9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변경관리 위원회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업무 및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IT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측면의 변경 요구사항 협의 및 의사결정</a:t>
                      </a:r>
                    </a:p>
                  </a:txBody>
                  <a:tcPr marL="90000" marR="90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262626"/>
                        </a:buClr>
                        <a:buSzPct val="80000"/>
                        <a:buFont typeface="맑은 고딕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사안에 따라 결정</a:t>
                      </a:r>
                      <a:endParaRPr kumimoji="1" lang="en-US" altLang="ko-KR" sz="800" b="0" i="0" u="none" strike="noStrike" kern="1200" cap="none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의사소통관리 계획</a:t>
            </a:r>
          </a:p>
        </p:txBody>
      </p:sp>
    </p:spTree>
    <p:extLst>
      <p:ext uri="{BB962C8B-B14F-4D97-AF65-F5344CB8AC3E}">
        <p14:creationId xmlns:p14="http://schemas.microsoft.com/office/powerpoint/2010/main" val="41880996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형상관리 계획</a:t>
            </a:r>
            <a:endParaRPr lang="en-US" altLang="ko-KR" dirty="0"/>
          </a:p>
        </p:txBody>
      </p:sp>
      <p:grpSp>
        <p:nvGrpSpPr>
          <p:cNvPr id="13" name="그룹 12"/>
          <p:cNvGrpSpPr/>
          <p:nvPr/>
        </p:nvGrpSpPr>
        <p:grpSpPr>
          <a:xfrm>
            <a:off x="738188" y="1970994"/>
            <a:ext cx="9217025" cy="4977494"/>
            <a:chOff x="3847798" y="1913923"/>
            <a:chExt cx="6107415" cy="4977494"/>
          </a:xfrm>
        </p:grpSpPr>
        <p:sp>
          <p:nvSpPr>
            <p:cNvPr id="14" name="직사각형 13"/>
            <p:cNvSpPr/>
            <p:nvPr/>
          </p:nvSpPr>
          <p:spPr bwMode="auto">
            <a:xfrm>
              <a:off x="3847798" y="1913923"/>
              <a:ext cx="2960322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개요 및 절차</a:t>
              </a:r>
            </a:p>
          </p:txBody>
        </p:sp>
        <p:sp>
          <p:nvSpPr>
            <p:cNvPr id="15" name="직사각형 14"/>
            <p:cNvSpPr/>
            <p:nvPr/>
          </p:nvSpPr>
          <p:spPr bwMode="auto">
            <a:xfrm>
              <a:off x="3847798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16" name="직사각형 15"/>
            <p:cNvSpPr/>
            <p:nvPr/>
          </p:nvSpPr>
          <p:spPr bwMode="auto">
            <a:xfrm>
              <a:off x="6994891" y="1913923"/>
              <a:ext cx="2960322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관리 방안</a:t>
              </a:r>
            </a:p>
          </p:txBody>
        </p:sp>
        <p:sp>
          <p:nvSpPr>
            <p:cNvPr id="17" name="직사각형 16"/>
            <p:cNvSpPr/>
            <p:nvPr/>
          </p:nvSpPr>
          <p:spPr bwMode="auto">
            <a:xfrm>
              <a:off x="6994891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18" name="텍스트 개체 틀 2"/>
          <p:cNvSpPr txBox="1">
            <a:spLocks/>
          </p:cNvSpPr>
          <p:nvPr/>
        </p:nvSpPr>
        <p:spPr>
          <a:xfrm>
            <a:off x="897894" y="1374697"/>
            <a:ext cx="8928546" cy="523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defRPr sz="14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defRPr>
            </a:lvl1pPr>
          </a:lstStyle>
          <a:p>
            <a:pPr algn="l"/>
            <a:r>
              <a:rPr lang="ko-KR" altLang="en-US" dirty="0"/>
              <a:t>프로젝트 수행 기간 동안 관련된 형상항목을 식별하고</a:t>
            </a:r>
            <a:r>
              <a:rPr lang="en-US" altLang="ko-KR" dirty="0"/>
              <a:t>, </a:t>
            </a:r>
            <a:r>
              <a:rPr lang="ko-KR" altLang="en-US" dirty="0"/>
              <a:t>그 형상항목의 </a:t>
            </a:r>
            <a:r>
              <a:rPr lang="ko-KR" altLang="en-US" dirty="0">
                <a:solidFill>
                  <a:schemeClr val="accent1"/>
                </a:solidFill>
              </a:rPr>
              <a:t>변경을 체계적으로 통제</a:t>
            </a:r>
            <a:r>
              <a:rPr lang="ko-KR" altLang="en-US" dirty="0"/>
              <a:t>하여 </a:t>
            </a:r>
            <a:r>
              <a:rPr lang="ko-KR" altLang="en-US" dirty="0" err="1"/>
              <a:t>무결성을</a:t>
            </a:r>
            <a:r>
              <a:rPr lang="ko-KR" altLang="en-US" dirty="0"/>
              <a:t> 확보하고 유지함으로써 프로젝트의 품질을 우수하게 관리하겠습니다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9" name="그림 18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176" y="4079454"/>
            <a:ext cx="3607055" cy="2843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직사각형 19"/>
          <p:cNvSpPr/>
          <p:nvPr/>
        </p:nvSpPr>
        <p:spPr>
          <a:xfrm>
            <a:off x="1909658" y="3833362"/>
            <a:ext cx="2080383" cy="2680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형상관리 절차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868225" y="2676297"/>
            <a:ext cx="4169483" cy="1008140"/>
            <a:chOff x="879107" y="2556461"/>
            <a:chExt cx="4169483" cy="1008140"/>
          </a:xfrm>
        </p:grpSpPr>
        <p:sp>
          <p:nvSpPr>
            <p:cNvPr id="22" name="직사각형 21"/>
            <p:cNvSpPr/>
            <p:nvPr/>
          </p:nvSpPr>
          <p:spPr>
            <a:xfrm>
              <a:off x="879107" y="2556461"/>
              <a:ext cx="2052000" cy="23967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버전관리</a:t>
              </a: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879109" y="2796133"/>
              <a:ext cx="2052000" cy="768468"/>
            </a:xfrm>
            <a:prstGeom prst="rect">
              <a:avLst/>
            </a:prstGeom>
            <a:noFill/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5725" indent="-85725" latinLnBrk="0"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solidFill>
                    <a:schemeClr val="tx1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베이스라인 승인 이후 변경절차 필요</a:t>
              </a:r>
              <a:endParaRPr lang="en-US" altLang="ko-KR" sz="10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  <a:p>
              <a:pPr marL="85725" indent="-85725" latinLnBrk="0"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solidFill>
                    <a:schemeClr val="tx1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베이스라인을 설정하여 최종 산출물 버전 관리 </a:t>
              </a:r>
              <a:endParaRPr lang="en-US" altLang="ko-KR" sz="10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2996590" y="2796133"/>
              <a:ext cx="2052000" cy="768468"/>
            </a:xfrm>
            <a:prstGeom prst="rect">
              <a:avLst/>
            </a:prstGeom>
            <a:noFill/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5725" indent="-85725" latinLnBrk="0">
                <a:buFont typeface="Arial" panose="020B0604020202020204" pitchFamily="34" charset="0"/>
                <a:buChar char="•"/>
                <a:tabLst>
                  <a:tab pos="85725" algn="l"/>
                </a:tabLst>
              </a:pPr>
              <a:r>
                <a:rPr lang="ko-KR" altLang="en-US" sz="1000" dirty="0">
                  <a:solidFill>
                    <a:schemeClr val="tx1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변경 작업과 그 이력 및 사유를 관리</a:t>
              </a:r>
              <a:endParaRPr lang="en-US" altLang="ko-KR" sz="10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  <a:p>
              <a:pPr marL="85725" indent="-85725" latinLnBrk="0">
                <a:buFont typeface="Arial" panose="020B0604020202020204" pitchFamily="34" charset="0"/>
                <a:buChar char="•"/>
                <a:tabLst>
                  <a:tab pos="85725" algn="l"/>
                </a:tabLst>
              </a:pPr>
              <a:r>
                <a:rPr lang="ko-KR" altLang="en-US" sz="1000" dirty="0" err="1">
                  <a:solidFill>
                    <a:schemeClr val="tx1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변경관리표를</a:t>
              </a:r>
              <a:r>
                <a:rPr lang="ko-KR" altLang="en-US" sz="1000" dirty="0">
                  <a:solidFill>
                    <a:schemeClr val="tx1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 통해 변경 항목에 대해 추적하고 통합 관리</a:t>
              </a:r>
              <a:endParaRPr lang="en-US" altLang="ko-KR" sz="1000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996589" y="2556461"/>
              <a:ext cx="2052000" cy="23967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변경관리</a:t>
              </a:r>
            </a:p>
          </p:txBody>
        </p:sp>
      </p:grpSp>
      <p:graphicFrame>
        <p:nvGraphicFramePr>
          <p:cNvPr id="26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423134"/>
              </p:ext>
            </p:extLst>
          </p:nvPr>
        </p:nvGraphicFramePr>
        <p:xfrm>
          <a:off x="5670459" y="2696745"/>
          <a:ext cx="4136931" cy="4104105"/>
        </p:xfrm>
        <a:graphic>
          <a:graphicData uri="http://schemas.openxmlformats.org/drawingml/2006/table">
            <a:tbl>
              <a:tblPr firstRow="1"/>
              <a:tblGrid>
                <a:gridCol w="464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5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626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구분</a:t>
                      </a:r>
                      <a:endParaRPr kumimoji="0" 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방법</a:t>
                      </a:r>
                      <a:endParaRPr kumimoji="0" lang="ko-KR" alt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내용</a:t>
                      </a:r>
                      <a:endParaRPr kumimoji="0" 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담당자</a:t>
                      </a:r>
                      <a:endParaRPr kumimoji="0" lang="ko-KR" sz="11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EB" panose="02020603020101020101" pitchFamily="18" charset="-127"/>
                        <a:ea typeface="Rix고딕 E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3148">
                <a:tc rowSpan="2"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버전</a:t>
                      </a:r>
                      <a:endParaRPr lang="en-US" alt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관리</a:t>
                      </a:r>
                      <a:endParaRPr 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베이스</a:t>
                      </a:r>
                      <a: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라인</a:t>
                      </a:r>
                      <a:endParaRPr lang="en-US" alt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설정</a:t>
                      </a:r>
                      <a:endParaRPr 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고객제출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이전 드래프트 버전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V0.X</a:t>
                      </a: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고객제출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이후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V1.X</a:t>
                      </a: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베이스라인 승인 이전 베이스라인 승인 이후 버전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V2.0</a:t>
                      </a: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이후 변경절차 통해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0.1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단위로 증가</a:t>
                      </a: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latinLnBrk="0">
                        <a:lnSpc>
                          <a:spcPct val="115000"/>
                        </a:lnSpc>
                        <a:spcAft>
                          <a:spcPts val="300"/>
                        </a:spcAft>
                        <a:buFont typeface="맑은 고딕"/>
                        <a:buNone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사업관리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대상 및</a:t>
                      </a:r>
                      <a:endParaRPr lang="en-US" alt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방안</a:t>
                      </a:r>
                      <a:endParaRPr lang="en-US" alt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산출물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작업 결과물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베이스라인을 설정하여 최종 산출물 버전 관리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3148">
                <a:tc rowSpan="2"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endParaRPr lang="en-US" alt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관리</a:t>
                      </a:r>
                      <a:endParaRPr 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변경 관리</a:t>
                      </a:r>
                      <a:endParaRPr lang="en-US" alt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대상</a:t>
                      </a:r>
                      <a:endParaRPr lang="ko-KR" alt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문서 및 파일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업무범위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요구사항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프로젝트 업무 범위에 미치는 </a:t>
                      </a:r>
                      <a:r>
                        <a:rPr kumimoji="1" lang="ko-KR" altLang="en-US" sz="1000" b="0" i="0" u="none" strike="noStrike" kern="1200" cap="none" normalizeH="0" baseline="0" noProof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영향도를</a:t>
                      </a: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상</a:t>
                      </a:r>
                      <a: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중</a:t>
                      </a:r>
                      <a: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하로 분류하여 변경 관리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PM</a:t>
                      </a:r>
                    </a:p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사업관리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6849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b="1" kern="100" dirty="0"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맑은 고딕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관리 방안</a:t>
                      </a:r>
                      <a:endParaRPr 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noProof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변경관리표</a:t>
                      </a: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변경 요청 사유 및 근거자료</a:t>
                      </a:r>
                      <a: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회의록</a:t>
                      </a:r>
                      <a: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산출물 등</a:t>
                      </a:r>
                      <a: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을 포함하여 기록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7313" lvl="0" indent="-87313" algn="just">
                        <a:lnSpc>
                          <a:spcPct val="115000"/>
                        </a:lnSpc>
                        <a:spcAft>
                          <a:spcPts val="300"/>
                        </a:spcAft>
                        <a:buFont typeface="맑은 고딕"/>
                        <a:buChar char="•"/>
                      </a:pPr>
                      <a:endParaRPr lang="en-US" altLang="ko-KR" sz="1000" kern="100" baseline="0" dirty="0"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015"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소스</a:t>
                      </a:r>
                      <a:endParaRPr lang="en-US" alt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9569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형상관리</a:t>
                      </a:r>
                      <a:endParaRPr lang="ko-KR" sz="10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GIT </a:t>
                      </a:r>
                      <a:r>
                        <a:rPr kumimoji="1" lang="ko-KR" altLang="en-US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활용</a:t>
                      </a:r>
                      <a:endParaRPr kumimoji="1" lang="en-US" altLang="ko-KR" sz="1000" b="0" i="0" u="none" strike="noStrike" kern="1200" cap="none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AA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5222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738188" y="1970994"/>
            <a:ext cx="9217025" cy="4977494"/>
            <a:chOff x="3847798" y="1913923"/>
            <a:chExt cx="6107415" cy="497749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847798" y="1913923"/>
              <a:ext cx="2960322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개요 및 절차</a:t>
              </a:r>
            </a:p>
          </p:txBody>
        </p:sp>
        <p:sp>
          <p:nvSpPr>
            <p:cNvPr id="35" name="직사각형 34"/>
            <p:cNvSpPr/>
            <p:nvPr/>
          </p:nvSpPr>
          <p:spPr bwMode="auto">
            <a:xfrm>
              <a:off x="3847798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36" name="직사각형 35"/>
            <p:cNvSpPr/>
            <p:nvPr/>
          </p:nvSpPr>
          <p:spPr bwMode="auto">
            <a:xfrm>
              <a:off x="6994891" y="1913923"/>
              <a:ext cx="2960322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단계별 활동 및 역할</a:t>
              </a:r>
            </a:p>
          </p:txBody>
        </p:sp>
        <p:sp>
          <p:nvSpPr>
            <p:cNvPr id="38" name="직사각형 37"/>
            <p:cNvSpPr/>
            <p:nvPr/>
          </p:nvSpPr>
          <p:spPr bwMode="auto">
            <a:xfrm>
              <a:off x="6994891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4" name="텍스트 개체 틀 2"/>
          <p:cNvSpPr txBox="1">
            <a:spLocks/>
          </p:cNvSpPr>
          <p:nvPr/>
        </p:nvSpPr>
        <p:spPr>
          <a:xfrm>
            <a:off x="897894" y="1374697"/>
            <a:ext cx="8928546" cy="523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defRPr sz="14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defRPr>
            </a:lvl1pPr>
          </a:lstStyle>
          <a:p>
            <a:pPr algn="l"/>
            <a:r>
              <a:rPr lang="ko-KR" altLang="en-US" dirty="0"/>
              <a:t>사업 기간 동안 품질관리활동 지침을 준수하고 본 프로젝트의 산출물 및 프로세스가 </a:t>
            </a:r>
            <a:r>
              <a:rPr lang="ko-KR" altLang="en-US" dirty="0" err="1"/>
              <a:t>이투스교육</a:t>
            </a:r>
            <a:r>
              <a:rPr lang="en-US" altLang="ko-KR" dirty="0"/>
              <a:t>/</a:t>
            </a:r>
            <a:r>
              <a:rPr lang="ko-KR" altLang="en-US" dirty="0"/>
              <a:t>교육지대의 문제은행 </a:t>
            </a:r>
            <a:r>
              <a:rPr lang="en-US" altLang="ko-KR" dirty="0"/>
              <a:t>DB </a:t>
            </a:r>
            <a:r>
              <a:rPr lang="ko-KR" altLang="en-US" dirty="0"/>
              <a:t>통합 프로젝트에 대한 요구사항 및 계획</a:t>
            </a:r>
            <a:r>
              <a:rPr lang="en-US" altLang="ko-KR" dirty="0"/>
              <a:t>, </a:t>
            </a:r>
            <a:r>
              <a:rPr lang="ko-KR" altLang="en-US" dirty="0"/>
              <a:t>표준 절차 등에 적합하고 충실할 수 있도록 관리하겠습니다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graphicFrame>
        <p:nvGraphicFramePr>
          <p:cNvPr id="16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702482"/>
              </p:ext>
            </p:extLst>
          </p:nvPr>
        </p:nvGraphicFramePr>
        <p:xfrm>
          <a:off x="5622885" y="2693505"/>
          <a:ext cx="4213081" cy="1051502"/>
        </p:xfrm>
        <a:graphic>
          <a:graphicData uri="http://schemas.openxmlformats.org/drawingml/2006/table">
            <a:tbl>
              <a:tblPr firstRow="1"/>
              <a:tblGrid>
                <a:gridCol w="982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1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34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</a:t>
                      </a:r>
                      <a:endParaRPr lang="ko-KR" sz="1000" kern="100" dirty="0">
                        <a:solidFill>
                          <a:sysClr val="windowText" lastClr="000000"/>
                        </a:soli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맑은 고딕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7FB9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품질관리 활동</a:t>
                      </a:r>
                      <a:endParaRPr lang="ko-KR" sz="1000" kern="100" dirty="0">
                        <a:solidFill>
                          <a:sysClr val="windowText" lastClr="000000"/>
                        </a:soli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맑은 고딕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4B7FB9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7FB9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산출물</a:t>
                      </a:r>
                      <a:endParaRPr lang="ko-KR" sz="1000" kern="100" dirty="0">
                        <a:solidFill>
                          <a:sysClr val="windowText" lastClr="000000"/>
                        </a:soli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맑은 고딕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4B7FB9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착수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품질관리계획 수립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품질관리계획서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0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설계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품질검토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본사 지원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품질관리결과보고서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0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구현</a:t>
                      </a: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테스트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품질검토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본사 지원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품질관리결과보고서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종료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요구사항 이행여부 검토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잔여업무이행계획서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" name="그룹 2"/>
          <p:cNvGrpSpPr/>
          <p:nvPr/>
        </p:nvGrpSpPr>
        <p:grpSpPr>
          <a:xfrm>
            <a:off x="954090" y="2762649"/>
            <a:ext cx="1026001" cy="936130"/>
            <a:chOff x="879108" y="2556461"/>
            <a:chExt cx="1026001" cy="936130"/>
          </a:xfrm>
        </p:grpSpPr>
        <p:sp>
          <p:nvSpPr>
            <p:cNvPr id="22" name="직사각형 21"/>
            <p:cNvSpPr/>
            <p:nvPr/>
          </p:nvSpPr>
          <p:spPr>
            <a:xfrm>
              <a:off x="879108" y="2556461"/>
              <a:ext cx="1026001" cy="23967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 err="1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  <a:t>이투스교육</a:t>
              </a:r>
              <a:endParaRPr lang="ko-KR" altLang="en-US" sz="1050" dirty="0">
                <a:gradFill>
                  <a:gsLst>
                    <a:gs pos="87500">
                      <a:prstClr val="black">
                        <a:lumMod val="85000"/>
                        <a:lumOff val="15000"/>
                      </a:prstClr>
                    </a:gs>
                    <a:gs pos="687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  <a:latin typeface="+mn-ea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879108" y="2796133"/>
              <a:ext cx="1026000" cy="696458"/>
            </a:xfrm>
            <a:prstGeom prst="rect">
              <a:avLst/>
            </a:prstGeom>
            <a:noFill/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  <a:t>품질관리 계획 및 활동 검토</a:t>
              </a:r>
              <a:endParaRPr lang="en-US" altLang="ko-KR" sz="900" dirty="0">
                <a:gradFill>
                  <a:gsLst>
                    <a:gs pos="87500">
                      <a:prstClr val="black">
                        <a:lumMod val="85000"/>
                        <a:lumOff val="15000"/>
                      </a:prstClr>
                    </a:gs>
                    <a:gs pos="687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  <a:latin typeface="+mn-ea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2467785" y="2762649"/>
            <a:ext cx="1026001" cy="936130"/>
            <a:chOff x="2483589" y="2556461"/>
            <a:chExt cx="1026001" cy="936130"/>
          </a:xfrm>
        </p:grpSpPr>
        <p:sp>
          <p:nvSpPr>
            <p:cNvPr id="24" name="직사각형 23"/>
            <p:cNvSpPr/>
            <p:nvPr/>
          </p:nvSpPr>
          <p:spPr>
            <a:xfrm>
              <a:off x="2483589" y="2556461"/>
              <a:ext cx="1026001" cy="23967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  <a:t>프로젝트 팀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483589" y="2796133"/>
              <a:ext cx="1026000" cy="696458"/>
            </a:xfrm>
            <a:prstGeom prst="rect">
              <a:avLst/>
            </a:prstGeom>
            <a:noFill/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  <a:t>프로젝트 표준</a:t>
              </a:r>
              <a:r>
                <a:rPr lang="en-US" altLang="ko-KR" sz="90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  <a:t/>
              </a:r>
              <a:br>
                <a:rPr lang="en-US" altLang="ko-KR" sz="90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</a:br>
              <a:r>
                <a:rPr lang="ko-KR" altLang="en-US" sz="90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  <a:t>수립 및 절차 </a:t>
              </a:r>
              <a:endParaRPr lang="en-US" altLang="ko-KR" sz="900" dirty="0">
                <a:gradFill>
                  <a:gsLst>
                    <a:gs pos="87500">
                      <a:prstClr val="black">
                        <a:lumMod val="85000"/>
                        <a:lumOff val="15000"/>
                      </a:prstClr>
                    </a:gs>
                    <a:gs pos="687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  <a:latin typeface="+mn-ea"/>
              </a:endParaRPr>
            </a:p>
            <a:p>
              <a:pPr algn="ctr"/>
              <a:r>
                <a:rPr lang="ko-KR" altLang="en-US" sz="90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  <a:t>준수</a:t>
              </a:r>
              <a:endParaRPr lang="en-US" altLang="ko-KR" sz="900" dirty="0">
                <a:gradFill>
                  <a:gsLst>
                    <a:gs pos="87500">
                      <a:prstClr val="black">
                        <a:lumMod val="85000"/>
                        <a:lumOff val="15000"/>
                      </a:prstClr>
                    </a:gs>
                    <a:gs pos="687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  <a:latin typeface="+mn-ea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3981481" y="2762649"/>
            <a:ext cx="1026001" cy="936130"/>
            <a:chOff x="3906499" y="2556461"/>
            <a:chExt cx="1026001" cy="936130"/>
          </a:xfrm>
        </p:grpSpPr>
        <p:sp>
          <p:nvSpPr>
            <p:cNvPr id="26" name="직사각형 25"/>
            <p:cNvSpPr/>
            <p:nvPr/>
          </p:nvSpPr>
          <p:spPr>
            <a:xfrm>
              <a:off x="3906499" y="2556461"/>
              <a:ext cx="1026001" cy="23967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 err="1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  <a:t>데이타솔루션</a:t>
              </a:r>
              <a:endParaRPr lang="ko-KR" altLang="en-US" sz="1050" dirty="0">
                <a:gradFill>
                  <a:gsLst>
                    <a:gs pos="87500">
                      <a:prstClr val="black">
                        <a:lumMod val="85000"/>
                        <a:lumOff val="15000"/>
                      </a:prstClr>
                    </a:gs>
                    <a:gs pos="687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  <a:latin typeface="+mn-ea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3906499" y="2796133"/>
              <a:ext cx="1026000" cy="696458"/>
            </a:xfrm>
            <a:prstGeom prst="rect">
              <a:avLst/>
            </a:prstGeom>
            <a:noFill/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  <a:t>단계 별 </a:t>
              </a:r>
              <a:endParaRPr lang="en-US" altLang="ko-KR" sz="900" dirty="0">
                <a:gradFill>
                  <a:gsLst>
                    <a:gs pos="87500">
                      <a:prstClr val="black">
                        <a:lumMod val="85000"/>
                        <a:lumOff val="15000"/>
                      </a:prstClr>
                    </a:gs>
                    <a:gs pos="687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  <a:latin typeface="+mn-ea"/>
              </a:endParaRPr>
            </a:p>
            <a:p>
              <a:pPr algn="ctr"/>
              <a:r>
                <a:rPr lang="ko-KR" altLang="en-US" sz="900" dirty="0">
                  <a:gradFill>
                    <a:gsLst>
                      <a:gs pos="87500">
                        <a:prstClr val="black">
                          <a:lumMod val="85000"/>
                          <a:lumOff val="15000"/>
                        </a:prstClr>
                      </a:gs>
                      <a:gs pos="6875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16200000" scaled="1"/>
                  </a:gradFill>
                  <a:latin typeface="+mn-ea"/>
                </a:rPr>
                <a:t>품질점검 지원</a:t>
              </a:r>
              <a:endParaRPr lang="en-US" altLang="ko-KR" sz="900" dirty="0">
                <a:gradFill>
                  <a:gsLst>
                    <a:gs pos="87500">
                      <a:prstClr val="black">
                        <a:lumMod val="85000"/>
                        <a:lumOff val="15000"/>
                      </a:prstClr>
                    </a:gs>
                    <a:gs pos="68750">
                      <a:prstClr val="black">
                        <a:lumMod val="85000"/>
                        <a:lumOff val="15000"/>
                      </a:prstClr>
                    </a:gs>
                  </a:gsLst>
                  <a:lin ang="16200000" scaled="1"/>
                </a:gradFill>
                <a:latin typeface="+mn-ea"/>
              </a:endParaRPr>
            </a:p>
          </p:txBody>
        </p:sp>
      </p:grpSp>
      <p:cxnSp>
        <p:nvCxnSpPr>
          <p:cNvPr id="32" name="직선 화살표 연결선 31"/>
          <p:cNvCxnSpPr>
            <a:stCxn id="23" idx="3"/>
            <a:endCxn id="25" idx="1"/>
          </p:cNvCxnSpPr>
          <p:nvPr/>
        </p:nvCxnSpPr>
        <p:spPr>
          <a:xfrm>
            <a:off x="1980090" y="3350550"/>
            <a:ext cx="487695" cy="0"/>
          </a:xfrm>
          <a:prstGeom prst="straightConnector1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25" idx="3"/>
            <a:endCxn id="27" idx="1"/>
          </p:cNvCxnSpPr>
          <p:nvPr/>
        </p:nvCxnSpPr>
        <p:spPr>
          <a:xfrm>
            <a:off x="3493785" y="3350550"/>
            <a:ext cx="487696" cy="0"/>
          </a:xfrm>
          <a:prstGeom prst="straightConnector1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27" idx="2"/>
            <a:endCxn id="23" idx="2"/>
          </p:cNvCxnSpPr>
          <p:nvPr/>
        </p:nvCxnSpPr>
        <p:spPr>
          <a:xfrm rot="5400000">
            <a:off x="2980786" y="2185084"/>
            <a:ext cx="12700" cy="3027391"/>
          </a:xfrm>
          <a:prstGeom prst="bentConnector3">
            <a:avLst>
              <a:gd name="adj1" fmla="val 1800000"/>
            </a:avLst>
          </a:prstGeom>
          <a:ln w="127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393523"/>
              </p:ext>
            </p:extLst>
          </p:nvPr>
        </p:nvGraphicFramePr>
        <p:xfrm>
          <a:off x="845477" y="4194312"/>
          <a:ext cx="4210618" cy="2610329"/>
        </p:xfrm>
        <a:graphic>
          <a:graphicData uri="http://schemas.openxmlformats.org/drawingml/2006/table">
            <a:tbl>
              <a:tblPr firstRow="1"/>
              <a:tblGrid>
                <a:gridCol w="982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5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666">
                <a:tc>
                  <a:txBody>
                    <a:bodyPr/>
                    <a:lstStyle/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검토절차</a:t>
                      </a:r>
                      <a:endParaRPr kumimoji="0" lang="ko-KR" sz="10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7FB9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활동</a:t>
                      </a:r>
                      <a:endParaRPr kumimoji="0" lang="ko-KR" sz="10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4B7FB9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7FB9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수행 주체</a:t>
                      </a:r>
                      <a:endParaRPr kumimoji="0" lang="ko-KR" sz="1000" b="0" kern="1200" dirty="0">
                        <a:gradFill>
                          <a:gsLst>
                            <a:gs pos="70000">
                              <a:schemeClr val="bg1"/>
                            </a:gs>
                            <a:gs pos="53333">
                              <a:schemeClr val="bg1"/>
                            </a:gs>
                          </a:gsLst>
                          <a:lin ang="16200000" scaled="1"/>
                        </a:gradFill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4B7FB9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7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433">
                <a:tc>
                  <a:txBody>
                    <a:bodyPr/>
                    <a:lstStyle/>
                    <a:p>
                      <a:pPr marL="0" marR="0" lvl="0" indent="0" algn="ctr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검토 요청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단계말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검토 대상 산출물에 대해 검토 요청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각 팀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PL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433">
                <a:tc>
                  <a:txBody>
                    <a:bodyPr/>
                    <a:lstStyle/>
                    <a:p>
                      <a:pPr marL="0" marR="0" lvl="0" indent="0" algn="ctr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검토결과 보고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검토결과를 정리하여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PM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에게 보고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품질관리담당자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사업관리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433">
                <a:tc>
                  <a:txBody>
                    <a:bodyPr/>
                    <a:lstStyle/>
                    <a:p>
                      <a:pPr marL="0" marR="0" lvl="0" indent="0" algn="ctr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검토 회의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품질검토 결과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PL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전달 및 시정조치 요구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품질관리담당자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사업관리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433">
                <a:tc>
                  <a:txBody>
                    <a:bodyPr/>
                    <a:lstStyle/>
                    <a:p>
                      <a:pPr marL="0" marR="0" lvl="0" indent="0" algn="ctr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결함 시정조치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검토 결과 지적된 사항에 대해 결함 시정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각 팀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PL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931">
                <a:tc>
                  <a:txBody>
                    <a:bodyPr/>
                    <a:lstStyle/>
                    <a:p>
                      <a:pPr marL="0" marR="0" lvl="0" indent="0" algn="ctr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조치 확인 및 </a:t>
                      </a:r>
                      <a:endParaRPr lang="en-US" alt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보고</a:t>
                      </a:r>
                      <a:endParaRPr 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시정된 결함에 대해서 확인 및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PM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보고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5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품질관리담당자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사업관리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  <a:endParaRPr kumimoji="1" 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248876"/>
              </p:ext>
            </p:extLst>
          </p:nvPr>
        </p:nvGraphicFramePr>
        <p:xfrm>
          <a:off x="5622758" y="3852641"/>
          <a:ext cx="4203682" cy="2952412"/>
        </p:xfrm>
        <a:graphic>
          <a:graphicData uri="http://schemas.openxmlformats.org/drawingml/2006/table">
            <a:tbl>
              <a:tblPr firstRow="1"/>
              <a:tblGrid>
                <a:gridCol w="980832">
                  <a:extLst>
                    <a:ext uri="{9D8B030D-6E8A-4147-A177-3AD203B41FA5}">
                      <a16:colId xmlns:a16="http://schemas.microsoft.com/office/drawing/2014/main" val="1493712485"/>
                    </a:ext>
                  </a:extLst>
                </a:gridCol>
                <a:gridCol w="2452175">
                  <a:extLst>
                    <a:ext uri="{9D8B030D-6E8A-4147-A177-3AD203B41FA5}">
                      <a16:colId xmlns:a16="http://schemas.microsoft.com/office/drawing/2014/main" val="707382593"/>
                    </a:ext>
                  </a:extLst>
                </a:gridCol>
                <a:gridCol w="77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666"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역할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5A7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책임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5A7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b="1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95690" rtl="0" eaLnBrk="1" fontAlgn="base" latinLnBrk="0" hangingPunct="1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  <a:sym typeface="Monotype Sorts"/>
                        </a:rPr>
                        <a:t>담당자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5A7B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416390"/>
                  </a:ext>
                </a:extLst>
              </a:tr>
              <a:tr h="623749"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이투스교육</a:t>
                      </a: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사업책임자</a:t>
                      </a:r>
                      <a:endParaRPr lang="ko-KR" alt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검수 이행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시정조치 활동의 감독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공식 산출물에 대한 최종 공식 승인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품질보증 계획 검토 및 승인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이병철 과장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227870"/>
                  </a:ext>
                </a:extLst>
              </a:tr>
              <a:tr h="457416"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수행사</a:t>
                      </a: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PM</a:t>
                      </a:r>
                      <a:endParaRPr lang="ko-KR" alt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공식 산출물에 대한 최종 승인 요청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품질보증활동 전반에 대한 책임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이병도 이사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749"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수행사</a:t>
                      </a: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품질관리 담당</a:t>
                      </a:r>
                      <a:endParaRPr lang="ko-KR" alt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품질보증 계획 수립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품질활동 모니터링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시정조치 계획 수립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이행 및 결과 확인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산출물 취합 및 제출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김흥한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부장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416"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수행사</a:t>
                      </a: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PL</a:t>
                      </a:r>
                      <a:endParaRPr lang="ko-KR" alt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내부검토 결과 확인 및 승인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시정조치 내역 확인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고객 검토 결과 확인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시정조치 내역 확인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각 업무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PL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416"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수행사</a:t>
                      </a:r>
                      <a: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900" b="0" i="0" u="none" strike="noStrike" kern="1200" dirty="0" err="1">
                          <a:gradFill>
                            <a:gsLst>
                              <a:gs pos="875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6875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16200000" scaled="1"/>
                          </a:gradFill>
                          <a:latin typeface="+mn-ea"/>
                          <a:ea typeface="+mn-ea"/>
                          <a:cs typeface="+mn-cs"/>
                        </a:rPr>
                        <a:t>품질서비스팀</a:t>
                      </a:r>
                      <a:endParaRPr lang="ko-KR" altLang="ko-KR" sz="900" b="0" i="0" u="none" strike="noStrike" kern="1200" dirty="0">
                        <a:gradFill>
                          <a:gsLst>
                            <a:gs pos="8750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6875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16200000" scaled="1"/>
                        </a:gra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품질보증 계획 수립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품질활동 모니터링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85725" marR="0" lvl="0" indent="-85725" algn="l" defTabSz="99569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맑은 고딕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산출물에 대한 검토 및 시정조치 요청</a:t>
                      </a: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Rix고딕 B"/>
                          <a:ea typeface="Rix고딕 B"/>
                        </a:defRPr>
                      </a:lvl9pPr>
                    </a:lstStyle>
                    <a:p>
                      <a:pPr marL="0" marR="0" lvl="0" indent="0" algn="ctr" defTabSz="995564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맑은 고딕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수행사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전사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  <a:b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품질서비스팀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품질관리 계획</a:t>
            </a:r>
          </a:p>
        </p:txBody>
      </p:sp>
    </p:spTree>
    <p:extLst>
      <p:ext uri="{BB962C8B-B14F-4D97-AF65-F5344CB8AC3E}">
        <p14:creationId xmlns:p14="http://schemas.microsoft.com/office/powerpoint/2010/main" val="25077938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그룹 93"/>
          <p:cNvGrpSpPr/>
          <p:nvPr/>
        </p:nvGrpSpPr>
        <p:grpSpPr>
          <a:xfrm>
            <a:off x="738188" y="1970994"/>
            <a:ext cx="9217025" cy="4977494"/>
            <a:chOff x="3847798" y="1913923"/>
            <a:chExt cx="6107415" cy="4977494"/>
          </a:xfrm>
        </p:grpSpPr>
        <p:sp>
          <p:nvSpPr>
            <p:cNvPr id="95" name="직사각형 94"/>
            <p:cNvSpPr/>
            <p:nvPr/>
          </p:nvSpPr>
          <p:spPr bwMode="auto">
            <a:xfrm>
              <a:off x="3847798" y="1913923"/>
              <a:ext cx="2960322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영역별 보안대책 및 정보보안 체계</a:t>
              </a:r>
            </a:p>
          </p:txBody>
        </p:sp>
        <p:sp>
          <p:nvSpPr>
            <p:cNvPr id="96" name="직사각형 95"/>
            <p:cNvSpPr/>
            <p:nvPr/>
          </p:nvSpPr>
          <p:spPr bwMode="auto">
            <a:xfrm>
              <a:off x="3847798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99" name="직사각형 98"/>
            <p:cNvSpPr/>
            <p:nvPr/>
          </p:nvSpPr>
          <p:spPr bwMode="auto">
            <a:xfrm>
              <a:off x="6994891" y="1913923"/>
              <a:ext cx="2960322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보안 관리의 일상화</a:t>
              </a:r>
            </a:p>
          </p:txBody>
        </p:sp>
        <p:sp>
          <p:nvSpPr>
            <p:cNvPr id="100" name="직사각형 99"/>
            <p:cNvSpPr/>
            <p:nvPr/>
          </p:nvSpPr>
          <p:spPr bwMode="auto">
            <a:xfrm>
              <a:off x="6994891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5" name="텍스트 개체 틀 2"/>
          <p:cNvSpPr txBox="1">
            <a:spLocks/>
          </p:cNvSpPr>
          <p:nvPr/>
        </p:nvSpPr>
        <p:spPr>
          <a:xfrm>
            <a:off x="875034" y="1374696"/>
            <a:ext cx="9068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defRPr sz="14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defRPr>
            </a:lvl1pPr>
          </a:lstStyle>
          <a:p>
            <a:pPr algn="l"/>
            <a:r>
              <a:rPr lang="ko-KR" altLang="en-US" dirty="0"/>
              <a:t>물리적</a:t>
            </a:r>
            <a:r>
              <a:rPr lang="en-US" altLang="ko-KR" dirty="0"/>
              <a:t>, </a:t>
            </a:r>
            <a:r>
              <a:rPr lang="ko-KR" altLang="en-US" dirty="0"/>
              <a:t>관리적</a:t>
            </a:r>
            <a:r>
              <a:rPr lang="en-US" altLang="ko-KR" dirty="0"/>
              <a:t>, </a:t>
            </a:r>
            <a:r>
              <a:rPr lang="ko-KR" altLang="en-US" dirty="0"/>
              <a:t>기술적 측면에서 효과적인 보안대책을 마련하고</a:t>
            </a:r>
            <a:r>
              <a:rPr lang="en-US" altLang="ko-KR" dirty="0"/>
              <a:t>, </a:t>
            </a:r>
            <a:r>
              <a:rPr lang="ko-KR" altLang="en-US" dirty="0"/>
              <a:t>사업수행 시 </a:t>
            </a:r>
            <a:r>
              <a:rPr lang="ko-KR" altLang="en-US" dirty="0" err="1"/>
              <a:t>이투스교육</a:t>
            </a:r>
            <a:r>
              <a:rPr lang="en-US" altLang="ko-KR" dirty="0"/>
              <a:t>/</a:t>
            </a:r>
            <a:r>
              <a:rPr lang="ko-KR" altLang="en-US" dirty="0"/>
              <a:t>교육지대와 수행사의 보안수칙을 준수하며</a:t>
            </a:r>
            <a:r>
              <a:rPr lang="en-US" altLang="ko-KR" dirty="0"/>
              <a:t>, </a:t>
            </a:r>
            <a:r>
              <a:rPr lang="ko-KR" altLang="en-US" dirty="0"/>
              <a:t>보안교육과 함께 프로젝트 보안담당자를 선정하여 사업수행기간 동안 실천적이고 지속적인 보안을 실시합니다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5676774" y="4526793"/>
            <a:ext cx="4134544" cy="663541"/>
            <a:chOff x="5373605" y="3921437"/>
            <a:chExt cx="3816235" cy="663541"/>
          </a:xfrm>
        </p:grpSpPr>
        <p:grpSp>
          <p:nvGrpSpPr>
            <p:cNvPr id="14" name="그룹 13"/>
            <p:cNvGrpSpPr/>
            <p:nvPr/>
          </p:nvGrpSpPr>
          <p:grpSpPr>
            <a:xfrm>
              <a:off x="5373605" y="3921437"/>
              <a:ext cx="3816235" cy="262074"/>
              <a:chOff x="5782243" y="4562475"/>
              <a:chExt cx="4030423" cy="261012"/>
            </a:xfrm>
          </p:grpSpPr>
          <p:sp>
            <p:nvSpPr>
              <p:cNvPr id="21" name="직사각형 20"/>
              <p:cNvSpPr/>
              <p:nvPr/>
            </p:nvSpPr>
            <p:spPr bwMode="auto">
              <a:xfrm>
                <a:off x="5782243" y="4562475"/>
                <a:ext cx="773154" cy="26101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1" indent="0" algn="ctr" defTabSz="957051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ct val="140000"/>
                  <a:buFontTx/>
                  <a:buNone/>
                  <a:tabLst>
                    <a:tab pos="5182931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ea typeface="Rix고딕 B"/>
                    <a:cs typeface="Arial" pitchFamily="34" charset="0"/>
                  </a:rPr>
                  <a:t>月</a:t>
                </a:r>
              </a:p>
            </p:txBody>
          </p:sp>
          <p:sp>
            <p:nvSpPr>
              <p:cNvPr id="22" name="직사각형 21"/>
              <p:cNvSpPr/>
              <p:nvPr/>
            </p:nvSpPr>
            <p:spPr bwMode="auto">
              <a:xfrm>
                <a:off x="6596560" y="4562475"/>
                <a:ext cx="773154" cy="26101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1" indent="0" algn="ctr" defTabSz="957051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ct val="140000"/>
                  <a:buFontTx/>
                  <a:buNone/>
                  <a:tabLst>
                    <a:tab pos="5182931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ea typeface="Rix고딕 B"/>
                    <a:cs typeface="Arial" pitchFamily="34" charset="0"/>
                  </a:rPr>
                  <a:t>火</a:t>
                </a:r>
              </a:p>
            </p:txBody>
          </p:sp>
          <p:sp>
            <p:nvSpPr>
              <p:cNvPr id="23" name="직사각형 22"/>
              <p:cNvSpPr/>
              <p:nvPr/>
            </p:nvSpPr>
            <p:spPr bwMode="auto">
              <a:xfrm>
                <a:off x="7410877" y="4562475"/>
                <a:ext cx="773154" cy="26101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1" indent="0" algn="ctr" defTabSz="957051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ct val="140000"/>
                  <a:buFontTx/>
                  <a:buNone/>
                  <a:tabLst>
                    <a:tab pos="5182931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ea typeface="Rix고딕 B"/>
                    <a:cs typeface="Arial" pitchFamily="34" charset="0"/>
                  </a:rPr>
                  <a:t>水</a:t>
                </a:r>
              </a:p>
            </p:txBody>
          </p:sp>
          <p:sp>
            <p:nvSpPr>
              <p:cNvPr id="24" name="직사각형 23"/>
              <p:cNvSpPr/>
              <p:nvPr/>
            </p:nvSpPr>
            <p:spPr bwMode="auto">
              <a:xfrm>
                <a:off x="8225194" y="4562475"/>
                <a:ext cx="773154" cy="26101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1" indent="0" algn="ctr" defTabSz="957051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ct val="140000"/>
                  <a:buFontTx/>
                  <a:buNone/>
                  <a:tabLst>
                    <a:tab pos="5182931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ea typeface="Rix고딕 B"/>
                    <a:cs typeface="Arial" pitchFamily="34" charset="0"/>
                  </a:rPr>
                  <a:t>木</a:t>
                </a:r>
              </a:p>
            </p:txBody>
          </p:sp>
          <p:sp>
            <p:nvSpPr>
              <p:cNvPr id="25" name="직사각형 24"/>
              <p:cNvSpPr/>
              <p:nvPr/>
            </p:nvSpPr>
            <p:spPr bwMode="auto">
              <a:xfrm>
                <a:off x="9039512" y="4562475"/>
                <a:ext cx="773154" cy="26101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1" indent="0" algn="ctr" defTabSz="957051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ct val="140000"/>
                  <a:buFontTx/>
                  <a:buNone/>
                  <a:tabLst>
                    <a:tab pos="5182931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ea typeface="Rix고딕 B"/>
                    <a:cs typeface="Arial" pitchFamily="34" charset="0"/>
                  </a:rPr>
                  <a:t>金</a:t>
                </a:r>
              </a:p>
            </p:txBody>
          </p:sp>
        </p:grpSp>
        <p:grpSp>
          <p:nvGrpSpPr>
            <p:cNvPr id="15" name="그룹 14"/>
            <p:cNvGrpSpPr/>
            <p:nvPr/>
          </p:nvGrpSpPr>
          <p:grpSpPr>
            <a:xfrm>
              <a:off x="5518916" y="4246421"/>
              <a:ext cx="3490486" cy="338557"/>
              <a:chOff x="5518914" y="4360722"/>
              <a:chExt cx="3490486" cy="338557"/>
            </a:xfrm>
          </p:grpSpPr>
          <p:sp>
            <p:nvSpPr>
              <p:cNvPr id="16" name="TextBox 15"/>
              <p:cNvSpPr txBox="1"/>
              <p:nvPr/>
            </p:nvSpPr>
            <p:spPr bwMode="auto">
              <a:xfrm>
                <a:off x="5518914" y="4360725"/>
                <a:ext cx="467551" cy="33855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1" indent="-142746" algn="ctr" defTabSz="91357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ysClr val="windowText" lastClr="000000"/>
                  </a:buClr>
                  <a:buSzTx/>
                  <a:buFontTx/>
                  <a:buNone/>
                  <a:tabLst>
                    <a:tab pos="5643242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>비밀번호</a:t>
                </a:r>
              </a:p>
              <a:p>
                <a:pPr marL="0" marR="0" lvl="1" indent="-142746" algn="ctr" defTabSz="91357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ysClr val="windowText" lastClr="000000"/>
                  </a:buClr>
                  <a:buSzTx/>
                  <a:buFontTx/>
                  <a:buNone/>
                  <a:tabLst>
                    <a:tab pos="5643242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>확인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6313642" y="4360722"/>
                <a:ext cx="350663" cy="33855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>
                <a:defPPr>
                  <a:defRPr lang="ko-KR"/>
                </a:defPPr>
                <a:lvl2pPr marL="0" lvl="1" indent="-155554" algn="ctr" defTabSz="995549">
                  <a:buClr>
                    <a:sysClr val="windowText" lastClr="000000"/>
                  </a:buClr>
                  <a:tabLst>
                    <a:tab pos="6149583" algn="l"/>
                  </a:tabLst>
                  <a:defRPr sz="1200">
                    <a:gradFill>
                      <a:gsLst>
                        <a:gs pos="24000">
                          <a:schemeClr val="tx1">
                            <a:lumMod val="65000"/>
                            <a:lumOff val="35000"/>
                          </a:schemeClr>
                        </a:gs>
                        <a:gs pos="58000">
                          <a:schemeClr val="tx1">
                            <a:lumMod val="65000"/>
                            <a:lumOff val="35000"/>
                          </a:schemeClr>
                        </a:gs>
                      </a:gsLst>
                      <a:lin ang="16200000" scaled="1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defRPr>
                </a:lvl2pPr>
              </a:lstStyle>
              <a:p>
                <a:pPr marL="0" marR="0" lvl="1" indent="-155554" algn="ctr" defTabSz="99554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ysClr val="windowText" lastClr="000000"/>
                  </a:buClr>
                  <a:buSzTx/>
                  <a:buFontTx/>
                  <a:buNone/>
                  <a:tabLst>
                    <a:tab pos="6149583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출력물</a:t>
                </a:r>
              </a:p>
              <a:p>
                <a:pPr marL="0" marR="0" lvl="1" indent="-155554" algn="ctr" defTabSz="99554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ysClr val="windowText" lastClr="000000"/>
                  </a:buClr>
                  <a:buSzTx/>
                  <a:buFontTx/>
                  <a:buNone/>
                  <a:tabLst>
                    <a:tab pos="6149583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보안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7013917" y="4360722"/>
                <a:ext cx="467551" cy="33855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>
                <a:defPPr>
                  <a:defRPr lang="ko-KR"/>
                </a:defPPr>
                <a:lvl2pPr marL="0" lvl="1" indent="-155554" algn="ctr" defTabSz="995549">
                  <a:buClr>
                    <a:sysClr val="windowText" lastClr="000000"/>
                  </a:buClr>
                  <a:tabLst>
                    <a:tab pos="6149583" algn="l"/>
                  </a:tabLst>
                  <a:defRPr sz="1200">
                    <a:gradFill>
                      <a:gsLst>
                        <a:gs pos="24000">
                          <a:schemeClr val="tx1">
                            <a:lumMod val="65000"/>
                            <a:lumOff val="35000"/>
                          </a:schemeClr>
                        </a:gs>
                        <a:gs pos="58000">
                          <a:schemeClr val="tx1">
                            <a:lumMod val="65000"/>
                            <a:lumOff val="35000"/>
                          </a:schemeClr>
                        </a:gs>
                      </a:gsLst>
                      <a:lin ang="16200000" scaled="1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defRPr>
                </a:lvl2pPr>
              </a:lstStyle>
              <a:p>
                <a:pPr marL="0" marR="0" lvl="1" indent="-155554" algn="ctr" defTabSz="99554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ysClr val="windowText" lastClr="000000"/>
                  </a:buClr>
                  <a:buSzTx/>
                  <a:buFontTx/>
                  <a:buNone/>
                  <a:tabLst>
                    <a:tab pos="6149583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자료</a:t>
                </a:r>
              </a:p>
              <a:p>
                <a:pPr marL="0" marR="0" lvl="1" indent="-155554" algn="ctr" defTabSz="99554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ysClr val="windowText" lastClr="000000"/>
                  </a:buClr>
                  <a:buSzTx/>
                  <a:buFontTx/>
                  <a:buNone/>
                  <a:tabLst>
                    <a:tab pos="6149583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보안확인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 bwMode="auto">
              <a:xfrm>
                <a:off x="7841565" y="4360722"/>
                <a:ext cx="467551" cy="33855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>
                <a:defPPr>
                  <a:defRPr lang="ko-KR"/>
                </a:defPPr>
                <a:lvl2pPr marL="0" lvl="1" indent="-155554" algn="ctr" defTabSz="995549">
                  <a:buClr>
                    <a:sysClr val="windowText" lastClr="000000"/>
                  </a:buClr>
                  <a:tabLst>
                    <a:tab pos="6149583" algn="l"/>
                  </a:tabLst>
                  <a:defRPr sz="1200">
                    <a:gradFill>
                      <a:gsLst>
                        <a:gs pos="24000">
                          <a:schemeClr val="tx1">
                            <a:lumMod val="65000"/>
                            <a:lumOff val="35000"/>
                          </a:schemeClr>
                        </a:gs>
                        <a:gs pos="58000">
                          <a:schemeClr val="tx1">
                            <a:lumMod val="65000"/>
                            <a:lumOff val="35000"/>
                          </a:schemeClr>
                        </a:gs>
                      </a:gsLst>
                      <a:lin ang="16200000" scaled="1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defRPr>
                </a:lvl2pPr>
              </a:lstStyle>
              <a:p>
                <a:pPr marL="0" marR="0" lvl="1" indent="-155554" algn="ctr" defTabSz="99554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ysClr val="windowText" lastClr="000000"/>
                  </a:buClr>
                  <a:buSzTx/>
                  <a:buFontTx/>
                  <a:buNone/>
                  <a:tabLst>
                    <a:tab pos="6149583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보안패치</a:t>
                </a:r>
              </a:p>
              <a:p>
                <a:pPr marL="0" marR="0" lvl="1" indent="-155554" algn="ctr" defTabSz="99554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ysClr val="windowText" lastClr="000000"/>
                  </a:buClr>
                  <a:buSzTx/>
                  <a:buFontTx/>
                  <a:buNone/>
                  <a:tabLst>
                    <a:tab pos="6149583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확인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8658737" y="4360722"/>
                <a:ext cx="350663" cy="33855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>
                <a:defPPr>
                  <a:defRPr lang="ko-KR"/>
                </a:defPPr>
                <a:lvl2pPr marL="0" lvl="1" indent="-155554" algn="ctr" defTabSz="995549">
                  <a:buClr>
                    <a:sysClr val="windowText" lastClr="000000"/>
                  </a:buClr>
                  <a:tabLst>
                    <a:tab pos="6149583" algn="l"/>
                  </a:tabLst>
                  <a:defRPr sz="1200">
                    <a:gradFill>
                      <a:gsLst>
                        <a:gs pos="24000">
                          <a:schemeClr val="tx1">
                            <a:lumMod val="65000"/>
                            <a:lumOff val="35000"/>
                          </a:schemeClr>
                        </a:gs>
                        <a:gs pos="58000">
                          <a:schemeClr val="tx1">
                            <a:lumMod val="65000"/>
                            <a:lumOff val="35000"/>
                          </a:schemeClr>
                        </a:gs>
                      </a:gsLst>
                      <a:lin ang="16200000" scaled="1"/>
                    </a:gradFill>
                    <a:latin typeface="Rix고딕 B" panose="02020603020101020101" pitchFamily="18" charset="-127"/>
                    <a:ea typeface="Rix고딕 B" panose="02020603020101020101" pitchFamily="18" charset="-127"/>
                  </a:defRPr>
                </a:lvl2pPr>
              </a:lstStyle>
              <a:p>
                <a:pPr marL="0" marR="0" lvl="1" indent="-155554" algn="ctr" defTabSz="99554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ysClr val="windowText" lastClr="000000"/>
                  </a:buClr>
                  <a:buSzTx/>
                  <a:buFontTx/>
                  <a:buNone/>
                  <a:tabLst>
                    <a:tab pos="6149583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화면</a:t>
                </a:r>
              </a:p>
              <a:p>
                <a:pPr marL="0" marR="0" lvl="1" indent="-155554" algn="ctr" defTabSz="99554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ysClr val="windowText" lastClr="000000"/>
                  </a:buClr>
                  <a:buSzTx/>
                  <a:buFontTx/>
                  <a:buNone/>
                  <a:tabLst>
                    <a:tab pos="6149583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24000">
                          <a:prstClr val="black">
                            <a:lumMod val="65000"/>
                            <a:lumOff val="35000"/>
                          </a:prstClr>
                        </a:gs>
                        <a:gs pos="58000">
                          <a:prstClr val="black">
                            <a:lumMod val="65000"/>
                            <a:lumOff val="3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보호기</a:t>
                </a:r>
              </a:p>
            </p:txBody>
          </p:sp>
        </p:grpSp>
      </p:grpSp>
      <p:grpSp>
        <p:nvGrpSpPr>
          <p:cNvPr id="26" name="그룹 25"/>
          <p:cNvGrpSpPr/>
          <p:nvPr/>
        </p:nvGrpSpPr>
        <p:grpSpPr>
          <a:xfrm>
            <a:off x="5676774" y="2973390"/>
            <a:ext cx="4134546" cy="915745"/>
            <a:chOff x="5396169" y="2228456"/>
            <a:chExt cx="3806564" cy="915745"/>
          </a:xfrm>
        </p:grpSpPr>
        <p:sp>
          <p:nvSpPr>
            <p:cNvPr id="27" name="직사각형 26"/>
            <p:cNvSpPr>
              <a:spLocks noChangeArrowheads="1"/>
            </p:cNvSpPr>
            <p:nvPr/>
          </p:nvSpPr>
          <p:spPr bwMode="auto">
            <a:xfrm>
              <a:off x="5396169" y="2228456"/>
              <a:ext cx="870857" cy="414677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57051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40000"/>
                <a:buFontTx/>
                <a:buNone/>
                <a:tabLst>
                  <a:tab pos="5182931" algn="l"/>
                </a:tabLst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1667">
                        <a:prstClr val="black">
                          <a:lumMod val="75000"/>
                          <a:lumOff val="25000"/>
                        </a:prstClr>
                      </a:gs>
                      <a:gs pos="24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effectLst/>
                  <a:uLnTx/>
                  <a:uFillTx/>
                  <a:cs typeface="Arial" pitchFamily="34" charset="0"/>
                </a:rPr>
                <a:t>보안서약서</a:t>
              </a:r>
              <a:b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1667">
                        <a:prstClr val="black">
                          <a:lumMod val="75000"/>
                          <a:lumOff val="25000"/>
                        </a:prstClr>
                      </a:gs>
                      <a:gs pos="24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effectLst/>
                  <a:uLnTx/>
                  <a:uFillTx/>
                  <a:cs typeface="Arial" pitchFamily="34" charset="0"/>
                </a:rPr>
              </a:b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1667">
                        <a:prstClr val="black">
                          <a:lumMod val="75000"/>
                          <a:lumOff val="25000"/>
                        </a:prstClr>
                      </a:gs>
                      <a:gs pos="24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effectLst/>
                  <a:uLnTx/>
                  <a:uFillTx/>
                  <a:cs typeface="Arial" pitchFamily="34" charset="0"/>
                </a:rPr>
                <a:t>청구</a:t>
              </a:r>
            </a:p>
          </p:txBody>
        </p:sp>
        <p:sp>
          <p:nvSpPr>
            <p:cNvPr id="28" name="직사각형 27"/>
            <p:cNvSpPr>
              <a:spLocks noChangeArrowheads="1"/>
            </p:cNvSpPr>
            <p:nvPr/>
          </p:nvSpPr>
          <p:spPr bwMode="auto">
            <a:xfrm>
              <a:off x="6374738" y="2228456"/>
              <a:ext cx="870857" cy="414677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57051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40000"/>
                <a:buFontTx/>
                <a:buNone/>
                <a:tabLst>
                  <a:tab pos="5182931" algn="l"/>
                </a:tabLst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1667">
                        <a:prstClr val="black">
                          <a:lumMod val="75000"/>
                          <a:lumOff val="25000"/>
                        </a:prstClr>
                      </a:gs>
                      <a:gs pos="24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effectLst/>
                  <a:uLnTx/>
                  <a:uFillTx/>
                  <a:cs typeface="Arial" pitchFamily="34" charset="0"/>
                </a:rPr>
                <a:t>수행인원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1667">
                        <a:prstClr val="black">
                          <a:lumMod val="75000"/>
                          <a:lumOff val="25000"/>
                        </a:prstClr>
                      </a:gs>
                      <a:gs pos="24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effectLst/>
                  <a:uLnTx/>
                  <a:uFillTx/>
                  <a:cs typeface="Arial" pitchFamily="34" charset="0"/>
                </a:rPr>
                <a:t>PC</a:t>
              </a:r>
              <a:b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1667">
                        <a:prstClr val="black">
                          <a:lumMod val="75000"/>
                          <a:lumOff val="25000"/>
                        </a:prstClr>
                      </a:gs>
                      <a:gs pos="24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effectLst/>
                  <a:uLnTx/>
                  <a:uFillTx/>
                  <a:cs typeface="Arial" pitchFamily="34" charset="0"/>
                </a:rPr>
              </a:b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1667">
                        <a:prstClr val="black">
                          <a:lumMod val="75000"/>
                          <a:lumOff val="25000"/>
                        </a:prstClr>
                      </a:gs>
                      <a:gs pos="24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effectLst/>
                  <a:uLnTx/>
                  <a:uFillTx/>
                  <a:cs typeface="Arial" pitchFamily="34" charset="0"/>
                </a:rPr>
                <a:t>보안 점검</a:t>
              </a:r>
            </a:p>
          </p:txBody>
        </p:sp>
        <p:sp>
          <p:nvSpPr>
            <p:cNvPr id="29" name="직사각형 28"/>
            <p:cNvSpPr>
              <a:spLocks noChangeArrowheads="1"/>
            </p:cNvSpPr>
            <p:nvPr/>
          </p:nvSpPr>
          <p:spPr bwMode="auto">
            <a:xfrm>
              <a:off x="7353307" y="2228456"/>
              <a:ext cx="870857" cy="414677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6350">
              <a:solidFill>
                <a:sysClr val="window" lastClr="FFFFFF">
                  <a:lumMod val="85000"/>
                </a:sysClr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57051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40000"/>
                <a:buFontTx/>
                <a:buNone/>
                <a:tabLst>
                  <a:tab pos="5182931" algn="l"/>
                </a:tabLst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1667">
                        <a:prstClr val="black">
                          <a:lumMod val="75000"/>
                          <a:lumOff val="25000"/>
                        </a:prstClr>
                      </a:gs>
                      <a:gs pos="24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effectLst/>
                  <a:uLnTx/>
                  <a:uFillTx/>
                  <a:cs typeface="Arial" pitchFamily="34" charset="0"/>
                </a:rPr>
                <a:t>산출물 </a:t>
              </a:r>
            </a:p>
            <a:p>
              <a:pPr marL="0" marR="0" lvl="0" indent="0" algn="ctr" defTabSz="957051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40000"/>
                <a:buFontTx/>
                <a:buNone/>
                <a:tabLst>
                  <a:tab pos="5182931" algn="l"/>
                </a:tabLst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1667">
                        <a:prstClr val="black">
                          <a:lumMod val="75000"/>
                          <a:lumOff val="25000"/>
                        </a:prstClr>
                      </a:gs>
                      <a:gs pos="24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effectLst/>
                  <a:uLnTx/>
                  <a:uFillTx/>
                  <a:cs typeface="Arial" pitchFamily="34" charset="0"/>
                </a:rPr>
                <a:t>반납 확인</a:t>
              </a:r>
            </a:p>
          </p:txBody>
        </p:sp>
        <p:sp>
          <p:nvSpPr>
            <p:cNvPr id="30" name="직사각형 29"/>
            <p:cNvSpPr>
              <a:spLocks noChangeArrowheads="1"/>
            </p:cNvSpPr>
            <p:nvPr/>
          </p:nvSpPr>
          <p:spPr bwMode="auto">
            <a:xfrm>
              <a:off x="8331876" y="2228456"/>
              <a:ext cx="870857" cy="414677"/>
            </a:xfrm>
            <a:prstGeom prst="rect">
              <a:avLst/>
            </a:prstGeom>
            <a:solidFill>
              <a:srgbClr val="7F7F7F">
                <a:lumMod val="20000"/>
                <a:lumOff val="80000"/>
              </a:srgbClr>
            </a:solidFill>
            <a:ln w="6350">
              <a:solidFill>
                <a:sysClr val="window" lastClr="FFFFFF">
                  <a:lumMod val="85000"/>
                </a:sysClr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57051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40000"/>
                <a:buFontTx/>
                <a:buNone/>
                <a:tabLst>
                  <a:tab pos="5182931" algn="l"/>
                </a:tabLst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1667">
                        <a:prstClr val="black">
                          <a:lumMod val="75000"/>
                          <a:lumOff val="25000"/>
                        </a:prstClr>
                      </a:gs>
                      <a:gs pos="24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effectLst/>
                  <a:uLnTx/>
                  <a:uFillTx/>
                  <a:cs typeface="Arial" pitchFamily="34" charset="0"/>
                </a:rPr>
                <a:t>개인보안</a:t>
              </a:r>
              <a:b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1667">
                        <a:prstClr val="black">
                          <a:lumMod val="75000"/>
                          <a:lumOff val="25000"/>
                        </a:prstClr>
                      </a:gs>
                      <a:gs pos="24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effectLst/>
                  <a:uLnTx/>
                  <a:uFillTx/>
                  <a:cs typeface="Arial" pitchFamily="34" charset="0"/>
                </a:rPr>
              </a:b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1667">
                        <a:prstClr val="black">
                          <a:lumMod val="75000"/>
                          <a:lumOff val="25000"/>
                        </a:prstClr>
                      </a:gs>
                      <a:gs pos="24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effectLst/>
                  <a:uLnTx/>
                  <a:uFillTx/>
                  <a:cs typeface="Arial" pitchFamily="34" charset="0"/>
                </a:rPr>
                <a:t>점검 수행</a:t>
              </a:r>
            </a:p>
          </p:txBody>
        </p:sp>
        <p:grpSp>
          <p:nvGrpSpPr>
            <p:cNvPr id="31" name="그룹 30"/>
            <p:cNvGrpSpPr/>
            <p:nvPr/>
          </p:nvGrpSpPr>
          <p:grpSpPr>
            <a:xfrm>
              <a:off x="5586685" y="2729524"/>
              <a:ext cx="3616046" cy="414677"/>
              <a:chOff x="5825085" y="2666999"/>
              <a:chExt cx="2890290" cy="457201"/>
            </a:xfrm>
          </p:grpSpPr>
          <p:sp>
            <p:nvSpPr>
              <p:cNvPr id="38" name="직사각형 37"/>
              <p:cNvSpPr>
                <a:spLocks noChangeArrowheads="1"/>
              </p:cNvSpPr>
              <p:nvPr/>
            </p:nvSpPr>
            <p:spPr bwMode="auto">
              <a:xfrm>
                <a:off x="5825085" y="2666999"/>
                <a:ext cx="890040" cy="45720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6350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algn="ctr" defTabSz="957051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ct val="140000"/>
                  <a:buFontTx/>
                  <a:buNone/>
                  <a:tabLst>
                    <a:tab pos="5182931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2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cs typeface="Arial" pitchFamily="34" charset="0"/>
                  </a:rPr>
                  <a:t>수행 </a:t>
                </a: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2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cs typeface="Arial" pitchFamily="34" charset="0"/>
                  </a:rPr>
                  <a:t>PC </a:t>
                </a:r>
                <a:b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2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cs typeface="Arial" pitchFamily="34" charset="0"/>
                  </a:rPr>
                </a:b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2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cs typeface="Arial" pitchFamily="34" charset="0"/>
                  </a:rPr>
                  <a:t>데이터 삭제</a:t>
                </a:r>
                <a:endParaRPr lang="ko-KR" altLang="en-US" sz="1100" kern="0" dirty="0">
                  <a:gradFill>
                    <a:gsLst>
                      <a:gs pos="11667">
                        <a:prstClr val="black">
                          <a:lumMod val="75000"/>
                          <a:lumOff val="25000"/>
                        </a:prstClr>
                      </a:gs>
                      <a:gs pos="24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16200000" scaled="1"/>
                  </a:gradFill>
                  <a:cs typeface="Arial" pitchFamily="34" charset="0"/>
                </a:endParaRPr>
              </a:p>
            </p:txBody>
          </p:sp>
          <p:sp>
            <p:nvSpPr>
              <p:cNvPr id="39" name="직사각형 38"/>
              <p:cNvSpPr>
                <a:spLocks noChangeArrowheads="1"/>
              </p:cNvSpPr>
              <p:nvPr/>
            </p:nvSpPr>
            <p:spPr bwMode="auto">
              <a:xfrm>
                <a:off x="6825210" y="2666999"/>
                <a:ext cx="890040" cy="45720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6350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algn="ctr" defTabSz="957051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ct val="140000"/>
                  <a:buFontTx/>
                  <a:buNone/>
                  <a:tabLst>
                    <a:tab pos="5182931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2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cs typeface="Arial" pitchFamily="34" charset="0"/>
                  </a:rPr>
                  <a:t>프로젝트시설</a:t>
                </a:r>
              </a:p>
              <a:p>
                <a:pPr marL="0" marR="0" lvl="0" indent="0" algn="ctr" defTabSz="957051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ct val="140000"/>
                  <a:buFontTx/>
                  <a:buNone/>
                  <a:tabLst>
                    <a:tab pos="5182931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2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cs typeface="Arial" pitchFamily="34" charset="0"/>
                  </a:rPr>
                  <a:t>출입권한 삭제</a:t>
                </a:r>
              </a:p>
            </p:txBody>
          </p:sp>
          <p:sp>
            <p:nvSpPr>
              <p:cNvPr id="40" name="직사각형 39"/>
              <p:cNvSpPr>
                <a:spLocks noChangeArrowheads="1"/>
              </p:cNvSpPr>
              <p:nvPr/>
            </p:nvSpPr>
            <p:spPr bwMode="auto">
              <a:xfrm>
                <a:off x="7825335" y="2666999"/>
                <a:ext cx="890040" cy="45720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6350">
                <a:solidFill>
                  <a:schemeClr val="accent3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algn="ctr" defTabSz="957051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ct val="140000"/>
                  <a:buFontTx/>
                  <a:buNone/>
                  <a:tabLst>
                    <a:tab pos="5182931" algn="l"/>
                  </a:tabLst>
                  <a:defRPr/>
                </a:pP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2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cs typeface="Arial" pitchFamily="34" charset="0"/>
                  </a:rPr>
                  <a:t>시스템 </a:t>
                </a:r>
                <a:b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2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cs typeface="Arial" pitchFamily="34" charset="0"/>
                  </a:rPr>
                </a:b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24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cs typeface="Arial" pitchFamily="34" charset="0"/>
                  </a:rPr>
                  <a:t>계정 삭제</a:t>
                </a:r>
              </a:p>
            </p:txBody>
          </p:sp>
        </p:grpSp>
        <p:cxnSp>
          <p:nvCxnSpPr>
            <p:cNvPr id="32" name="직선 화살표 연결선 31"/>
            <p:cNvCxnSpPr/>
            <p:nvPr/>
          </p:nvCxnSpPr>
          <p:spPr>
            <a:xfrm>
              <a:off x="6267023" y="2435792"/>
              <a:ext cx="107712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33" name="직선 화살표 연결선 32"/>
            <p:cNvCxnSpPr/>
            <p:nvPr/>
          </p:nvCxnSpPr>
          <p:spPr>
            <a:xfrm>
              <a:off x="7236272" y="2435792"/>
              <a:ext cx="107712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34" name="직선 화살표 연결선 33"/>
            <p:cNvCxnSpPr/>
            <p:nvPr/>
          </p:nvCxnSpPr>
          <p:spPr>
            <a:xfrm>
              <a:off x="8224161" y="2435792"/>
              <a:ext cx="107712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35" name="직선 화살표 연결선 34"/>
            <p:cNvCxnSpPr/>
            <p:nvPr/>
          </p:nvCxnSpPr>
          <p:spPr>
            <a:xfrm>
              <a:off x="6708160" y="2936859"/>
              <a:ext cx="107712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36" name="직선 화살표 연결선 35"/>
            <p:cNvCxnSpPr/>
            <p:nvPr/>
          </p:nvCxnSpPr>
          <p:spPr>
            <a:xfrm>
              <a:off x="7947681" y="2936859"/>
              <a:ext cx="107712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37" name="직선 화살표 연결선 36"/>
            <p:cNvCxnSpPr/>
            <p:nvPr/>
          </p:nvCxnSpPr>
          <p:spPr>
            <a:xfrm>
              <a:off x="5416121" y="2936859"/>
              <a:ext cx="151927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41" name="그룹 40"/>
          <p:cNvGrpSpPr/>
          <p:nvPr/>
        </p:nvGrpSpPr>
        <p:grpSpPr>
          <a:xfrm>
            <a:off x="5821847" y="5370898"/>
            <a:ext cx="3829128" cy="281993"/>
            <a:chOff x="5373602" y="4741480"/>
            <a:chExt cx="3829128" cy="281993"/>
          </a:xfrm>
        </p:grpSpPr>
        <p:sp>
          <p:nvSpPr>
            <p:cNvPr id="42" name="모서리가 둥근 직사각형 41"/>
            <p:cNvSpPr/>
            <p:nvPr/>
          </p:nvSpPr>
          <p:spPr bwMode="auto">
            <a:xfrm>
              <a:off x="5373602" y="4741480"/>
              <a:ext cx="3829128" cy="281993"/>
            </a:xfrm>
            <a:prstGeom prst="roundRect">
              <a:avLst>
                <a:gd name="adj" fmla="val 50000"/>
              </a:avLst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1" indent="-155524" algn="ctr" defTabSz="9953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ysClr val="windowText" lastClr="000000"/>
                </a:buClr>
                <a:buSzTx/>
                <a:buFontTx/>
                <a:buNone/>
                <a:tabLst>
                  <a:tab pos="6148418" algn="l"/>
                </a:tabLst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96667">
                        <a:schemeClr val="tx1">
                          <a:lumMod val="85000"/>
                          <a:lumOff val="15000"/>
                        </a:schemeClr>
                      </a:gs>
                      <a:gs pos="92917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6200000" scaled="1"/>
                  </a:gradFill>
                  <a:effectLst/>
                  <a:uLnTx/>
                  <a:uFillTx/>
                </a:rPr>
                <a:t>반복적 이행을 통한 보안인식 내재화</a:t>
              </a:r>
            </a:p>
          </p:txBody>
        </p:sp>
        <p:grpSp>
          <p:nvGrpSpPr>
            <p:cNvPr id="43" name="그룹 42"/>
            <p:cNvGrpSpPr/>
            <p:nvPr/>
          </p:nvGrpSpPr>
          <p:grpSpPr>
            <a:xfrm>
              <a:off x="5791037" y="4748776"/>
              <a:ext cx="2995544" cy="183113"/>
              <a:chOff x="5791037" y="1900801"/>
              <a:chExt cx="2995544" cy="183113"/>
            </a:xfrm>
          </p:grpSpPr>
          <p:pic>
            <p:nvPicPr>
              <p:cNvPr id="44" name="Picture 2"/>
              <p:cNvPicPr>
                <a:picLocks noChangeAspect="1" noChangeArrowheads="1"/>
              </p:cNvPicPr>
              <p:nvPr/>
            </p:nvPicPr>
            <p:blipFill rotWithShape="1">
              <a:blip r:embed="rId2" cstate="screen">
                <a:duotone>
                  <a:srgbClr val="1F94A6">
                    <a:shade val="45000"/>
                    <a:satMod val="135000"/>
                  </a:srgb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5791037" y="1900801"/>
                <a:ext cx="203810" cy="1674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5" name="Picture 2"/>
              <p:cNvPicPr>
                <a:picLocks noChangeAspect="1" noChangeArrowheads="1"/>
              </p:cNvPicPr>
              <p:nvPr/>
            </p:nvPicPr>
            <p:blipFill rotWithShape="1">
              <a:blip r:embed="rId3" cstate="screen">
                <a:duotone>
                  <a:srgbClr val="1F94A6">
                    <a:shade val="45000"/>
                    <a:satMod val="135000"/>
                  </a:srgb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8582771" y="1916430"/>
                <a:ext cx="203810" cy="1674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grpSp>
        <p:nvGrpSpPr>
          <p:cNvPr id="46" name="그룹 45"/>
          <p:cNvGrpSpPr/>
          <p:nvPr/>
        </p:nvGrpSpPr>
        <p:grpSpPr>
          <a:xfrm>
            <a:off x="5629220" y="2691820"/>
            <a:ext cx="4002424" cy="241978"/>
            <a:chOff x="5203835" y="2043111"/>
            <a:chExt cx="2635846" cy="233058"/>
          </a:xfrm>
        </p:grpSpPr>
        <p:sp>
          <p:nvSpPr>
            <p:cNvPr id="47" name="직사각형 91"/>
            <p:cNvSpPr/>
            <p:nvPr/>
          </p:nvSpPr>
          <p:spPr>
            <a:xfrm>
              <a:off x="5385652" y="2048360"/>
              <a:ext cx="2454029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/>
            <a:p>
              <a:pPr marL="0" lvl="1" defTabSz="914127" fontAlgn="base" latinLnBrk="0">
                <a:spcAft>
                  <a:spcPts val="150"/>
                </a:spcAft>
                <a:buClr>
                  <a:srgbClr val="8B8F9E"/>
                </a:buClr>
                <a:buSzPct val="100000"/>
                <a:tabLst>
                  <a:tab pos="1079500" algn="l"/>
                </a:tabLst>
                <a:defRPr/>
              </a:pPr>
              <a:r>
                <a:rPr lang="ko-KR" altLang="en-US" sz="135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인력 투입 및 철수 시 보안관리</a:t>
              </a:r>
            </a:p>
          </p:txBody>
        </p:sp>
        <p:pic>
          <p:nvPicPr>
            <p:cNvPr id="48" name="Picture 2" descr="D:\19.전지수\1. 제안서\1. 표준제안\★2017_표준제안설명회\작업\버트3.png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3835" y="2043111"/>
              <a:ext cx="160439" cy="2323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" name="그룹 48"/>
          <p:cNvGrpSpPr/>
          <p:nvPr/>
        </p:nvGrpSpPr>
        <p:grpSpPr>
          <a:xfrm>
            <a:off x="5629220" y="4141942"/>
            <a:ext cx="4002424" cy="241978"/>
            <a:chOff x="5203835" y="2043111"/>
            <a:chExt cx="2635846" cy="233058"/>
          </a:xfrm>
        </p:grpSpPr>
        <p:sp>
          <p:nvSpPr>
            <p:cNvPr id="50" name="직사각형 91"/>
            <p:cNvSpPr/>
            <p:nvPr/>
          </p:nvSpPr>
          <p:spPr>
            <a:xfrm>
              <a:off x="5385652" y="2048360"/>
              <a:ext cx="2454029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/>
            <a:p>
              <a:pPr marL="0" lvl="1" defTabSz="914127" fontAlgn="base" latinLnBrk="0">
                <a:spcAft>
                  <a:spcPts val="150"/>
                </a:spcAft>
                <a:buClr>
                  <a:srgbClr val="8B8F9E"/>
                </a:buClr>
                <a:buSzPct val="100000"/>
                <a:tabLst>
                  <a:tab pos="1079500" algn="l"/>
                </a:tabLst>
                <a:defRPr/>
              </a:pPr>
              <a:r>
                <a:rPr lang="ko-KR" altLang="en-US" sz="135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보안관리 </a:t>
              </a:r>
              <a:r>
                <a:rPr lang="en-US" altLang="ko-KR" sz="135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5</a:t>
              </a:r>
              <a:r>
                <a:rPr lang="ko-KR" altLang="en-US" sz="1350" kern="0" dirty="0">
                  <a:ln>
                    <a:solidFill>
                      <a:srgbClr val="87A884">
                        <a:lumMod val="75000"/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부제 캠페인 활동</a:t>
              </a:r>
            </a:p>
          </p:txBody>
        </p:sp>
        <p:pic>
          <p:nvPicPr>
            <p:cNvPr id="51" name="Picture 2" descr="D:\19.전지수\1. 제안서\1. 표준제안\★2017_표준제안설명회\작업\버트3.png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3835" y="2043111"/>
              <a:ext cx="160439" cy="2323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2" name="양쪽 모서리가 둥근 사각형 51"/>
          <p:cNvSpPr/>
          <p:nvPr/>
        </p:nvSpPr>
        <p:spPr>
          <a:xfrm>
            <a:off x="5491830" y="5862918"/>
            <a:ext cx="4452028" cy="1085994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 w="34925" cap="flat" cmpd="sng" algn="ctr">
            <a:noFill/>
            <a:prstDash val="solid"/>
          </a:ln>
          <a:effectLst/>
        </p:spPr>
        <p:txBody>
          <a:bodyPr lIns="83904" tIns="41953" rIns="83904" bIns="41953" rtlCol="0" anchor="ctr"/>
          <a:lstStyle/>
          <a:p>
            <a:pPr marL="182530" marR="0" lvl="0" indent="0" algn="ctr" defTabSz="91353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500" b="0" i="0" u="none" strike="noStrike" kern="0" cap="none" spc="0" normalizeH="0" baseline="0" noProof="0" dirty="0">
              <a:ln>
                <a:noFill/>
              </a:ln>
              <a:gradFill>
                <a:gsLst>
                  <a:gs pos="24000">
                    <a:srgbClr val="C00000"/>
                  </a:gs>
                  <a:gs pos="58000">
                    <a:srgbClr val="C00000"/>
                  </a:gs>
                </a:gsLst>
                <a:lin ang="16200000" scaled="1"/>
              </a:gradFill>
              <a:effectLst/>
              <a:uLnTx/>
              <a:uFillTx/>
              <a:latin typeface="Rix고딕 EB" panose="02020603020101020101" pitchFamily="18" charset="-127"/>
              <a:ea typeface="Rix고딕 EB" panose="02020603020101020101" pitchFamily="18" charset="-127"/>
              <a:cs typeface="+mn-cs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 flipH="1">
            <a:off x="5701867" y="5704945"/>
            <a:ext cx="1048555" cy="2904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ysClr val="window" lastClr="FFFFFF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5650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0" lang="ko-KR" altLang="en-US" sz="1400" b="0" i="0" u="none" strike="noStrike" kern="0" cap="none" spc="-6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833">
                      <a:prstClr val="white"/>
                    </a:gs>
                    <a:gs pos="7917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수행방안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851185" y="5397963"/>
            <a:ext cx="4210865" cy="1425144"/>
            <a:chOff x="851185" y="5089799"/>
            <a:chExt cx="4210865" cy="1733308"/>
          </a:xfrm>
        </p:grpSpPr>
        <p:sp>
          <p:nvSpPr>
            <p:cNvPr id="71" name="양쪽 모서리가 둥근 사각형 70"/>
            <p:cNvSpPr/>
            <p:nvPr/>
          </p:nvSpPr>
          <p:spPr>
            <a:xfrm rot="10800000" flipH="1" flipV="1">
              <a:off x="2993648" y="5089799"/>
              <a:ext cx="2068402" cy="1733308"/>
            </a:xfrm>
            <a:prstGeom prst="round2SameRect">
              <a:avLst>
                <a:gd name="adj1" fmla="val 1382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91319" tIns="45662" rIns="91319" bIns="45662" rtlCol="0" anchor="ctr"/>
            <a:lstStyle/>
            <a:p>
              <a:pPr marL="0" marR="0" lvl="0" indent="0" algn="ctr" defTabSz="95632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  <a:cs typeface="+mn-cs"/>
              </a:endParaRPr>
            </a:p>
          </p:txBody>
        </p:sp>
        <p:sp>
          <p:nvSpPr>
            <p:cNvPr id="72" name="양쪽 모서리가 둥근 사각형 71"/>
            <p:cNvSpPr/>
            <p:nvPr/>
          </p:nvSpPr>
          <p:spPr>
            <a:xfrm rot="10800000" flipH="1" flipV="1">
              <a:off x="851185" y="5089799"/>
              <a:ext cx="2068402" cy="1733308"/>
            </a:xfrm>
            <a:prstGeom prst="round2SameRect">
              <a:avLst>
                <a:gd name="adj1" fmla="val 1382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lIns="91319" tIns="45662" rIns="91319" bIns="45662" rtlCol="0" anchor="ctr"/>
            <a:lstStyle/>
            <a:p>
              <a:pPr marL="0" marR="0" lvl="0" indent="0" algn="ctr" defTabSz="95632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  <a:cs typeface="+mn-cs"/>
              </a:endParaRPr>
            </a:p>
          </p:txBody>
        </p:sp>
      </p:grpSp>
      <p:sp>
        <p:nvSpPr>
          <p:cNvPr id="74" name="평행 사변형 235"/>
          <p:cNvSpPr/>
          <p:nvPr/>
        </p:nvSpPr>
        <p:spPr>
          <a:xfrm>
            <a:off x="3375660" y="3665488"/>
            <a:ext cx="1686390" cy="196689"/>
          </a:xfrm>
          <a:prstGeom prst="rect">
            <a:avLst/>
          </a:prstGeom>
          <a:solidFill>
            <a:srgbClr val="0E69AA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effectLst/>
                <a:uLnTx/>
                <a:uFillTx/>
                <a:latin typeface="Rix고딕 EB"/>
                <a:ea typeface="Rix고딕 EB"/>
              </a:rPr>
              <a:t>기술적 보안</a:t>
            </a:r>
          </a:p>
        </p:txBody>
      </p:sp>
      <p:sp>
        <p:nvSpPr>
          <p:cNvPr id="75" name="평행 사변형 235"/>
          <p:cNvSpPr/>
          <p:nvPr/>
        </p:nvSpPr>
        <p:spPr>
          <a:xfrm flipH="1">
            <a:off x="851185" y="3665488"/>
            <a:ext cx="1693895" cy="196689"/>
          </a:xfrm>
          <a:prstGeom prst="rect">
            <a:avLst/>
          </a:prstGeom>
          <a:solidFill>
            <a:srgbClr val="0E69AA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effectLst/>
                <a:uLnTx/>
                <a:uFillTx/>
                <a:latin typeface="Rix고딕 EB"/>
                <a:ea typeface="Rix고딕 EB"/>
              </a:rPr>
              <a:t>관리적 보안</a:t>
            </a:r>
          </a:p>
        </p:txBody>
      </p:sp>
      <p:sp>
        <p:nvSpPr>
          <p:cNvPr id="77" name="평행 사변형 235"/>
          <p:cNvSpPr/>
          <p:nvPr/>
        </p:nvSpPr>
        <p:spPr>
          <a:xfrm>
            <a:off x="3375660" y="3916806"/>
            <a:ext cx="1686390" cy="196689"/>
          </a:xfrm>
          <a:prstGeom prst="rect">
            <a:avLst/>
          </a:prstGeom>
          <a:solidFill>
            <a:srgbClr val="0E69AA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effectLst/>
                <a:uLnTx/>
                <a:uFillTx/>
                <a:latin typeface="Rix고딕 EB"/>
                <a:ea typeface="Rix고딕 EB"/>
              </a:rPr>
              <a:t>정보 보안</a:t>
            </a:r>
          </a:p>
        </p:txBody>
      </p:sp>
      <p:sp>
        <p:nvSpPr>
          <p:cNvPr id="78" name="평행 사변형 235"/>
          <p:cNvSpPr/>
          <p:nvPr/>
        </p:nvSpPr>
        <p:spPr>
          <a:xfrm flipH="1">
            <a:off x="851185" y="3916806"/>
            <a:ext cx="1693895" cy="196689"/>
          </a:xfrm>
          <a:prstGeom prst="rect">
            <a:avLst/>
          </a:prstGeom>
          <a:solidFill>
            <a:srgbClr val="0E69AA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48333">
                      <a:prstClr val="white"/>
                    </a:gs>
                    <a:gs pos="62000">
                      <a:prstClr val="white"/>
                    </a:gs>
                  </a:gsLst>
                  <a:path path="rect">
                    <a:fillToRect l="50000" t="50000" r="50000" b="50000"/>
                  </a:path>
                </a:gradFill>
                <a:effectLst/>
                <a:uLnTx/>
                <a:uFillTx/>
                <a:latin typeface="Rix고딕 EB"/>
                <a:ea typeface="Rix고딕 EB"/>
              </a:rPr>
              <a:t>물리적 보안</a:t>
            </a:r>
          </a:p>
        </p:txBody>
      </p:sp>
      <p:sp>
        <p:nvSpPr>
          <p:cNvPr id="79" name="TextBox 19"/>
          <p:cNvSpPr txBox="1"/>
          <p:nvPr/>
        </p:nvSpPr>
        <p:spPr bwMode="auto">
          <a:xfrm>
            <a:off x="3492661" y="4197357"/>
            <a:ext cx="1491880" cy="679673"/>
          </a:xfrm>
          <a:prstGeom prst="rect">
            <a:avLst/>
          </a:prstGeom>
          <a:noFill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B w="0" h="0"/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indent="-92075">
              <a:lnSpc>
                <a:spcPts val="1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900" spc="-10" dirty="0">
                <a:solidFill>
                  <a:schemeClr val="tx1">
                    <a:lumMod val="65000"/>
                    <a:lumOff val="35000"/>
                  </a:schemeClr>
                </a:solidFill>
                <a:latin typeface="Rix고딕 B"/>
                <a:ea typeface="Rix고딕 B"/>
                <a:sym typeface="Samsung InterFace" charset="0"/>
              </a:rPr>
              <a:t>사용자 유형별 맞춤 권한 관리</a:t>
            </a:r>
          </a:p>
          <a:p>
            <a:pPr marL="92075" indent="-92075">
              <a:lnSpc>
                <a:spcPts val="1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900" spc="-10" dirty="0">
                <a:solidFill>
                  <a:schemeClr val="tx1">
                    <a:lumMod val="65000"/>
                    <a:lumOff val="35000"/>
                  </a:schemeClr>
                </a:solidFill>
                <a:latin typeface="Rix고딕 B"/>
                <a:ea typeface="Rix고딕 B"/>
                <a:sym typeface="Samsung InterFace" charset="0"/>
              </a:rPr>
              <a:t>자료의 주기적인 백업</a:t>
            </a:r>
            <a:endParaRPr lang="en-US" altLang="ko-KR" sz="900" spc="-10" dirty="0">
              <a:solidFill>
                <a:schemeClr val="tx1">
                  <a:lumMod val="65000"/>
                  <a:lumOff val="35000"/>
                </a:schemeClr>
              </a:solidFill>
              <a:latin typeface="Rix고딕 B"/>
              <a:ea typeface="Rix고딕 B"/>
              <a:sym typeface="Samsung InterFace" charset="0"/>
            </a:endParaRPr>
          </a:p>
          <a:p>
            <a:pPr marL="92075" indent="-92075">
              <a:lnSpc>
                <a:spcPts val="1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900" spc="-10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보안교육</a:t>
            </a:r>
            <a:r>
              <a:rPr lang="en-US" altLang="ko-KR" sz="900" spc="-10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/</a:t>
            </a:r>
            <a:r>
              <a:rPr lang="ko-KR" altLang="en-US" sz="900" spc="-10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점검활동</a:t>
            </a:r>
            <a:r>
              <a:rPr lang="en-US" altLang="ko-KR" sz="900" spc="-10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/</a:t>
            </a:r>
            <a:r>
              <a:rPr lang="ko-KR" altLang="en-US" sz="900" spc="-10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보안서약서 작성</a:t>
            </a:r>
          </a:p>
          <a:p>
            <a:pPr marL="92075" indent="-92075">
              <a:lnSpc>
                <a:spcPts val="1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900" spc="-10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관련문서 폐기 별도 관리</a:t>
            </a:r>
          </a:p>
        </p:txBody>
      </p:sp>
      <p:sp>
        <p:nvSpPr>
          <p:cNvPr id="80" name="TextBox 19"/>
          <p:cNvSpPr txBox="1"/>
          <p:nvPr/>
        </p:nvSpPr>
        <p:spPr bwMode="auto">
          <a:xfrm>
            <a:off x="965190" y="2704373"/>
            <a:ext cx="1757678" cy="807913"/>
          </a:xfrm>
          <a:prstGeom prst="rect">
            <a:avLst/>
          </a:prstGeom>
          <a:noFill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B w="0" h="0"/>
            </a:sp3d>
          </a:bodyPr>
          <a:lstStyle>
            <a:defPPr>
              <a:defRPr lang="ko-KR"/>
            </a:defPPr>
            <a:lvl1pPr marL="92075" indent="-92075" defTabSz="914400">
              <a:lnSpc>
                <a:spcPts val="1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900" spc="-10">
                <a:gradFill>
                  <a:gsLst>
                    <a:gs pos="49167">
                      <a:prstClr val="black">
                        <a:lumMod val="50000"/>
                        <a:lumOff val="50000"/>
                      </a:prstClr>
                    </a:gs>
                    <a:gs pos="41667">
                      <a:prstClr val="black">
                        <a:lumMod val="50000"/>
                        <a:lumOff val="50000"/>
                      </a:prstClr>
                    </a:gs>
                  </a:gsLst>
                  <a:lin ang="16200000" scaled="1"/>
                </a:gradFill>
                <a:latin typeface="Rix고딕 B"/>
                <a:ea typeface="Rix고딕 B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보안체계에 따른 보안관리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sym typeface="Samsung InterFace" charset="0"/>
            </a:endParaRP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인력변동에 대한 주기적인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/>
            </a:r>
            <a:b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</a:b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관리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sym typeface="Samsung InterFace" charset="0"/>
            </a:endParaRP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보안교육 매월 수행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sym typeface="Samsung InterFace" charset="0"/>
            </a:endParaRP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보안체크리스트를 활용한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/>
            </a:r>
            <a:b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</a:b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매주 점검 실시</a:t>
            </a:r>
          </a:p>
        </p:txBody>
      </p:sp>
      <p:sp>
        <p:nvSpPr>
          <p:cNvPr id="81" name="TextBox 19"/>
          <p:cNvSpPr txBox="1"/>
          <p:nvPr/>
        </p:nvSpPr>
        <p:spPr bwMode="auto">
          <a:xfrm>
            <a:off x="965191" y="4210181"/>
            <a:ext cx="1589790" cy="666849"/>
          </a:xfrm>
          <a:prstGeom prst="rect">
            <a:avLst/>
          </a:prstGeom>
          <a:noFill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B w="0" h="0"/>
            </a:sp3d>
          </a:bodyPr>
          <a:lstStyle>
            <a:defPPr>
              <a:defRPr lang="ko-KR"/>
            </a:defPPr>
            <a:lvl1pPr marL="92075" indent="-92075" defTabSz="914400">
              <a:lnSpc>
                <a:spcPts val="1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900" spc="-10">
                <a:gradFill>
                  <a:gsLst>
                    <a:gs pos="49167">
                      <a:prstClr val="black">
                        <a:lumMod val="50000"/>
                        <a:lumOff val="50000"/>
                      </a:prstClr>
                    </a:gs>
                    <a:gs pos="41667">
                      <a:prstClr val="black">
                        <a:lumMod val="50000"/>
                        <a:lumOff val="50000"/>
                      </a:prstClr>
                    </a:gs>
                  </a:gsLst>
                  <a:lin ang="16200000" scaled="1"/>
                </a:gradFill>
                <a:latin typeface="Rix고딕 B"/>
                <a:ea typeface="Rix고딕 B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출입통제 시스템 준수</a:t>
            </a: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보조저장장치 휴대 및 사용 제한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(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보안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USB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 관리대장 기입 후 보안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USB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사용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– USB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제공시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)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  <a:sym typeface="Samsung InterFace" charset="0"/>
            </a:endParaRP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주요 보안자료 지정장소에 보관</a:t>
            </a:r>
          </a:p>
        </p:txBody>
      </p:sp>
      <p:sp>
        <p:nvSpPr>
          <p:cNvPr id="82" name="TextBox 19"/>
          <p:cNvSpPr txBox="1"/>
          <p:nvPr/>
        </p:nvSpPr>
        <p:spPr bwMode="auto">
          <a:xfrm>
            <a:off x="3402430" y="2672175"/>
            <a:ext cx="1714501" cy="807913"/>
          </a:xfrm>
          <a:prstGeom prst="rect">
            <a:avLst/>
          </a:prstGeom>
          <a:noFill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B w="0" h="0"/>
            </a:sp3d>
          </a:bodyPr>
          <a:lstStyle>
            <a:defPPr>
              <a:defRPr lang="ko-KR"/>
            </a:defPPr>
            <a:lvl1pPr marL="92075" indent="-92075" defTabSz="914400">
              <a:lnSpc>
                <a:spcPts val="1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900" spc="-10">
                <a:gradFill>
                  <a:gsLst>
                    <a:gs pos="49167">
                      <a:prstClr val="black">
                        <a:lumMod val="50000"/>
                        <a:lumOff val="50000"/>
                      </a:prstClr>
                    </a:gs>
                    <a:gs pos="41667">
                      <a:prstClr val="black">
                        <a:lumMod val="50000"/>
                        <a:lumOff val="50000"/>
                      </a:prstClr>
                    </a:gs>
                  </a:gsLst>
                  <a:lin ang="16200000" scaled="1"/>
                </a:gradFill>
                <a:latin typeface="Rix고딕 B"/>
                <a:ea typeface="Rix고딕 B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프로젝트 전체인력 백신설치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/>
            </a:r>
            <a:b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</a:b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의무화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sym typeface="Samsung InterFace" charset="0"/>
            </a:endParaRPr>
          </a:p>
          <a:p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VPN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클라이언트 설치 필수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(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대상자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)</a:t>
            </a:r>
          </a:p>
          <a:p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DB Safer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설치 필수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(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대상자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)</a:t>
            </a: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보안프로그램 설치 확인 대장 기입 및 보안담당자 설치확인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(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대상자별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)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  <a:sym typeface="Samsung InterFace" charset="0"/>
            </a:endParaRPr>
          </a:p>
        </p:txBody>
      </p:sp>
      <p:sp>
        <p:nvSpPr>
          <p:cNvPr id="97" name="TextBox 19"/>
          <p:cNvSpPr txBox="1"/>
          <p:nvPr/>
        </p:nvSpPr>
        <p:spPr bwMode="auto">
          <a:xfrm>
            <a:off x="955254" y="5499346"/>
            <a:ext cx="1978015" cy="1246495"/>
          </a:xfrm>
          <a:prstGeom prst="rect">
            <a:avLst/>
          </a:prstGeom>
          <a:noFill/>
        </p:spPr>
        <p:txBody>
          <a:bodyPr wrap="square" lIns="0" tIns="0" bIns="0">
            <a:spAutoFit/>
            <a:scene3d>
              <a:camera prst="orthographicFront"/>
              <a:lightRig rig="threePt" dir="t"/>
            </a:scene3d>
            <a:sp3d>
              <a:bevelB w="0" h="0"/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indent="-92075" latinLnBrk="0">
              <a:spcBef>
                <a:spcPts val="10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950" spc="-10" dirty="0">
                <a:solidFill>
                  <a:schemeClr val="tx1">
                    <a:lumMod val="65000"/>
                    <a:lumOff val="35000"/>
                  </a:schemeClr>
                </a:solidFill>
                <a:latin typeface="Rix고딕 B"/>
                <a:ea typeface="Rix고딕 B"/>
                <a:sym typeface="Samsung InterFace" charset="0"/>
              </a:rPr>
              <a:t>개인정보처리 위탁계약서</a:t>
            </a:r>
            <a:endParaRPr lang="en-US" altLang="ko-KR" sz="950" spc="-10" dirty="0">
              <a:solidFill>
                <a:schemeClr val="tx1">
                  <a:lumMod val="65000"/>
                  <a:lumOff val="35000"/>
                </a:schemeClr>
              </a:solidFill>
              <a:latin typeface="Rix고딕 B"/>
              <a:ea typeface="Rix고딕 B"/>
              <a:sym typeface="Samsung InterFace" charset="0"/>
            </a:endParaRPr>
          </a:p>
          <a:p>
            <a:pPr marL="92075" indent="-92075" latinLnBrk="0">
              <a:spcBef>
                <a:spcPts val="10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950" spc="-10" dirty="0">
                <a:solidFill>
                  <a:schemeClr val="tx1">
                    <a:lumMod val="65000"/>
                    <a:lumOff val="35000"/>
                  </a:schemeClr>
                </a:solidFill>
                <a:latin typeface="Rix고딕 B"/>
                <a:ea typeface="Rix고딕 B"/>
                <a:sym typeface="Samsung InterFace" charset="0"/>
              </a:rPr>
              <a:t>비밀유지 계약서</a:t>
            </a:r>
            <a:endParaRPr lang="en-US" altLang="ko-KR" sz="950" spc="-10" dirty="0">
              <a:solidFill>
                <a:schemeClr val="tx1">
                  <a:lumMod val="65000"/>
                  <a:lumOff val="35000"/>
                </a:schemeClr>
              </a:solidFill>
              <a:latin typeface="Rix고딕 B"/>
              <a:ea typeface="Rix고딕 B"/>
              <a:sym typeface="Samsung InterFace" charset="0"/>
            </a:endParaRP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정보통신기반보호법</a:t>
            </a:r>
          </a:p>
          <a:p>
            <a:pPr marL="92075" lvl="0" indent="-92075" latinLnBrk="0">
              <a:spcBef>
                <a:spcPts val="10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전자금융거래법</a:t>
            </a:r>
            <a:r>
              <a:rPr lang="en-US" altLang="ko-KR" sz="950" spc="-10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 · </a:t>
            </a: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시행령</a:t>
            </a:r>
          </a:p>
          <a:p>
            <a:pPr marL="92075" lvl="0" indent="-92075" latinLnBrk="0">
              <a:spcBef>
                <a:spcPts val="10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개인정보 보호법</a:t>
            </a:r>
            <a:r>
              <a:rPr lang="en-US" altLang="ko-KR" sz="950" spc="-10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 · </a:t>
            </a: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시행령</a:t>
            </a:r>
          </a:p>
          <a:p>
            <a:pPr marL="92075" lvl="0" indent="-92075" latinLnBrk="0">
              <a:spcBef>
                <a:spcPts val="10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신용정보의 이용 및 보호에 관한</a:t>
            </a:r>
            <a:r>
              <a:rPr kumimoji="0" lang="en-US" altLang="ko-KR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/>
            </a:r>
            <a:br>
              <a:rPr kumimoji="0" lang="en-US" altLang="ko-KR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</a:b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법률</a:t>
            </a:r>
            <a:r>
              <a:rPr lang="en-US" altLang="ko-KR" sz="950" spc="-10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 · </a:t>
            </a: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시행령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b="0" i="0" u="none" strike="noStrike" kern="1200" cap="none" spc="-1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정보통신망법</a:t>
            </a:r>
            <a:endParaRPr lang="en-US" altLang="ko-KR" sz="950" spc="-10" dirty="0">
              <a:solidFill>
                <a:schemeClr val="tx1">
                  <a:lumMod val="65000"/>
                  <a:lumOff val="35000"/>
                </a:schemeClr>
              </a:solidFill>
              <a:latin typeface="Rix고딕 B"/>
              <a:ea typeface="Rix고딕 B"/>
              <a:sym typeface="Samsung InterFace" charset="0"/>
            </a:endParaRPr>
          </a:p>
        </p:txBody>
      </p:sp>
      <p:sp>
        <p:nvSpPr>
          <p:cNvPr id="98" name="TextBox 19"/>
          <p:cNvSpPr txBox="1"/>
          <p:nvPr/>
        </p:nvSpPr>
        <p:spPr bwMode="auto">
          <a:xfrm>
            <a:off x="3103085" y="5499346"/>
            <a:ext cx="1956695" cy="1233671"/>
          </a:xfrm>
          <a:prstGeom prst="rect">
            <a:avLst/>
          </a:prstGeom>
          <a:noFill/>
        </p:spPr>
        <p:txBody>
          <a:bodyPr wrap="square" lIns="0" tIns="0" bIns="0">
            <a:spAutoFit/>
            <a:scene3d>
              <a:camera prst="orthographicFront"/>
              <a:lightRig rig="threePt" dir="t"/>
            </a:scene3d>
            <a:sp3d>
              <a:bevelB w="0" h="0"/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체계적인 개인정보보호 관리체계 구축</a:t>
            </a:r>
          </a:p>
          <a:p>
            <a:pPr marL="92075" lvl="0" indent="-92075" latinLnBrk="0">
              <a:spcBef>
                <a:spcPts val="10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개인정보의 수집</a:t>
            </a:r>
            <a:r>
              <a:rPr lang="en-US" altLang="ko-KR" sz="950" spc="-10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 · </a:t>
            </a: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이용 </a:t>
            </a:r>
            <a:r>
              <a:rPr lang="en-US" altLang="ko-KR" sz="950" spc="-10" dirty="0">
                <a:solidFill>
                  <a:schemeClr val="tx1">
                    <a:lumMod val="65000"/>
                    <a:lumOff val="35000"/>
                  </a:schemeClr>
                </a:solidFill>
                <a:sym typeface="Samsung InterFace" charset="0"/>
              </a:rPr>
              <a:t>· </a:t>
            </a: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제공 등 처리단계별 보호기준 준수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암호화 등 안전성 확보조치 마련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개인정보 취급자에 대한 교육 강화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종이문서의 관리 절차</a:t>
            </a:r>
          </a:p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b="0" i="0" u="none" strike="noStrike" kern="1200" cap="none" spc="-1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ix고딕 B"/>
                <a:ea typeface="Rix고딕 B"/>
                <a:sym typeface="Samsung InterFace" charset="0"/>
              </a:rPr>
              <a:t>종이문서의 파기절차 준수</a:t>
            </a:r>
          </a:p>
        </p:txBody>
      </p:sp>
      <p:sp>
        <p:nvSpPr>
          <p:cNvPr id="53" name="Text Box 113"/>
          <p:cNvSpPr txBox="1">
            <a:spLocks noChangeArrowheads="1"/>
          </p:cNvSpPr>
          <p:nvPr/>
        </p:nvSpPr>
        <p:spPr bwMode="auto">
          <a:xfrm>
            <a:off x="5570136" y="6047511"/>
            <a:ext cx="4385204" cy="7755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90488" indent="-90488" latinLnBrk="0">
              <a:lnSpc>
                <a:spcPct val="110000"/>
              </a:lnSpc>
              <a:spcBef>
                <a:spcPct val="20000"/>
              </a:spcBef>
              <a:buSzPct val="90000"/>
              <a:buFont typeface="Arial" pitchFamily="34" charset="0"/>
              <a:buChar char="•"/>
              <a:defRPr sz="1400" kern="0">
                <a:gradFill>
                  <a:gsLst>
                    <a:gs pos="38333">
                      <a:schemeClr val="tx1">
                        <a:lumMod val="85000"/>
                        <a:lumOff val="15000"/>
                      </a:schemeClr>
                    </a:gs>
                    <a:gs pos="51667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  <a:lvl2pPr marL="90488" lvl="1" indent="-90488" latinLnBrk="0">
              <a:lnSpc>
                <a:spcPct val="110000"/>
              </a:lnSpc>
              <a:spcBef>
                <a:spcPct val="20000"/>
              </a:spcBef>
              <a:buSzPct val="90000"/>
              <a:buFont typeface="Arial" pitchFamily="34" charset="0"/>
              <a:buChar char="•"/>
              <a:defRPr sz="1400" kern="0">
                <a:gradFill>
                  <a:gsLst>
                    <a:gs pos="38333">
                      <a:schemeClr val="tx1">
                        <a:lumMod val="85000"/>
                        <a:lumOff val="15000"/>
                      </a:schemeClr>
                    </a:gs>
                    <a:gs pos="51667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defRPr>
            </a:lvl2pPr>
          </a:lstStyle>
          <a:p>
            <a:pPr marL="147638" marR="0" lvl="1" indent="-90488" defTabSz="957263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itchFamily="34" charset="0"/>
              <a:buChar char="•"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사업 전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-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중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-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후 단계별 보안준수 및 개인정보보호 보안 지침 준수</a:t>
            </a:r>
          </a:p>
          <a:p>
            <a:pPr marL="147638" marR="0" lvl="1" indent="-90488" defTabSz="957263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itchFamily="34" charset="0"/>
              <a:buChar char="•"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보안준수 생활화</a:t>
            </a:r>
          </a:p>
          <a:p>
            <a:pPr marL="147638" marR="0" lvl="1" indent="-90488" defTabSz="957263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itchFamily="34" charset="0"/>
              <a:buChar char="•"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보안교육 수행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(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착수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-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수행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Rix고딕 B" panose="02020603020101020101" pitchFamily="18" charset="-127"/>
                <a:ea typeface="Rix고딕 B" panose="02020603020101020101" pitchFamily="18" charset="-127"/>
              </a:rPr>
              <a:t>)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2270093" y="2767576"/>
            <a:ext cx="728188" cy="548700"/>
            <a:chOff x="3662787" y="1334154"/>
            <a:chExt cx="1258582" cy="948368"/>
          </a:xfrm>
        </p:grpSpPr>
        <p:pic>
          <p:nvPicPr>
            <p:cNvPr id="102" name="Picture 2" descr="D:\19.전지수\1. 제안서\2. 일반제안\2019년 제안서\20190409_청와대_청와대 기록관리시스템 구축\제안설명회\jpg\딱지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1950" y="1334154"/>
              <a:ext cx="948369" cy="94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" name="TextBox 102"/>
            <p:cNvSpPr txBox="1"/>
            <p:nvPr/>
          </p:nvSpPr>
          <p:spPr>
            <a:xfrm>
              <a:off x="3662787" y="1563422"/>
              <a:ext cx="1258582" cy="431306"/>
            </a:xfrm>
            <a:prstGeom prst="rect">
              <a:avLst/>
            </a:prstGeom>
          </p:spPr>
          <p:txBody>
            <a:bodyPr anchor="ctr"/>
            <a:lstStyle>
              <a:defPPr>
                <a:defRPr lang="ko-KR"/>
              </a:defPPr>
              <a:lvl1pPr marL="0" indent="0" defTabSz="914400" eaLnBrk="1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>
                  <a:gradFill>
                    <a:gsLst>
                      <a:gs pos="78333">
                        <a:schemeClr val="tx1"/>
                      </a:gs>
                      <a:gs pos="67500">
                        <a:schemeClr val="tx1"/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defRPr>
              </a:lvl1pPr>
              <a:lvl2pPr marL="6858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2pPr>
              <a:lvl3pPr marL="11430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3pPr>
              <a:lvl4pPr marL="16002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4pPr>
              <a:lvl5pPr marL="20574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9pPr>
            </a:lstStyle>
            <a:p>
              <a:pPr lvl="0" algn="ctr"/>
              <a:r>
                <a:rPr kumimoji="1" lang="ko-KR" altLang="en-US" sz="900" dirty="0">
                  <a:ln>
                    <a:solidFill>
                      <a:schemeClr val="accent2">
                        <a:alpha val="0"/>
                      </a:schemeClr>
                    </a:solidFill>
                  </a:ln>
                  <a:gradFill>
                    <a:gsLst>
                      <a:gs pos="60833">
                        <a:prstClr val="white"/>
                      </a:gs>
                      <a:gs pos="75000">
                        <a:prstClr val="white"/>
                      </a:gs>
                    </a:gsLst>
                    <a:lin ang="5400000" scaled="0"/>
                  </a:gradFill>
                </a:rPr>
                <a:t>매주</a:t>
              </a:r>
            </a:p>
            <a:p>
              <a:pPr lvl="0" algn="ctr"/>
              <a:r>
                <a:rPr kumimoji="1" lang="ko-KR" altLang="en-US" sz="900" dirty="0">
                  <a:ln>
                    <a:solidFill>
                      <a:schemeClr val="accent2">
                        <a:alpha val="0"/>
                      </a:schemeClr>
                    </a:solidFill>
                  </a:ln>
                  <a:gradFill>
                    <a:gsLst>
                      <a:gs pos="60833">
                        <a:prstClr val="white"/>
                      </a:gs>
                      <a:gs pos="75000">
                        <a:prstClr val="white"/>
                      </a:gs>
                    </a:gsLst>
                    <a:lin ang="5400000" scaled="0"/>
                  </a:gradFill>
                </a:rPr>
                <a:t>점검실시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2782543" y="2767576"/>
            <a:ext cx="728188" cy="548700"/>
            <a:chOff x="3662787" y="1334154"/>
            <a:chExt cx="1258582" cy="948368"/>
          </a:xfrm>
        </p:grpSpPr>
        <p:pic>
          <p:nvPicPr>
            <p:cNvPr id="108" name="Picture 2" descr="D:\19.전지수\1. 제안서\2. 일반제안\2019년 제안서\20190409_청와대_청와대 기록관리시스템 구축\제안설명회\jpg\딱지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1950" y="1334154"/>
              <a:ext cx="948369" cy="94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9" name="TextBox 108"/>
            <p:cNvSpPr txBox="1"/>
            <p:nvPr/>
          </p:nvSpPr>
          <p:spPr>
            <a:xfrm>
              <a:off x="3662787" y="1563422"/>
              <a:ext cx="1258582" cy="431306"/>
            </a:xfrm>
            <a:prstGeom prst="rect">
              <a:avLst/>
            </a:prstGeom>
          </p:spPr>
          <p:txBody>
            <a:bodyPr anchor="ctr"/>
            <a:lstStyle>
              <a:defPPr>
                <a:defRPr lang="ko-KR"/>
              </a:defPPr>
              <a:lvl1pPr marL="0" indent="0" defTabSz="914400" eaLnBrk="1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800">
                  <a:gradFill>
                    <a:gsLst>
                      <a:gs pos="78333">
                        <a:schemeClr val="tx1"/>
                      </a:gs>
                      <a:gs pos="67500">
                        <a:schemeClr val="tx1"/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defRPr>
              </a:lvl1pPr>
              <a:lvl2pPr marL="6858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latin typeface="+mn-lt"/>
                  <a:ea typeface="+mn-ea"/>
                </a:defRPr>
              </a:lvl2pPr>
              <a:lvl3pPr marL="11430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latin typeface="+mn-lt"/>
                  <a:ea typeface="+mn-ea"/>
                </a:defRPr>
              </a:lvl3pPr>
              <a:lvl4pPr marL="16002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4pPr>
              <a:lvl5pPr marL="2057400" indent="-228600" defTabSz="914400" ea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>
                  <a:latin typeface="+mn-lt"/>
                  <a:ea typeface="+mn-ea"/>
                </a:defRPr>
              </a:lvl9pPr>
            </a:lstStyle>
            <a:p>
              <a:pPr lvl="0" algn="ctr"/>
              <a:r>
                <a:rPr kumimoji="1" lang="ko-KR" altLang="en-US" sz="900" dirty="0">
                  <a:ln>
                    <a:solidFill>
                      <a:schemeClr val="accent2">
                        <a:alpha val="0"/>
                      </a:schemeClr>
                    </a:solidFill>
                  </a:ln>
                  <a:gradFill>
                    <a:gsLst>
                      <a:gs pos="60833">
                        <a:prstClr val="white"/>
                      </a:gs>
                      <a:gs pos="75000">
                        <a:prstClr val="white"/>
                      </a:gs>
                    </a:gsLst>
                    <a:lin ang="5400000" scaled="0"/>
                  </a:gradFill>
                </a:rPr>
                <a:t>매월</a:t>
              </a:r>
            </a:p>
            <a:p>
              <a:pPr lvl="0" algn="ctr"/>
              <a:r>
                <a:rPr kumimoji="1" lang="ko-KR" altLang="en-US" sz="900" dirty="0">
                  <a:ln>
                    <a:solidFill>
                      <a:schemeClr val="accent2">
                        <a:alpha val="0"/>
                      </a:schemeClr>
                    </a:solidFill>
                  </a:ln>
                  <a:gradFill>
                    <a:gsLst>
                      <a:gs pos="60833">
                        <a:prstClr val="white"/>
                      </a:gs>
                      <a:gs pos="75000">
                        <a:prstClr val="white"/>
                      </a:gs>
                    </a:gsLst>
                    <a:lin ang="5400000" scaled="0"/>
                  </a:gradFill>
                </a:rPr>
                <a:t>보안교육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396369" y="3331709"/>
            <a:ext cx="1118356" cy="1118350"/>
            <a:chOff x="7127858" y="2607972"/>
            <a:chExt cx="1223519" cy="1223515"/>
          </a:xfrm>
        </p:grpSpPr>
        <p:sp>
          <p:nvSpPr>
            <p:cNvPr id="111" name="타원 110"/>
            <p:cNvSpPr/>
            <p:nvPr/>
          </p:nvSpPr>
          <p:spPr>
            <a:xfrm>
              <a:off x="7127858" y="2607972"/>
              <a:ext cx="1223519" cy="1223515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accent2">
                  <a:lumMod val="20000"/>
                  <a:lumOff val="80000"/>
                </a:schemeClr>
              </a:solidFill>
              <a:prstDash val="solid"/>
            </a:ln>
            <a:effectLst>
              <a:outerShdw sx="115000" sy="115000" algn="ctr" rotWithShape="0">
                <a:schemeClr val="bg1">
                  <a:alpha val="40000"/>
                </a:schemeClr>
              </a:outerShdw>
            </a:effectLst>
          </p:spPr>
          <p:txBody>
            <a:bodyPr rtlCol="0" anchor="ctr"/>
            <a:lstStyle/>
            <a:p>
              <a:pPr algn="ctr" defTabSz="914400" latinLnBrk="0"/>
              <a:endParaRPr lang="ko-KR" altLang="en-US" sz="1100" b="1" kern="0">
                <a:solidFill>
                  <a:schemeClr val="bg1"/>
                </a:solidFill>
              </a:endParaRP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7170473" y="2788351"/>
              <a:ext cx="1149643" cy="841796"/>
            </a:xfrm>
            <a:prstGeom prst="rect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 marL="0" lvl="1" algn="ctr" defTabSz="957206" latinLnBrk="0">
                <a:buClr>
                  <a:sysClr val="windowText" lastClr="000000"/>
                </a:buClr>
                <a:tabLst>
                  <a:tab pos="5037002" algn="l"/>
                </a:tabLst>
                <a:defRPr/>
              </a:pPr>
              <a:r>
                <a:rPr lang="ko-KR" altLang="en-US" sz="1400" kern="0" dirty="0">
                  <a:solidFill>
                    <a:schemeClr val="accent2"/>
                  </a:solidFill>
                  <a:latin typeface="+mj-ea"/>
                  <a:ea typeface="+mj-ea"/>
                </a:rPr>
                <a:t>보안사고</a:t>
              </a:r>
              <a:r>
                <a:rPr lang="en-US" altLang="ko-KR" sz="1400" kern="0" dirty="0">
                  <a:solidFill>
                    <a:schemeClr val="accent2"/>
                  </a:solidFill>
                  <a:latin typeface="+mj-ea"/>
                  <a:ea typeface="+mj-ea"/>
                </a:rPr>
                <a:t/>
              </a:r>
              <a:br>
                <a:rPr lang="en-US" altLang="ko-KR" sz="1400" kern="0" dirty="0">
                  <a:solidFill>
                    <a:schemeClr val="accent2"/>
                  </a:solidFill>
                  <a:latin typeface="+mj-ea"/>
                  <a:ea typeface="+mj-ea"/>
                </a:rPr>
              </a:br>
              <a:r>
                <a:rPr lang="en-US" altLang="ko-KR" sz="1400" kern="0" dirty="0">
                  <a:solidFill>
                    <a:schemeClr val="accent2"/>
                  </a:solidFill>
                  <a:latin typeface="+mj-ea"/>
                  <a:ea typeface="+mj-ea"/>
                </a:rPr>
                <a:t>0</a:t>
              </a:r>
              <a:r>
                <a:rPr lang="ko-KR" altLang="en-US" sz="1400" kern="0" dirty="0">
                  <a:solidFill>
                    <a:schemeClr val="accent2"/>
                  </a:solidFill>
                  <a:latin typeface="+mj-ea"/>
                  <a:ea typeface="+mj-ea"/>
                </a:rPr>
                <a:t>건</a:t>
              </a:r>
            </a:p>
            <a:p>
              <a:pPr marL="0" lvl="1" algn="ctr" defTabSz="957206" latinLnBrk="0">
                <a:buClr>
                  <a:sysClr val="windowText" lastClr="000000"/>
                </a:buClr>
                <a:tabLst>
                  <a:tab pos="5037002" algn="l"/>
                </a:tabLst>
                <a:defRPr/>
              </a:pP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완벽한 보안</a:t>
              </a:r>
              <a:r>
                <a:rPr lang="en-US" altLang="ko-KR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/>
              </a:r>
              <a:br>
                <a:rPr lang="en-US" altLang="ko-KR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</a:b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체계 확립</a:t>
              </a: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850450" y="5076811"/>
            <a:ext cx="4219267" cy="321151"/>
            <a:chOff x="517709" y="3868466"/>
            <a:chExt cx="4219267" cy="690999"/>
          </a:xfrm>
        </p:grpSpPr>
        <p:grpSp>
          <p:nvGrpSpPr>
            <p:cNvPr id="59" name="그룹 58"/>
            <p:cNvGrpSpPr/>
            <p:nvPr/>
          </p:nvGrpSpPr>
          <p:grpSpPr>
            <a:xfrm>
              <a:off x="517709" y="3868466"/>
              <a:ext cx="2071436" cy="690998"/>
              <a:chOff x="546557" y="1476125"/>
              <a:chExt cx="2011780" cy="690999"/>
            </a:xfrm>
          </p:grpSpPr>
          <p:sp>
            <p:nvSpPr>
              <p:cNvPr id="65" name="직사각형 64"/>
              <p:cNvSpPr/>
              <p:nvPr/>
            </p:nvSpPr>
            <p:spPr>
              <a:xfrm flipV="1">
                <a:off x="547271" y="1597533"/>
                <a:ext cx="2003620" cy="569590"/>
              </a:xfrm>
              <a:prstGeom prst="rect">
                <a:avLst/>
              </a:prstGeom>
              <a:solidFill>
                <a:schemeClr val="bg1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cxnSp>
            <p:nvCxnSpPr>
              <p:cNvPr id="66" name="직선 연결선 65"/>
              <p:cNvCxnSpPr/>
              <p:nvPr/>
            </p:nvCxnSpPr>
            <p:spPr>
              <a:xfrm>
                <a:off x="546557" y="2167124"/>
                <a:ext cx="201178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255A7B">
                    <a:lumMod val="40000"/>
                    <a:lumOff val="6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3" name="직선 연결선 112"/>
              <p:cNvCxnSpPr/>
              <p:nvPr/>
            </p:nvCxnSpPr>
            <p:spPr>
              <a:xfrm>
                <a:off x="546557" y="1476125"/>
                <a:ext cx="201178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255A7B">
                    <a:lumMod val="40000"/>
                    <a:lumOff val="6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60" name="직사각형 91"/>
            <p:cNvSpPr/>
            <p:nvPr/>
          </p:nvSpPr>
          <p:spPr>
            <a:xfrm>
              <a:off x="566724" y="3985979"/>
              <a:ext cx="1973408" cy="454586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ctr"/>
            <a:lstStyle/>
            <a:p>
              <a:pPr marL="0" marR="0" lvl="1" indent="0" algn="ctr" defTabSz="9127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50"/>
                </a:spcAft>
                <a:buClr>
                  <a:srgbClr val="8B8F9E"/>
                </a:buClr>
                <a:buSzPct val="100000"/>
                <a:buFontTx/>
                <a:buNone/>
                <a:tabLst>
                  <a:tab pos="1079500" algn="l"/>
                </a:tabLst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Rix고딕 EB" panose="02020603020101020101" pitchFamily="18" charset="-127"/>
                  <a:ea typeface="Rix고딕 EB" panose="02020603020101020101" pitchFamily="18" charset="-127"/>
                </a:rPr>
                <a:t>개인정보 보호 가이드라인</a:t>
              </a:r>
            </a:p>
          </p:txBody>
        </p:sp>
        <p:grpSp>
          <p:nvGrpSpPr>
            <p:cNvPr id="61" name="그룹 60"/>
            <p:cNvGrpSpPr/>
            <p:nvPr/>
          </p:nvGrpSpPr>
          <p:grpSpPr>
            <a:xfrm>
              <a:off x="2665540" y="3868467"/>
              <a:ext cx="2071436" cy="690998"/>
              <a:chOff x="546557" y="1476125"/>
              <a:chExt cx="2011780" cy="690999"/>
            </a:xfrm>
          </p:grpSpPr>
          <p:sp>
            <p:nvSpPr>
              <p:cNvPr id="63" name="직사각형 62"/>
              <p:cNvSpPr/>
              <p:nvPr/>
            </p:nvSpPr>
            <p:spPr>
              <a:xfrm flipV="1">
                <a:off x="547271" y="1597533"/>
                <a:ext cx="2003620" cy="569590"/>
              </a:xfrm>
              <a:prstGeom prst="rect">
                <a:avLst/>
              </a:prstGeom>
              <a:solidFill>
                <a:schemeClr val="bg1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ix고딕 B"/>
                  <a:ea typeface="Rix고딕 B"/>
                  <a:cs typeface="+mn-cs"/>
                </a:endParaRPr>
              </a:p>
            </p:txBody>
          </p:sp>
          <p:cxnSp>
            <p:nvCxnSpPr>
              <p:cNvPr id="64" name="직선 연결선 63"/>
              <p:cNvCxnSpPr/>
              <p:nvPr/>
            </p:nvCxnSpPr>
            <p:spPr>
              <a:xfrm>
                <a:off x="546557" y="2167124"/>
                <a:ext cx="201178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255A7B">
                    <a:lumMod val="40000"/>
                    <a:lumOff val="6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4" name="직선 연결선 113"/>
              <p:cNvCxnSpPr/>
              <p:nvPr/>
            </p:nvCxnSpPr>
            <p:spPr>
              <a:xfrm>
                <a:off x="546557" y="1476125"/>
                <a:ext cx="2011780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255A7B">
                    <a:lumMod val="40000"/>
                    <a:lumOff val="6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62" name="직사각형 91"/>
            <p:cNvSpPr/>
            <p:nvPr/>
          </p:nvSpPr>
          <p:spPr>
            <a:xfrm>
              <a:off x="2825972" y="3985985"/>
              <a:ext cx="1750574" cy="454586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ctr"/>
            <a:lstStyle/>
            <a:p>
              <a:pPr marL="0" marR="0" lvl="1" indent="0" algn="ctr" defTabSz="9127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50"/>
                </a:spcAft>
                <a:buClr>
                  <a:srgbClr val="8B8F9E"/>
                </a:buClr>
                <a:buSzPct val="100000"/>
                <a:buFontTx/>
                <a:buNone/>
                <a:tabLst>
                  <a:tab pos="1079500" algn="l"/>
                </a:tabLst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Rix고딕 EB" panose="02020603020101020101" pitchFamily="18" charset="-127"/>
                  <a:ea typeface="Rix고딕 EB" panose="02020603020101020101" pitchFamily="18" charset="-127"/>
                </a:rPr>
                <a:t>개인정보보호 자가진단 매뉴얼</a:t>
              </a:r>
            </a:p>
          </p:txBody>
        </p:sp>
      </p:grp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보안관리계획</a:t>
            </a:r>
          </a:p>
        </p:txBody>
      </p:sp>
    </p:spTree>
    <p:extLst>
      <p:ext uri="{BB962C8B-B14F-4D97-AF65-F5344CB8AC3E}">
        <p14:creationId xmlns:p14="http://schemas.microsoft.com/office/powerpoint/2010/main" val="19382475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그룹 82"/>
          <p:cNvGrpSpPr/>
          <p:nvPr/>
        </p:nvGrpSpPr>
        <p:grpSpPr>
          <a:xfrm>
            <a:off x="738188" y="1970994"/>
            <a:ext cx="9217025" cy="4977494"/>
            <a:chOff x="3847798" y="1913923"/>
            <a:chExt cx="6107415" cy="4977494"/>
          </a:xfrm>
        </p:grpSpPr>
        <p:sp>
          <p:nvSpPr>
            <p:cNvPr id="85" name="직사각형 84"/>
            <p:cNvSpPr/>
            <p:nvPr/>
          </p:nvSpPr>
          <p:spPr bwMode="auto">
            <a:xfrm>
              <a:off x="3847798" y="1913923"/>
              <a:ext cx="2960322" cy="586320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교육 조직 및 절차</a:t>
              </a:r>
            </a:p>
          </p:txBody>
        </p:sp>
        <p:sp>
          <p:nvSpPr>
            <p:cNvPr id="86" name="직사각형 85"/>
            <p:cNvSpPr/>
            <p:nvPr/>
          </p:nvSpPr>
          <p:spPr bwMode="auto">
            <a:xfrm>
              <a:off x="3847798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  <p:sp>
          <p:nvSpPr>
            <p:cNvPr id="87" name="직사각형 86"/>
            <p:cNvSpPr/>
            <p:nvPr/>
          </p:nvSpPr>
          <p:spPr bwMode="auto">
            <a:xfrm>
              <a:off x="6994891" y="1913923"/>
              <a:ext cx="2960322" cy="586320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2990" latinLnBrk="0">
                <a:defRPr/>
              </a:pPr>
              <a:r>
                <a:rPr lang="ko-KR" altLang="en-US" kern="0" dirty="0">
                  <a:gradFill>
                    <a:gsLst>
                      <a:gs pos="48333">
                        <a:prstClr val="white"/>
                      </a:gs>
                      <a:gs pos="62000">
                        <a:prstClr val="white"/>
                      </a:gs>
                    </a:gsLst>
                    <a:path path="rect">
                      <a:fillToRect l="50000" t="50000" r="50000" b="50000"/>
                    </a:path>
                  </a:gradFill>
                  <a:latin typeface="+mj-ea"/>
                  <a:ea typeface="+mj-ea"/>
                </a:rPr>
                <a:t>유지보수 조직 및 절차</a:t>
              </a:r>
            </a:p>
          </p:txBody>
        </p:sp>
        <p:sp>
          <p:nvSpPr>
            <p:cNvPr id="88" name="직사각형 87"/>
            <p:cNvSpPr/>
            <p:nvPr/>
          </p:nvSpPr>
          <p:spPr bwMode="auto">
            <a:xfrm>
              <a:off x="6994891" y="2500242"/>
              <a:ext cx="2960322" cy="43911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7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1041607" latinLnBrk="0"/>
              <a:endParaRPr lang="ko-KR" altLang="en-US" kern="0" spc="-150" dirty="0">
                <a:solidFill>
                  <a:srgbClr val="217083"/>
                </a:solidFill>
                <a:latin typeface="Rix고딕 EB"/>
                <a:ea typeface="Rix고딕 EB"/>
              </a:endParaRPr>
            </a:p>
          </p:txBody>
        </p:sp>
      </p:grpSp>
      <p:sp>
        <p:nvSpPr>
          <p:cNvPr id="3" name="텍스트 개체 틀 2"/>
          <p:cNvSpPr txBox="1">
            <a:spLocks/>
          </p:cNvSpPr>
          <p:nvPr/>
        </p:nvSpPr>
        <p:spPr>
          <a:xfrm>
            <a:off x="882331" y="1374696"/>
            <a:ext cx="8928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 latinLnBrk="0">
              <a:defRPr sz="1400">
                <a:gradFill>
                  <a:gsLst>
                    <a:gs pos="7500">
                      <a:schemeClr val="tx1">
                        <a:lumMod val="75000"/>
                        <a:lumOff val="25000"/>
                      </a:schemeClr>
                    </a:gs>
                    <a:gs pos="19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defRPr>
            </a:lvl1pPr>
          </a:lstStyle>
          <a:p>
            <a:pPr algn="l"/>
            <a:r>
              <a:rPr lang="ko-KR" altLang="en-US" dirty="0"/>
              <a:t>기술이전 및 교육 계획을 세밀히 수립하여 </a:t>
            </a:r>
            <a:r>
              <a:rPr lang="ko-KR" altLang="en-US" dirty="0" smtClean="0"/>
              <a:t>향후 </a:t>
            </a:r>
            <a:r>
              <a:rPr lang="ko-KR" altLang="en-US" dirty="0"/>
              <a:t>운영에 필요한 모든 사항에 대해서 빠짐 없이 전달하고</a:t>
            </a:r>
            <a:r>
              <a:rPr lang="en-US" altLang="ko-KR" dirty="0"/>
              <a:t>, </a:t>
            </a:r>
            <a:r>
              <a:rPr lang="ko-KR" altLang="en-US" dirty="0"/>
              <a:t>시스템이 안정적으로 운영될 수 있도록 신속한 장애 대응 및 유지보수를 지원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11" name="Group 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846424"/>
              </p:ext>
            </p:extLst>
          </p:nvPr>
        </p:nvGraphicFramePr>
        <p:xfrm>
          <a:off x="927228" y="5091847"/>
          <a:ext cx="4152026" cy="1486562"/>
        </p:xfrm>
        <a:graphic>
          <a:graphicData uri="http://schemas.openxmlformats.org/drawingml/2006/table">
            <a:tbl>
              <a:tblPr/>
              <a:tblGrid>
                <a:gridCol w="619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40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478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45720" marR="4572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5A7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교육 내용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5A7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기간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5A7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강사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5A7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비용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5A7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1042990" rtl="0" eaLnBrk="1" fontAlgn="base" latinLnBrk="0" hangingPunct="1">
                        <a:lnSpc>
                          <a:spcPct val="95000"/>
                        </a:lnSpc>
                        <a:spcBef>
                          <a:spcPct val="500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kern="1200" dirty="0">
                          <a:gradFill>
                            <a:gsLst>
                              <a:gs pos="70000">
                                <a:schemeClr val="bg1"/>
                              </a:gs>
                              <a:gs pos="53333">
                                <a:schemeClr val="bg1"/>
                              </a:gs>
                            </a:gsLst>
                            <a:lin ang="16200000" scaled="1"/>
                          </a:gradFill>
                          <a:latin typeface="Rix고딕 EB" panose="02020603020101020101" pitchFamily="18" charset="-127"/>
                          <a:ea typeface="Rix고딕 EB" panose="02020603020101020101" pitchFamily="18" charset="-127"/>
                          <a:cs typeface="+mn-cs"/>
                        </a:rPr>
                        <a:t>시기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6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5A7B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26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사업본부</a:t>
                      </a:r>
                    </a:p>
                  </a:txBody>
                  <a:tcPr marL="0" marR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82563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시스템 개요</a:t>
                      </a: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(TMS</a:t>
                      </a: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 사용방법</a:t>
                      </a: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기본 구성</a:t>
                      </a: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주요 기능</a:t>
                      </a: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일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5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수행사</a:t>
                      </a:r>
                      <a:endParaRPr kumimoji="1" lang="ko-KR" altLang="en-US" sz="8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무상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안정화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5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기술본부</a:t>
                      </a:r>
                    </a:p>
                  </a:txBody>
                  <a:tcPr marL="45720" marR="4572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82563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시스템 개요</a:t>
                      </a:r>
                      <a:endParaRPr kumimoji="1" lang="en-US" altLang="ko-KR" sz="8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82563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개발표준 및 프로그램 개선 방안</a:t>
                      </a:r>
                      <a:endParaRPr kumimoji="1" lang="en-US" altLang="ko-KR" sz="8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  <a:p>
                      <a:pPr marL="182563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시스템 운영 및 비상 대응 방안</a:t>
                      </a: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</a:b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장애조치</a:t>
                      </a: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일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50" b="0" i="0" u="none" strike="noStrike" kern="1200" cap="none" normalizeH="0" baseline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수행사</a:t>
                      </a:r>
                      <a:endParaRPr kumimoji="1" lang="ko-KR" altLang="en-US" sz="85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65000"/>
                                <a:lumOff val="35000"/>
                              </a:schemeClr>
                            </a:gs>
                            <a:gs pos="37900">
                              <a:schemeClr val="tx1">
                                <a:lumMod val="65000"/>
                                <a:lumOff val="35000"/>
                              </a:schemeClr>
                            </a:gs>
                          </a:gsLst>
                          <a:lin ang="0" scaled="1"/>
                        </a:gradFill>
                        <a:effectLst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무상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1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A1A1A1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5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  <a:gs pos="37900">
                                <a:schemeClr val="tx1">
                                  <a:lumMod val="65000"/>
                                  <a:lumOff val="35000"/>
                                </a:schemeClr>
                              </a:gs>
                            </a:gsLst>
                            <a:lin ang="0" scaled="1"/>
                          </a:gradFill>
                          <a:effectLst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+mn-cs"/>
                        </a:rPr>
                        <a:t>테스트 및 안정화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6219877" y="2692940"/>
            <a:ext cx="2945702" cy="584561"/>
          </a:xfrm>
          <a:prstGeom prst="rect">
            <a:avLst/>
          </a:prstGeom>
          <a:noFill/>
          <a:effectLst/>
        </p:spPr>
        <p:txBody>
          <a:bodyPr wrap="square" lIns="91228" tIns="45614" rIns="91228" bIns="45614" rtlCol="0">
            <a:spAutoFit/>
          </a:bodyPr>
          <a:lstStyle/>
          <a:p>
            <a:pPr marL="0" marR="0" lvl="0" indent="0" algn="ctr" defTabSz="104193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90000"/>
              <a:buFontTx/>
              <a:buNone/>
              <a:tabLst>
                <a:tab pos="5642530" algn="l"/>
              </a:tabLst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99167">
                      <a:schemeClr val="tx1">
                        <a:lumMod val="75000"/>
                        <a:lumOff val="25000"/>
                      </a:schemeClr>
                    </a:gs>
                    <a:gs pos="92083">
                      <a:schemeClr val="tx1">
                        <a:lumMod val="75000"/>
                        <a:lumOff val="25000"/>
                      </a:schemeClr>
                    </a:gs>
                  </a:gsLst>
                  <a:lin ang="16200000" scaled="0"/>
                </a:gra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rPr>
              <a:t>시스템의 안정적 운영을 위한</a:t>
            </a:r>
            <a:b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99167">
                      <a:schemeClr val="tx1">
                        <a:lumMod val="75000"/>
                        <a:lumOff val="25000"/>
                      </a:schemeClr>
                    </a:gs>
                    <a:gs pos="92083">
                      <a:schemeClr val="tx1">
                        <a:lumMod val="75000"/>
                        <a:lumOff val="25000"/>
                      </a:schemeClr>
                    </a:gs>
                  </a:gsLst>
                  <a:lin ang="16200000" scaled="0"/>
                </a:gra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rPr>
            </a:b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99167">
                      <a:schemeClr val="tx1">
                        <a:lumMod val="75000"/>
                        <a:lumOff val="25000"/>
                      </a:schemeClr>
                    </a:gs>
                    <a:gs pos="92083">
                      <a:schemeClr val="tx1">
                        <a:lumMod val="75000"/>
                        <a:lumOff val="25000"/>
                      </a:schemeClr>
                    </a:gs>
                  </a:gsLst>
                  <a:lin ang="16200000" scaled="0"/>
                </a:gradFill>
                <a:effectLst/>
                <a:uLnTx/>
                <a:uFillTx/>
                <a:latin typeface="Rix고딕 EB" panose="02020603020101020101" pitchFamily="18" charset="-127"/>
                <a:ea typeface="Rix고딕 EB" panose="02020603020101020101" pitchFamily="18" charset="-127"/>
              </a:rPr>
              <a:t>신속한 유지보수 지원</a:t>
            </a:r>
          </a:p>
        </p:txBody>
      </p:sp>
      <p:grpSp>
        <p:nvGrpSpPr>
          <p:cNvPr id="47" name="그룹 46"/>
          <p:cNvGrpSpPr/>
          <p:nvPr/>
        </p:nvGrpSpPr>
        <p:grpSpPr>
          <a:xfrm>
            <a:off x="866061" y="4836105"/>
            <a:ext cx="5005698" cy="240706"/>
            <a:chOff x="504129" y="4412669"/>
            <a:chExt cx="5005698" cy="240706"/>
          </a:xfrm>
        </p:grpSpPr>
        <p:pic>
          <p:nvPicPr>
            <p:cNvPr id="48" name="Picture 3" descr="D:\19.전지수\1. 제안서\1. 표준제안\★2017_표준제안설명회\작업\버트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129" y="4412669"/>
              <a:ext cx="255754" cy="2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직사각형 91"/>
            <p:cNvSpPr/>
            <p:nvPr/>
          </p:nvSpPr>
          <p:spPr>
            <a:xfrm>
              <a:off x="791786" y="4414796"/>
              <a:ext cx="4718041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/>
            <a:p>
              <a:pPr marL="0" lvl="1" defTabSz="914127" fontAlgn="base" latinLnBrk="0">
                <a:spcAft>
                  <a:spcPts val="150"/>
                </a:spcAft>
                <a:buClr>
                  <a:srgbClr val="8B8F9E"/>
                </a:buClr>
                <a:buSzPct val="100000"/>
                <a:tabLst>
                  <a:tab pos="1079500" algn="l"/>
                </a:tabLst>
                <a:defRPr/>
              </a:pPr>
              <a:r>
                <a:rPr lang="ko-KR" altLang="en-US" sz="1200" kern="0">
                  <a:ln>
                    <a:solidFill>
                      <a:srgbClr val="C00000"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기술이전 대상자 별 교육훈련 방안</a:t>
              </a:r>
              <a:endParaRPr lang="ko-KR" altLang="en-US" sz="1200" kern="0" dirty="0">
                <a:ln>
                  <a:solidFill>
                    <a:srgbClr val="C00000">
                      <a:alpha val="0"/>
                    </a:srgbClr>
                  </a:solidFill>
                </a:ln>
                <a:gradFill>
                  <a:gsLst>
                    <a:gs pos="38333">
                      <a:prstClr val="black">
                        <a:lumMod val="85000"/>
                        <a:lumOff val="15000"/>
                      </a:prstClr>
                    </a:gs>
                    <a:gs pos="51667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Rix고딕 EB"/>
                <a:ea typeface="Rix고딕 EB"/>
              </a:endParaRP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866061" y="2655609"/>
            <a:ext cx="5005698" cy="240706"/>
            <a:chOff x="504129" y="4412669"/>
            <a:chExt cx="5005698" cy="240706"/>
          </a:xfrm>
        </p:grpSpPr>
        <p:pic>
          <p:nvPicPr>
            <p:cNvPr id="51" name="Picture 3" descr="D:\19.전지수\1. 제안서\1. 표준제안\★2017_표준제안설명회\작업\버트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129" y="4412669"/>
              <a:ext cx="255754" cy="2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직사각형 91"/>
            <p:cNvSpPr/>
            <p:nvPr/>
          </p:nvSpPr>
          <p:spPr>
            <a:xfrm>
              <a:off x="791786" y="4414796"/>
              <a:ext cx="4718041" cy="22780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vert="horz" lIns="0" tIns="0" rIns="0" bIns="0" rtlCol="0" anchor="t"/>
            <a:lstStyle/>
            <a:p>
              <a:pPr marL="0" lvl="1" defTabSz="914127" fontAlgn="base" latinLnBrk="0">
                <a:spcAft>
                  <a:spcPts val="150"/>
                </a:spcAft>
                <a:buClr>
                  <a:srgbClr val="8B8F9E"/>
                </a:buClr>
                <a:buSzPct val="100000"/>
                <a:tabLst>
                  <a:tab pos="1079500" algn="l"/>
                </a:tabLst>
                <a:defRPr/>
              </a:pPr>
              <a:r>
                <a:rPr lang="ko-KR" altLang="en-US" sz="1200" kern="0" dirty="0">
                  <a:ln>
                    <a:solidFill>
                      <a:srgbClr val="C00000">
                        <a:alpha val="0"/>
                      </a:srgbClr>
                    </a:solidFill>
                  </a:ln>
                  <a:gradFill>
                    <a:gsLst>
                      <a:gs pos="38333">
                        <a:prstClr val="black">
                          <a:lumMod val="85000"/>
                          <a:lumOff val="15000"/>
                        </a:prstClr>
                      </a:gs>
                      <a:gs pos="51667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Rix고딕 EB"/>
                  <a:ea typeface="Rix고딕 EB"/>
                </a:rPr>
                <a:t>기술이전 방안</a:t>
              </a: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961921" y="2854821"/>
            <a:ext cx="4053679" cy="761362"/>
            <a:chOff x="568094" y="2286251"/>
            <a:chExt cx="4053679" cy="972158"/>
          </a:xfrm>
        </p:grpSpPr>
        <p:grpSp>
          <p:nvGrpSpPr>
            <p:cNvPr id="54" name="그룹 53"/>
            <p:cNvGrpSpPr/>
            <p:nvPr/>
          </p:nvGrpSpPr>
          <p:grpSpPr>
            <a:xfrm>
              <a:off x="568094" y="2551614"/>
              <a:ext cx="4053679" cy="507719"/>
              <a:chOff x="619586" y="2392422"/>
              <a:chExt cx="3950695" cy="375309"/>
            </a:xfrm>
          </p:grpSpPr>
          <p:sp>
            <p:nvSpPr>
              <p:cNvPr id="69" name="직사각형 68"/>
              <p:cNvSpPr/>
              <p:nvPr/>
            </p:nvSpPr>
            <p:spPr>
              <a:xfrm>
                <a:off x="3868249" y="2392422"/>
                <a:ext cx="702032" cy="37530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5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>기술교육</a:t>
                </a: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> </a:t>
                </a: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>이전</a:t>
                </a:r>
              </a:p>
              <a:p>
                <a:pPr marL="0" marR="0" lvl="0" indent="0" algn="ctr" defTabSz="95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>결과보고</a:t>
                </a:r>
              </a:p>
            </p:txBody>
          </p:sp>
          <p:sp>
            <p:nvSpPr>
              <p:cNvPr id="70" name="직사각형 69"/>
              <p:cNvSpPr/>
              <p:nvPr/>
            </p:nvSpPr>
            <p:spPr>
              <a:xfrm>
                <a:off x="619586" y="2392422"/>
                <a:ext cx="702032" cy="37530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5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>기술이전 및</a:t>
                </a: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/>
                </a:r>
                <a:b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</a:b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>교육 대상선정</a:t>
                </a:r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1702474" y="2392422"/>
                <a:ext cx="702032" cy="37530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5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>기술이전</a:t>
                </a:r>
              </a:p>
              <a:p>
                <a:pPr marL="0" marR="0" lvl="0" indent="0" algn="ctr" defTabSz="95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>계획확정</a:t>
                </a:r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2785361" y="2392422"/>
                <a:ext cx="702032" cy="37530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5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>분야별 기술</a:t>
                </a: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/>
                </a:r>
                <a:b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</a:b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>교육</a:t>
                </a: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> </a:t>
                </a: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</a:rPr>
                  <a:t>실시</a:t>
                </a:r>
              </a:p>
            </p:txBody>
          </p:sp>
        </p:grpSp>
        <p:grpSp>
          <p:nvGrpSpPr>
            <p:cNvPr id="55" name="그룹 54"/>
            <p:cNvGrpSpPr/>
            <p:nvPr/>
          </p:nvGrpSpPr>
          <p:grpSpPr>
            <a:xfrm>
              <a:off x="1033938" y="2286251"/>
              <a:ext cx="3323448" cy="972158"/>
              <a:chOff x="-4673327" y="212095"/>
              <a:chExt cx="3323448" cy="972158"/>
            </a:xfrm>
          </p:grpSpPr>
          <p:sp>
            <p:nvSpPr>
              <p:cNvPr id="64" name="Text Box 285"/>
              <p:cNvSpPr txBox="1">
                <a:spLocks noChangeArrowheads="1"/>
              </p:cNvSpPr>
              <p:nvPr/>
            </p:nvSpPr>
            <p:spPr bwMode="auto">
              <a:xfrm>
                <a:off x="-3412610" y="845699"/>
                <a:ext cx="60055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36000" rIns="36000">
                <a:spAutoFit/>
              </a:bodyPr>
              <a:lstStyle>
                <a:defPPr>
                  <a:defRPr lang="ko-KR"/>
                </a:defPPr>
                <a:lvl1pPr marR="0" lvl="0" indent="0" algn="ctr" defTabSz="955364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 kumimoji="1" sz="800" kern="0">
                    <a:gradFill>
                      <a:gsLst>
                        <a:gs pos="11667">
                          <a:schemeClr val="tx1">
                            <a:lumMod val="75000"/>
                            <a:lumOff val="25000"/>
                          </a:schemeClr>
                        </a:gs>
                        <a:gs pos="36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16200000" scaled="1"/>
                    </a:gradFill>
                    <a:latin typeface="+mn-ea"/>
                  </a:defRPr>
                </a:lvl1pPr>
                <a:lvl2pPr marL="742950" indent="-28575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0" marR="0" lvl="0" indent="0" algn="ctr" defTabSz="95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1" lang="ko-KR" altLang="en-US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  <a:t>결과</a:t>
                </a:r>
                <a:r>
                  <a:rPr kumimoji="1" lang="en-US" altLang="ko-KR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  <a:t/>
                </a:r>
                <a:br>
                  <a:rPr kumimoji="1" lang="en-US" altLang="ko-KR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</a:br>
                <a:r>
                  <a:rPr kumimoji="1" lang="ko-KR" altLang="en-US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  <a:t>피드백</a:t>
                </a:r>
              </a:p>
            </p:txBody>
          </p:sp>
          <p:sp>
            <p:nvSpPr>
              <p:cNvPr id="65" name="Text Box 286"/>
              <p:cNvSpPr txBox="1">
                <a:spLocks noChangeArrowheads="1"/>
              </p:cNvSpPr>
              <p:nvPr/>
            </p:nvSpPr>
            <p:spPr bwMode="auto">
              <a:xfrm>
                <a:off x="-2284076" y="845699"/>
                <a:ext cx="60055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36000" rIns="36000">
                <a:spAutoFit/>
              </a:bodyPr>
              <a:lstStyle>
                <a:defPPr>
                  <a:defRPr lang="ko-KR"/>
                </a:defPPr>
                <a:lvl1pPr marR="0" lvl="0" indent="0" algn="ctr" defTabSz="955364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 kumimoji="1" sz="800" kern="0">
                    <a:gradFill>
                      <a:gsLst>
                        <a:gs pos="11667">
                          <a:schemeClr val="tx1">
                            <a:lumMod val="75000"/>
                            <a:lumOff val="25000"/>
                          </a:schemeClr>
                        </a:gs>
                        <a:gs pos="36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16200000" scaled="1"/>
                    </a:gradFill>
                    <a:latin typeface="+mn-ea"/>
                  </a:defRPr>
                </a:lvl1pPr>
                <a:lvl2pPr marL="742950" indent="-28575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0" marR="0" lvl="0" indent="0" algn="ctr" defTabSz="95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1" lang="ko-KR" altLang="en-US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  <a:t>결과</a:t>
                </a:r>
                <a:r>
                  <a:rPr kumimoji="1" lang="en-US" altLang="ko-KR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  <a:t/>
                </a:r>
                <a:br>
                  <a:rPr kumimoji="1" lang="en-US" altLang="ko-KR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</a:br>
                <a:r>
                  <a:rPr kumimoji="1" lang="ko-KR" altLang="en-US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  <a:t>피드백</a:t>
                </a:r>
              </a:p>
            </p:txBody>
          </p:sp>
          <p:sp>
            <p:nvSpPr>
              <p:cNvPr id="66" name="Text Box 287"/>
              <p:cNvSpPr txBox="1">
                <a:spLocks noChangeArrowheads="1"/>
              </p:cNvSpPr>
              <p:nvPr/>
            </p:nvSpPr>
            <p:spPr bwMode="auto">
              <a:xfrm>
                <a:off x="-4673327" y="212095"/>
                <a:ext cx="916782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36000" rIns="3600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0" marR="0" lvl="0" indent="0" algn="ctr" defTabSz="95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1" lang="ko-KR" altLang="en-US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ea typeface="Rix고딕 B"/>
                    <a:sym typeface="Monotype Sorts"/>
                  </a:rPr>
                  <a:t>주관기관과</a:t>
                </a:r>
                <a:r>
                  <a:rPr kumimoji="1" lang="en-US" altLang="ko-KR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ea typeface="Rix고딕 B"/>
                    <a:sym typeface="Monotype Sorts"/>
                  </a:rPr>
                  <a:t/>
                </a:r>
                <a:br>
                  <a:rPr kumimoji="1" lang="en-US" altLang="ko-KR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ea typeface="Rix고딕 B"/>
                    <a:sym typeface="Monotype Sorts"/>
                  </a:rPr>
                </a:br>
                <a:r>
                  <a:rPr kumimoji="1" lang="ko-KR" altLang="en-US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ea typeface="Rix고딕 B"/>
                    <a:sym typeface="Monotype Sorts"/>
                  </a:rPr>
                  <a:t>합의</a:t>
                </a:r>
              </a:p>
            </p:txBody>
          </p:sp>
          <p:sp>
            <p:nvSpPr>
              <p:cNvPr id="67" name="Text Box 288"/>
              <p:cNvSpPr txBox="1">
                <a:spLocks noChangeArrowheads="1"/>
              </p:cNvSpPr>
              <p:nvPr/>
            </p:nvSpPr>
            <p:spPr bwMode="auto">
              <a:xfrm>
                <a:off x="-3531652" y="212095"/>
                <a:ext cx="83864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36000" rIns="36000">
                <a:spAutoFit/>
              </a:bodyPr>
              <a:lstStyle>
                <a:defPPr>
                  <a:defRPr lang="ko-KR"/>
                </a:defPPr>
                <a:lvl1pPr marR="0" lvl="0" indent="0" algn="ctr" defTabSz="955364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 kumimoji="1" sz="800" kern="0">
                    <a:gradFill>
                      <a:gsLst>
                        <a:gs pos="11667">
                          <a:schemeClr val="tx1">
                            <a:lumMod val="75000"/>
                            <a:lumOff val="25000"/>
                          </a:schemeClr>
                        </a:gs>
                        <a:gs pos="36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16200000" scaled="1"/>
                    </a:gradFill>
                    <a:latin typeface="+mn-ea"/>
                  </a:defRPr>
                </a:lvl1pPr>
                <a:lvl2pPr marL="742950" indent="-28575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0" marR="0" lvl="0" indent="0" algn="ctr" defTabSz="95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1" lang="ko-KR" altLang="en-US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  <a:t>주관기관</a:t>
                </a:r>
                <a:r>
                  <a:rPr kumimoji="1" lang="en-US" altLang="ko-KR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  <a:t/>
                </a:r>
                <a:br>
                  <a:rPr kumimoji="1" lang="en-US" altLang="ko-KR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</a:br>
                <a:r>
                  <a:rPr kumimoji="1" lang="ko-KR" altLang="en-US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  <a:t>승인</a:t>
                </a:r>
              </a:p>
            </p:txBody>
          </p:sp>
          <p:sp>
            <p:nvSpPr>
              <p:cNvPr id="68" name="Text Box 289"/>
              <p:cNvSpPr txBox="1">
                <a:spLocks noChangeArrowheads="1"/>
              </p:cNvSpPr>
              <p:nvPr/>
            </p:nvSpPr>
            <p:spPr bwMode="auto">
              <a:xfrm>
                <a:off x="-2617717" y="212095"/>
                <a:ext cx="1267838" cy="432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36000" rIns="36000">
                <a:spAutoFit/>
              </a:bodyPr>
              <a:lstStyle>
                <a:defPPr>
                  <a:defRPr lang="ko-KR"/>
                </a:defPPr>
                <a:lvl1pPr marR="0" lvl="0" indent="0" algn="ctr" defTabSz="955364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 kumimoji="1" sz="800" kern="0">
                    <a:gradFill>
                      <a:gsLst>
                        <a:gs pos="11667">
                          <a:schemeClr val="tx1">
                            <a:lumMod val="75000"/>
                            <a:lumOff val="25000"/>
                          </a:schemeClr>
                        </a:gs>
                        <a:gs pos="36000">
                          <a:schemeClr val="tx1">
                            <a:lumMod val="75000"/>
                            <a:lumOff val="25000"/>
                          </a:schemeClr>
                        </a:gs>
                      </a:gsLst>
                      <a:lin ang="16200000" scaled="1"/>
                    </a:gradFill>
                    <a:latin typeface="+mn-ea"/>
                  </a:defRPr>
                </a:lvl1pPr>
                <a:lvl2pPr marL="742950" indent="-28575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0" marR="0" lvl="0" indent="0" algn="ctr" defTabSz="95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1" lang="ko-KR" altLang="en-US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  <a:t>교육만족도</a:t>
                </a:r>
                <a:r>
                  <a:rPr kumimoji="1" lang="en-US" altLang="ko-KR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  <a:t/>
                </a:r>
                <a:br>
                  <a:rPr kumimoji="1" lang="en-US" altLang="ko-KR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</a:br>
                <a:r>
                  <a:rPr kumimoji="1" lang="ko-KR" altLang="en-US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1667">
                          <a:prstClr val="black">
                            <a:lumMod val="75000"/>
                            <a:lumOff val="25000"/>
                          </a:prstClr>
                        </a:gs>
                        <a:gs pos="36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/>
                    <a:sym typeface="Monotype Sorts"/>
                  </a:rPr>
                  <a:t>평가</a:t>
                </a: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1288426" y="2719089"/>
              <a:ext cx="2613015" cy="0"/>
              <a:chOff x="1288426" y="2719089"/>
              <a:chExt cx="2613015" cy="0"/>
            </a:xfrm>
          </p:grpSpPr>
          <p:cxnSp>
            <p:nvCxnSpPr>
              <p:cNvPr id="61" name="직선 화살표 연결선 60"/>
              <p:cNvCxnSpPr/>
              <p:nvPr/>
            </p:nvCxnSpPr>
            <p:spPr>
              <a:xfrm>
                <a:off x="1288426" y="2719089"/>
                <a:ext cx="390784" cy="0"/>
              </a:xfrm>
              <a:prstGeom prst="straightConnector1">
                <a:avLst/>
              </a:prstGeom>
              <a:noFill/>
              <a:ln w="12700" cap="rnd">
                <a:solidFill>
                  <a:sysClr val="window" lastClr="FFFFFF">
                    <a:lumMod val="65000"/>
                  </a:sysClr>
                </a:solidFill>
                <a:round/>
                <a:headEnd/>
                <a:tailEnd type="triangle"/>
              </a:ln>
            </p:spPr>
          </p:cxnSp>
          <p:cxnSp>
            <p:nvCxnSpPr>
              <p:cNvPr id="62" name="직선 화살표 연결선 61"/>
              <p:cNvCxnSpPr/>
              <p:nvPr/>
            </p:nvCxnSpPr>
            <p:spPr>
              <a:xfrm>
                <a:off x="2399542" y="2719089"/>
                <a:ext cx="390783" cy="0"/>
              </a:xfrm>
              <a:prstGeom prst="straightConnector1">
                <a:avLst/>
              </a:prstGeom>
              <a:noFill/>
              <a:ln w="12700" cap="rnd">
                <a:solidFill>
                  <a:sysClr val="window" lastClr="FFFFFF">
                    <a:lumMod val="65000"/>
                  </a:sysClr>
                </a:solidFill>
                <a:round/>
                <a:headEnd/>
                <a:tailEnd type="triangle"/>
              </a:ln>
            </p:spPr>
          </p:cxnSp>
          <p:cxnSp>
            <p:nvCxnSpPr>
              <p:cNvPr id="63" name="직선 화살표 연결선 62"/>
              <p:cNvCxnSpPr/>
              <p:nvPr/>
            </p:nvCxnSpPr>
            <p:spPr>
              <a:xfrm>
                <a:off x="3510657" y="2719089"/>
                <a:ext cx="390784" cy="0"/>
              </a:xfrm>
              <a:prstGeom prst="straightConnector1">
                <a:avLst/>
              </a:prstGeom>
              <a:noFill/>
              <a:ln w="12700" cap="rnd">
                <a:solidFill>
                  <a:sysClr val="window" lastClr="FFFFFF">
                    <a:lumMod val="65000"/>
                  </a:sysClr>
                </a:solidFill>
                <a:round/>
                <a:headEnd/>
                <a:tailEnd type="triangle"/>
              </a:ln>
            </p:spPr>
          </p:cxnSp>
        </p:grpSp>
        <p:grpSp>
          <p:nvGrpSpPr>
            <p:cNvPr id="57" name="그룹 56"/>
            <p:cNvGrpSpPr/>
            <p:nvPr/>
          </p:nvGrpSpPr>
          <p:grpSpPr>
            <a:xfrm flipH="1">
              <a:off x="1288426" y="2858426"/>
              <a:ext cx="2613015" cy="0"/>
              <a:chOff x="1288426" y="2719089"/>
              <a:chExt cx="2613015" cy="0"/>
            </a:xfrm>
          </p:grpSpPr>
          <p:cxnSp>
            <p:nvCxnSpPr>
              <p:cNvPr id="58" name="직선 화살표 연결선 57"/>
              <p:cNvCxnSpPr/>
              <p:nvPr/>
            </p:nvCxnSpPr>
            <p:spPr>
              <a:xfrm>
                <a:off x="1288426" y="2719089"/>
                <a:ext cx="390784" cy="0"/>
              </a:xfrm>
              <a:prstGeom prst="straightConnector1">
                <a:avLst/>
              </a:prstGeom>
              <a:noFill/>
              <a:ln w="12700" cap="rnd">
                <a:solidFill>
                  <a:sysClr val="window" lastClr="FFFFFF">
                    <a:lumMod val="65000"/>
                  </a:sysClr>
                </a:solidFill>
                <a:round/>
                <a:headEnd/>
                <a:tailEnd type="triangle"/>
              </a:ln>
            </p:spPr>
          </p:cxnSp>
          <p:cxnSp>
            <p:nvCxnSpPr>
              <p:cNvPr id="59" name="직선 화살표 연결선 58"/>
              <p:cNvCxnSpPr/>
              <p:nvPr/>
            </p:nvCxnSpPr>
            <p:spPr>
              <a:xfrm>
                <a:off x="2399542" y="2719089"/>
                <a:ext cx="390783" cy="0"/>
              </a:xfrm>
              <a:prstGeom prst="straightConnector1">
                <a:avLst/>
              </a:prstGeom>
              <a:noFill/>
              <a:ln w="12700" cap="rnd">
                <a:solidFill>
                  <a:sysClr val="window" lastClr="FFFFFF">
                    <a:lumMod val="65000"/>
                  </a:sysClr>
                </a:solidFill>
                <a:round/>
                <a:headEnd/>
                <a:tailEnd type="triangle"/>
              </a:ln>
            </p:spPr>
          </p:cxnSp>
          <p:cxnSp>
            <p:nvCxnSpPr>
              <p:cNvPr id="60" name="직선 화살표 연결선 59"/>
              <p:cNvCxnSpPr/>
              <p:nvPr/>
            </p:nvCxnSpPr>
            <p:spPr>
              <a:xfrm>
                <a:off x="3510657" y="2719089"/>
                <a:ext cx="390784" cy="0"/>
              </a:xfrm>
              <a:prstGeom prst="straightConnector1">
                <a:avLst/>
              </a:prstGeom>
              <a:noFill/>
              <a:ln w="12700" cap="rnd">
                <a:solidFill>
                  <a:sysClr val="window" lastClr="FFFFFF">
                    <a:lumMod val="65000"/>
                  </a:sysClr>
                </a:solidFill>
                <a:round/>
                <a:headEnd/>
                <a:tailEnd type="triangle"/>
              </a:ln>
            </p:spPr>
          </p:cxnSp>
        </p:grpSp>
      </p:grpSp>
      <p:grpSp>
        <p:nvGrpSpPr>
          <p:cNvPr id="74" name="그룹 73"/>
          <p:cNvGrpSpPr/>
          <p:nvPr/>
        </p:nvGrpSpPr>
        <p:grpSpPr>
          <a:xfrm>
            <a:off x="908177" y="3692255"/>
            <a:ext cx="4161167" cy="1068523"/>
            <a:chOff x="514350" y="4586214"/>
            <a:chExt cx="4161167" cy="1670923"/>
          </a:xfrm>
        </p:grpSpPr>
        <p:sp>
          <p:nvSpPr>
            <p:cNvPr id="79" name="object 96"/>
            <p:cNvSpPr txBox="1"/>
            <p:nvPr/>
          </p:nvSpPr>
          <p:spPr>
            <a:xfrm>
              <a:off x="514350" y="4586214"/>
              <a:ext cx="4161167" cy="1670923"/>
            </a:xfrm>
            <a:prstGeom prst="rect">
              <a:avLst/>
            </a:prstGeom>
            <a:solidFill>
              <a:srgbClr val="EDF6FD"/>
            </a:solidFill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algn="ctr">
                <a:defRPr sz="2400" b="1">
                  <a:solidFill>
                    <a:prstClr val="black"/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B"/>
                <a:ea typeface="Rix고딕 B"/>
                <a:cs typeface="+mn-cs"/>
              </a:endParaRPr>
            </a:p>
          </p:txBody>
        </p:sp>
        <p:cxnSp>
          <p:nvCxnSpPr>
            <p:cNvPr id="80" name="직선 연결선 79"/>
            <p:cNvCxnSpPr/>
            <p:nvPr/>
          </p:nvCxnSpPr>
          <p:spPr>
            <a:xfrm>
              <a:off x="2594934" y="4727688"/>
              <a:ext cx="0" cy="1333232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75000"/>
                </a:sysClr>
              </a:solidFill>
              <a:prstDash val="sysDot"/>
              <a:headEnd type="none" w="med" len="med"/>
              <a:tailEnd type="none" w="med" len="med"/>
            </a:ln>
            <a:effectLst/>
          </p:spPr>
        </p:cxnSp>
      </p:grpSp>
      <p:pic>
        <p:nvPicPr>
          <p:cNvPr id="75" name="Picture 3" descr="D:\4. 자료\04. 회사 관련 자료\3. 데이타솔루션_ci\201606_데이타솔루션로고-최종본(가로-소)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392" y="3830279"/>
            <a:ext cx="924640" cy="13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모서리가 둥근 직사각형 75"/>
          <p:cNvSpPr/>
          <p:nvPr/>
        </p:nvSpPr>
        <p:spPr>
          <a:xfrm>
            <a:off x="969239" y="4086029"/>
            <a:ext cx="1830745" cy="559127"/>
          </a:xfrm>
          <a:prstGeom prst="roundRect">
            <a:avLst>
              <a:gd name="adj" fmla="val 0"/>
            </a:avLst>
          </a:prstGeom>
        </p:spPr>
        <p:txBody>
          <a:bodyPr wrap="square">
            <a:spAutoFit/>
          </a:bodyPr>
          <a:lstStyle/>
          <a:p>
            <a:pPr marL="92075" lvl="0" indent="-92075" defTabSz="914400" latinLnBrk="0">
              <a:spcAft>
                <a:spcPts val="200"/>
              </a:spcAft>
              <a:buClr>
                <a:srgbClr val="6A7680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gradFill>
                  <a:gsLst>
                    <a:gs pos="55417">
                      <a:prstClr val="black">
                        <a:lumMod val="85000"/>
                        <a:lumOff val="15000"/>
                      </a:prstClr>
                    </a:gs>
                    <a:gs pos="65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sym typeface="Wingdings" pitchFamily="2" charset="2"/>
              </a:rPr>
              <a:t>기술이전 계획검토 및 승인</a:t>
            </a:r>
          </a:p>
          <a:p>
            <a:pPr marL="92075" lvl="0" indent="-92075" defTabSz="914400" latinLnBrk="0">
              <a:spcAft>
                <a:spcPts val="200"/>
              </a:spcAft>
              <a:buClr>
                <a:srgbClr val="6A7680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gradFill>
                  <a:gsLst>
                    <a:gs pos="55417">
                      <a:prstClr val="black">
                        <a:lumMod val="85000"/>
                        <a:lumOff val="15000"/>
                      </a:prstClr>
                    </a:gs>
                    <a:gs pos="65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sym typeface="Wingdings" pitchFamily="2" charset="2"/>
              </a:rPr>
              <a:t>기술이전 추가요청</a:t>
            </a:r>
          </a:p>
          <a:p>
            <a:pPr marL="92075" lvl="0" indent="-92075" defTabSz="914400" latinLnBrk="0">
              <a:spcAft>
                <a:spcPts val="200"/>
              </a:spcAft>
              <a:buClr>
                <a:srgbClr val="6A7680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gradFill>
                  <a:gsLst>
                    <a:gs pos="55417">
                      <a:prstClr val="black">
                        <a:lumMod val="85000"/>
                        <a:lumOff val="15000"/>
                      </a:prstClr>
                    </a:gs>
                    <a:gs pos="65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sym typeface="Wingdings" pitchFamily="2" charset="2"/>
              </a:rPr>
              <a:t>쟁점 및 미결사항 검토</a:t>
            </a:r>
            <a:r>
              <a:rPr lang="en-US" altLang="ko-KR" sz="900" kern="0" dirty="0">
                <a:gradFill>
                  <a:gsLst>
                    <a:gs pos="55417">
                      <a:prstClr val="black">
                        <a:lumMod val="85000"/>
                        <a:lumOff val="15000"/>
                      </a:prstClr>
                    </a:gs>
                    <a:gs pos="65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sym typeface="Wingdings" pitchFamily="2" charset="2"/>
              </a:rPr>
              <a:t>/</a:t>
            </a:r>
            <a:r>
              <a:rPr lang="ko-KR" altLang="en-US" sz="900" kern="0" dirty="0">
                <a:gradFill>
                  <a:gsLst>
                    <a:gs pos="55417">
                      <a:prstClr val="black">
                        <a:lumMod val="85000"/>
                        <a:lumOff val="15000"/>
                      </a:prstClr>
                    </a:gs>
                    <a:gs pos="65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sym typeface="Wingdings" pitchFamily="2" charset="2"/>
              </a:rPr>
              <a:t>협의</a:t>
            </a:r>
          </a:p>
        </p:txBody>
      </p:sp>
      <p:sp>
        <p:nvSpPr>
          <p:cNvPr id="77" name="모서리가 둥근 직사각형 76"/>
          <p:cNvSpPr/>
          <p:nvPr/>
        </p:nvSpPr>
        <p:spPr>
          <a:xfrm>
            <a:off x="3105973" y="4081130"/>
            <a:ext cx="1830745" cy="559127"/>
          </a:xfrm>
          <a:prstGeom prst="roundRect">
            <a:avLst>
              <a:gd name="adj" fmla="val 0"/>
            </a:avLst>
          </a:prstGeom>
        </p:spPr>
        <p:txBody>
          <a:bodyPr wrap="square">
            <a:spAutoFit/>
          </a:bodyPr>
          <a:lstStyle/>
          <a:p>
            <a:pPr marL="92075" lvl="0" indent="-92075" defTabSz="914400" latinLnBrk="0">
              <a:spcAft>
                <a:spcPts val="200"/>
              </a:spcAft>
              <a:buClr>
                <a:srgbClr val="6A7680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gradFill>
                  <a:gsLst>
                    <a:gs pos="55417">
                      <a:prstClr val="black">
                        <a:lumMod val="85000"/>
                        <a:lumOff val="15000"/>
                      </a:prstClr>
                    </a:gs>
                    <a:gs pos="65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sym typeface="Wingdings" pitchFamily="2" charset="2"/>
              </a:rPr>
              <a:t>기술이전 대상 및 내용 결정</a:t>
            </a:r>
          </a:p>
          <a:p>
            <a:pPr marL="92075" lvl="0" indent="-92075" defTabSz="914400" latinLnBrk="0">
              <a:spcAft>
                <a:spcPts val="200"/>
              </a:spcAft>
              <a:buClr>
                <a:srgbClr val="6A7680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gradFill>
                  <a:gsLst>
                    <a:gs pos="55417">
                      <a:prstClr val="black">
                        <a:lumMod val="85000"/>
                        <a:lumOff val="15000"/>
                      </a:prstClr>
                    </a:gs>
                    <a:gs pos="65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sym typeface="Wingdings" pitchFamily="2" charset="2"/>
              </a:rPr>
              <a:t>기술이전 계획 수립 및 수행</a:t>
            </a:r>
          </a:p>
          <a:p>
            <a:pPr marL="92075" lvl="0" indent="-92075" defTabSz="914400" latinLnBrk="0">
              <a:spcAft>
                <a:spcPts val="200"/>
              </a:spcAft>
              <a:buClr>
                <a:srgbClr val="6A7680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900" kern="0" dirty="0">
                <a:gradFill>
                  <a:gsLst>
                    <a:gs pos="55417">
                      <a:prstClr val="black">
                        <a:lumMod val="85000"/>
                        <a:lumOff val="15000"/>
                      </a:prstClr>
                    </a:gs>
                    <a:gs pos="65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sym typeface="Wingdings" pitchFamily="2" charset="2"/>
              </a:rPr>
              <a:t>쟁점 및 미결사항 검토</a:t>
            </a:r>
            <a:r>
              <a:rPr lang="en-US" altLang="ko-KR" sz="900" kern="0" dirty="0">
                <a:gradFill>
                  <a:gsLst>
                    <a:gs pos="55417">
                      <a:prstClr val="black">
                        <a:lumMod val="85000"/>
                        <a:lumOff val="15000"/>
                      </a:prstClr>
                    </a:gs>
                    <a:gs pos="65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sym typeface="Wingdings" pitchFamily="2" charset="2"/>
              </a:rPr>
              <a:t>/</a:t>
            </a:r>
            <a:r>
              <a:rPr lang="ko-KR" altLang="en-US" sz="900" kern="0" dirty="0">
                <a:gradFill>
                  <a:gsLst>
                    <a:gs pos="55417">
                      <a:prstClr val="black">
                        <a:lumMod val="85000"/>
                        <a:lumOff val="15000"/>
                      </a:prstClr>
                    </a:gs>
                    <a:gs pos="65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sym typeface="Wingdings" pitchFamily="2" charset="2"/>
              </a:rPr>
              <a:t>협의</a:t>
            </a:r>
          </a:p>
        </p:txBody>
      </p:sp>
      <p:cxnSp>
        <p:nvCxnSpPr>
          <p:cNvPr id="81" name="직선 연결선 80"/>
          <p:cNvCxnSpPr/>
          <p:nvPr/>
        </p:nvCxnSpPr>
        <p:spPr>
          <a:xfrm>
            <a:off x="908177" y="3692255"/>
            <a:ext cx="4161167" cy="0"/>
          </a:xfrm>
          <a:prstGeom prst="line">
            <a:avLst/>
          </a:prstGeom>
          <a:noFill/>
          <a:ln w="12700" cap="flat" cmpd="sng" algn="ctr">
            <a:solidFill>
              <a:srgbClr val="255A7B">
                <a:lumMod val="40000"/>
                <a:lumOff val="60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82" name="Picture 2" descr="이투스교육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120" y="3774915"/>
            <a:ext cx="865259" cy="23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그룹 31"/>
          <p:cNvGrpSpPr/>
          <p:nvPr/>
        </p:nvGrpSpPr>
        <p:grpSpPr>
          <a:xfrm>
            <a:off x="5633368" y="3386661"/>
            <a:ext cx="4172078" cy="3399579"/>
            <a:chOff x="5633368" y="3386661"/>
            <a:chExt cx="4172078" cy="3399579"/>
          </a:xfrm>
        </p:grpSpPr>
        <p:grpSp>
          <p:nvGrpSpPr>
            <p:cNvPr id="13" name="그룹 12"/>
            <p:cNvGrpSpPr/>
            <p:nvPr/>
          </p:nvGrpSpPr>
          <p:grpSpPr>
            <a:xfrm>
              <a:off x="5724957" y="3386661"/>
              <a:ext cx="3992787" cy="3399579"/>
              <a:chOff x="5280404" y="2534975"/>
              <a:chExt cx="3927873" cy="2827844"/>
            </a:xfrm>
          </p:grpSpPr>
          <p:cxnSp>
            <p:nvCxnSpPr>
              <p:cNvPr id="19" name="직선 화살표 연결선 18"/>
              <p:cNvCxnSpPr/>
              <p:nvPr/>
            </p:nvCxnSpPr>
            <p:spPr>
              <a:xfrm>
                <a:off x="7000931" y="3037202"/>
                <a:ext cx="514684" cy="0"/>
              </a:xfrm>
              <a:prstGeom prst="straightConnector1">
                <a:avLst/>
              </a:prstGeom>
              <a:noFill/>
              <a:ln w="19050" cap="flat" cmpd="sng" algn="ctr">
                <a:noFill/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0" name="직선 화살표 연결선 19"/>
              <p:cNvCxnSpPr/>
              <p:nvPr/>
            </p:nvCxnSpPr>
            <p:spPr>
              <a:xfrm>
                <a:off x="7000932" y="3836360"/>
                <a:ext cx="514684" cy="0"/>
              </a:xfrm>
              <a:prstGeom prst="straightConnector1">
                <a:avLst/>
              </a:prstGeom>
              <a:noFill/>
              <a:ln w="19050" cap="flat" cmpd="sng" algn="ctr">
                <a:noFill/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1" name="직선 화살표 연결선 20"/>
              <p:cNvCxnSpPr/>
              <p:nvPr/>
            </p:nvCxnSpPr>
            <p:spPr>
              <a:xfrm>
                <a:off x="7000931" y="4643895"/>
                <a:ext cx="514684" cy="0"/>
              </a:xfrm>
              <a:prstGeom prst="straightConnector1">
                <a:avLst/>
              </a:prstGeom>
              <a:noFill/>
              <a:ln w="19050" cap="flat" cmpd="sng" algn="ctr">
                <a:noFill/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grpSp>
            <p:nvGrpSpPr>
              <p:cNvPr id="22" name="그룹 21"/>
              <p:cNvGrpSpPr/>
              <p:nvPr/>
            </p:nvGrpSpPr>
            <p:grpSpPr>
              <a:xfrm>
                <a:off x="6475171" y="2534975"/>
                <a:ext cx="2733106" cy="2827844"/>
                <a:chOff x="2600103" y="1772816"/>
                <a:chExt cx="2008854" cy="2460219"/>
              </a:xfrm>
            </p:grpSpPr>
            <p:sp>
              <p:nvSpPr>
                <p:cNvPr id="33" name="직사각형 32"/>
                <p:cNvSpPr/>
                <p:nvPr/>
              </p:nvSpPr>
              <p:spPr>
                <a:xfrm>
                  <a:off x="2600103" y="1772816"/>
                  <a:ext cx="2008854" cy="246021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lIns="91319" tIns="45662" rIns="91319" bIns="45662" rtlCol="0" anchor="ctr"/>
                <a:lstStyle/>
                <a:p>
                  <a:pPr marL="0" marR="0" lvl="0" indent="0" algn="ctr" defTabSz="95632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endParaRPr>
                </a:p>
              </p:txBody>
            </p:sp>
            <p:sp>
              <p:nvSpPr>
                <p:cNvPr id="34" name="모서리가 둥근 직사각형 33"/>
                <p:cNvSpPr/>
                <p:nvPr/>
              </p:nvSpPr>
              <p:spPr>
                <a:xfrm>
                  <a:off x="2720697" y="1816235"/>
                  <a:ext cx="1875294" cy="702000"/>
                </a:xfrm>
                <a:prstGeom prst="roundRect">
                  <a:avLst>
                    <a:gd name="adj" fmla="val 0"/>
                  </a:avLst>
                </a:prstGeom>
                <a:noFill/>
                <a:ln w="19050" cap="flat" cmpd="sng" algn="ctr">
                  <a:noFill/>
                  <a:prstDash val="solid"/>
                </a:ln>
                <a:effectLst/>
              </p:spPr>
              <p:txBody>
                <a:bodyPr wrap="square" lIns="33055" tIns="33055" rIns="33055" bIns="33055" rtlCol="0" anchor="ctr">
                  <a:normAutofit/>
                </a:bodyPr>
                <a:lstStyle/>
                <a:p>
                  <a:pPr marL="92075" marR="0" lvl="0" indent="-92075" defTabSz="912846" eaLnBrk="1" fontAlgn="auto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ts val="0"/>
                    </a:spcAft>
                    <a:buClr>
                      <a:srgbClr val="7D7C7F"/>
                    </a:buClr>
                    <a:buSzPct val="90000"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구축 시스템에서 발견된 응용프로그램</a:t>
                  </a: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/>
                  </a:r>
                  <a:b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</a:b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자체 버그 및 결함 즉시 수정</a:t>
                  </a: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prstClr val="black">
                            <a:lumMod val="75000"/>
                            <a:lumOff val="25000"/>
                          </a:prstClr>
                        </a:gs>
                        <a:gs pos="100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 panose="02020603020101020101" pitchFamily="18" charset="-127"/>
                    <a:ea typeface="Rix고딕 B" panose="02020603020101020101" pitchFamily="18" charset="-127"/>
                    <a:sym typeface="Wingdings" pitchFamily="2" charset="2"/>
                  </a:endParaRPr>
                </a:p>
                <a:p>
                  <a:pPr marL="92075" marR="0" lvl="0" indent="-92075" defTabSz="912846" eaLnBrk="1" fontAlgn="auto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ts val="0"/>
                    </a:spcAft>
                    <a:buClr>
                      <a:srgbClr val="7D7C7F"/>
                    </a:buClr>
                    <a:buSzPct val="90000"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상세 설계에 반영된 요구사항이 충족되지 않았을 경우의 보완</a:t>
                  </a: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prstClr val="black">
                            <a:lumMod val="75000"/>
                            <a:lumOff val="25000"/>
                          </a:prstClr>
                        </a:gs>
                        <a:gs pos="100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 panose="02020603020101020101" pitchFamily="18" charset="-127"/>
                    <a:ea typeface="Rix고딕 B" panose="02020603020101020101" pitchFamily="18" charset="-127"/>
                    <a:sym typeface="Wingdings" pitchFamily="2" charset="2"/>
                  </a:endParaRPr>
                </a:p>
              </p:txBody>
            </p:sp>
            <p:sp>
              <p:nvSpPr>
                <p:cNvPr id="35" name="모서리가 둥근 직사각형 34"/>
                <p:cNvSpPr/>
                <p:nvPr/>
              </p:nvSpPr>
              <p:spPr>
                <a:xfrm>
                  <a:off x="2720697" y="2657725"/>
                  <a:ext cx="1875294" cy="702000"/>
                </a:xfrm>
                <a:prstGeom prst="roundRect">
                  <a:avLst>
                    <a:gd name="adj" fmla="val 0"/>
                  </a:avLst>
                </a:prstGeom>
                <a:noFill/>
                <a:ln w="19050" cap="flat" cmpd="sng" algn="ctr">
                  <a:noFill/>
                  <a:prstDash val="solid"/>
                </a:ln>
                <a:effectLst/>
              </p:spPr>
              <p:txBody>
                <a:bodyPr wrap="square" lIns="33055" tIns="33055" rIns="33055" bIns="33055" rtlCol="0" anchor="ctr"/>
                <a:lstStyle/>
                <a:p>
                  <a:pPr marL="92075" marR="0" lvl="0" indent="-92075" defTabSz="912846" eaLnBrk="1" fontAlgn="auto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ts val="0"/>
                    </a:spcAft>
                    <a:buClr>
                      <a:srgbClr val="7D7C7F"/>
                    </a:buClr>
                    <a:buSzPct val="90000"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무상 </a:t>
                  </a:r>
                  <a:r>
                    <a:rPr lang="ko-KR" altLang="en-US" sz="1050" kern="0" dirty="0"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하자</a:t>
                  </a: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보수 기간이라도 법</a:t>
                  </a: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, </a:t>
                  </a: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제도 등</a:t>
                  </a: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/>
                  </a:r>
                  <a:b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</a:b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운영 환경 변화에 대응하기 위한</a:t>
                  </a: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/>
                  </a:r>
                  <a:b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</a:b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프로그램 수정</a:t>
                  </a: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 </a:t>
                  </a: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및 보수</a:t>
                  </a: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 </a:t>
                  </a:r>
                </a:p>
                <a:p>
                  <a:pPr marL="92075" marR="0" lvl="0" indent="-92075" defTabSz="912846" eaLnBrk="1" fontAlgn="auto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ts val="0"/>
                    </a:spcAft>
                    <a:buClr>
                      <a:srgbClr val="7D7C7F"/>
                    </a:buClr>
                    <a:buSzPct val="90000"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사용자의 고의</a:t>
                  </a: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/</a:t>
                  </a: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과실 및 천재지변에</a:t>
                  </a: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/>
                  </a:r>
                  <a:b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</a:b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의한 유지보수사항 보수</a:t>
                  </a:r>
                </a:p>
              </p:txBody>
            </p:sp>
            <p:sp>
              <p:nvSpPr>
                <p:cNvPr id="36" name="모서리가 둥근 직사각형 35"/>
                <p:cNvSpPr/>
                <p:nvPr/>
              </p:nvSpPr>
              <p:spPr>
                <a:xfrm>
                  <a:off x="2720697" y="3478927"/>
                  <a:ext cx="1875294" cy="702000"/>
                </a:xfrm>
                <a:prstGeom prst="roundRect">
                  <a:avLst>
                    <a:gd name="adj" fmla="val 0"/>
                  </a:avLst>
                </a:prstGeom>
                <a:noFill/>
                <a:ln w="19050" cap="flat" cmpd="sng" algn="ctr">
                  <a:noFill/>
                  <a:prstDash val="solid"/>
                </a:ln>
                <a:effectLst/>
              </p:spPr>
              <p:txBody>
                <a:bodyPr wrap="square" lIns="33055" tIns="33055" rIns="33055" bIns="33055" rtlCol="0" anchor="ctr"/>
                <a:lstStyle/>
                <a:p>
                  <a:pPr marL="92075" marR="0" lvl="0" indent="-92075" defTabSz="912846" eaLnBrk="1" fontAlgn="auto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ts val="0"/>
                    </a:spcAft>
                    <a:buClr>
                      <a:srgbClr val="7D7C7F"/>
                    </a:buClr>
                    <a:buSzPct val="90000"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주기적인 점검을 통한 장애 예방</a:t>
                  </a: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prstClr val="black">
                            <a:lumMod val="75000"/>
                            <a:lumOff val="25000"/>
                          </a:prstClr>
                        </a:gs>
                        <a:gs pos="100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 panose="02020603020101020101" pitchFamily="18" charset="-127"/>
                    <a:ea typeface="Rix고딕 B" panose="02020603020101020101" pitchFamily="18" charset="-127"/>
                    <a:sym typeface="Wingdings" pitchFamily="2" charset="2"/>
                  </a:endParaRPr>
                </a:p>
                <a:p>
                  <a:pPr marL="0" marR="0" lvl="0" indent="95250" defTabSz="912846" eaLnBrk="1" fontAlgn="auto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ts val="0"/>
                    </a:spcAft>
                    <a:buClr>
                      <a:srgbClr val="7D7C7F"/>
                    </a:buClr>
                    <a:buSzPct val="90000"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- </a:t>
                  </a:r>
                  <a:r>
                    <a:rPr kumimoji="0" lang="ko-KR" altLang="en-US" sz="9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장애발생의 최소화 및 사전예방</a:t>
                  </a:r>
                  <a:endPara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prstClr val="black">
                            <a:lumMod val="75000"/>
                            <a:lumOff val="25000"/>
                          </a:prstClr>
                        </a:gs>
                        <a:gs pos="100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 panose="02020603020101020101" pitchFamily="18" charset="-127"/>
                    <a:ea typeface="Rix고딕 B" panose="02020603020101020101" pitchFamily="18" charset="-127"/>
                    <a:sym typeface="Wingdings" pitchFamily="2" charset="2"/>
                  </a:endParaRPr>
                </a:p>
                <a:p>
                  <a:pPr marL="92075" marR="0" lvl="0" indent="-92075" defTabSz="912846" eaLnBrk="1" fontAlgn="auto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ts val="0"/>
                    </a:spcAft>
                    <a:buClr>
                      <a:srgbClr val="7D7C7F"/>
                    </a:buClr>
                    <a:buSzPct val="90000"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장애 발생 시 </a:t>
                  </a:r>
                  <a:r>
                    <a:rPr kumimoji="0" lang="ko-KR" altLang="en-US" sz="1050" b="0" i="0" u="none" strike="noStrike" kern="0" cap="none" spc="0" normalizeH="0" baseline="0" noProof="0" dirty="0" err="1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운영팀의</a:t>
                  </a:r>
                  <a:r>
                    <a:rPr kumimoji="0" lang="ko-KR" altLang="en-US" sz="105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 신속한 대처 지원</a:t>
                  </a: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prstClr val="black">
                            <a:lumMod val="75000"/>
                            <a:lumOff val="25000"/>
                          </a:prstClr>
                        </a:gs>
                        <a:gs pos="100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 panose="02020603020101020101" pitchFamily="18" charset="-127"/>
                    <a:ea typeface="Rix고딕 B" panose="02020603020101020101" pitchFamily="18" charset="-127"/>
                    <a:sym typeface="Wingdings" pitchFamily="2" charset="2"/>
                  </a:endParaRPr>
                </a:p>
                <a:p>
                  <a:pPr marL="0" marR="0" lvl="0" indent="95250" defTabSz="912846" eaLnBrk="1" fontAlgn="auto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ts val="0"/>
                    </a:spcAft>
                    <a:buClr>
                      <a:srgbClr val="7D7C7F"/>
                    </a:buClr>
                    <a:buSzPct val="90000"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- </a:t>
                  </a:r>
                  <a:r>
                    <a:rPr kumimoji="0" lang="ko-KR" altLang="en-US" sz="9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prstClr val="black">
                              <a:lumMod val="75000"/>
                              <a:lumOff val="25000"/>
                            </a:prstClr>
                          </a:gs>
                          <a:gs pos="100000">
                            <a:prstClr val="black">
                              <a:lumMod val="75000"/>
                              <a:lumOff val="25000"/>
                            </a:prstClr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Rix고딕 B" panose="02020603020101020101" pitchFamily="18" charset="-127"/>
                      <a:ea typeface="Rix고딕 B" panose="02020603020101020101" pitchFamily="18" charset="-127"/>
                      <a:sym typeface="Wingdings" pitchFamily="2" charset="2"/>
                    </a:rPr>
                    <a:t>장애 유형별 문제 해결방안 제시</a:t>
                  </a:r>
                  <a:endPara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prstClr val="black">
                            <a:lumMod val="75000"/>
                            <a:lumOff val="25000"/>
                          </a:prstClr>
                        </a:gs>
                        <a:gs pos="100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Rix고딕 B" panose="02020603020101020101" pitchFamily="18" charset="-127"/>
                    <a:ea typeface="Rix고딕 B" panose="02020603020101020101" pitchFamily="18" charset="-127"/>
                    <a:sym typeface="Wingdings" pitchFamily="2" charset="2"/>
                  </a:endParaRPr>
                </a:p>
              </p:txBody>
            </p:sp>
          </p:grpSp>
          <p:grpSp>
            <p:nvGrpSpPr>
              <p:cNvPr id="23" name="그룹 22"/>
              <p:cNvGrpSpPr/>
              <p:nvPr/>
            </p:nvGrpSpPr>
            <p:grpSpPr>
              <a:xfrm>
                <a:off x="5280404" y="2534975"/>
                <a:ext cx="1283313" cy="2827844"/>
                <a:chOff x="693667" y="1772816"/>
                <a:chExt cx="1855118" cy="2460219"/>
              </a:xfrm>
            </p:grpSpPr>
            <p:sp>
              <p:nvSpPr>
                <p:cNvPr id="28" name="모서리가 둥근 직사각형 27"/>
                <p:cNvSpPr/>
                <p:nvPr/>
              </p:nvSpPr>
              <p:spPr>
                <a:xfrm>
                  <a:off x="693667" y="1772816"/>
                  <a:ext cx="1855118" cy="2460219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3"/>
                </a:solidFill>
                <a:ln w="19050" cap="flat" cmpd="sng" algn="ctr">
                  <a:noFill/>
                  <a:prstDash val="solid"/>
                </a:ln>
                <a:effectLst/>
              </p:spPr>
              <p:txBody>
                <a:bodyPr lIns="91319" tIns="45662" rIns="91319" bIns="45662" rtlCol="0" anchor="ctr"/>
                <a:lstStyle/>
                <a:p>
                  <a:pPr marL="0" marR="0" lvl="0" indent="0" algn="ctr" defTabSz="95632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ix고딕 M" panose="02020603020101020101" pitchFamily="18" charset="-127"/>
                    <a:ea typeface="Rix고딕 M" panose="02020603020101020101" pitchFamily="18" charset="-127"/>
                    <a:cs typeface="+mn-cs"/>
                  </a:endParaRPr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834243" y="1887552"/>
                  <a:ext cx="1573207" cy="521982"/>
                </a:xfrm>
                <a:prstGeom prst="rect">
                  <a:avLst/>
                </a:prstGeom>
                <a:noFill/>
                <a:ln w="19050" cap="flat" cmpd="sng" algn="ctr">
                  <a:noFill/>
                  <a:prstDash val="solid"/>
                </a:ln>
                <a:effectLst/>
              </p:spPr>
              <p:txBody>
                <a:bodyPr wrap="square" lIns="33055" tIns="33055" rIns="33055" bIns="33055" rtlCol="0" anchor="ctr"/>
                <a:lstStyle/>
                <a:p>
                  <a:pPr marL="0" marR="0" lvl="0" indent="0" algn="ctr" defTabSz="91284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4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4167">
                            <a:schemeClr val="bg1"/>
                          </a:gs>
                          <a:gs pos="30000">
                            <a:schemeClr val="bg1"/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sym typeface="Monotype Sorts"/>
                    </a:rPr>
                    <a:t>무상 </a:t>
                  </a:r>
                  <a:r>
                    <a:rPr lang="ko-KR" altLang="en-US" sz="1400" kern="0" dirty="0">
                      <a:gradFill>
                        <a:gsLst>
                          <a:gs pos="4167">
                            <a:schemeClr val="bg1"/>
                          </a:gs>
                          <a:gs pos="30000">
                            <a:schemeClr val="bg1"/>
                          </a:gs>
                        </a:gsLst>
                        <a:lin ang="16200000" scaled="1"/>
                      </a:gradFill>
                      <a:sym typeface="Monotype Sorts"/>
                    </a:rPr>
                    <a:t>하자</a:t>
                  </a:r>
                  <a:r>
                    <a:rPr kumimoji="0" lang="ko-KR" altLang="en-US" sz="14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4167">
                            <a:schemeClr val="bg1"/>
                          </a:gs>
                          <a:gs pos="30000">
                            <a:schemeClr val="bg1"/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sym typeface="Monotype Sorts"/>
                    </a:rPr>
                    <a:t>보수</a:t>
                  </a:r>
                </a:p>
                <a:p>
                  <a:pPr marL="0" marR="0" lvl="0" indent="0" algn="ctr" defTabSz="91284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4167">
                            <a:schemeClr val="bg1"/>
                          </a:gs>
                          <a:gs pos="30000">
                            <a:schemeClr val="bg1"/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sym typeface="Monotype Sorts"/>
                    </a:rPr>
                    <a:t>(12</a:t>
                  </a:r>
                  <a:r>
                    <a:rPr kumimoji="0" lang="ko-KR" altLang="en-US" sz="14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4167">
                            <a:schemeClr val="bg1"/>
                          </a:gs>
                          <a:gs pos="30000">
                            <a:schemeClr val="bg1"/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sym typeface="Monotype Sorts"/>
                    </a:rPr>
                    <a:t>개월</a:t>
                  </a:r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4167">
                            <a:schemeClr val="bg1"/>
                          </a:gs>
                          <a:gs pos="30000">
                            <a:schemeClr val="bg1"/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sym typeface="Monotype Sorts"/>
                    </a:rPr>
                    <a:t>)</a:t>
                  </a:r>
                </a:p>
              </p:txBody>
            </p:sp>
            <p:sp>
              <p:nvSpPr>
                <p:cNvPr id="30" name="직사각형 29"/>
                <p:cNvSpPr/>
                <p:nvPr/>
              </p:nvSpPr>
              <p:spPr>
                <a:xfrm>
                  <a:off x="834243" y="2676522"/>
                  <a:ext cx="1573207" cy="521982"/>
                </a:xfrm>
                <a:prstGeom prst="rect">
                  <a:avLst/>
                </a:prstGeom>
                <a:noFill/>
                <a:ln w="19050" cap="flat" cmpd="sng" algn="ctr">
                  <a:noFill/>
                  <a:prstDash val="solid"/>
                </a:ln>
                <a:effectLst/>
              </p:spPr>
              <p:txBody>
                <a:bodyPr wrap="square" lIns="33055" tIns="33055" rIns="33055" bIns="33055" rtlCol="0" anchor="ctr"/>
                <a:lstStyle/>
                <a:p>
                  <a:pPr marL="0" marR="0" lvl="0" indent="0" algn="ctr" defTabSz="91284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4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4167">
                            <a:schemeClr val="bg1"/>
                          </a:gs>
                          <a:gs pos="30000">
                            <a:schemeClr val="bg1"/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sym typeface="Monotype Sorts"/>
                    </a:rPr>
                    <a:t>유상 유지보수</a:t>
                  </a:r>
                </a:p>
              </p:txBody>
            </p:sp>
            <p:sp>
              <p:nvSpPr>
                <p:cNvPr id="31" name="직사각형 30"/>
                <p:cNvSpPr/>
                <p:nvPr/>
              </p:nvSpPr>
              <p:spPr>
                <a:xfrm>
                  <a:off x="760553" y="3560649"/>
                  <a:ext cx="1720598" cy="521982"/>
                </a:xfrm>
                <a:prstGeom prst="rect">
                  <a:avLst/>
                </a:prstGeom>
                <a:noFill/>
                <a:ln w="19050" cap="flat" cmpd="sng" algn="ctr">
                  <a:noFill/>
                  <a:prstDash val="solid"/>
                </a:ln>
                <a:effectLst/>
              </p:spPr>
              <p:txBody>
                <a:bodyPr wrap="square" lIns="33055" tIns="33055" rIns="33055" bIns="33055" rtlCol="0" anchor="ctr"/>
                <a:lstStyle/>
                <a:p>
                  <a:pPr marL="0" marR="0" lvl="0" indent="0" algn="ctr" defTabSz="91284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4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4167">
                            <a:schemeClr val="bg1"/>
                          </a:gs>
                          <a:gs pos="30000">
                            <a:schemeClr val="bg1"/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sym typeface="Monotype Sorts"/>
                    </a:rPr>
                    <a:t>장애 대응</a:t>
                  </a:r>
                  <a:endParaRPr kumimoji="0" lang="en-US" altLang="ko-KR" sz="14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4167">
                          <a:schemeClr val="bg1"/>
                        </a:gs>
                        <a:gs pos="30000">
                          <a:schemeClr val="bg1"/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sym typeface="Monotype Sorts"/>
                  </a:endParaRPr>
                </a:p>
              </p:txBody>
            </p:sp>
          </p:grpSp>
        </p:grpSp>
        <p:sp>
          <p:nvSpPr>
            <p:cNvPr id="18" name="직사각형 17"/>
            <p:cNvSpPr/>
            <p:nvPr/>
          </p:nvSpPr>
          <p:spPr>
            <a:xfrm>
              <a:off x="5633368" y="4416695"/>
              <a:ext cx="4172078" cy="7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5633368" y="5582107"/>
              <a:ext cx="4172078" cy="7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3" name="모서리가 둥근 직사각형 72"/>
          <p:cNvSpPr/>
          <p:nvPr/>
        </p:nvSpPr>
        <p:spPr>
          <a:xfrm>
            <a:off x="909593" y="6661031"/>
            <a:ext cx="4293087" cy="255442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</a:ln>
          <a:effectLst/>
        </p:spPr>
        <p:txBody>
          <a:bodyPr wrap="square" lIns="33055" tIns="33055" rIns="33055" bIns="33055" rtlCol="0" anchor="ctr">
            <a:normAutofit/>
          </a:bodyPr>
          <a:lstStyle/>
          <a:p>
            <a:pPr marR="0" lvl="0" defTabSz="912846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D7C7F"/>
              </a:buClr>
              <a:buSzPct val="90000"/>
              <a:tabLst/>
              <a:defRPr/>
            </a:pPr>
            <a:r>
              <a:rPr lang="en-US" altLang="ko-KR" sz="8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※ </a:t>
            </a:r>
            <a:r>
              <a:rPr lang="ko-KR" altLang="en-US" sz="8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교육내용</a:t>
            </a:r>
            <a:r>
              <a:rPr lang="en-US" altLang="ko-KR" sz="8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/</a:t>
            </a:r>
            <a:r>
              <a:rPr lang="ko-KR" altLang="en-US" sz="8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기간은 협의 후 변경될</a:t>
            </a:r>
            <a:r>
              <a:rPr lang="en-US" altLang="ko-KR" sz="8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 </a:t>
            </a:r>
            <a:r>
              <a:rPr lang="ko-KR" altLang="en-US" sz="800" kern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16200000" scaled="1"/>
                </a:gra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rPr>
              <a:t>수 있음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16200000" scaled="1"/>
              </a:gradFill>
              <a:effectLst/>
              <a:uLnTx/>
              <a:uFillTx/>
              <a:latin typeface="Rix고딕 B" panose="02020603020101020101" pitchFamily="18" charset="-127"/>
              <a:ea typeface="Rix고딕 B" panose="02020603020101020101" pitchFamily="18" charset="-127"/>
              <a:sym typeface="Wingdings" pitchFamily="2" charset="2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교육 및 유지보수 계획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0" r="100000">
                        <a14:foregroundMark x1="4444" y1="25000" x2="4444" y2="25000"/>
                        <a14:foregroundMark x1="9630" y1="50000" x2="9630" y2="50000"/>
                        <a14:foregroundMark x1="19259" y1="63636" x2="19259" y2="63636"/>
                        <a14:foregroundMark x1="40000" y1="20455" x2="40000" y2="20455"/>
                        <a14:foregroundMark x1="51852" y1="27273" x2="51852" y2="27273"/>
                        <a14:foregroundMark x1="56296" y1="38636" x2="56296" y2="38636"/>
                        <a14:foregroundMark x1="69630" y1="36364" x2="69630" y2="36364"/>
                        <a14:foregroundMark x1="76296" y1="36364" x2="76296" y2="36364"/>
                        <a14:foregroundMark x1="4444" y1="15909" x2="4444" y2="15909"/>
                        <a14:foregroundMark x1="30370" y1="81818" x2="30370" y2="81818"/>
                        <a14:backgroundMark x1="13333" y1="20455" x2="13333" y2="20455"/>
                        <a14:backgroundMark x1="22963" y1="25000" x2="22963" y2="25000"/>
                        <a14:backgroundMark x1="18519" y1="34091" x2="18519" y2="34091"/>
                        <a14:backgroundMark x1="9630" y1="34091" x2="9630" y2="34091"/>
                        <a14:backgroundMark x1="14074" y1="43182" x2="14074" y2="43182"/>
                        <a14:backgroundMark x1="11111" y1="65909" x2="11111" y2="65909"/>
                        <a14:backgroundMark x1="17778" y1="86364" x2="17778" y2="86364"/>
                        <a14:backgroundMark x1="31111" y1="70455" x2="31111" y2="70455"/>
                        <a14:backgroundMark x1="43704" y1="68182" x2="43704" y2="68182"/>
                        <a14:backgroundMark x1="45185" y1="15909" x2="45185" y2="15909"/>
                        <a14:backgroundMark x1="60000" y1="11364" x2="60000" y2="11364"/>
                        <a14:backgroundMark x1="71111" y1="9091" x2="71111" y2="9091"/>
                        <a14:backgroundMark x1="83704" y1="70455" x2="83704" y2="70455"/>
                        <a14:backgroundMark x1="69630" y1="70455" x2="69630" y2="70455"/>
                        <a14:backgroundMark x1="62222" y1="65909" x2="62222" y2="65909"/>
                        <a14:backgroundMark x1="64444" y1="31818" x2="64444" y2="31818"/>
                        <a14:backgroundMark x1="59259" y1="29545" x2="59259" y2="29545"/>
                        <a14:backgroundMark x1="45926" y1="29545" x2="45926" y2="29545"/>
                        <a14:backgroundMark x1="27407" y1="38636" x2="27407" y2="38636"/>
                        <a14:backgroundMark x1="25185" y1="79545" x2="25185" y2="79545"/>
                        <a14:backgroundMark x1="14815" y1="79545" x2="14815" y2="79545"/>
                        <a14:backgroundMark x1="38519" y1="72727" x2="38519" y2="72727"/>
                        <a14:backgroundMark x1="52593" y1="72727" x2="52593" y2="72727"/>
                        <a14:backgroundMark x1="34074" y1="31818" x2="34074" y2="31818"/>
                        <a14:backgroundMark x1="44444" y1="50000" x2="44444" y2="50000"/>
                        <a14:backgroundMark x1="70370" y1="61364" x2="70370" y2="61364"/>
                        <a14:backgroundMark x1="60741" y1="52273" x2="60741" y2="52273"/>
                        <a14:backgroundMark x1="73333" y1="34091" x2="73333" y2="34091"/>
                        <a14:backgroundMark x1="80000" y1="11364" x2="80000" y2="11364"/>
                        <a14:backgroundMark x1="80000" y1="88636" x2="80000" y2="88636"/>
                        <a14:backgroundMark x1="93333" y1="88636" x2="93333" y2="88636"/>
                        <a14:backgroundMark x1="88148" y1="75000" x2="88148" y2="75000"/>
                        <a14:backgroundMark x1="88148" y1="34091" x2="88148" y2="34091"/>
                        <a14:backgroundMark x1="90370" y1="9091" x2="90370" y2="9091"/>
                        <a14:backgroundMark x1="97778" y1="11364" x2="97778" y2="11364"/>
                        <a14:backgroundMark x1="62963" y1="97727" x2="62963" y2="97727"/>
                        <a14:backgroundMark x1="69630" y1="97727" x2="69630" y2="97727"/>
                        <a14:backgroundMark x1="8889" y1="95455" x2="8889" y2="95455"/>
                        <a14:backgroundMark x1="33333" y1="97727" x2="33333" y2="97727"/>
                        <a14:backgroundMark x1="37778" y1="97727" x2="37778" y2="97727"/>
                        <a14:backgroundMark x1="42222" y1="97727" x2="42222" y2="97727"/>
                        <a14:backgroundMark x1="47407" y1="97727" x2="47407" y2="97727"/>
                        <a14:backgroundMark x1="741" y1="45455" x2="741" y2="45455"/>
                        <a14:backgroundMark x1="52593" y1="97727" x2="52593" y2="977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660" y="3782725"/>
            <a:ext cx="675689" cy="22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684868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2563503" y="4284701"/>
            <a:ext cx="5679842" cy="295466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  <a:effectLst/>
        </p:spPr>
        <p:txBody>
          <a:bodyPr vert="horz" wrap="square" lIns="0" tIns="0" rIns="0" bIns="0" rtlCol="0" anchor="t">
            <a:spAutoFit/>
            <a:scene3d>
              <a:camera prst="orthographicFront"/>
              <a:lightRig rig="threePt" dir="t"/>
            </a:scene3d>
            <a:sp3d prstMaterial="softEdge">
              <a:bevelT w="0" h="0"/>
              <a:contourClr>
                <a:schemeClr val="bg1"/>
              </a:contourClr>
            </a:sp3d>
          </a:bodyPr>
          <a:lstStyle>
            <a:lvl1pPr marL="0" indent="0" algn="l" defTabSz="914400" rtl="0" eaLnBrk="1" latinLnBrk="1" hangingPunct="1">
              <a:spcBef>
                <a:spcPct val="0"/>
              </a:spcBef>
              <a:buFont typeface="Arial" pitchFamily="34" charset="0"/>
              <a:buNone/>
              <a:defRPr kumimoji="1" lang="ko-KR" altLang="en-US" sz="4400" b="0" i="0" u="none" strike="noStrike" kern="0" cap="none" spc="0" normalizeH="0" baseline="0">
                <a:ln w="15875" cmpd="sng">
                  <a:noFill/>
                  <a:prstDash val="solid"/>
                </a:ln>
                <a:gradFill>
                  <a:gsLst>
                    <a:gs pos="0">
                      <a:schemeClr val="tx1">
                        <a:lumMod val="90000"/>
                        <a:lumOff val="10000"/>
                      </a:schemeClr>
                    </a:gs>
                    <a:gs pos="50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effectLst/>
                <a:uLnTx/>
                <a:uFillTx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ko-KR" altLang="en-US" sz="16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문제은행 </a:t>
            </a:r>
            <a:r>
              <a:rPr lang="en-US" altLang="ko-KR" sz="16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DB</a:t>
            </a:r>
            <a:r>
              <a:rPr lang="ko-KR" altLang="en-US" sz="16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통합 프로젝트 │ 착수보고</a:t>
            </a:r>
            <a:endParaRPr lang="en-US" altLang="ko-KR" sz="1600" dirty="0">
              <a:ln w="15875" cmpd="sng">
                <a:solidFill>
                  <a:schemeClr val="accent1">
                    <a:alpha val="0"/>
                  </a:schemeClr>
                </a:solidFill>
                <a:prstDash val="solid"/>
              </a:ln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563503" y="2772491"/>
            <a:ext cx="5679842" cy="1387816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  <a:effectLst/>
        </p:spPr>
        <p:txBody>
          <a:bodyPr vert="horz" wrap="square" lIns="0" tIns="0" rIns="0" bIns="0" rtlCol="0" anchor="t">
            <a:spAutoFit/>
            <a:scene3d>
              <a:camera prst="orthographicFront"/>
              <a:lightRig rig="threePt" dir="t"/>
            </a:scene3d>
            <a:sp3d prstMaterial="softEdge">
              <a:bevelT w="0" h="0"/>
              <a:contourClr>
                <a:schemeClr val="bg1"/>
              </a:contourClr>
            </a:sp3d>
          </a:bodyPr>
          <a:lstStyle>
            <a:lvl1pPr marL="0" indent="0" algn="l" defTabSz="914400" rtl="0" eaLnBrk="1" latinLnBrk="1" hangingPunct="1">
              <a:spcBef>
                <a:spcPct val="0"/>
              </a:spcBef>
              <a:buFont typeface="Arial" pitchFamily="34" charset="0"/>
              <a:buNone/>
              <a:defRPr kumimoji="1" lang="ko-KR" altLang="en-US" sz="4400" b="0" i="0" u="none" strike="noStrike" kern="0" cap="none" spc="0" normalizeH="0" baseline="0">
                <a:ln w="15875" cmpd="sng">
                  <a:noFill/>
                  <a:prstDash val="solid"/>
                </a:ln>
                <a:gradFill>
                  <a:gsLst>
                    <a:gs pos="0">
                      <a:schemeClr val="tx1">
                        <a:lumMod val="90000"/>
                        <a:lumOff val="10000"/>
                      </a:schemeClr>
                    </a:gs>
                    <a:gs pos="50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effectLst/>
                <a:uLnTx/>
                <a:uFillTx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ko-KR" altLang="en-US" sz="78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endParaRPr lang="en-US" altLang="ko-KR" sz="7800" dirty="0">
              <a:ln w="15875" cmpd="sng">
                <a:solidFill>
                  <a:schemeClr val="accent1">
                    <a:alpha val="0"/>
                  </a:schemeClr>
                </a:solidFill>
                <a:prstDash val="solid"/>
              </a:ln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65173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2563503" y="4284701"/>
            <a:ext cx="5679842" cy="295466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  <a:effectLst/>
        </p:spPr>
        <p:txBody>
          <a:bodyPr vert="horz" wrap="square" lIns="0" tIns="0" rIns="0" bIns="0" rtlCol="0" anchor="t">
            <a:spAutoFit/>
            <a:scene3d>
              <a:camera prst="orthographicFront"/>
              <a:lightRig rig="threePt" dir="t"/>
            </a:scene3d>
            <a:sp3d prstMaterial="softEdge">
              <a:bevelT w="0" h="0"/>
              <a:contourClr>
                <a:schemeClr val="bg1"/>
              </a:contourClr>
            </a:sp3d>
          </a:bodyPr>
          <a:lstStyle>
            <a:lvl1pPr marL="0" indent="0" algn="l" defTabSz="914400" rtl="0" eaLnBrk="1" latinLnBrk="1" hangingPunct="1">
              <a:spcBef>
                <a:spcPct val="0"/>
              </a:spcBef>
              <a:buFont typeface="Arial" pitchFamily="34" charset="0"/>
              <a:buNone/>
              <a:defRPr kumimoji="1" lang="ko-KR" altLang="en-US" sz="4400" b="0" i="0" u="none" strike="noStrike" kern="0" cap="none" spc="0" normalizeH="0" baseline="0">
                <a:ln w="15875" cmpd="sng">
                  <a:noFill/>
                  <a:prstDash val="solid"/>
                </a:ln>
                <a:gradFill>
                  <a:gsLst>
                    <a:gs pos="0">
                      <a:schemeClr val="tx1">
                        <a:lumMod val="90000"/>
                        <a:lumOff val="10000"/>
                      </a:schemeClr>
                    </a:gs>
                    <a:gs pos="50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effectLst/>
                <a:uLnTx/>
                <a:uFillTx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ko-KR" altLang="en-US" sz="16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문제은행 </a:t>
            </a:r>
            <a:r>
              <a:rPr lang="en-US" altLang="ko-KR" sz="16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DB</a:t>
            </a:r>
            <a:r>
              <a:rPr lang="ko-KR" altLang="en-US" sz="16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통합 프로젝트 │ 착수보고</a:t>
            </a:r>
            <a:endParaRPr lang="en-US" altLang="ko-KR" sz="1600" dirty="0">
              <a:ln w="15875" cmpd="sng">
                <a:solidFill>
                  <a:schemeClr val="accent1">
                    <a:alpha val="0"/>
                  </a:schemeClr>
                </a:solidFill>
                <a:prstDash val="solid"/>
              </a:ln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563503" y="2772491"/>
            <a:ext cx="5679842" cy="1387816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  <a:effectLst/>
        </p:spPr>
        <p:txBody>
          <a:bodyPr vert="horz" wrap="square" lIns="0" tIns="0" rIns="0" bIns="0" rtlCol="0" anchor="t">
            <a:spAutoFit/>
            <a:scene3d>
              <a:camera prst="orthographicFront"/>
              <a:lightRig rig="threePt" dir="t"/>
            </a:scene3d>
            <a:sp3d prstMaterial="softEdge">
              <a:bevelT w="0" h="0"/>
              <a:contourClr>
                <a:schemeClr val="bg1"/>
              </a:contourClr>
            </a:sp3d>
          </a:bodyPr>
          <a:lstStyle>
            <a:lvl1pPr marL="0" indent="0" algn="l" defTabSz="914400" rtl="0" eaLnBrk="1" latinLnBrk="1" hangingPunct="1">
              <a:spcBef>
                <a:spcPct val="0"/>
              </a:spcBef>
              <a:buFont typeface="Arial" pitchFamily="34" charset="0"/>
              <a:buNone/>
              <a:defRPr kumimoji="1" lang="ko-KR" altLang="en-US" sz="4400" b="0" i="0" u="none" strike="noStrike" kern="0" cap="none" spc="0" normalizeH="0" baseline="0">
                <a:ln w="15875" cmpd="sng">
                  <a:noFill/>
                  <a:prstDash val="solid"/>
                </a:ln>
                <a:gradFill>
                  <a:gsLst>
                    <a:gs pos="0">
                      <a:schemeClr val="tx1">
                        <a:lumMod val="90000"/>
                        <a:lumOff val="10000"/>
                      </a:schemeClr>
                    </a:gs>
                    <a:gs pos="50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effectLst/>
                <a:uLnTx/>
                <a:uFillTx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ko-KR" altLang="en-US" sz="780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+mn-ea"/>
                <a:ea typeface="+mn-ea"/>
              </a:rPr>
              <a:t>질의응답</a:t>
            </a:r>
            <a:endParaRPr lang="en-US" altLang="ko-KR" sz="7800" dirty="0">
              <a:ln w="15875" cmpd="sng">
                <a:solidFill>
                  <a:schemeClr val="accent1">
                    <a:alpha val="0"/>
                  </a:schemeClr>
                </a:solidFill>
                <a:prstDash val="solid"/>
              </a:ln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976405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이투스교육">
  <a:themeElements>
    <a:clrScheme name="사용자 지정 1">
      <a:dk1>
        <a:sysClr val="windowText" lastClr="000000"/>
      </a:dk1>
      <a:lt1>
        <a:sysClr val="window" lastClr="FFFFFF"/>
      </a:lt1>
      <a:dk2>
        <a:srgbClr val="7D7C7F"/>
      </a:dk2>
      <a:lt2>
        <a:srgbClr val="D5D5D5"/>
      </a:lt2>
      <a:accent1>
        <a:srgbClr val="EE522A"/>
      </a:accent1>
      <a:accent2>
        <a:srgbClr val="0F64B1"/>
      </a:accent2>
      <a:accent3>
        <a:srgbClr val="4FA4DD"/>
      </a:accent3>
      <a:accent4>
        <a:srgbClr val="D6DEE6"/>
      </a:accent4>
      <a:accent5>
        <a:srgbClr val="EFF5FA"/>
      </a:accent5>
      <a:accent6>
        <a:srgbClr val="F7F9FB"/>
      </a:accent6>
      <a:hlink>
        <a:srgbClr val="0000FF"/>
      </a:hlink>
      <a:folHlink>
        <a:srgbClr val="800080"/>
      </a:folHlink>
    </a:clrScheme>
    <a:fontScheme name="릭스">
      <a:majorFont>
        <a:latin typeface="Rix고딕 EB"/>
        <a:ea typeface="Rix고딕 EB"/>
        <a:cs typeface=""/>
      </a:majorFont>
      <a:minorFont>
        <a:latin typeface="Rix고딕 B"/>
        <a:ea typeface="Rix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E245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75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29344</TotalTime>
  <Words>5892</Words>
  <Application>Microsoft Office PowerPoint</Application>
  <PresentationFormat>사용자 지정</PresentationFormat>
  <Paragraphs>1897</Paragraphs>
  <Slides>43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66" baseType="lpstr">
      <vt:lpstr>Wingdings 2</vt:lpstr>
      <vt:lpstr>Rix고딕 B</vt:lpstr>
      <vt:lpstr>Rix고딕 M</vt:lpstr>
      <vt:lpstr>Monotype Sorts</vt:lpstr>
      <vt:lpstr>나눔고딕 (본문)</vt:lpstr>
      <vt:lpstr>Arial</vt:lpstr>
      <vt:lpstr>나눔고딕</vt:lpstr>
      <vt:lpstr>Rix명조 EB</vt:lpstr>
      <vt:lpstr>맑은 고딕</vt:lpstr>
      <vt:lpstr>Rix고딕 L</vt:lpstr>
      <vt:lpstr>HY울릉도B</vt:lpstr>
      <vt:lpstr>HY견명조</vt:lpstr>
      <vt:lpstr>Samsung InterFace</vt:lpstr>
      <vt:lpstr>Rix모던고딕 M</vt:lpstr>
      <vt:lpstr>Rix고딕 B (본문)</vt:lpstr>
      <vt:lpstr>Rix고딕 EB</vt:lpstr>
      <vt:lpstr>윤명조420</vt:lpstr>
      <vt:lpstr>굴림</vt:lpstr>
      <vt:lpstr>Wingdings</vt:lpstr>
      <vt:lpstr>Rix모던고딕 B</vt:lpstr>
      <vt:lpstr>Rix모던고딕 L</vt:lpstr>
      <vt:lpstr>Tahoma</vt:lpstr>
      <vt:lpstr>이투스교육</vt:lpstr>
      <vt:lpstr>PowerPoint 프레젠테이션</vt:lpstr>
      <vt:lpstr>PowerPoint 프레젠테이션</vt:lpstr>
      <vt:lpstr>PowerPoint 프레젠테이션</vt:lpstr>
      <vt:lpstr>1. 사업 추진 개요</vt:lpstr>
      <vt:lpstr>2. 사업 개요</vt:lpstr>
      <vt:lpstr>3. 추진 배경 및 목적</vt:lpstr>
      <vt:lpstr>4. 사업 범위 (1/3)</vt:lpstr>
      <vt:lpstr>4. 사업 범위 (2/3)</vt:lpstr>
      <vt:lpstr>3. 사업 범위 (3/3)</vt:lpstr>
      <vt:lpstr>PowerPoint 프레젠테이션</vt:lpstr>
      <vt:lpstr>1. 현행시스템 구성</vt:lpstr>
      <vt:lpstr>2. 목표시스템 구성</vt:lpstr>
      <vt:lpstr>3. 주요 개발 방안 – ① TMI API Service (1/2)</vt:lpstr>
      <vt:lpstr>3. 주요 개발 방안 – ① TMI API Service (2/2)</vt:lpstr>
      <vt:lpstr>3. 주요 개발 방안 – ② TMS HWP Control Module </vt:lpstr>
      <vt:lpstr>3. 주요 개발 방안 – ③ TMS Back-Office Application (1/2)</vt:lpstr>
      <vt:lpstr>3. 주요 개발 방안 – ③ TMS Back-Office Application (2/2)</vt:lpstr>
      <vt:lpstr>3. 주요 개발 방안 – ④ TMS DB 구축 방안 (1/2)</vt:lpstr>
      <vt:lpstr>3. 주요 개발 방안 – ④ TMS DB 구축 방안 (2/2)</vt:lpstr>
      <vt:lpstr>3. 주요 개발 방안 – SP 전환 방안</vt:lpstr>
      <vt:lpstr>3. 주요 개발 방안 – 소프트웨어 아키텍처 구축 방안</vt:lpstr>
      <vt:lpstr>PowerPoint 프레젠테이션</vt:lpstr>
      <vt:lpstr>1. 수행 조직도</vt:lpstr>
      <vt:lpstr>2. 수행 조직 역할</vt:lpstr>
      <vt:lpstr>3. 역할 및 의사소통 방안</vt:lpstr>
      <vt:lpstr>4. 사업추진 일정 (1/2) 2안</vt:lpstr>
      <vt:lpstr>4. 사업추진 일정 (2/2) 3안 추진 시</vt:lpstr>
      <vt:lpstr>5. 인력 투입 계획</vt:lpstr>
      <vt:lpstr>6. 산출물 계획 (1/2)</vt:lpstr>
      <vt:lpstr>6. 산출물 계획 (2/2)</vt:lpstr>
      <vt:lpstr>7. 테스트 계획 (1/2)</vt:lpstr>
      <vt:lpstr>7. 테스트 계획 (2/2)</vt:lpstr>
      <vt:lpstr>PowerPoint 프레젠테이션</vt:lpstr>
      <vt:lpstr>1. 사업관리 개요</vt:lpstr>
      <vt:lpstr>2. 일정 및 진척관리 계획</vt:lpstr>
      <vt:lpstr>3. 위험관리 계획</vt:lpstr>
      <vt:lpstr>4. 의사소통관리 계획</vt:lpstr>
      <vt:lpstr>5. 형상관리 계획</vt:lpstr>
      <vt:lpstr>6. 품질관리 계획</vt:lpstr>
      <vt:lpstr>7. 보안관리계획</vt:lpstr>
      <vt:lpstr>8. 교육 및 유지보수 계획</vt:lpstr>
      <vt:lpstr>PowerPoint 프레젠테이션</vt:lpstr>
      <vt:lpstr>PowerPoint 프레젠테이션</vt:lpstr>
    </vt:vector>
  </TitlesOfParts>
  <Company>openbase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발표용 표준템플릿</dc:title>
  <dc:creator>데이타솔루션</dc:creator>
  <cp:lastModifiedBy>이병도</cp:lastModifiedBy>
  <cp:revision>1806</cp:revision>
  <cp:lastPrinted>2019-04-15T09:43:54Z</cp:lastPrinted>
  <dcterms:created xsi:type="dcterms:W3CDTF">2011-08-23T01:11:05Z</dcterms:created>
  <dcterms:modified xsi:type="dcterms:W3CDTF">2019-05-23T07:21:36Z</dcterms:modified>
</cp:coreProperties>
</file>